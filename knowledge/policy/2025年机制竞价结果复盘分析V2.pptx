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62" r:id="rId2"/>
    <p:sldId id="2147479356" r:id="rId3"/>
    <p:sldId id="2147479357" r:id="rId4"/>
    <p:sldId id="2147479358" r:id="rId5"/>
    <p:sldId id="2147479359" r:id="rId6"/>
    <p:sldId id="2147479361" r:id="rId7"/>
    <p:sldId id="2147479360" r:id="rId8"/>
    <p:sldId id="2147479362"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E8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1625300308281066E-2"/>
          <c:y val="2.8558187665111603E-2"/>
          <c:w val="0.93109395131285211"/>
          <c:h val="0.7868823269791877"/>
        </c:manualLayout>
      </c:layout>
      <c:barChart>
        <c:barDir val="col"/>
        <c:grouping val="stacked"/>
        <c:varyColors val="0"/>
        <c:ser>
          <c:idx val="1"/>
          <c:order val="1"/>
          <c:tx>
            <c:strRef>
              <c:f>出清结果联盟!$C$25</c:f>
              <c:strCache>
                <c:ptCount val="1"/>
                <c:pt idx="0">
                  <c:v>浮动高度</c:v>
                </c:pt>
              </c:strCache>
            </c:strRef>
          </c:tx>
          <c:spPr>
            <a:noFill/>
            <a:ln w="25400">
              <a:noFill/>
            </a:ln>
            <a:effectLst/>
          </c:spPr>
          <c:invertIfNegative val="0"/>
          <c:cat>
            <c:strRef>
              <c:f>出清结果联盟!$A$26:$A$38</c:f>
              <c:strCache>
                <c:ptCount val="13"/>
                <c:pt idx="0">
                  <c:v>四川</c:v>
                </c:pt>
                <c:pt idx="1">
                  <c:v>安徽</c:v>
                </c:pt>
                <c:pt idx="2">
                  <c:v>湖北</c:v>
                </c:pt>
                <c:pt idx="3">
                  <c:v>广西</c:v>
                </c:pt>
                <c:pt idx="4">
                  <c:v>河北南网</c:v>
                </c:pt>
                <c:pt idx="5">
                  <c:v>陕西</c:v>
                </c:pt>
                <c:pt idx="6">
                  <c:v>云南26</c:v>
                </c:pt>
                <c:pt idx="7">
                  <c:v>云南25</c:v>
                </c:pt>
                <c:pt idx="8">
                  <c:v>辽宁</c:v>
                </c:pt>
                <c:pt idx="9">
                  <c:v>宁夏</c:v>
                </c:pt>
                <c:pt idx="10">
                  <c:v>新疆25</c:v>
                </c:pt>
                <c:pt idx="11">
                  <c:v>青海25</c:v>
                </c:pt>
                <c:pt idx="12">
                  <c:v>青海26</c:v>
                </c:pt>
              </c:strCache>
            </c:strRef>
          </c:cat>
          <c:val>
            <c:numRef>
              <c:f>出清结果联盟!$C$26:$C$38</c:f>
              <c:numCache>
                <c:formatCode>General</c:formatCode>
                <c:ptCount val="13"/>
                <c:pt idx="0">
                  <c:v>0.20119999999999999</c:v>
                </c:pt>
                <c:pt idx="1">
                  <c:v>0.18440000000000001</c:v>
                </c:pt>
                <c:pt idx="2">
                  <c:v>0.13</c:v>
                </c:pt>
                <c:pt idx="3">
                  <c:v>0.22899999999999998</c:v>
                </c:pt>
                <c:pt idx="4">
                  <c:v>0.16439999999999999</c:v>
                </c:pt>
                <c:pt idx="5">
                  <c:v>0.12449999999999997</c:v>
                </c:pt>
                <c:pt idx="6">
                  <c:v>0.15579999999999999</c:v>
                </c:pt>
                <c:pt idx="7">
                  <c:v>0.15579999999999999</c:v>
                </c:pt>
                <c:pt idx="8">
                  <c:v>0.15000000000000002</c:v>
                </c:pt>
                <c:pt idx="9">
                  <c:v>7.9500000000000015E-2</c:v>
                </c:pt>
                <c:pt idx="10">
                  <c:v>6.660000000000002E-2</c:v>
                </c:pt>
                <c:pt idx="11">
                  <c:v>3.5000000000000003E-2</c:v>
                </c:pt>
                <c:pt idx="12">
                  <c:v>3.5000000000000003E-2</c:v>
                </c:pt>
              </c:numCache>
            </c:numRef>
          </c:val>
          <c:extLst>
            <c:ext xmlns:c16="http://schemas.microsoft.com/office/drawing/2014/chart" uri="{C3380CC4-5D6E-409C-BE32-E72D297353CC}">
              <c16:uniqueId val="{00000000-8BA8-4712-A80E-44070D53C438}"/>
            </c:ext>
          </c:extLst>
        </c:ser>
        <c:ser>
          <c:idx val="2"/>
          <c:order val="2"/>
          <c:tx>
            <c:strRef>
              <c:f>出清结果联盟!$D$25</c:f>
              <c:strCache>
                <c:ptCount val="1"/>
                <c:pt idx="0">
                  <c:v>风电竞价区间</c:v>
                </c:pt>
              </c:strCache>
            </c:strRef>
          </c:tx>
          <c:spPr>
            <a:solidFill>
              <a:schemeClr val="accent5">
                <a:lumMod val="40000"/>
                <a:lumOff val="60000"/>
              </a:schemeClr>
            </a:solidFill>
            <a:ln w="25400">
              <a:noFill/>
            </a:ln>
            <a:effectLst/>
          </c:spPr>
          <c:invertIfNegative val="0"/>
          <c:cat>
            <c:strRef>
              <c:f>出清结果联盟!$A$26:$A$38</c:f>
              <c:strCache>
                <c:ptCount val="13"/>
                <c:pt idx="0">
                  <c:v>四川</c:v>
                </c:pt>
                <c:pt idx="1">
                  <c:v>安徽</c:v>
                </c:pt>
                <c:pt idx="2">
                  <c:v>湖北</c:v>
                </c:pt>
                <c:pt idx="3">
                  <c:v>广西</c:v>
                </c:pt>
                <c:pt idx="4">
                  <c:v>河北南网</c:v>
                </c:pt>
                <c:pt idx="5">
                  <c:v>陕西</c:v>
                </c:pt>
                <c:pt idx="6">
                  <c:v>云南26</c:v>
                </c:pt>
                <c:pt idx="7">
                  <c:v>云南25</c:v>
                </c:pt>
                <c:pt idx="8">
                  <c:v>辽宁</c:v>
                </c:pt>
                <c:pt idx="9">
                  <c:v>宁夏</c:v>
                </c:pt>
                <c:pt idx="10">
                  <c:v>新疆25</c:v>
                </c:pt>
                <c:pt idx="11">
                  <c:v>青海25</c:v>
                </c:pt>
                <c:pt idx="12">
                  <c:v>青海26</c:v>
                </c:pt>
              </c:strCache>
            </c:strRef>
          </c:cat>
          <c:val>
            <c:numRef>
              <c:f>出清结果联盟!$D$26:$D$38</c:f>
              <c:numCache>
                <c:formatCode>General</c:formatCode>
                <c:ptCount val="13"/>
                <c:pt idx="0">
                  <c:v>0.2</c:v>
                </c:pt>
                <c:pt idx="1">
                  <c:v>0.2</c:v>
                </c:pt>
                <c:pt idx="2">
                  <c:v>0.26</c:v>
                </c:pt>
                <c:pt idx="3">
                  <c:v>0.13100000000000001</c:v>
                </c:pt>
                <c:pt idx="4">
                  <c:v>0.2</c:v>
                </c:pt>
                <c:pt idx="5">
                  <c:v>0.23</c:v>
                </c:pt>
                <c:pt idx="6">
                  <c:v>0.18</c:v>
                </c:pt>
                <c:pt idx="7">
                  <c:v>0.18</c:v>
                </c:pt>
                <c:pt idx="8">
                  <c:v>0.18</c:v>
                </c:pt>
                <c:pt idx="9">
                  <c:v>0.18</c:v>
                </c:pt>
                <c:pt idx="10">
                  <c:v>0.19539999999999999</c:v>
                </c:pt>
                <c:pt idx="11">
                  <c:v>0.20499999999999999</c:v>
                </c:pt>
                <c:pt idx="12">
                  <c:v>0.20499999999999999</c:v>
                </c:pt>
              </c:numCache>
            </c:numRef>
          </c:val>
          <c:extLst>
            <c:ext xmlns:c16="http://schemas.microsoft.com/office/drawing/2014/chart" uri="{C3380CC4-5D6E-409C-BE32-E72D297353CC}">
              <c16:uniqueId val="{00000001-8BA8-4712-A80E-44070D53C438}"/>
            </c:ext>
          </c:extLst>
        </c:ser>
        <c:dLbls>
          <c:showLegendKey val="0"/>
          <c:showVal val="0"/>
          <c:showCatName val="0"/>
          <c:showSerName val="0"/>
          <c:showPercent val="0"/>
          <c:showBubbleSize val="0"/>
        </c:dLbls>
        <c:gapWidth val="150"/>
        <c:overlap val="100"/>
        <c:axId val="3561088"/>
        <c:axId val="3555808"/>
      </c:barChart>
      <c:scatterChart>
        <c:scatterStyle val="lineMarker"/>
        <c:varyColors val="0"/>
        <c:ser>
          <c:idx val="0"/>
          <c:order val="0"/>
          <c:tx>
            <c:strRef>
              <c:f>出清结果联盟!$B$25</c:f>
              <c:strCache>
                <c:ptCount val="1"/>
                <c:pt idx="0">
                  <c:v>风电结果</c:v>
                </c:pt>
              </c:strCache>
            </c:strRef>
          </c:tx>
          <c:spPr>
            <a:ln w="25400" cap="rnd">
              <a:solidFill>
                <a:srgbClr val="FCD5B5"/>
              </a:solidFill>
              <a:round/>
            </a:ln>
            <a:effectLst/>
          </c:spPr>
          <c:marker>
            <c:symbol val="circle"/>
            <c:size val="5"/>
            <c:spPr>
              <a:solidFill>
                <a:srgbClr val="FCD5B5"/>
              </a:solidFill>
              <a:ln w="9525">
                <a:solidFill>
                  <a:srgbClr val="FCD5B5"/>
                </a:solidFill>
              </a:ln>
              <a:effectLst/>
            </c:spPr>
          </c:marker>
          <c:dPt>
            <c:idx val="1"/>
            <c:marker>
              <c:symbol val="diamond"/>
              <c:size val="5"/>
              <c:spPr>
                <a:solidFill>
                  <a:srgbClr val="FCD5B5"/>
                </a:solidFill>
                <a:ln w="9525">
                  <a:solidFill>
                    <a:srgbClr val="FCD5B5"/>
                  </a:solidFill>
                </a:ln>
                <a:effectLst/>
              </c:spPr>
            </c:marker>
            <c:bubble3D val="0"/>
            <c:extLst>
              <c:ext xmlns:c16="http://schemas.microsoft.com/office/drawing/2014/chart" uri="{C3380CC4-5D6E-409C-BE32-E72D297353CC}">
                <c16:uniqueId val="{00000002-8BA8-4712-A80E-44070D53C43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5">
                        <a:lumMod val="50000"/>
                      </a:schemeClr>
                    </a:solidFill>
                    <a:latin typeface="+mn-lt"/>
                    <a:ea typeface="+mn-ea"/>
                    <a:cs typeface="+mn-cs"/>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出清结果联盟!$A$26:$A$38</c:f>
              <c:strCache>
                <c:ptCount val="13"/>
                <c:pt idx="0">
                  <c:v>四川</c:v>
                </c:pt>
                <c:pt idx="1">
                  <c:v>安徽</c:v>
                </c:pt>
                <c:pt idx="2">
                  <c:v>湖北</c:v>
                </c:pt>
                <c:pt idx="3">
                  <c:v>广西</c:v>
                </c:pt>
                <c:pt idx="4">
                  <c:v>河北南网</c:v>
                </c:pt>
                <c:pt idx="5">
                  <c:v>陕西</c:v>
                </c:pt>
                <c:pt idx="6">
                  <c:v>云南26</c:v>
                </c:pt>
                <c:pt idx="7">
                  <c:v>云南25</c:v>
                </c:pt>
                <c:pt idx="8">
                  <c:v>辽宁</c:v>
                </c:pt>
                <c:pt idx="9">
                  <c:v>宁夏</c:v>
                </c:pt>
                <c:pt idx="10">
                  <c:v>新疆25</c:v>
                </c:pt>
                <c:pt idx="11">
                  <c:v>青海25</c:v>
                </c:pt>
                <c:pt idx="12">
                  <c:v>青海26</c:v>
                </c:pt>
              </c:strCache>
            </c:strRef>
          </c:xVal>
          <c:yVal>
            <c:numRef>
              <c:f>出清结果联盟!$B$26:$B$38</c:f>
              <c:numCache>
                <c:formatCode>General</c:formatCode>
                <c:ptCount val="13"/>
                <c:pt idx="0">
                  <c:v>0.39300000000000002</c:v>
                </c:pt>
                <c:pt idx="1">
                  <c:v>0.39</c:v>
                </c:pt>
                <c:pt idx="2">
                  <c:v>0.38700000000000001</c:v>
                </c:pt>
                <c:pt idx="3">
                  <c:v>0.35499999999999998</c:v>
                </c:pt>
                <c:pt idx="4">
                  <c:v>0.35299999999999998</c:v>
                </c:pt>
                <c:pt idx="5">
                  <c:v>0.35199999999999998</c:v>
                </c:pt>
                <c:pt idx="6">
                  <c:v>0.33500000000000002</c:v>
                </c:pt>
                <c:pt idx="7">
                  <c:v>0.33200000000000002</c:v>
                </c:pt>
                <c:pt idx="8">
                  <c:v>0.33</c:v>
                </c:pt>
                <c:pt idx="9">
                  <c:v>0.25950000000000001</c:v>
                </c:pt>
                <c:pt idx="10">
                  <c:v>0.25</c:v>
                </c:pt>
                <c:pt idx="11">
                  <c:v>0.24</c:v>
                </c:pt>
                <c:pt idx="12">
                  <c:v>0.24</c:v>
                </c:pt>
              </c:numCache>
            </c:numRef>
          </c:yVal>
          <c:smooth val="0"/>
          <c:extLst>
            <c:ext xmlns:c16="http://schemas.microsoft.com/office/drawing/2014/chart" uri="{C3380CC4-5D6E-409C-BE32-E72D297353CC}">
              <c16:uniqueId val="{00000003-8BA8-4712-A80E-44070D53C438}"/>
            </c:ext>
          </c:extLst>
        </c:ser>
        <c:ser>
          <c:idx val="3"/>
          <c:order val="3"/>
          <c:tx>
            <c:strRef>
              <c:f>出清结果联盟!$E$25</c:f>
              <c:strCache>
                <c:ptCount val="1"/>
                <c:pt idx="0">
                  <c:v>燃煤标杆价</c:v>
                </c:pt>
              </c:strCache>
            </c:strRef>
          </c:tx>
          <c:spPr>
            <a:ln w="25400" cap="rnd">
              <a:noFill/>
              <a:round/>
            </a:ln>
            <a:effectLst/>
          </c:spPr>
          <c:marker>
            <c:symbol val="triangle"/>
            <c:size val="7"/>
            <c:spPr>
              <a:solidFill>
                <a:srgbClr val="F5B58A"/>
              </a:solidFill>
              <a:ln w="9525">
                <a:solidFill>
                  <a:srgbClr val="ED7D31"/>
                </a:solidFill>
              </a:ln>
              <a:effectLst/>
            </c:spPr>
          </c:marker>
          <c:xVal>
            <c:strRef>
              <c:f>出清结果联盟!$A$26:$A$38</c:f>
              <c:strCache>
                <c:ptCount val="13"/>
                <c:pt idx="0">
                  <c:v>四川</c:v>
                </c:pt>
                <c:pt idx="1">
                  <c:v>安徽</c:v>
                </c:pt>
                <c:pt idx="2">
                  <c:v>湖北</c:v>
                </c:pt>
                <c:pt idx="3">
                  <c:v>广西</c:v>
                </c:pt>
                <c:pt idx="4">
                  <c:v>河北南网</c:v>
                </c:pt>
                <c:pt idx="5">
                  <c:v>陕西</c:v>
                </c:pt>
                <c:pt idx="6">
                  <c:v>云南26</c:v>
                </c:pt>
                <c:pt idx="7">
                  <c:v>云南25</c:v>
                </c:pt>
                <c:pt idx="8">
                  <c:v>辽宁</c:v>
                </c:pt>
                <c:pt idx="9">
                  <c:v>宁夏</c:v>
                </c:pt>
                <c:pt idx="10">
                  <c:v>新疆25</c:v>
                </c:pt>
                <c:pt idx="11">
                  <c:v>青海25</c:v>
                </c:pt>
                <c:pt idx="12">
                  <c:v>青海26</c:v>
                </c:pt>
              </c:strCache>
            </c:strRef>
          </c:xVal>
          <c:yVal>
            <c:numRef>
              <c:f>出清结果联盟!$E$26:$E$38</c:f>
              <c:numCache>
                <c:formatCode>General</c:formatCode>
                <c:ptCount val="13"/>
                <c:pt idx="0">
                  <c:v>0.4012</c:v>
                </c:pt>
                <c:pt idx="1">
                  <c:v>0.38440000000000002</c:v>
                </c:pt>
                <c:pt idx="2">
                  <c:v>0.41610000000000003</c:v>
                </c:pt>
                <c:pt idx="3">
                  <c:v>0.42070000000000002</c:v>
                </c:pt>
                <c:pt idx="4">
                  <c:v>0.3644</c:v>
                </c:pt>
                <c:pt idx="5">
                  <c:v>0.35449999999999998</c:v>
                </c:pt>
                <c:pt idx="6">
                  <c:v>0.33579999999999999</c:v>
                </c:pt>
                <c:pt idx="7">
                  <c:v>0.33579999999999999</c:v>
                </c:pt>
                <c:pt idx="8">
                  <c:v>0.37490000000000001</c:v>
                </c:pt>
                <c:pt idx="9">
                  <c:v>0.25950000000000001</c:v>
                </c:pt>
                <c:pt idx="10">
                  <c:v>0.25</c:v>
                </c:pt>
                <c:pt idx="11">
                  <c:v>0.32469999999999999</c:v>
                </c:pt>
                <c:pt idx="12">
                  <c:v>0.32469999999999999</c:v>
                </c:pt>
              </c:numCache>
            </c:numRef>
          </c:yVal>
          <c:smooth val="0"/>
          <c:extLst>
            <c:ext xmlns:c16="http://schemas.microsoft.com/office/drawing/2014/chart" uri="{C3380CC4-5D6E-409C-BE32-E72D297353CC}">
              <c16:uniqueId val="{00000004-8BA8-4712-A80E-44070D53C438}"/>
            </c:ext>
          </c:extLst>
        </c:ser>
        <c:dLbls>
          <c:showLegendKey val="0"/>
          <c:showVal val="0"/>
          <c:showCatName val="0"/>
          <c:showSerName val="0"/>
          <c:showPercent val="0"/>
          <c:showBubbleSize val="0"/>
        </c:dLbls>
        <c:axId val="3561088"/>
        <c:axId val="3555808"/>
      </c:scatterChart>
      <c:catAx>
        <c:axId val="3561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3555808"/>
        <c:crosses val="autoZero"/>
        <c:auto val="1"/>
        <c:lblAlgn val="ctr"/>
        <c:lblOffset val="100"/>
        <c:noMultiLvlLbl val="0"/>
      </c:catAx>
      <c:valAx>
        <c:axId val="3555808"/>
        <c:scaling>
          <c:orientation val="minMax"/>
          <c:min val="0"/>
        </c:scaling>
        <c:delete val="0"/>
        <c:axPos val="l"/>
        <c:majorGridlines>
          <c:spPr>
            <a:ln w="3175" cap="flat" cmpd="sng" algn="ctr">
              <a:solidFill>
                <a:schemeClr val="tx1">
                  <a:lumMod val="15000"/>
                  <a:lumOff val="85000"/>
                  <a:alpha val="76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zh-CN" altLang="en-US"/>
                  <a:t>（元</a:t>
                </a:r>
                <a:r>
                  <a:rPr lang="en-US" altLang="zh-CN"/>
                  <a:t>/kWh</a:t>
                </a:r>
                <a:r>
                  <a:rPr lang="zh-CN" altLang="en-US"/>
                  <a: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35610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EE09F6-A71D-4BF5-89C1-4C461C6FBFB7}" type="datetimeFigureOut">
              <a:rPr lang="zh-CN" altLang="en-US" smtClean="0"/>
              <a:t>2026/5/9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6B0FB0-C5BE-4901-BF6C-EFDE6F258FA9}" type="slidenum">
              <a:rPr lang="zh-CN" altLang="en-US" smtClean="0"/>
              <a:t>‹#›</a:t>
            </a:fld>
            <a:endParaRPr lang="zh-CN" altLang="en-US"/>
          </a:p>
        </p:txBody>
      </p:sp>
    </p:spTree>
    <p:extLst>
      <p:ext uri="{BB962C8B-B14F-4D97-AF65-F5344CB8AC3E}">
        <p14:creationId xmlns:p14="http://schemas.microsoft.com/office/powerpoint/2010/main" val="83996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7FD933-44A9-4286-9228-1CCFFBEA77DA}"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786316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6B4C6-B912-538F-451C-3A8E8F2C70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27110C-6846-091B-D7E0-6C1CAFC041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5B3AA0-9282-9E96-2239-1AFD5E2DCC2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5E90B65-7062-C64A-E625-A56C4153DF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7FD933-44A9-4286-9228-1CCFFBEA77DA}"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3197684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61A76-BB13-9032-9A40-F319D81700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562A58-49E7-CB6E-6103-1D74883917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4004AA9-A6FF-EA75-EC8C-B7AD05FFA3E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C95C942-5492-E1AC-AB9E-747FBBA999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7FD933-44A9-4286-9228-1CCFFBEA77DA}"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567419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3AFB7-9C89-7BB0-41FB-F73F9B6062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DEA5D6-4F9D-BA56-8722-B932BD894C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F6FC0B-14CD-5556-18B1-DBA4EBBA09E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F699FF6-5ED2-8FF9-DDAF-3319210228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7FD933-44A9-4286-9228-1CCFFBEA77DA}"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3439005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0E9FD-9670-D30D-0879-74B0140D2C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93A500-4FFA-8F24-9647-CD24085EA3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5790E49-CE6D-2CE7-7FAA-6C0A20F0984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DE69A46-808E-B0A9-A3EC-858ED76DF8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7FD933-44A9-4286-9228-1CCFFBEA77DA}"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3986118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FDBB-82A0-1899-8235-121484B406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E373EF-4A1F-1230-E084-B14E65AB93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273B1EA-10D2-304F-942D-AF3A4224278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B271B1C-C2C2-2272-B7A4-EE70B703CE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7FD933-44A9-4286-9228-1CCFFBEA77DA}"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387936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38CCE-5C11-00F6-DA2C-E85425DFB4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74B653-C0A3-9E69-23FC-B43F3B3D99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442F69-5CAB-C234-611B-561A5076881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721523-16E3-E955-36DE-D05FD46E80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7FD933-44A9-4286-9228-1CCFFBEA77DA}"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801850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9232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5" name="矩形 4"/>
          <p:cNvSpPr/>
          <p:nvPr userDrawn="1"/>
        </p:nvSpPr>
        <p:spPr>
          <a:xfrm>
            <a:off x="0" y="0"/>
            <a:ext cx="12192000" cy="6857999"/>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endParaRPr kumimoji="1" lang="zh-CN" altLang="en-US">
              <a:solidFill>
                <a:schemeClr val="tx1"/>
              </a:solidFill>
            </a:endParaRPr>
          </a:p>
        </p:txBody>
      </p:sp>
      <p:pic>
        <p:nvPicPr>
          <p:cNvPr id="8" name="Picture 2">
            <a:extLst>
              <a:ext uri="{FF2B5EF4-FFF2-40B4-BE49-F238E27FC236}">
                <a16:creationId xmlns:a16="http://schemas.microsoft.com/office/drawing/2014/main" id="{28A04B10-9D75-1646-AC26-E99112B5A0DA}"/>
              </a:ext>
            </a:extLst>
          </p:cNvPr>
          <p:cNvPicPr>
            <a:picLocks noChangeAspect="1" noChangeArrowheads="1"/>
          </p:cNvPicPr>
          <p:nvPr userDrawn="1"/>
        </p:nvPicPr>
        <p:blipFill>
          <a:blip r:embed="rId2"/>
          <a:stretch>
            <a:fillRect/>
          </a:stretch>
        </p:blipFill>
        <p:spPr bwMode="auto">
          <a:xfrm>
            <a:off x="0" y="6223000"/>
            <a:ext cx="12192000" cy="635000"/>
          </a:xfrm>
          <a:prstGeom prst="rect">
            <a:avLst/>
          </a:prstGeom>
          <a:noFill/>
        </p:spPr>
      </p:pic>
      <p:pic>
        <p:nvPicPr>
          <p:cNvPr id="7" name="Picture 2">
            <a:extLst>
              <a:ext uri="{FF2B5EF4-FFF2-40B4-BE49-F238E27FC236}">
                <a16:creationId xmlns:a16="http://schemas.microsoft.com/office/drawing/2014/main" id="{39E8B2F2-A20E-4971-99DC-24F66CFBC3F3}"/>
              </a:ext>
            </a:extLst>
          </p:cNvPr>
          <p:cNvPicPr>
            <a:picLocks noChangeAspect="1" noChangeArrowheads="1"/>
          </p:cNvPicPr>
          <p:nvPr userDrawn="1"/>
        </p:nvPicPr>
        <p:blipFill rotWithShape="1">
          <a:blip r:embed="rId2"/>
          <a:srcRect l="18015" r="22367"/>
          <a:stretch/>
        </p:blipFill>
        <p:spPr bwMode="auto">
          <a:xfrm>
            <a:off x="4923453" y="6223000"/>
            <a:ext cx="7268547" cy="635000"/>
          </a:xfrm>
          <a:prstGeom prst="rect">
            <a:avLst/>
          </a:prstGeom>
          <a:noFill/>
        </p:spPr>
      </p:pic>
      <p:sp>
        <p:nvSpPr>
          <p:cNvPr id="6" name="矩形 5">
            <a:extLst>
              <a:ext uri="{FF2B5EF4-FFF2-40B4-BE49-F238E27FC236}">
                <a16:creationId xmlns:a16="http://schemas.microsoft.com/office/drawing/2014/main" id="{6F611F2A-80C6-4B0F-BB17-FF7713B515A7}"/>
              </a:ext>
            </a:extLst>
          </p:cNvPr>
          <p:cNvSpPr/>
          <p:nvPr userDrawn="1"/>
        </p:nvSpPr>
        <p:spPr>
          <a:xfrm>
            <a:off x="2108660" y="6223000"/>
            <a:ext cx="10083339" cy="646331"/>
          </a:xfrm>
          <a:prstGeom prst="rect">
            <a:avLst/>
          </a:prstGeom>
        </p:spPr>
        <p:txBody>
          <a:bodyPr wrap="square">
            <a:spAutoFit/>
          </a:bodyPr>
          <a:lstStyle/>
          <a:p>
            <a:r>
              <a:rPr lang="zh-CN" altLang="en-US" sz="1200">
                <a:solidFill>
                  <a:schemeClr val="bg1"/>
                </a:solidFill>
                <a:latin typeface="微软雅黑 Light" panose="020B0502040204020203" pitchFamily="34" charset="-122"/>
                <a:ea typeface="微软雅黑 Light" panose="020B0502040204020203" pitchFamily="34" charset="-122"/>
              </a:rPr>
              <a:t>未经明确授权，本文档禁止拷贝、截屏、拍摄及其他扩散行为，如有发现按违反信息安全红线处理</a:t>
            </a:r>
            <a:endParaRPr lang="en-US" altLang="zh-CN" sz="1200">
              <a:solidFill>
                <a:schemeClr val="bg1"/>
              </a:solidFill>
              <a:latin typeface="微软雅黑 Light" panose="020B0502040204020203" pitchFamily="34" charset="-122"/>
              <a:ea typeface="微软雅黑 Light" panose="020B0502040204020203" pitchFamily="34" charset="-122"/>
            </a:endParaRPr>
          </a:p>
          <a:p>
            <a:r>
              <a:rPr lang="en-US" altLang="zh-CN" sz="1200" b="0" i="0" kern="1200">
                <a:solidFill>
                  <a:schemeClr val="bg1"/>
                </a:solidFill>
                <a:effectLst/>
                <a:latin typeface="+mn-lt"/>
                <a:ea typeface="+mn-ea"/>
                <a:cs typeface="+mn-cs"/>
              </a:rPr>
              <a:t>Withoutexplicitauthorization,thisdocumentprohibitscopying,screencapture,filmingandotherproliferationactions,iffound,itwillbehandledinaccordancewiththeinformationsecurityredline.</a:t>
            </a:r>
            <a:endParaRPr lang="zh-CN" altLang="en-US" sz="1200" b="0" i="0" kern="1200">
              <a:solidFill>
                <a:schemeClr val="bg1"/>
              </a:solidFill>
              <a:effectLst/>
              <a:latin typeface="+mn-lt"/>
              <a:ea typeface="+mn-ea"/>
              <a:cs typeface="+mn-cs"/>
            </a:endParaRPr>
          </a:p>
        </p:txBody>
      </p:sp>
      <p:graphicFrame>
        <p:nvGraphicFramePr>
          <p:cNvPr id="3" name="表格 3">
            <a:extLst>
              <a:ext uri="{FF2B5EF4-FFF2-40B4-BE49-F238E27FC236}">
                <a16:creationId xmlns:a16="http://schemas.microsoft.com/office/drawing/2014/main" id="{D8C029A5-812F-42B0-B557-2D63A42E37DB}"/>
              </a:ext>
            </a:extLst>
          </p:cNvPr>
          <p:cNvGraphicFramePr>
            <a:graphicFrameLocks noGrp="1"/>
          </p:cNvGraphicFramePr>
          <p:nvPr userDrawn="1">
            <p:extLst>
              <p:ext uri="{D42A27DB-BD31-4B8C-83A1-F6EECF244321}">
                <p14:modId xmlns:p14="http://schemas.microsoft.com/office/powerpoint/2010/main" val="155882189"/>
              </p:ext>
            </p:extLst>
          </p:nvPr>
        </p:nvGraphicFramePr>
        <p:xfrm>
          <a:off x="10457895" y="249315"/>
          <a:ext cx="1589104" cy="304800"/>
        </p:xfrm>
        <a:graphic>
          <a:graphicData uri="http://schemas.openxmlformats.org/drawingml/2006/table">
            <a:tbl>
              <a:tblPr firstRow="1" bandRow="1">
                <a:tableStyleId>{5C22544A-7EE6-4342-B048-85BDC9FD1C3A}</a:tableStyleId>
              </a:tblPr>
              <a:tblGrid>
                <a:gridCol w="794552">
                  <a:extLst>
                    <a:ext uri="{9D8B030D-6E8A-4147-A177-3AD203B41FA5}">
                      <a16:colId xmlns:a16="http://schemas.microsoft.com/office/drawing/2014/main" val="3681990489"/>
                    </a:ext>
                  </a:extLst>
                </a:gridCol>
                <a:gridCol w="794552">
                  <a:extLst>
                    <a:ext uri="{9D8B030D-6E8A-4147-A177-3AD203B41FA5}">
                      <a16:colId xmlns:a16="http://schemas.microsoft.com/office/drawing/2014/main" val="621877166"/>
                    </a:ext>
                  </a:extLst>
                </a:gridCol>
              </a:tblGrid>
              <a:tr h="301266">
                <a:tc>
                  <a:txBody>
                    <a:bodyPr/>
                    <a:lstStyle/>
                    <a:p>
                      <a:pPr algn="ctr"/>
                      <a:r>
                        <a:rPr lang="zh-CN" altLang="en-US" sz="1400" b="0">
                          <a:solidFill>
                            <a:schemeClr val="tx1"/>
                          </a:solidFill>
                          <a:latin typeface="微软雅黑" panose="020B0503020204020204" pitchFamily="34" charset="-122"/>
                          <a:ea typeface="微软雅黑" panose="020B0503020204020204" pitchFamily="34" charset="-122"/>
                        </a:rPr>
                        <a:t>密级</a:t>
                      </a:r>
                      <a:endParaRPr lang="en-US" sz="1400" b="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0">
                          <a:solidFill>
                            <a:schemeClr val="tx1"/>
                          </a:solidFill>
                          <a:latin typeface="微软雅黑" panose="020B0503020204020204" pitchFamily="34" charset="-122"/>
                          <a:ea typeface="微软雅黑" panose="020B0503020204020204" pitchFamily="34" charset="-122"/>
                        </a:rPr>
                        <a:t>秘密</a:t>
                      </a:r>
                      <a:endParaRPr lang="en-US" sz="1400" b="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5350328"/>
                  </a:ext>
                </a:extLst>
              </a:tr>
            </a:tbl>
          </a:graphicData>
        </a:graphic>
      </p:graphicFrame>
      <p:cxnSp>
        <p:nvCxnSpPr>
          <p:cNvPr id="9" name="Straight Connector 5">
            <a:extLst>
              <a:ext uri="{FF2B5EF4-FFF2-40B4-BE49-F238E27FC236}">
                <a16:creationId xmlns:a16="http://schemas.microsoft.com/office/drawing/2014/main" id="{52AF4DD6-381E-475C-92C2-211112A7A658}"/>
              </a:ext>
            </a:extLst>
          </p:cNvPr>
          <p:cNvCxnSpPr>
            <a:cxnSpLocks/>
          </p:cNvCxnSpPr>
          <p:nvPr userDrawn="1"/>
        </p:nvCxnSpPr>
        <p:spPr>
          <a:xfrm>
            <a:off x="0" y="811412"/>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0794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5" name="矩形 4"/>
          <p:cNvSpPr/>
          <p:nvPr userDrawn="1"/>
        </p:nvSpPr>
        <p:spPr>
          <a:xfrm>
            <a:off x="0" y="0"/>
            <a:ext cx="12192000" cy="6857999"/>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endParaRPr kumimoji="1" lang="zh-CN" altLang="en-US">
              <a:solidFill>
                <a:schemeClr val="tx1"/>
              </a:solidFill>
            </a:endParaRPr>
          </a:p>
        </p:txBody>
      </p:sp>
      <p:graphicFrame>
        <p:nvGraphicFramePr>
          <p:cNvPr id="3" name="表格 3">
            <a:extLst>
              <a:ext uri="{FF2B5EF4-FFF2-40B4-BE49-F238E27FC236}">
                <a16:creationId xmlns:a16="http://schemas.microsoft.com/office/drawing/2014/main" id="{D8C029A5-812F-42B0-B557-2D63A42E37DB}"/>
              </a:ext>
            </a:extLst>
          </p:cNvPr>
          <p:cNvGraphicFramePr>
            <a:graphicFrameLocks noGrp="1"/>
          </p:cNvGraphicFramePr>
          <p:nvPr userDrawn="1">
            <p:extLst>
              <p:ext uri="{D42A27DB-BD31-4B8C-83A1-F6EECF244321}">
                <p14:modId xmlns:p14="http://schemas.microsoft.com/office/powerpoint/2010/main" val="3064485073"/>
              </p:ext>
            </p:extLst>
          </p:nvPr>
        </p:nvGraphicFramePr>
        <p:xfrm>
          <a:off x="10457895" y="249315"/>
          <a:ext cx="1589104" cy="304800"/>
        </p:xfrm>
        <a:graphic>
          <a:graphicData uri="http://schemas.openxmlformats.org/drawingml/2006/table">
            <a:tbl>
              <a:tblPr firstRow="1" bandRow="1">
                <a:tableStyleId>{5C22544A-7EE6-4342-B048-85BDC9FD1C3A}</a:tableStyleId>
              </a:tblPr>
              <a:tblGrid>
                <a:gridCol w="794552">
                  <a:extLst>
                    <a:ext uri="{9D8B030D-6E8A-4147-A177-3AD203B41FA5}">
                      <a16:colId xmlns:a16="http://schemas.microsoft.com/office/drawing/2014/main" val="3681990489"/>
                    </a:ext>
                  </a:extLst>
                </a:gridCol>
                <a:gridCol w="794552">
                  <a:extLst>
                    <a:ext uri="{9D8B030D-6E8A-4147-A177-3AD203B41FA5}">
                      <a16:colId xmlns:a16="http://schemas.microsoft.com/office/drawing/2014/main" val="621877166"/>
                    </a:ext>
                  </a:extLst>
                </a:gridCol>
              </a:tblGrid>
              <a:tr h="301266">
                <a:tc>
                  <a:txBody>
                    <a:bodyPr/>
                    <a:lstStyle/>
                    <a:p>
                      <a:pPr algn="ctr"/>
                      <a:r>
                        <a:rPr lang="zh-CN" altLang="en-US" sz="1400" b="0">
                          <a:solidFill>
                            <a:schemeClr val="tx1"/>
                          </a:solidFill>
                          <a:latin typeface="微软雅黑" panose="020B0503020204020204" pitchFamily="34" charset="-122"/>
                          <a:ea typeface="微软雅黑" panose="020B0503020204020204" pitchFamily="34" charset="-122"/>
                        </a:rPr>
                        <a:t>密级</a:t>
                      </a:r>
                      <a:endParaRPr lang="en-US" sz="1400" b="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0">
                          <a:solidFill>
                            <a:schemeClr val="tx1"/>
                          </a:solidFill>
                          <a:latin typeface="微软雅黑" panose="020B0503020204020204" pitchFamily="34" charset="-122"/>
                          <a:ea typeface="微软雅黑" panose="020B0503020204020204" pitchFamily="34" charset="-122"/>
                        </a:rPr>
                        <a:t>秘密</a:t>
                      </a:r>
                      <a:endParaRPr lang="en-US" sz="1400" b="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5350328"/>
                  </a:ext>
                </a:extLst>
              </a:tr>
            </a:tbl>
          </a:graphicData>
        </a:graphic>
      </p:graphicFrame>
    </p:spTree>
    <p:extLst>
      <p:ext uri="{BB962C8B-B14F-4D97-AF65-F5344CB8AC3E}">
        <p14:creationId xmlns:p14="http://schemas.microsoft.com/office/powerpoint/2010/main" val="38534305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9"/>
            <a:ext cx="12192000" cy="6234260"/>
          </a:xfrm>
          <a:prstGeom prst="rect">
            <a:avLst/>
          </a:prstGeom>
        </p:spPr>
      </p:pic>
    </p:spTree>
    <p:extLst>
      <p:ext uri="{BB962C8B-B14F-4D97-AF65-F5344CB8AC3E}">
        <p14:creationId xmlns:p14="http://schemas.microsoft.com/office/powerpoint/2010/main" val="2063691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矩形 3">
            <a:extLst>
              <a:ext uri="{FF2B5EF4-FFF2-40B4-BE49-F238E27FC236}">
                <a16:creationId xmlns:a16="http://schemas.microsoft.com/office/drawing/2014/main" id="{62735F70-EEDC-F44B-86F8-06DF8B75ADF4}"/>
              </a:ext>
            </a:extLst>
          </p:cNvPr>
          <p:cNvSpPr/>
          <p:nvPr userDrawn="1"/>
        </p:nvSpPr>
        <p:spPr>
          <a:xfrm>
            <a:off x="311046" y="284344"/>
            <a:ext cx="1034321" cy="282003"/>
          </a:xfrm>
          <a:prstGeom prst="rect">
            <a:avLst/>
          </a:prstGeom>
          <a:solidFill>
            <a:srgbClr val="0078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 name="图片 1">
            <a:extLst>
              <a:ext uri="{FF2B5EF4-FFF2-40B4-BE49-F238E27FC236}">
                <a16:creationId xmlns:a16="http://schemas.microsoft.com/office/drawing/2014/main" id="{7944F4EF-5DEF-E24B-9487-C0E83A594B9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11046" y="284345"/>
            <a:ext cx="966865" cy="282002"/>
          </a:xfrm>
          <a:prstGeom prst="rect">
            <a:avLst/>
          </a:prstGeom>
        </p:spPr>
      </p:pic>
    </p:spTree>
    <p:extLst>
      <p:ext uri="{BB962C8B-B14F-4D97-AF65-F5344CB8AC3E}">
        <p14:creationId xmlns:p14="http://schemas.microsoft.com/office/powerpoint/2010/main" val="4223354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Picture 2" descr="C:\Users\vip\Desktop\DIGITAL PPT-06.jpg"/>
          <p:cNvPicPr>
            <a:picLocks noChangeAspect="1" noChangeArrowheads="1"/>
          </p:cNvPicPr>
          <p:nvPr userDrawn="1"/>
        </p:nvPicPr>
        <p:blipFill>
          <a:blip r:embed="rId8" cstate="email">
            <a:extLst>
              <a:ext uri="{28A0092B-C50C-407E-A947-70E740481C1C}">
                <a14:useLocalDpi xmlns:a14="http://schemas.microsoft.com/office/drawing/2010/main"/>
              </a:ext>
            </a:extLst>
          </a:blip>
          <a:srcRect/>
          <a:stretch>
            <a:fillRect/>
          </a:stretch>
        </p:blipFill>
        <p:spPr bwMode="auto">
          <a:xfrm>
            <a:off x="0" y="6231731"/>
            <a:ext cx="12192000" cy="626269"/>
          </a:xfrm>
          <a:prstGeom prst="rect">
            <a:avLst/>
          </a:prstGeom>
          <a:noFill/>
        </p:spPr>
      </p:pic>
      <p:pic>
        <p:nvPicPr>
          <p:cNvPr id="6" name="Picture 2">
            <a:extLst>
              <a:ext uri="{FF2B5EF4-FFF2-40B4-BE49-F238E27FC236}">
                <a16:creationId xmlns:a16="http://schemas.microsoft.com/office/drawing/2014/main" id="{8468E29B-F669-8C47-8A09-54823BB62DC3}"/>
              </a:ext>
            </a:extLst>
          </p:cNvPr>
          <p:cNvPicPr>
            <a:picLocks noChangeAspect="1" noChangeArrowheads="1"/>
          </p:cNvPicPr>
          <p:nvPr userDrawn="1"/>
        </p:nvPicPr>
        <p:blipFill>
          <a:blip r:embed="rId9"/>
          <a:stretch>
            <a:fillRect/>
          </a:stretch>
        </p:blipFill>
        <p:spPr bwMode="auto">
          <a:xfrm>
            <a:off x="0" y="6223000"/>
            <a:ext cx="12192000" cy="635000"/>
          </a:xfrm>
          <a:prstGeom prst="rect">
            <a:avLst/>
          </a:prstGeom>
          <a:noFill/>
        </p:spPr>
      </p:pic>
      <p:graphicFrame>
        <p:nvGraphicFramePr>
          <p:cNvPr id="5" name="表格 3">
            <a:extLst>
              <a:ext uri="{FF2B5EF4-FFF2-40B4-BE49-F238E27FC236}">
                <a16:creationId xmlns:a16="http://schemas.microsoft.com/office/drawing/2014/main" id="{76808D85-A897-45E3-B42E-694405BF3180}"/>
              </a:ext>
            </a:extLst>
          </p:cNvPr>
          <p:cNvGraphicFramePr>
            <a:graphicFrameLocks noGrp="1"/>
          </p:cNvGraphicFramePr>
          <p:nvPr userDrawn="1">
            <p:extLst>
              <p:ext uri="{D42A27DB-BD31-4B8C-83A1-F6EECF244321}">
                <p14:modId xmlns:p14="http://schemas.microsoft.com/office/powerpoint/2010/main" val="4001137306"/>
              </p:ext>
            </p:extLst>
          </p:nvPr>
        </p:nvGraphicFramePr>
        <p:xfrm>
          <a:off x="10457895" y="249315"/>
          <a:ext cx="1589104" cy="304800"/>
        </p:xfrm>
        <a:graphic>
          <a:graphicData uri="http://schemas.openxmlformats.org/drawingml/2006/table">
            <a:tbl>
              <a:tblPr firstRow="1" bandRow="1">
                <a:tableStyleId>{5C22544A-7EE6-4342-B048-85BDC9FD1C3A}</a:tableStyleId>
              </a:tblPr>
              <a:tblGrid>
                <a:gridCol w="794552">
                  <a:extLst>
                    <a:ext uri="{9D8B030D-6E8A-4147-A177-3AD203B41FA5}">
                      <a16:colId xmlns:a16="http://schemas.microsoft.com/office/drawing/2014/main" val="3681990489"/>
                    </a:ext>
                  </a:extLst>
                </a:gridCol>
                <a:gridCol w="794552">
                  <a:extLst>
                    <a:ext uri="{9D8B030D-6E8A-4147-A177-3AD203B41FA5}">
                      <a16:colId xmlns:a16="http://schemas.microsoft.com/office/drawing/2014/main" val="621877166"/>
                    </a:ext>
                  </a:extLst>
                </a:gridCol>
              </a:tblGrid>
              <a:tr h="301266">
                <a:tc>
                  <a:txBody>
                    <a:bodyPr/>
                    <a:lstStyle/>
                    <a:p>
                      <a:pPr algn="ctr"/>
                      <a:r>
                        <a:rPr lang="zh-CN" altLang="en-US" sz="1400" b="0">
                          <a:ln>
                            <a:solidFill>
                              <a:schemeClr val="bg1"/>
                            </a:solidFill>
                          </a:ln>
                          <a:solidFill>
                            <a:schemeClr val="bg1"/>
                          </a:solidFill>
                          <a:latin typeface="微软雅黑" panose="020B0503020204020204" pitchFamily="34" charset="-122"/>
                          <a:ea typeface="微软雅黑" panose="020B0503020204020204" pitchFamily="34" charset="-122"/>
                        </a:rPr>
                        <a:t>密级</a:t>
                      </a:r>
                      <a:endParaRPr lang="en-US" sz="1400" b="0">
                        <a:ln>
                          <a:solidFill>
                            <a:schemeClr val="bg1"/>
                          </a:solidFill>
                        </a:ln>
                        <a:solidFill>
                          <a:schemeClr val="bg1"/>
                        </a:solidFill>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zh-CN" altLang="en-US" sz="1400" b="0">
                          <a:ln>
                            <a:solidFill>
                              <a:schemeClr val="bg1"/>
                            </a:solidFill>
                          </a:ln>
                          <a:solidFill>
                            <a:schemeClr val="bg1"/>
                          </a:solidFill>
                          <a:latin typeface="微软雅黑" panose="020B0503020204020204" pitchFamily="34" charset="-122"/>
                          <a:ea typeface="微软雅黑" panose="020B0503020204020204" pitchFamily="34" charset="-122"/>
                        </a:rPr>
                        <a:t>秘密</a:t>
                      </a:r>
                      <a:endParaRPr lang="en-US" sz="1400" b="0">
                        <a:ln>
                          <a:solidFill>
                            <a:schemeClr val="bg1"/>
                          </a:solidFill>
                        </a:ln>
                        <a:solidFill>
                          <a:schemeClr val="bg1"/>
                        </a:solidFill>
                        <a:latin typeface="微软雅黑" panose="020B0503020204020204" pitchFamily="34" charset="-122"/>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15350328"/>
                  </a:ext>
                </a:extLst>
              </a:tr>
            </a:tbl>
          </a:graphicData>
        </a:graphic>
      </p:graphicFrame>
      <p:pic>
        <p:nvPicPr>
          <p:cNvPr id="8" name="Picture 2">
            <a:extLst>
              <a:ext uri="{FF2B5EF4-FFF2-40B4-BE49-F238E27FC236}">
                <a16:creationId xmlns:a16="http://schemas.microsoft.com/office/drawing/2014/main" id="{984593E2-E970-4077-B4F1-446E54812601}"/>
              </a:ext>
            </a:extLst>
          </p:cNvPr>
          <p:cNvPicPr>
            <a:picLocks noChangeAspect="1" noChangeArrowheads="1"/>
          </p:cNvPicPr>
          <p:nvPr userDrawn="1"/>
        </p:nvPicPr>
        <p:blipFill rotWithShape="1">
          <a:blip r:embed="rId9"/>
          <a:srcRect l="18015" r="22367"/>
          <a:stretch/>
        </p:blipFill>
        <p:spPr bwMode="auto">
          <a:xfrm>
            <a:off x="4923453" y="6223000"/>
            <a:ext cx="7268547" cy="635000"/>
          </a:xfrm>
          <a:prstGeom prst="rect">
            <a:avLst/>
          </a:prstGeom>
          <a:noFill/>
        </p:spPr>
      </p:pic>
      <p:sp>
        <p:nvSpPr>
          <p:cNvPr id="7" name="矩形 6">
            <a:extLst>
              <a:ext uri="{FF2B5EF4-FFF2-40B4-BE49-F238E27FC236}">
                <a16:creationId xmlns:a16="http://schemas.microsoft.com/office/drawing/2014/main" id="{7E534DE7-EA3E-4070-9158-06ED85613222}"/>
              </a:ext>
            </a:extLst>
          </p:cNvPr>
          <p:cNvSpPr/>
          <p:nvPr userDrawn="1"/>
        </p:nvSpPr>
        <p:spPr>
          <a:xfrm>
            <a:off x="2108660" y="6223000"/>
            <a:ext cx="10083339" cy="646331"/>
          </a:xfrm>
          <a:prstGeom prst="rect">
            <a:avLst/>
          </a:prstGeom>
        </p:spPr>
        <p:txBody>
          <a:bodyPr wrap="square">
            <a:spAutoFit/>
          </a:bodyPr>
          <a:lstStyle/>
          <a:p>
            <a:r>
              <a:rPr lang="zh-CN" altLang="en-US" sz="1200">
                <a:solidFill>
                  <a:schemeClr val="bg1"/>
                </a:solidFill>
                <a:latin typeface="微软雅黑 Light" panose="020B0502040204020203" pitchFamily="34" charset="-122"/>
                <a:ea typeface="微软雅黑 Light" panose="020B0502040204020203" pitchFamily="34" charset="-122"/>
              </a:rPr>
              <a:t>未经明确授权，本文档禁止拷贝、截屏、拍摄及其他扩散行为，如有发现按违反信息安全红线处理</a:t>
            </a:r>
            <a:endParaRPr lang="en-US" altLang="zh-CN" sz="1200">
              <a:solidFill>
                <a:schemeClr val="bg1"/>
              </a:solidFill>
              <a:latin typeface="微软雅黑 Light" panose="020B0502040204020203" pitchFamily="34" charset="-122"/>
              <a:ea typeface="微软雅黑 Light" panose="020B0502040204020203" pitchFamily="34" charset="-122"/>
            </a:endParaRPr>
          </a:p>
          <a:p>
            <a:r>
              <a:rPr lang="en-US" altLang="zh-CN" sz="1200" b="0" i="0" kern="1200">
                <a:solidFill>
                  <a:schemeClr val="bg1"/>
                </a:solidFill>
                <a:effectLst/>
                <a:latin typeface="+mn-lt"/>
                <a:ea typeface="+mn-ea"/>
                <a:cs typeface="+mn-cs"/>
              </a:rPr>
              <a:t>Withoutexplicitauthorization,thisdocumentprohibitscopying,screencapture,filmingandotherproliferationactions,iffound,itwillbehandledinaccordancewiththeinformationsecurityredline.</a:t>
            </a:r>
            <a:endParaRPr lang="zh-CN" altLang="en-US" sz="1200" b="0" i="0" kern="1200">
              <a:solidFill>
                <a:schemeClr val="bg1"/>
              </a:solidFill>
              <a:effectLst/>
              <a:latin typeface="+mn-lt"/>
              <a:ea typeface="+mn-ea"/>
              <a:cs typeface="+mn-cs"/>
            </a:endParaRPr>
          </a:p>
        </p:txBody>
      </p:sp>
    </p:spTree>
    <p:extLst>
      <p:ext uri="{BB962C8B-B14F-4D97-AF65-F5344CB8AC3E}">
        <p14:creationId xmlns:p14="http://schemas.microsoft.com/office/powerpoint/2010/main" val="2311535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chart" Target="../charts/chart1.xml"/><Relationship Id="rId5" Type="http://schemas.openxmlformats.org/officeDocument/2006/relationships/image" Target="../media/image7.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6B6AEFA-A7FB-480C-8EAB-70F332AC53DF}"/>
              </a:ext>
            </a:extLst>
          </p:cNvPr>
          <p:cNvSpPr/>
          <p:nvPr/>
        </p:nvSpPr>
        <p:spPr>
          <a:xfrm>
            <a:off x="287617" y="1736229"/>
            <a:ext cx="9874873" cy="295465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30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Shree Devanagari 714"/>
              </a:rPr>
              <a:t>2025</a:t>
            </a:r>
            <a:r>
              <a:rPr kumimoji="0" lang="zh-CN" altLang="en-US" sz="3600" b="1" i="0" u="none" strike="noStrike" kern="1200" cap="none" spc="30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Shree Devanagari 714"/>
              </a:rPr>
              <a:t>年机制竞价结果</a:t>
            </a:r>
            <a:r>
              <a:rPr lang="zh-CN" altLang="en-US" sz="3600" b="1" spc="300" dirty="0">
                <a:solidFill>
                  <a:srgbClr val="FFFFFF"/>
                </a:solidFill>
                <a:latin typeface="微软雅黑" panose="020B0503020204020204" pitchFamily="34" charset="-122"/>
                <a:ea typeface="微软雅黑" panose="020B0503020204020204" pitchFamily="34" charset="-122"/>
                <a:cs typeface="Shree Devanagari 714"/>
              </a:rPr>
              <a:t>复盘</a:t>
            </a:r>
            <a:r>
              <a:rPr kumimoji="0" lang="zh-CN" altLang="en-US" sz="3600" b="1" i="0" u="none" strike="noStrike" kern="1200" cap="none" spc="30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Shree Devanagari 714"/>
              </a:rPr>
              <a:t>分析</a:t>
            </a:r>
            <a:endParaRPr kumimoji="0" lang="en-US" altLang="zh-CN" sz="3600" b="1" i="0" u="none" strike="noStrike" kern="1200" cap="none" spc="30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Shree Devanagari 71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36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hree Devanagari 714"/>
            </a:endParaRPr>
          </a:p>
          <a:p>
            <a:pPr marL="0" marR="0" lvl="0" indent="0" algn="l" defTabSz="914400" rtl="0" eaLnBrk="1" fontAlgn="auto" latinLnBrk="0" hangingPunct="1">
              <a:lnSpc>
                <a:spcPct val="100000"/>
              </a:lnSpc>
              <a:spcBef>
                <a:spcPts val="2400"/>
              </a:spcBef>
              <a:spcAft>
                <a:spcPts val="0"/>
              </a:spcAft>
              <a:buClrTx/>
              <a:buSzTx/>
              <a:buFontTx/>
              <a:buNone/>
              <a:tabLst/>
              <a:defRPr/>
            </a:pPr>
            <a:endParaRPr kumimoji="0" lang="en-US" altLang="zh-CN" sz="18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hree Devanagari 714"/>
            </a:endParaRPr>
          </a:p>
          <a:p>
            <a:pPr marL="0" marR="0" lvl="0" indent="0" algn="l" defTabSz="914400" rtl="0" eaLnBrk="1" fontAlgn="auto" latinLnBrk="0" hangingPunct="1">
              <a:lnSpc>
                <a:spcPct val="100000"/>
              </a:lnSpc>
              <a:spcBef>
                <a:spcPts val="2400"/>
              </a:spcBef>
              <a:spcAft>
                <a:spcPts val="0"/>
              </a:spcAft>
              <a:buClrTx/>
              <a:buSzTx/>
              <a:buFontTx/>
              <a:buNone/>
              <a:tabLst/>
              <a:defRPr/>
            </a:pPr>
            <a:endParaRPr kumimoji="0" lang="en-US" altLang="zh-CN" sz="18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hree Devanagari 714"/>
            </a:endParaRPr>
          </a:p>
          <a:p>
            <a:pPr marL="0" marR="0" lvl="0" indent="0" algn="l" defTabSz="914400" rtl="0" eaLnBrk="1" fontAlgn="auto" latinLnBrk="0" hangingPunct="1">
              <a:lnSpc>
                <a:spcPct val="100000"/>
              </a:lnSpc>
              <a:spcBef>
                <a:spcPts val="2400"/>
              </a:spcBef>
              <a:spcAft>
                <a:spcPts val="0"/>
              </a:spcAft>
              <a:buClrTx/>
              <a:buSzTx/>
              <a:buFontTx/>
              <a:buNone/>
              <a:tabLst/>
              <a:defRPr/>
            </a:pPr>
            <a:r>
              <a:rPr kumimoji="0" lang="en-US" altLang="zh-CN" sz="18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hree Devanagari 714"/>
              </a:rPr>
              <a:t>2026/2/26</a:t>
            </a:r>
            <a:endParaRPr kumimoji="0" lang="en-US" altLang="zh-CN" sz="12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hree Devanagari 714"/>
            </a:endParaRPr>
          </a:p>
        </p:txBody>
      </p:sp>
    </p:spTree>
    <p:extLst>
      <p:ext uri="{BB962C8B-B14F-4D97-AF65-F5344CB8AC3E}">
        <p14:creationId xmlns:p14="http://schemas.microsoft.com/office/powerpoint/2010/main" val="1663634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4C433-B730-7B07-BEF8-79800C4F90DC}"/>
            </a:ext>
          </a:extLst>
        </p:cNvPr>
        <p:cNvGrpSpPr/>
        <p:nvPr/>
      </p:nvGrpSpPr>
      <p:grpSpPr>
        <a:xfrm>
          <a:off x="0" y="0"/>
          <a:ext cx="0" cy="0"/>
          <a:chOff x="0" y="0"/>
          <a:chExt cx="0" cy="0"/>
        </a:xfrm>
      </p:grpSpPr>
      <p:pic>
        <p:nvPicPr>
          <p:cNvPr id="25" name="图片 24">
            <a:extLst>
              <a:ext uri="{FF2B5EF4-FFF2-40B4-BE49-F238E27FC236}">
                <a16:creationId xmlns:a16="http://schemas.microsoft.com/office/drawing/2014/main" id="{9C858AAF-C637-FB31-AF1A-26D9DA75F2AC}"/>
              </a:ext>
            </a:extLst>
          </p:cNvPr>
          <p:cNvPicPr>
            <a:picLocks noChangeAspect="1"/>
          </p:cNvPicPr>
          <p:nvPr/>
        </p:nvPicPr>
        <p:blipFill>
          <a:blip r:embed="rId5"/>
          <a:stretch>
            <a:fillRect/>
          </a:stretch>
        </p:blipFill>
        <p:spPr>
          <a:xfrm>
            <a:off x="960120" y="4024189"/>
            <a:ext cx="9853605" cy="2804249"/>
          </a:xfrm>
          <a:prstGeom prst="rect">
            <a:avLst/>
          </a:prstGeom>
        </p:spPr>
      </p:pic>
      <p:sp>
        <p:nvSpPr>
          <p:cNvPr id="7" name="文本框 6">
            <a:extLst>
              <a:ext uri="{FF2B5EF4-FFF2-40B4-BE49-F238E27FC236}">
                <a16:creationId xmlns:a16="http://schemas.microsoft.com/office/drawing/2014/main" id="{5A81F35F-43A3-CB56-AF8B-5495CC4A8A21}"/>
              </a:ext>
            </a:extLst>
          </p:cNvPr>
          <p:cNvSpPr txBox="1"/>
          <p:nvPr/>
        </p:nvSpPr>
        <p:spPr>
          <a:xfrm>
            <a:off x="0" y="203720"/>
            <a:ext cx="431370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1.2025</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年机制竞价结果总览</a:t>
            </a:r>
          </a:p>
        </p:txBody>
      </p:sp>
      <p:sp>
        <p:nvSpPr>
          <p:cNvPr id="3" name="矩形: 圆角 2">
            <a:extLst>
              <a:ext uri="{FF2B5EF4-FFF2-40B4-BE49-F238E27FC236}">
                <a16:creationId xmlns:a16="http://schemas.microsoft.com/office/drawing/2014/main" id="{500A1E5F-3186-D757-F14D-01EC2454AC10}"/>
              </a:ext>
            </a:extLst>
          </p:cNvPr>
          <p:cNvSpPr/>
          <p:nvPr/>
        </p:nvSpPr>
        <p:spPr>
          <a:xfrm>
            <a:off x="9850758" y="922649"/>
            <a:ext cx="1938526" cy="545688"/>
          </a:xfrm>
          <a:prstGeom prst="roundRect">
            <a:avLst/>
          </a:prstGeom>
          <a:solidFill>
            <a:srgbClr val="99CB38">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图表 4">
            <a:extLst>
              <a:ext uri="{FF2B5EF4-FFF2-40B4-BE49-F238E27FC236}">
                <a16:creationId xmlns:a16="http://schemas.microsoft.com/office/drawing/2014/main" id="{7D2BA64F-BA41-8CFA-0CDF-431B7C446BB1}"/>
              </a:ext>
            </a:extLst>
          </p:cNvPr>
          <p:cNvGraphicFramePr>
            <a:graphicFrameLocks/>
          </p:cNvGraphicFramePr>
          <p:nvPr>
            <p:extLst>
              <p:ext uri="{D42A27DB-BD31-4B8C-83A1-F6EECF244321}">
                <p14:modId xmlns:p14="http://schemas.microsoft.com/office/powerpoint/2010/main" val="1564559835"/>
              </p:ext>
            </p:extLst>
          </p:nvPr>
        </p:nvGraphicFramePr>
        <p:xfrm>
          <a:off x="0" y="1857652"/>
          <a:ext cx="12192000" cy="1810814"/>
        </p:xfrm>
        <a:graphic>
          <a:graphicData uri="http://schemas.openxmlformats.org/drawingml/2006/chart">
            <c:chart xmlns:c="http://schemas.openxmlformats.org/drawingml/2006/chart" xmlns:r="http://schemas.openxmlformats.org/officeDocument/2006/relationships" r:id="rId6"/>
          </a:graphicData>
        </a:graphic>
      </p:graphicFrame>
      <p:cxnSp>
        <p:nvCxnSpPr>
          <p:cNvPr id="6" name="直接连接符 5">
            <a:extLst>
              <a:ext uri="{FF2B5EF4-FFF2-40B4-BE49-F238E27FC236}">
                <a16:creationId xmlns:a16="http://schemas.microsoft.com/office/drawing/2014/main" id="{1FB7A4C3-C7DB-93E0-46E3-6D221E6E012F}"/>
              </a:ext>
            </a:extLst>
          </p:cNvPr>
          <p:cNvCxnSpPr/>
          <p:nvPr/>
        </p:nvCxnSpPr>
        <p:spPr>
          <a:xfrm>
            <a:off x="0" y="816562"/>
            <a:ext cx="12192000" cy="0"/>
          </a:xfrm>
          <a:prstGeom prst="line">
            <a:avLst/>
          </a:prstGeom>
          <a:noFill/>
          <a:ln w="28575" cap="flat">
            <a:solidFill>
              <a:srgbClr val="2F5597"/>
            </a:solidFill>
            <a:prstDash val="solid"/>
            <a:miter lim="800000"/>
          </a:ln>
          <a:effectLst/>
          <a:sp3d/>
        </p:spPr>
        <p:style>
          <a:lnRef idx="0">
            <a:scrgbClr r="0" g="0" b="0"/>
          </a:lnRef>
          <a:fillRef idx="0">
            <a:scrgbClr r="0" g="0" b="0"/>
          </a:fillRef>
          <a:effectRef idx="0">
            <a:scrgbClr r="0" g="0" b="0"/>
          </a:effectRef>
          <a:fontRef idx="none"/>
        </p:style>
      </p:cxnSp>
      <p:sp>
        <p:nvSpPr>
          <p:cNvPr id="8" name="为人类…">
            <a:extLst>
              <a:ext uri="{FF2B5EF4-FFF2-40B4-BE49-F238E27FC236}">
                <a16:creationId xmlns:a16="http://schemas.microsoft.com/office/drawing/2014/main" id="{2A3C491D-0BAB-5D60-8DB1-A869B3BC701C}"/>
              </a:ext>
            </a:extLst>
          </p:cNvPr>
          <p:cNvSpPr txBox="1"/>
          <p:nvPr>
            <p:custDataLst>
              <p:tags r:id="rId1"/>
            </p:custDataLst>
          </p:nvPr>
        </p:nvSpPr>
        <p:spPr>
          <a:xfrm>
            <a:off x="67749" y="1501929"/>
            <a:ext cx="943848" cy="369332"/>
          </a:xfrm>
          <a:prstGeom prst="rect">
            <a:avLst/>
          </a:prstGeom>
          <a:ln w="25400">
            <a:miter lim="400000"/>
          </a:ln>
        </p:spPr>
        <p:txBody>
          <a:bodyPr wrap="none" lIns="60960" tIns="60960" rIns="60960" bIns="6096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5100">
                <a:solidFill>
                  <a:srgbClr val="FFFFFF"/>
                </a:solidFill>
                <a:latin typeface="Source Han Sans CN Light"/>
                <a:ea typeface="Source Han Sans CN Light"/>
                <a:cs typeface="Source Han Sans CN Light"/>
                <a:sym typeface="Source Han Sans CN Light"/>
              </a:defRPr>
            </a:pPr>
            <a:r>
              <a:rPr lang="zh-CN" altLang="en-US" sz="1600" b="1" dirty="0">
                <a:solidFill>
                  <a:srgbClr val="000000"/>
                </a:solidFill>
                <a:latin typeface="微软雅黑" panose="020B0503020204020204" pitchFamily="34" charset="-122"/>
                <a:ea typeface="微软雅黑" panose="020B0503020204020204" pitchFamily="34" charset="-122"/>
                <a:cs typeface="+mn-ea"/>
                <a:sym typeface="+mn-lt"/>
              </a:rPr>
              <a:t>高价场次</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9" name="为人类…">
            <a:extLst>
              <a:ext uri="{FF2B5EF4-FFF2-40B4-BE49-F238E27FC236}">
                <a16:creationId xmlns:a16="http://schemas.microsoft.com/office/drawing/2014/main" id="{AB1765E9-D517-47CA-998D-3B4C75DB6B04}"/>
              </a:ext>
            </a:extLst>
          </p:cNvPr>
          <p:cNvSpPr txBox="1"/>
          <p:nvPr>
            <p:custDataLst>
              <p:tags r:id="rId2"/>
            </p:custDataLst>
          </p:nvPr>
        </p:nvSpPr>
        <p:spPr>
          <a:xfrm>
            <a:off x="58605" y="3695340"/>
            <a:ext cx="1354217" cy="369332"/>
          </a:xfrm>
          <a:prstGeom prst="rect">
            <a:avLst/>
          </a:prstGeom>
          <a:ln w="25400">
            <a:miter lim="400000"/>
          </a:ln>
        </p:spPr>
        <p:txBody>
          <a:bodyPr wrap="none" lIns="60960" tIns="60960" rIns="60960" bIns="6096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5100">
                <a:solidFill>
                  <a:srgbClr val="FFFFFF"/>
                </a:solidFill>
                <a:latin typeface="Source Han Sans CN Light"/>
                <a:ea typeface="Source Han Sans CN Light"/>
                <a:cs typeface="Source Han Sans CN Light"/>
                <a:sym typeface="Source Han Sans CN Light"/>
              </a:defRPr>
            </a:pPr>
            <a:r>
              <a:rPr lang="zh-CN" altLang="en-US" sz="1600" b="1" dirty="0">
                <a:solidFill>
                  <a:srgbClr val="000000"/>
                </a:solidFill>
                <a:latin typeface="微软雅黑" panose="020B0503020204020204" pitchFamily="34" charset="-122"/>
                <a:ea typeface="微软雅黑" panose="020B0503020204020204" pitchFamily="34" charset="-122"/>
                <a:cs typeface="+mn-ea"/>
                <a:sym typeface="+mn-lt"/>
              </a:rPr>
              <a:t>相对低价场次</a:t>
            </a:r>
            <a:endParaRPr kumimoji="0" lang="zh-CN" altLang="en-US" sz="1600" b="1" i="0" u="none" strike="noStrike" kern="1200" cap="none" spc="0" normalizeH="0" baseline="0" noProof="0" dirty="0">
              <a:ln>
                <a:noFill/>
              </a:ln>
              <a:solidFill>
                <a:srgbClr val="000000"/>
              </a:solidFill>
              <a:effectLst/>
              <a:highlight>
                <a:srgbClr val="FF0000"/>
              </a:highlight>
              <a:uLnTx/>
              <a:uFillTx/>
              <a:latin typeface="微软雅黑" panose="020B0503020204020204" pitchFamily="34" charset="-122"/>
              <a:ea typeface="微软雅黑" panose="020B0503020204020204" pitchFamily="34" charset="-122"/>
              <a:cs typeface="+mn-ea"/>
              <a:sym typeface="+mn-lt"/>
            </a:endParaRPr>
          </a:p>
        </p:txBody>
      </p:sp>
      <p:sp>
        <p:nvSpPr>
          <p:cNvPr id="12" name="文本框 11">
            <a:extLst>
              <a:ext uri="{FF2B5EF4-FFF2-40B4-BE49-F238E27FC236}">
                <a16:creationId xmlns:a16="http://schemas.microsoft.com/office/drawing/2014/main" id="{0CF34655-62DE-A912-03BC-1634FCC41DD1}"/>
              </a:ext>
            </a:extLst>
          </p:cNvPr>
          <p:cNvSpPr txBox="1"/>
          <p:nvPr/>
        </p:nvSpPr>
        <p:spPr>
          <a:xfrm>
            <a:off x="8760879" y="1552882"/>
            <a:ext cx="355157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5100">
                <a:solidFill>
                  <a:srgbClr val="FFFFFF"/>
                </a:solidFill>
                <a:latin typeface="Source Han Sans CN Light"/>
                <a:ea typeface="Source Han Sans CN Light"/>
                <a:cs typeface="Source Han Sans CN Light"/>
                <a:sym typeface="Source Han Sans CN Ligh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注：浙江、江苏、福建、广东、海南无风电结果。</a:t>
            </a:r>
          </a:p>
        </p:txBody>
      </p:sp>
      <p:sp>
        <p:nvSpPr>
          <p:cNvPr id="16" name="矩形: 圆角 15">
            <a:extLst>
              <a:ext uri="{FF2B5EF4-FFF2-40B4-BE49-F238E27FC236}">
                <a16:creationId xmlns:a16="http://schemas.microsoft.com/office/drawing/2014/main" id="{64E48BB5-43C2-BAFF-73A1-1A2F385C86E4}"/>
              </a:ext>
            </a:extLst>
          </p:cNvPr>
          <p:cNvSpPr/>
          <p:nvPr/>
        </p:nvSpPr>
        <p:spPr>
          <a:xfrm>
            <a:off x="3349781" y="1933023"/>
            <a:ext cx="2372009" cy="1799178"/>
          </a:xfrm>
          <a:prstGeom prst="round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587856ED-296F-D2CE-3046-E4B0D68E16D5}"/>
              </a:ext>
            </a:extLst>
          </p:cNvPr>
          <p:cNvSpPr/>
          <p:nvPr/>
        </p:nvSpPr>
        <p:spPr>
          <a:xfrm>
            <a:off x="3520473" y="4415730"/>
            <a:ext cx="609201" cy="2049078"/>
          </a:xfrm>
          <a:prstGeom prst="round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34253A0D-034B-A5FF-7FCA-2D6032351C13}"/>
              </a:ext>
            </a:extLst>
          </p:cNvPr>
          <p:cNvSpPr/>
          <p:nvPr/>
        </p:nvSpPr>
        <p:spPr>
          <a:xfrm>
            <a:off x="1715331" y="1933023"/>
            <a:ext cx="715224" cy="1591248"/>
          </a:xfrm>
          <a:prstGeom prst="round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00E75E78-3D1F-A4C7-05CA-6B9E94406B5A}"/>
              </a:ext>
            </a:extLst>
          </p:cNvPr>
          <p:cNvSpPr/>
          <p:nvPr/>
        </p:nvSpPr>
        <p:spPr>
          <a:xfrm>
            <a:off x="5222999" y="4392742"/>
            <a:ext cx="609201" cy="2245802"/>
          </a:xfrm>
          <a:prstGeom prst="round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868A96F0-E444-161C-EFCE-3947CFFD3B35}"/>
              </a:ext>
            </a:extLst>
          </p:cNvPr>
          <p:cNvSpPr/>
          <p:nvPr/>
        </p:nvSpPr>
        <p:spPr>
          <a:xfrm>
            <a:off x="7888922" y="4432557"/>
            <a:ext cx="609201" cy="2205987"/>
          </a:xfrm>
          <a:prstGeom prst="round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79BBB8C3-44E3-FD74-978E-BEE961829194}"/>
              </a:ext>
            </a:extLst>
          </p:cNvPr>
          <p:cNvSpPr/>
          <p:nvPr/>
        </p:nvSpPr>
        <p:spPr>
          <a:xfrm>
            <a:off x="9485878" y="4415730"/>
            <a:ext cx="609201" cy="2222814"/>
          </a:xfrm>
          <a:prstGeom prst="round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9F15560B-9FC8-FCC7-F6CE-6B5EA6334969}"/>
              </a:ext>
            </a:extLst>
          </p:cNvPr>
          <p:cNvSpPr/>
          <p:nvPr/>
        </p:nvSpPr>
        <p:spPr>
          <a:xfrm>
            <a:off x="10069108" y="1053076"/>
            <a:ext cx="529215" cy="276999"/>
          </a:xfrm>
          <a:prstGeom prst="round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4AF75090-F491-D043-ECEC-99B07B877BEE}"/>
              </a:ext>
            </a:extLst>
          </p:cNvPr>
          <p:cNvSpPr txBox="1"/>
          <p:nvPr/>
        </p:nvSpPr>
        <p:spPr>
          <a:xfrm>
            <a:off x="10666521" y="1070878"/>
            <a:ext cx="122334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5100">
                <a:solidFill>
                  <a:srgbClr val="FFFFFF"/>
                </a:solidFill>
                <a:latin typeface="Source Han Sans CN Light"/>
                <a:ea typeface="Source Han Sans CN Light"/>
                <a:cs typeface="Source Han Sans CN Light"/>
                <a:sym typeface="Source Han Sans CN Light"/>
              </a:defRPr>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远景参与省份</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4" name="文本框 23">
            <a:extLst>
              <a:ext uri="{FF2B5EF4-FFF2-40B4-BE49-F238E27FC236}">
                <a16:creationId xmlns:a16="http://schemas.microsoft.com/office/drawing/2014/main" id="{6374F451-1A81-E240-99C6-F4054236FD28}"/>
              </a:ext>
            </a:extLst>
          </p:cNvPr>
          <p:cNvSpPr txBox="1"/>
          <p:nvPr/>
        </p:nvSpPr>
        <p:spPr>
          <a:xfrm>
            <a:off x="0" y="850629"/>
            <a:ext cx="9576437" cy="61369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sz="5100">
                <a:solidFill>
                  <a:srgbClr val="FFFFFF"/>
                </a:solidFill>
                <a:latin typeface="Source Han Sans CN Light"/>
                <a:ea typeface="Source Han Sans CN Light"/>
                <a:cs typeface="Source Han Sans CN Light"/>
                <a:sym typeface="Source Han Sans CN Light"/>
              </a:defRPr>
            </a:pP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2025</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年远景共参与</a:t>
            </a: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8</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省</a:t>
            </a: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21</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个风电项目的</a:t>
            </a:r>
            <a:r>
              <a:rPr lang="zh-CN" altLang="en-US" sz="1200" i="0" dirty="0">
                <a:solidFill>
                  <a:srgbClr val="0F1115"/>
                </a:solidFill>
                <a:effectLst/>
                <a:latin typeface="quote-cjk-patch"/>
              </a:rPr>
              <a:t>机制竞价工作，其中大部分省份竞价结果与预期一致，但广西机制电价显著高于预期，吉林机制电价低于预期，后面会进一步分析原因。下面是国内</a:t>
            </a:r>
            <a:r>
              <a:rPr lang="en-US" altLang="zh-CN" sz="1200" i="0" dirty="0">
                <a:solidFill>
                  <a:srgbClr val="0F1115"/>
                </a:solidFill>
                <a:effectLst/>
                <a:latin typeface="quote-cjk-patch"/>
              </a:rPr>
              <a:t>25</a:t>
            </a:r>
            <a:r>
              <a:rPr lang="zh-CN" altLang="en-US" sz="1200" i="0" dirty="0">
                <a:solidFill>
                  <a:srgbClr val="0F1115"/>
                </a:solidFill>
                <a:effectLst/>
                <a:latin typeface="quote-cjk-patch"/>
              </a:rPr>
              <a:t>年各主要场次机制竞价结果。</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36767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C40ED-C191-73C9-3084-CCDEA6434DEE}"/>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2D94D18B-BFEF-46E0-5AD2-2890A940AB29}"/>
              </a:ext>
            </a:extLst>
          </p:cNvPr>
          <p:cNvSpPr txBox="1"/>
          <p:nvPr/>
        </p:nvSpPr>
        <p:spPr>
          <a:xfrm>
            <a:off x="13738" y="198345"/>
            <a:ext cx="772208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2. 2025</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年电力现货市场价格仍是机制竞价的重要参考</a:t>
            </a:r>
          </a:p>
        </p:txBody>
      </p:sp>
      <p:sp>
        <p:nvSpPr>
          <p:cNvPr id="3" name="文本框 2">
            <a:extLst>
              <a:ext uri="{FF2B5EF4-FFF2-40B4-BE49-F238E27FC236}">
                <a16:creationId xmlns:a16="http://schemas.microsoft.com/office/drawing/2014/main" id="{E9078020-0EF0-4BDD-1D6F-C4A9223E4606}"/>
              </a:ext>
            </a:extLst>
          </p:cNvPr>
          <p:cNvSpPr txBox="1"/>
          <p:nvPr/>
        </p:nvSpPr>
        <p:spPr>
          <a:xfrm>
            <a:off x="13738" y="897794"/>
            <a:ext cx="12192000" cy="1319977"/>
          </a:xfrm>
          <a:prstGeom prst="rect">
            <a:avLst/>
          </a:prstGeom>
          <a:noFill/>
        </p:spPr>
        <p:txBody>
          <a:bodyPr wrap="square">
            <a:spAutoFit/>
          </a:bodyPr>
          <a:lstStyle/>
          <a:p>
            <a:pPr marL="171450" marR="0" lvl="0" indent="-171450" algn="l" defTabSz="914400" rtl="0" eaLnBrk="1" fontAlgn="auto" latinLnBrk="0" hangingPunct="1">
              <a:lnSpc>
                <a:spcPct val="200000"/>
              </a:lnSpc>
              <a:spcBef>
                <a:spcPts val="0"/>
              </a:spcBef>
              <a:spcAft>
                <a:spcPts val="0"/>
              </a:spcAft>
              <a:buClrTx/>
              <a:buSzTx/>
              <a:buFont typeface="Wingdings" panose="05000000000000000000" pitchFamily="2" charset="2"/>
              <a:buChar char="p"/>
              <a:tabLst/>
              <a:defRPr sz="5100">
                <a:solidFill>
                  <a:srgbClr val="FFFFFF"/>
                </a:solidFill>
                <a:latin typeface="Source Han Sans CN Light"/>
                <a:ea typeface="Source Han Sans CN Light"/>
                <a:cs typeface="Source Han Sans CN Light"/>
                <a:sym typeface="Source Han Sans CN Light"/>
              </a:defRPr>
            </a:pPr>
            <a:r>
              <a:rPr lang="zh-CN" altLang="en-US" sz="1400" b="1" dirty="0">
                <a:solidFill>
                  <a:srgbClr val="000000"/>
                </a:solidFill>
                <a:latin typeface="微软雅黑" panose="020B0503020204020204" pitchFamily="34" charset="-122"/>
                <a:ea typeface="微软雅黑" panose="020B0503020204020204" pitchFamily="34" charset="-122"/>
                <a:cs typeface="+mn-ea"/>
                <a:sym typeface="+mn-lt"/>
              </a:rPr>
              <a:t>参与机制竞价的项目基本确定投产</a:t>
            </a: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：绝大部分省份参与机制竞价的前提条件是获得接入系统批复并给出承诺全容量并网时间，此时已通过投资决策阶段</a:t>
            </a:r>
            <a:r>
              <a:rPr lang="zh-CN" altLang="en-US" sz="1400" i="0" dirty="0">
                <a:solidFill>
                  <a:srgbClr val="0F1115"/>
                </a:solidFill>
                <a:effectLst/>
                <a:latin typeface="quote-cjk-patch"/>
              </a:rPr>
              <a:t>。</a:t>
            </a:r>
            <a:endParaRPr lang="en-US" altLang="zh-CN" sz="1400" i="0" dirty="0">
              <a:solidFill>
                <a:srgbClr val="0F1115"/>
              </a:solidFill>
              <a:effectLst/>
              <a:latin typeface="quote-cjk-patch"/>
            </a:endParaRPr>
          </a:p>
          <a:p>
            <a:pPr marL="171450" marR="0" lvl="0" indent="-171450" algn="l" defTabSz="914400" rtl="0" eaLnBrk="1" fontAlgn="auto" latinLnBrk="0" hangingPunct="1">
              <a:lnSpc>
                <a:spcPct val="200000"/>
              </a:lnSpc>
              <a:spcBef>
                <a:spcPts val="0"/>
              </a:spcBef>
              <a:spcAft>
                <a:spcPts val="0"/>
              </a:spcAft>
              <a:buClrTx/>
              <a:buSzTx/>
              <a:buFont typeface="Wingdings" panose="05000000000000000000" pitchFamily="2" charset="2"/>
              <a:buChar char="p"/>
              <a:tabLst/>
              <a:defRPr sz="5100">
                <a:solidFill>
                  <a:srgbClr val="FFFFFF"/>
                </a:solidFill>
                <a:latin typeface="Source Han Sans CN Light"/>
                <a:ea typeface="Source Han Sans CN Light"/>
                <a:cs typeface="Source Han Sans CN Light"/>
                <a:sym typeface="Source Han Sans CN Light"/>
              </a:defRPr>
            </a:pPr>
            <a:r>
              <a:rPr lang="zh-CN" altLang="en-US" sz="1400" b="1" dirty="0">
                <a:solidFill>
                  <a:srgbClr val="000000"/>
                </a:solidFill>
                <a:latin typeface="微软雅黑" panose="020B0503020204020204" pitchFamily="34" charset="-122"/>
                <a:ea typeface="微软雅黑" panose="020B0503020204020204" pitchFamily="34" charset="-122"/>
                <a:cs typeface="+mn-ea"/>
                <a:sym typeface="+mn-lt"/>
              </a:rPr>
              <a:t>未按期投产项目面临保函损失且可能丧失竞价资格</a:t>
            </a: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：大部分省份需要提交履约保函，晚于承诺时间</a:t>
            </a:r>
            <a:r>
              <a:rPr lang="en-US" altLang="zh-CN" sz="1400" dirty="0">
                <a:solidFill>
                  <a:srgbClr val="000000"/>
                </a:solidFill>
                <a:latin typeface="微软雅黑" panose="020B0503020204020204" pitchFamily="34" charset="-122"/>
                <a:ea typeface="微软雅黑" panose="020B0503020204020204" pitchFamily="34" charset="-122"/>
                <a:cs typeface="+mn-ea"/>
                <a:sym typeface="+mn-lt"/>
              </a:rPr>
              <a:t>6</a:t>
            </a: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个月并网扣除保函金额，超出</a:t>
            </a:r>
            <a:r>
              <a:rPr lang="en-US" altLang="zh-CN" sz="1400" dirty="0">
                <a:solidFill>
                  <a:srgbClr val="000000"/>
                </a:solidFill>
                <a:latin typeface="微软雅黑" panose="020B0503020204020204" pitchFamily="34" charset="-122"/>
                <a:ea typeface="微软雅黑" panose="020B0503020204020204" pitchFamily="34" charset="-122"/>
                <a:cs typeface="+mn-ea"/>
                <a:sym typeface="+mn-lt"/>
              </a:rPr>
              <a:t>6</a:t>
            </a: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个月取消竞价资格。</a:t>
            </a:r>
            <a:endParaRPr lang="en-US" altLang="zh-CN" sz="1400" dirty="0">
              <a:solidFill>
                <a:srgbClr val="000000"/>
              </a:solidFill>
              <a:latin typeface="微软雅黑" panose="020B0503020204020204" pitchFamily="34" charset="-122"/>
              <a:ea typeface="微软雅黑" panose="020B0503020204020204" pitchFamily="34" charset="-122"/>
              <a:cs typeface="+mn-ea"/>
              <a:sym typeface="+mn-lt"/>
            </a:endParaRPr>
          </a:p>
          <a:p>
            <a:pPr marL="171450" marR="0" lvl="0" indent="-171450" algn="l" defTabSz="914400" rtl="0" eaLnBrk="1" fontAlgn="auto" latinLnBrk="0" hangingPunct="1">
              <a:lnSpc>
                <a:spcPct val="200000"/>
              </a:lnSpc>
              <a:spcBef>
                <a:spcPts val="0"/>
              </a:spcBef>
              <a:spcAft>
                <a:spcPts val="0"/>
              </a:spcAft>
              <a:buClrTx/>
              <a:buSzTx/>
              <a:buFont typeface="Wingdings" panose="05000000000000000000" pitchFamily="2" charset="2"/>
              <a:buChar char="p"/>
              <a:tabLst/>
              <a:defRPr sz="5100">
                <a:solidFill>
                  <a:srgbClr val="FFFFFF"/>
                </a:solidFill>
                <a:latin typeface="Source Han Sans CN Light"/>
                <a:ea typeface="Source Han Sans CN Light"/>
                <a:cs typeface="Source Han Sans CN Light"/>
                <a:sym typeface="Source Han Sans CN Light"/>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所以</a:t>
            </a:r>
            <a:r>
              <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竞价项目实际上是面临获取机制电量或参与市场交易的二选一抉择</a:t>
            </a: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，电力现货市场下的风电结算价格仍是机制电价的重要参考。</a:t>
            </a:r>
          </a:p>
        </p:txBody>
      </p:sp>
      <p:pic>
        <p:nvPicPr>
          <p:cNvPr id="2" name="图片 1">
            <a:extLst>
              <a:ext uri="{FF2B5EF4-FFF2-40B4-BE49-F238E27FC236}">
                <a16:creationId xmlns:a16="http://schemas.microsoft.com/office/drawing/2014/main" id="{878103ED-E8AF-80E1-0A53-867341E2F86C}"/>
              </a:ext>
            </a:extLst>
          </p:cNvPr>
          <p:cNvPicPr>
            <a:picLocks noChangeAspect="1"/>
          </p:cNvPicPr>
          <p:nvPr/>
        </p:nvPicPr>
        <p:blipFill>
          <a:blip r:embed="rId3"/>
          <a:stretch>
            <a:fillRect/>
          </a:stretch>
        </p:blipFill>
        <p:spPr>
          <a:xfrm>
            <a:off x="517684" y="2217771"/>
            <a:ext cx="10973751" cy="4322439"/>
          </a:xfrm>
          <a:prstGeom prst="rect">
            <a:avLst/>
          </a:prstGeom>
        </p:spPr>
      </p:pic>
    </p:spTree>
    <p:extLst>
      <p:ext uri="{BB962C8B-B14F-4D97-AF65-F5344CB8AC3E}">
        <p14:creationId xmlns:p14="http://schemas.microsoft.com/office/powerpoint/2010/main" val="3374992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CC152-02CA-1F95-3FCA-07F14FAAA275}"/>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FD318425-DEA1-5B90-7831-DEE09D5634F0}"/>
              </a:ext>
            </a:extLst>
          </p:cNvPr>
          <p:cNvSpPr txBox="1"/>
          <p:nvPr/>
        </p:nvSpPr>
        <p:spPr>
          <a:xfrm>
            <a:off x="0" y="180057"/>
            <a:ext cx="86913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3.1 </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结论</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：对于充分竞争的省份机制电价将趋于电力市场价格</a:t>
            </a:r>
          </a:p>
        </p:txBody>
      </p:sp>
      <p:sp>
        <p:nvSpPr>
          <p:cNvPr id="2" name="文本框 1">
            <a:extLst>
              <a:ext uri="{FF2B5EF4-FFF2-40B4-BE49-F238E27FC236}">
                <a16:creationId xmlns:a16="http://schemas.microsoft.com/office/drawing/2014/main" id="{81A44283-CF58-28A4-1C4F-083C6632C7B8}"/>
              </a:ext>
            </a:extLst>
          </p:cNvPr>
          <p:cNvSpPr txBox="1"/>
          <p:nvPr/>
        </p:nvSpPr>
        <p:spPr>
          <a:xfrm>
            <a:off x="16904" y="1033842"/>
            <a:ext cx="6790797" cy="3106684"/>
          </a:xfrm>
          <a:prstGeom prst="rect">
            <a:avLst/>
          </a:prstGeom>
          <a:noFill/>
        </p:spPr>
        <p:txBody>
          <a:bodyPr wrap="square" rtlCol="0">
            <a:spAutoFit/>
          </a:bodyPr>
          <a:lstStyle/>
          <a:p>
            <a:pPr algn="just">
              <a:lnSpc>
                <a:spcPct val="150000"/>
              </a:lnSpc>
            </a:pPr>
            <a:r>
              <a:rPr lang="zh-CN" altLang="en-US" sz="1200" dirty="0">
                <a:solidFill>
                  <a:prstClr val="black"/>
                </a:solidFill>
                <a:latin typeface="微软雅黑" panose="020B0503020204020204" pitchFamily="34" charset="-122"/>
                <a:ea typeface="微软雅黑" panose="020B0503020204020204" pitchFamily="34" charset="-122"/>
              </a:rPr>
              <a:t>       以黑龙江为例，受现货市场运行后电价下行影响，参与竞价项目都希望获得机制电价保障，激烈竞争下，机制竞价结果低至</a:t>
            </a:r>
            <a:r>
              <a:rPr lang="en-US" altLang="zh-CN" sz="1200" b="1" dirty="0">
                <a:solidFill>
                  <a:srgbClr val="FF0000"/>
                </a:solidFill>
                <a:latin typeface="微软雅黑" panose="020B0503020204020204" pitchFamily="34" charset="-122"/>
                <a:ea typeface="微软雅黑" panose="020B0503020204020204" pitchFamily="34" charset="-122"/>
              </a:rPr>
              <a:t>0.228</a:t>
            </a:r>
            <a:r>
              <a:rPr lang="zh-CN" altLang="en-US" sz="1200" dirty="0">
                <a:solidFill>
                  <a:prstClr val="black"/>
                </a:solidFill>
                <a:latin typeface="微软雅黑" panose="020B0503020204020204" pitchFamily="34" charset="-122"/>
                <a:ea typeface="微软雅黑" panose="020B0503020204020204" pitchFamily="34" charset="-122"/>
              </a:rPr>
              <a:t>元</a:t>
            </a:r>
            <a:r>
              <a:rPr lang="en-US" altLang="zh-CN" sz="1200" dirty="0">
                <a:solidFill>
                  <a:prstClr val="black"/>
                </a:solidFill>
                <a:latin typeface="微软雅黑" panose="020B0503020204020204" pitchFamily="34" charset="-122"/>
                <a:ea typeface="微软雅黑" panose="020B0503020204020204" pitchFamily="34" charset="-122"/>
              </a:rPr>
              <a:t>/kwh</a:t>
            </a:r>
            <a:r>
              <a:rPr lang="zh-CN" altLang="en-US" sz="1200" dirty="0">
                <a:solidFill>
                  <a:prstClr val="black"/>
                </a:solidFill>
                <a:latin typeface="微软雅黑" panose="020B0503020204020204" pitchFamily="34" charset="-122"/>
                <a:ea typeface="微软雅黑" panose="020B0503020204020204" pitchFamily="34" charset="-122"/>
              </a:rPr>
              <a:t>，与下半年结算价格</a:t>
            </a:r>
            <a:r>
              <a:rPr lang="en-US" altLang="zh-CN" sz="1200" b="1" dirty="0">
                <a:solidFill>
                  <a:srgbClr val="FF0000"/>
                </a:solidFill>
                <a:latin typeface="微软雅黑" panose="020B0503020204020204" pitchFamily="34" charset="-122"/>
                <a:ea typeface="微软雅黑" panose="020B0503020204020204" pitchFamily="34" charset="-122"/>
              </a:rPr>
              <a:t>0.246</a:t>
            </a:r>
            <a:r>
              <a:rPr lang="zh-CN" altLang="en-US" sz="1200" dirty="0">
                <a:solidFill>
                  <a:prstClr val="black"/>
                </a:solidFill>
                <a:latin typeface="微软雅黑" panose="020B0503020204020204" pitchFamily="34" charset="-122"/>
                <a:ea typeface="微软雅黑" panose="020B0503020204020204" pitchFamily="34" charset="-122"/>
              </a:rPr>
              <a:t>元</a:t>
            </a:r>
            <a:r>
              <a:rPr lang="en-US" altLang="zh-CN" sz="1200" dirty="0">
                <a:solidFill>
                  <a:prstClr val="black"/>
                </a:solidFill>
                <a:latin typeface="微软雅黑" panose="020B0503020204020204" pitchFamily="34" charset="-122"/>
                <a:ea typeface="微软雅黑" panose="020B0503020204020204" pitchFamily="34" charset="-122"/>
              </a:rPr>
              <a:t>/kwh</a:t>
            </a:r>
            <a:r>
              <a:rPr lang="zh-CN" altLang="en-US" sz="1200" dirty="0">
                <a:solidFill>
                  <a:prstClr val="black"/>
                </a:solidFill>
                <a:latin typeface="微软雅黑" panose="020B0503020204020204" pitchFamily="34" charset="-122"/>
                <a:ea typeface="微软雅黑" panose="020B0503020204020204" pitchFamily="34" charset="-122"/>
              </a:rPr>
              <a:t>较接近。</a:t>
            </a:r>
            <a:endParaRPr lang="en-US" altLang="zh-CN" sz="1200" dirty="0">
              <a:solidFill>
                <a:prstClr val="black"/>
              </a:solidFill>
              <a:latin typeface="微软雅黑" panose="020B0503020204020204" pitchFamily="34" charset="-122"/>
              <a:ea typeface="微软雅黑" panose="020B0503020204020204" pitchFamily="34" charset="-122"/>
            </a:endParaRPr>
          </a:p>
          <a:p>
            <a:pPr algn="just">
              <a:lnSpc>
                <a:spcPct val="150000"/>
              </a:lnSpc>
            </a:pPr>
            <a:endParaRPr lang="en-US" altLang="zh-CN" sz="1200" dirty="0">
              <a:solidFill>
                <a:prstClr val="black"/>
              </a:solidFill>
              <a:latin typeface="微软雅黑" panose="020B0503020204020204" pitchFamily="34" charset="-122"/>
              <a:ea typeface="微软雅黑" panose="020B0503020204020204" pitchFamily="34" charset="-122"/>
            </a:endParaRPr>
          </a:p>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zh-CN" altLang="en-US" sz="1200" b="1" dirty="0">
                <a:solidFill>
                  <a:prstClr val="black"/>
                </a:solidFill>
                <a:latin typeface="微软雅黑" panose="020B0503020204020204" pitchFamily="34" charset="-122"/>
                <a:ea typeface="微软雅黑" panose="020B0503020204020204" pitchFamily="34" charset="-122"/>
              </a:rPr>
              <a:t>市场</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背景：</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lang="zh-CN" altLang="en-US" sz="1200" dirty="0">
                <a:solidFill>
                  <a:prstClr val="black"/>
                </a:solidFill>
                <a:latin typeface="微软雅黑" panose="020B0503020204020204" pitchFamily="34" charset="-122"/>
                <a:ea typeface="微软雅黑" panose="020B0503020204020204" pitchFamily="34" charset="-122"/>
              </a:rPr>
              <a:t>黑龙江于</a:t>
            </a:r>
            <a:r>
              <a:rPr lang="en-US" altLang="zh-CN" sz="1200" dirty="0">
                <a:solidFill>
                  <a:prstClr val="black"/>
                </a:solidFill>
                <a:latin typeface="微软雅黑" panose="020B0503020204020204" pitchFamily="34" charset="-122"/>
                <a:ea typeface="微软雅黑" panose="020B0503020204020204" pitchFamily="34" charset="-122"/>
              </a:rPr>
              <a:t>2025</a:t>
            </a:r>
            <a:r>
              <a:rPr lang="zh-CN" altLang="en-US" sz="1200" dirty="0">
                <a:solidFill>
                  <a:prstClr val="black"/>
                </a:solidFill>
                <a:latin typeface="微软雅黑" panose="020B0503020204020204" pitchFamily="34" charset="-122"/>
                <a:ea typeface="微软雅黑" panose="020B0503020204020204" pitchFamily="34" charset="-122"/>
              </a:rPr>
              <a:t>年</a:t>
            </a:r>
            <a:r>
              <a:rPr lang="en-US" altLang="zh-CN" sz="1200" dirty="0">
                <a:solidFill>
                  <a:prstClr val="black"/>
                </a:solidFill>
                <a:latin typeface="微软雅黑" panose="020B0503020204020204" pitchFamily="34" charset="-122"/>
                <a:ea typeface="微软雅黑" panose="020B0503020204020204" pitchFamily="34" charset="-122"/>
              </a:rPr>
              <a:t>8</a:t>
            </a:r>
            <a:r>
              <a:rPr lang="zh-CN" altLang="en-US" sz="1200" dirty="0">
                <a:solidFill>
                  <a:prstClr val="black"/>
                </a:solidFill>
                <a:latin typeface="微软雅黑" panose="020B0503020204020204" pitchFamily="34" charset="-122"/>
                <a:ea typeface="微软雅黑" panose="020B0503020204020204" pitchFamily="34" charset="-122"/>
              </a:rPr>
              <a:t>月开始现货连续试运行，现货市场更灵敏地反映真实供需，结算电价显著降低</a:t>
            </a:r>
            <a:r>
              <a:rPr lang="en-US" altLang="zh-CN" sz="1200" dirty="0">
                <a:solidFill>
                  <a:prstClr val="black"/>
                </a:solidFill>
                <a:latin typeface="微软雅黑" panose="020B0503020204020204" pitchFamily="34" charset="-122"/>
                <a:ea typeface="微软雅黑" panose="020B0503020204020204" pitchFamily="34" charset="-122"/>
              </a:rPr>
              <a:t>9</a:t>
            </a:r>
            <a:r>
              <a:rPr lang="zh-CN" altLang="en-US" sz="1200" dirty="0">
                <a:solidFill>
                  <a:prstClr val="black"/>
                </a:solidFill>
                <a:latin typeface="微软雅黑" panose="020B0503020204020204" pitchFamily="34" charset="-122"/>
                <a:ea typeface="微软雅黑" panose="020B0503020204020204" pitchFamily="34" charset="-122"/>
              </a:rPr>
              <a:t>分左右，</a:t>
            </a:r>
            <a:r>
              <a:rPr lang="en-US" altLang="zh-CN" sz="1200" dirty="0">
                <a:solidFill>
                  <a:prstClr val="black"/>
                </a:solidFill>
                <a:latin typeface="微软雅黑" panose="020B0503020204020204" pitchFamily="34" charset="-122"/>
                <a:ea typeface="微软雅黑" panose="020B0503020204020204" pitchFamily="34" charset="-122"/>
              </a:rPr>
              <a:t>12</a:t>
            </a:r>
            <a:r>
              <a:rPr lang="zh-CN" altLang="en-US" sz="1200" dirty="0">
                <a:solidFill>
                  <a:prstClr val="black"/>
                </a:solidFill>
                <a:latin typeface="微软雅黑" panose="020B0503020204020204" pitchFamily="34" charset="-122"/>
                <a:ea typeface="微软雅黑" panose="020B0503020204020204" pitchFamily="34" charset="-122"/>
              </a:rPr>
              <a:t>月黑龙江现货市场连续多月现货</a:t>
            </a:r>
            <a:r>
              <a:rPr lang="en-US" altLang="zh-CN" sz="1200" dirty="0">
                <a:solidFill>
                  <a:prstClr val="black"/>
                </a:solidFill>
                <a:latin typeface="微软雅黑" panose="020B0503020204020204" pitchFamily="34" charset="-122"/>
                <a:ea typeface="微软雅黑" panose="020B0503020204020204" pitchFamily="34" charset="-122"/>
              </a:rPr>
              <a:t>0</a:t>
            </a:r>
            <a:r>
              <a:rPr lang="zh-CN" altLang="en-US" sz="1200" dirty="0">
                <a:solidFill>
                  <a:prstClr val="black"/>
                </a:solidFill>
                <a:latin typeface="微软雅黑" panose="020B0503020204020204" pitchFamily="34" charset="-122"/>
                <a:ea typeface="微软雅黑" panose="020B0503020204020204" pitchFamily="34" charset="-122"/>
              </a:rPr>
              <a:t>电价，悲观的市场预期直接反映在机制竞价结果中</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竞价结果分析：</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lang="en-US" altLang="zh-CN" sz="1200" dirty="0">
                <a:solidFill>
                  <a:prstClr val="black"/>
                </a:solidFill>
                <a:latin typeface="微软雅黑" panose="020B0503020204020204" pitchFamily="34" charset="-122"/>
                <a:ea typeface="微软雅黑" panose="020B0503020204020204" pitchFamily="34" charset="-122"/>
              </a:rPr>
              <a:t>1</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低价跟随者，高比例中标</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：大唐等集团项目申报低价确保</a:t>
            </a:r>
            <a:r>
              <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85%</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高比例中标。</a:t>
            </a: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lang="en-US" altLang="zh-CN" sz="1200" dirty="0">
                <a:solidFill>
                  <a:prstClr val="black"/>
                </a:solidFill>
                <a:latin typeface="微软雅黑" panose="020B0503020204020204" pitchFamily="34" charset="-122"/>
                <a:ea typeface="微软雅黑" panose="020B0503020204020204" pitchFamily="34" charset="-122"/>
              </a:rPr>
              <a:t>2</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lang="zh-CN" altLang="en-US" sz="1200" b="1" dirty="0">
                <a:solidFill>
                  <a:prstClr val="black"/>
                </a:solidFill>
                <a:latin typeface="微软雅黑" panose="020B0503020204020204" pitchFamily="34" charset="-122"/>
                <a:ea typeface="微软雅黑" panose="020B0503020204020204" pitchFamily="34" charset="-122"/>
              </a:rPr>
              <a:t>边际项目，部分中标</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：圣泉集团项目成为边际项目，以</a:t>
            </a:r>
            <a:r>
              <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80%</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比例中标。</a:t>
            </a: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3</a:t>
            </a:r>
            <a:r>
              <a:rPr lang="zh-CN" altLang="en-US" sz="1200" dirty="0">
                <a:solidFill>
                  <a:prstClr val="black"/>
                </a:solidFill>
                <a:latin typeface="微软雅黑" panose="020B0503020204020204" pitchFamily="34" charset="-122"/>
                <a:ea typeface="微软雅黑" panose="020B0503020204020204" pitchFamily="34" charset="-122"/>
              </a:rPr>
              <a:t>）</a:t>
            </a:r>
            <a:r>
              <a:rPr lang="zh-CN" altLang="en-US" sz="1200" b="1" dirty="0">
                <a:solidFill>
                  <a:prstClr val="black"/>
                </a:solidFill>
                <a:latin typeface="微软雅黑" panose="020B0503020204020204" pitchFamily="34" charset="-122"/>
                <a:ea typeface="微软雅黑" panose="020B0503020204020204" pitchFamily="34" charset="-122"/>
              </a:rPr>
              <a:t>高报价项目，未中标</a:t>
            </a:r>
            <a:r>
              <a:rPr lang="zh-CN" altLang="en-US" sz="1200" dirty="0">
                <a:solidFill>
                  <a:prstClr val="black"/>
                </a:solidFill>
                <a:latin typeface="微软雅黑" panose="020B0503020204020204" pitchFamily="34" charset="-122"/>
                <a:ea typeface="微软雅黑" panose="020B0503020204020204" pitchFamily="34" charset="-122"/>
              </a:rPr>
              <a:t>：国电投等集团项目成本较高，报价高于</a:t>
            </a:r>
            <a:r>
              <a:rPr lang="en-US" altLang="zh-CN" sz="1200" dirty="0">
                <a:solidFill>
                  <a:prstClr val="black"/>
                </a:solidFill>
                <a:latin typeface="微软雅黑" panose="020B0503020204020204" pitchFamily="34" charset="-122"/>
                <a:ea typeface="微软雅黑" panose="020B0503020204020204" pitchFamily="34" charset="-122"/>
              </a:rPr>
              <a:t>0.228</a:t>
            </a:r>
            <a:r>
              <a:rPr lang="zh-CN" altLang="en-US" sz="1200" dirty="0">
                <a:solidFill>
                  <a:prstClr val="black"/>
                </a:solidFill>
                <a:latin typeface="微软雅黑" panose="020B0503020204020204" pitchFamily="34" charset="-122"/>
                <a:ea typeface="微软雅黑" panose="020B0503020204020204" pitchFamily="34" charset="-122"/>
              </a:rPr>
              <a:t>元</a:t>
            </a:r>
            <a:r>
              <a:rPr lang="en-US" altLang="zh-CN" sz="1200" dirty="0">
                <a:solidFill>
                  <a:prstClr val="black"/>
                </a:solidFill>
                <a:latin typeface="微软雅黑" panose="020B0503020204020204" pitchFamily="34" charset="-122"/>
                <a:ea typeface="微软雅黑" panose="020B0503020204020204" pitchFamily="34" charset="-122"/>
              </a:rPr>
              <a:t>/kwh</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26</a:t>
            </a:r>
            <a:r>
              <a:rPr lang="zh-CN" altLang="en-US" sz="1200" dirty="0">
                <a:solidFill>
                  <a:prstClr val="black"/>
                </a:solidFill>
                <a:latin typeface="微软雅黑" panose="020B0503020204020204" pitchFamily="34" charset="-122"/>
                <a:ea typeface="微软雅黑" panose="020B0503020204020204" pitchFamily="34" charset="-122"/>
              </a:rPr>
              <a:t>年全部电量进入市场交易，</a:t>
            </a:r>
            <a:r>
              <a:rPr lang="en-US" altLang="zh-CN" sz="1200" dirty="0">
                <a:solidFill>
                  <a:prstClr val="black"/>
                </a:solidFill>
                <a:latin typeface="微软雅黑" panose="020B0503020204020204" pitchFamily="34" charset="-122"/>
                <a:ea typeface="微软雅黑" panose="020B0503020204020204" pitchFamily="34" charset="-122"/>
              </a:rPr>
              <a:t>26</a:t>
            </a:r>
            <a:r>
              <a:rPr lang="zh-CN" altLang="en-US" sz="1200" dirty="0">
                <a:solidFill>
                  <a:prstClr val="black"/>
                </a:solidFill>
                <a:latin typeface="微软雅黑" panose="020B0503020204020204" pitchFamily="34" charset="-122"/>
                <a:ea typeface="微软雅黑" panose="020B0503020204020204" pitchFamily="34" charset="-122"/>
              </a:rPr>
              <a:t>年底可再次进行机制竞价。</a:t>
            </a: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3" name="表格 2">
            <a:extLst>
              <a:ext uri="{FF2B5EF4-FFF2-40B4-BE49-F238E27FC236}">
                <a16:creationId xmlns:a16="http://schemas.microsoft.com/office/drawing/2014/main" id="{DF362220-75A4-0CAD-0185-5912E25F95C5}"/>
              </a:ext>
            </a:extLst>
          </p:cNvPr>
          <p:cNvGraphicFramePr>
            <a:graphicFrameLocks noGrp="1"/>
          </p:cNvGraphicFramePr>
          <p:nvPr>
            <p:extLst>
              <p:ext uri="{D42A27DB-BD31-4B8C-83A1-F6EECF244321}">
                <p14:modId xmlns:p14="http://schemas.microsoft.com/office/powerpoint/2010/main" val="858310995"/>
              </p:ext>
            </p:extLst>
          </p:nvPr>
        </p:nvGraphicFramePr>
        <p:xfrm>
          <a:off x="6884098" y="952824"/>
          <a:ext cx="3991147" cy="3496601"/>
        </p:xfrm>
        <a:graphic>
          <a:graphicData uri="http://schemas.openxmlformats.org/drawingml/2006/table">
            <a:tbl>
              <a:tblPr>
                <a:tableStyleId>{616DA210-FB5B-4158-B5E0-FEB733F419BA}</a:tableStyleId>
              </a:tblPr>
              <a:tblGrid>
                <a:gridCol w="1602540">
                  <a:extLst>
                    <a:ext uri="{9D8B030D-6E8A-4147-A177-3AD203B41FA5}">
                      <a16:colId xmlns:a16="http://schemas.microsoft.com/office/drawing/2014/main" val="873780050"/>
                    </a:ext>
                  </a:extLst>
                </a:gridCol>
                <a:gridCol w="1057708">
                  <a:extLst>
                    <a:ext uri="{9D8B030D-6E8A-4147-A177-3AD203B41FA5}">
                      <a16:colId xmlns:a16="http://schemas.microsoft.com/office/drawing/2014/main" val="770616406"/>
                    </a:ext>
                  </a:extLst>
                </a:gridCol>
                <a:gridCol w="1330899">
                  <a:extLst>
                    <a:ext uri="{9D8B030D-6E8A-4147-A177-3AD203B41FA5}">
                      <a16:colId xmlns:a16="http://schemas.microsoft.com/office/drawing/2014/main" val="2685597850"/>
                    </a:ext>
                  </a:extLst>
                </a:gridCol>
              </a:tblGrid>
              <a:tr h="170686">
                <a:tc>
                  <a:txBody>
                    <a:bodyPr/>
                    <a:lstStyle/>
                    <a:p>
                      <a:pPr algn="ctr" fontAlgn="ctr"/>
                      <a:r>
                        <a:rPr lang="zh-CN" altLang="en-US" sz="1050" b="1" u="none" strike="noStrike" dirty="0">
                          <a:solidFill>
                            <a:schemeClr val="tx1"/>
                          </a:solidFill>
                          <a:effectLst/>
                        </a:rPr>
                        <a:t>发电集团项目清单</a:t>
                      </a:r>
                      <a:endParaRPr lang="zh-CN" altLang="en-US" sz="1050" b="1" i="0" u="none" strike="noStrike" dirty="0">
                        <a:solidFill>
                          <a:schemeClr val="tx1"/>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zh-CN" altLang="en-US" sz="1050" b="1" u="none" strike="noStrike" dirty="0">
                          <a:solidFill>
                            <a:schemeClr val="tx1"/>
                          </a:solidFill>
                          <a:effectLst/>
                        </a:rPr>
                        <a:t>是否中标</a:t>
                      </a:r>
                      <a:endParaRPr lang="zh-CN" altLang="en-US" sz="1050" b="1" i="0" u="none" strike="noStrike" dirty="0">
                        <a:solidFill>
                          <a:schemeClr val="tx1"/>
                        </a:solidFill>
                        <a:effectLst/>
                        <a:latin typeface="Segoe UI" panose="020B0502040204020203" pitchFamily="34" charset="0"/>
                        <a:ea typeface="等线"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zh-CN" altLang="en-US" sz="1050" b="1" u="none" strike="noStrike" dirty="0">
                          <a:solidFill>
                            <a:schemeClr val="tx1"/>
                          </a:solidFill>
                          <a:effectLst/>
                        </a:rPr>
                        <a:t>中标电量比例</a:t>
                      </a:r>
                      <a:endParaRPr lang="zh-CN" altLang="en-US" sz="1050" b="1" i="0" u="none" strike="noStrike" dirty="0">
                        <a:solidFill>
                          <a:schemeClr val="tx1"/>
                        </a:solidFill>
                        <a:effectLst/>
                        <a:latin typeface="等线" panose="02010600030101010101" pitchFamily="2" charset="-122"/>
                        <a:ea typeface="等线"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62220123"/>
                  </a:ext>
                </a:extLst>
              </a:tr>
              <a:tr h="162808">
                <a:tc>
                  <a:txBody>
                    <a:bodyPr/>
                    <a:lstStyle/>
                    <a:p>
                      <a:pPr algn="ctr" fontAlgn="ctr"/>
                      <a:r>
                        <a:rPr lang="zh-CN" altLang="en-US" sz="1000" u="none" strike="noStrike" dirty="0">
                          <a:solidFill>
                            <a:srgbClr val="066E9F"/>
                          </a:solidFill>
                          <a:effectLst/>
                        </a:rPr>
                        <a:t>大唐</a:t>
                      </a:r>
                      <a:endParaRPr lang="zh-CN" altLang="en-US" sz="1000" b="0" i="0" u="none" strike="noStrike" dirty="0">
                        <a:solidFill>
                          <a:srgbClr val="066E9F"/>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11">
                  <a:txBody>
                    <a:bodyPr/>
                    <a:lstStyle/>
                    <a:p>
                      <a:pPr algn="ctr" fontAlgn="ctr"/>
                      <a:r>
                        <a:rPr lang="zh-CN" altLang="en-US" sz="1000" u="none" strike="noStrike" dirty="0">
                          <a:effectLst/>
                        </a:rPr>
                        <a:t>是</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altLang="zh-CN" sz="1000" u="none" strike="noStrike" dirty="0">
                          <a:solidFill>
                            <a:srgbClr val="066E9F"/>
                          </a:solidFill>
                          <a:effectLst/>
                        </a:rPr>
                        <a:t>85%</a:t>
                      </a:r>
                      <a:endParaRPr lang="en-US" altLang="zh-CN" sz="1000" b="0" i="0" u="none" strike="noStrike" dirty="0">
                        <a:solidFill>
                          <a:srgbClr val="066E9F"/>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9091558"/>
                  </a:ext>
                </a:extLst>
              </a:tr>
              <a:tr h="162808">
                <a:tc>
                  <a:txBody>
                    <a:bodyPr/>
                    <a:lstStyle/>
                    <a:p>
                      <a:pPr algn="ctr" fontAlgn="ctr"/>
                      <a:r>
                        <a:rPr lang="zh-CN" altLang="en-US" sz="1000" u="none" strike="noStrike">
                          <a:solidFill>
                            <a:srgbClr val="066E9F"/>
                          </a:solidFill>
                          <a:effectLst/>
                        </a:rPr>
                        <a:t>嘉泽新能源</a:t>
                      </a:r>
                      <a:endParaRPr lang="zh-CN" altLang="en-US" sz="1000" b="0" i="0" u="none" strike="noStrike">
                        <a:solidFill>
                          <a:srgbClr val="066E9F"/>
                        </a:solidFill>
                        <a:effectLst/>
                        <a:latin typeface="微软雅黑" panose="020B0503020204020204" pitchFamily="34" charset="-122"/>
                        <a:ea typeface="微软雅黑" panose="020B0503020204020204" pitchFamily="34"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1000" u="none" strike="noStrike" dirty="0">
                          <a:solidFill>
                            <a:srgbClr val="066E9F"/>
                          </a:solidFill>
                          <a:effectLst/>
                        </a:rPr>
                        <a:t>85%</a:t>
                      </a:r>
                      <a:endParaRPr lang="en-US" altLang="zh-CN" sz="1000" b="0" i="0" u="none" strike="noStrike" dirty="0">
                        <a:solidFill>
                          <a:srgbClr val="066E9F"/>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8440311"/>
                  </a:ext>
                </a:extLst>
              </a:tr>
              <a:tr h="162808">
                <a:tc>
                  <a:txBody>
                    <a:bodyPr/>
                    <a:lstStyle/>
                    <a:p>
                      <a:pPr algn="ctr" fontAlgn="ctr"/>
                      <a:r>
                        <a:rPr lang="zh-CN" altLang="en-US" sz="1000" u="none" strike="noStrike">
                          <a:solidFill>
                            <a:srgbClr val="066E9F"/>
                          </a:solidFill>
                          <a:effectLst/>
                        </a:rPr>
                        <a:t>山东国瑞</a:t>
                      </a:r>
                      <a:endParaRPr lang="zh-CN" altLang="en-US" sz="1000" b="0" i="0" u="none" strike="noStrike">
                        <a:solidFill>
                          <a:srgbClr val="066E9F"/>
                        </a:solidFill>
                        <a:effectLst/>
                        <a:latin typeface="微软雅黑" panose="020B0503020204020204" pitchFamily="34" charset="-122"/>
                        <a:ea typeface="微软雅黑" panose="020B0503020204020204" pitchFamily="34"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1000" u="none" strike="noStrike">
                          <a:solidFill>
                            <a:srgbClr val="066E9F"/>
                          </a:solidFill>
                          <a:effectLst/>
                        </a:rPr>
                        <a:t>85%</a:t>
                      </a:r>
                      <a:endParaRPr lang="en-US" altLang="zh-CN" sz="1000" b="0" i="0" u="none" strike="noStrike">
                        <a:solidFill>
                          <a:srgbClr val="066E9F"/>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1587231"/>
                  </a:ext>
                </a:extLst>
              </a:tr>
              <a:tr h="162808">
                <a:tc>
                  <a:txBody>
                    <a:bodyPr/>
                    <a:lstStyle/>
                    <a:p>
                      <a:pPr algn="ctr" fontAlgn="ctr"/>
                      <a:r>
                        <a:rPr lang="zh-CN" altLang="en-US" sz="1000" u="none" strike="noStrike">
                          <a:solidFill>
                            <a:srgbClr val="066E9F"/>
                          </a:solidFill>
                          <a:effectLst/>
                        </a:rPr>
                        <a:t>山东国瑞</a:t>
                      </a:r>
                      <a:endParaRPr lang="zh-CN" altLang="en-US" sz="1000" b="0" i="0" u="none" strike="noStrike">
                        <a:solidFill>
                          <a:srgbClr val="066E9F"/>
                        </a:solidFill>
                        <a:effectLst/>
                        <a:latin typeface="微软雅黑" panose="020B0503020204020204" pitchFamily="34" charset="-122"/>
                        <a:ea typeface="微软雅黑" panose="020B0503020204020204" pitchFamily="34"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1000" u="none" strike="noStrike">
                          <a:solidFill>
                            <a:srgbClr val="066E9F"/>
                          </a:solidFill>
                          <a:effectLst/>
                        </a:rPr>
                        <a:t>85%</a:t>
                      </a:r>
                      <a:endParaRPr lang="en-US" altLang="zh-CN" sz="1000" b="0" i="0" u="none" strike="noStrike">
                        <a:solidFill>
                          <a:srgbClr val="066E9F"/>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703091"/>
                  </a:ext>
                </a:extLst>
              </a:tr>
              <a:tr h="162808">
                <a:tc>
                  <a:txBody>
                    <a:bodyPr/>
                    <a:lstStyle/>
                    <a:p>
                      <a:pPr algn="ctr" fontAlgn="ctr"/>
                      <a:r>
                        <a:rPr lang="zh-CN" altLang="en-US" sz="1000" u="none" strike="noStrike">
                          <a:solidFill>
                            <a:srgbClr val="066E9F"/>
                          </a:solidFill>
                          <a:effectLst/>
                        </a:rPr>
                        <a:t>华润</a:t>
                      </a:r>
                      <a:endParaRPr lang="zh-CN" altLang="en-US" sz="1000" b="0" i="0" u="none" strike="noStrike">
                        <a:solidFill>
                          <a:srgbClr val="066E9F"/>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1000" u="none" strike="noStrike">
                          <a:solidFill>
                            <a:srgbClr val="066E9F"/>
                          </a:solidFill>
                          <a:effectLst/>
                        </a:rPr>
                        <a:t>85%</a:t>
                      </a:r>
                      <a:endParaRPr lang="en-US" altLang="zh-CN" sz="1000" b="0" i="0" u="none" strike="noStrike">
                        <a:solidFill>
                          <a:srgbClr val="066E9F"/>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5842644"/>
                  </a:ext>
                </a:extLst>
              </a:tr>
              <a:tr h="162808">
                <a:tc>
                  <a:txBody>
                    <a:bodyPr/>
                    <a:lstStyle/>
                    <a:p>
                      <a:pPr algn="ctr" fontAlgn="ctr"/>
                      <a:r>
                        <a:rPr lang="zh-CN" altLang="en-US" sz="1000" u="none" strike="noStrike">
                          <a:solidFill>
                            <a:srgbClr val="066E9F"/>
                          </a:solidFill>
                          <a:effectLst/>
                        </a:rPr>
                        <a:t>上海电力</a:t>
                      </a:r>
                      <a:r>
                        <a:rPr lang="en-US" altLang="zh-CN" sz="1000" u="none" strike="noStrike">
                          <a:solidFill>
                            <a:srgbClr val="066E9F"/>
                          </a:solidFill>
                          <a:effectLst/>
                        </a:rPr>
                        <a:t>1</a:t>
                      </a:r>
                      <a:endParaRPr lang="en-US" altLang="zh-CN" sz="1000" b="0" i="0" u="none" strike="noStrike">
                        <a:solidFill>
                          <a:srgbClr val="066E9F"/>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1000" u="none" strike="noStrike" dirty="0">
                          <a:solidFill>
                            <a:srgbClr val="066E9F"/>
                          </a:solidFill>
                          <a:effectLst/>
                        </a:rPr>
                        <a:t>85%</a:t>
                      </a:r>
                      <a:endParaRPr lang="en-US" altLang="zh-CN" sz="1000" b="0" i="0" u="none" strike="noStrike" dirty="0">
                        <a:solidFill>
                          <a:srgbClr val="066E9F"/>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1011033"/>
                  </a:ext>
                </a:extLst>
              </a:tr>
              <a:tr h="162808">
                <a:tc>
                  <a:txBody>
                    <a:bodyPr/>
                    <a:lstStyle/>
                    <a:p>
                      <a:pPr algn="ctr" fontAlgn="ctr"/>
                      <a:r>
                        <a:rPr lang="zh-CN" altLang="en-US" sz="1000" u="none" strike="noStrike">
                          <a:solidFill>
                            <a:srgbClr val="066E9F"/>
                          </a:solidFill>
                          <a:effectLst/>
                        </a:rPr>
                        <a:t>上海电力</a:t>
                      </a:r>
                      <a:r>
                        <a:rPr lang="en-US" altLang="zh-CN" sz="1000" u="none" strike="noStrike">
                          <a:solidFill>
                            <a:srgbClr val="066E9F"/>
                          </a:solidFill>
                          <a:effectLst/>
                        </a:rPr>
                        <a:t>2</a:t>
                      </a:r>
                      <a:endParaRPr lang="en-US" altLang="zh-CN" sz="1000" b="0" i="0" u="none" strike="noStrike">
                        <a:solidFill>
                          <a:srgbClr val="066E9F"/>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1000" u="none" strike="noStrike" dirty="0">
                          <a:solidFill>
                            <a:srgbClr val="066E9F"/>
                          </a:solidFill>
                          <a:effectLst/>
                        </a:rPr>
                        <a:t>85%</a:t>
                      </a:r>
                      <a:endParaRPr lang="en-US" altLang="zh-CN" sz="1000" b="0" i="0" u="none" strike="noStrike" dirty="0">
                        <a:solidFill>
                          <a:srgbClr val="066E9F"/>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2082253"/>
                  </a:ext>
                </a:extLst>
              </a:tr>
              <a:tr h="162808">
                <a:tc>
                  <a:txBody>
                    <a:bodyPr/>
                    <a:lstStyle/>
                    <a:p>
                      <a:pPr algn="ctr" fontAlgn="ctr"/>
                      <a:r>
                        <a:rPr lang="zh-CN" altLang="en-US" sz="1000" u="none" strike="noStrike" dirty="0">
                          <a:solidFill>
                            <a:srgbClr val="066E9F"/>
                          </a:solidFill>
                          <a:effectLst/>
                        </a:rPr>
                        <a:t>协和</a:t>
                      </a:r>
                      <a:endParaRPr lang="zh-CN" altLang="en-US" sz="1000" b="0" i="0" u="none" strike="noStrike" dirty="0">
                        <a:solidFill>
                          <a:srgbClr val="066E9F"/>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1000" u="none" strike="noStrike" dirty="0">
                          <a:solidFill>
                            <a:srgbClr val="066E9F"/>
                          </a:solidFill>
                          <a:effectLst/>
                        </a:rPr>
                        <a:t>85%</a:t>
                      </a:r>
                      <a:endParaRPr lang="en-US" altLang="zh-CN" sz="1000" b="0" i="0" u="none" strike="noStrike" dirty="0">
                        <a:solidFill>
                          <a:srgbClr val="066E9F"/>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3193206"/>
                  </a:ext>
                </a:extLst>
              </a:tr>
              <a:tr h="162808">
                <a:tc>
                  <a:txBody>
                    <a:bodyPr/>
                    <a:lstStyle/>
                    <a:p>
                      <a:pPr algn="ctr" fontAlgn="ctr"/>
                      <a:r>
                        <a:rPr lang="zh-CN" altLang="en-US" sz="1000" u="none" strike="noStrike">
                          <a:solidFill>
                            <a:srgbClr val="066E9F"/>
                          </a:solidFill>
                          <a:effectLst/>
                        </a:rPr>
                        <a:t>泰富新能源</a:t>
                      </a:r>
                      <a:endParaRPr lang="zh-CN" altLang="en-US" sz="1000" b="0" i="0" u="none" strike="noStrike">
                        <a:solidFill>
                          <a:srgbClr val="066E9F"/>
                        </a:solidFill>
                        <a:effectLst/>
                        <a:latin typeface="微软雅黑" panose="020B0503020204020204" pitchFamily="34" charset="-122"/>
                        <a:ea typeface="微软雅黑" panose="020B0503020204020204" pitchFamily="34"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1000" u="none" strike="noStrike" dirty="0">
                          <a:solidFill>
                            <a:srgbClr val="066E9F"/>
                          </a:solidFill>
                          <a:effectLst/>
                        </a:rPr>
                        <a:t>85%</a:t>
                      </a:r>
                      <a:endParaRPr lang="en-US" altLang="zh-CN" sz="1000" b="0" i="0" u="none" strike="noStrike" dirty="0">
                        <a:solidFill>
                          <a:srgbClr val="066E9F"/>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3749319"/>
                  </a:ext>
                </a:extLst>
              </a:tr>
              <a:tr h="162808">
                <a:tc>
                  <a:txBody>
                    <a:bodyPr/>
                    <a:lstStyle/>
                    <a:p>
                      <a:pPr algn="ctr" fontAlgn="ctr"/>
                      <a:r>
                        <a:rPr lang="zh-CN" altLang="en-US" sz="1000" u="none" strike="noStrike" dirty="0">
                          <a:solidFill>
                            <a:srgbClr val="066E9F"/>
                          </a:solidFill>
                          <a:effectLst/>
                        </a:rPr>
                        <a:t>中煤</a:t>
                      </a:r>
                      <a:endParaRPr lang="zh-CN" altLang="en-US" sz="1000" b="0" i="0" u="none" strike="noStrike" dirty="0">
                        <a:solidFill>
                          <a:srgbClr val="066E9F"/>
                        </a:solidFill>
                        <a:effectLst/>
                        <a:latin typeface="微软雅黑" panose="020B0503020204020204" pitchFamily="34" charset="-122"/>
                        <a:ea typeface="微软雅黑" panose="020B0503020204020204" pitchFamily="34"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1000" u="none" strike="noStrike" dirty="0">
                          <a:solidFill>
                            <a:srgbClr val="066E9F"/>
                          </a:solidFill>
                          <a:effectLst/>
                        </a:rPr>
                        <a:t>85%</a:t>
                      </a:r>
                      <a:endParaRPr lang="en-US" altLang="zh-CN" sz="1000" b="0" i="0" u="none" strike="noStrike" dirty="0">
                        <a:solidFill>
                          <a:srgbClr val="066E9F"/>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44719798"/>
                  </a:ext>
                </a:extLst>
              </a:tr>
              <a:tr h="162808">
                <a:tc>
                  <a:txBody>
                    <a:bodyPr/>
                    <a:lstStyle/>
                    <a:p>
                      <a:pPr algn="ctr" fontAlgn="ctr"/>
                      <a:r>
                        <a:rPr lang="zh-CN" altLang="en-US" sz="1000" u="none" strike="noStrike" dirty="0">
                          <a:solidFill>
                            <a:srgbClr val="ED7D31"/>
                          </a:solidFill>
                          <a:effectLst/>
                        </a:rPr>
                        <a:t>圣泉集团</a:t>
                      </a:r>
                      <a:endParaRPr lang="zh-CN" altLang="en-US" sz="1000" b="0" i="0" u="none" strike="noStrike" dirty="0">
                        <a:solidFill>
                          <a:srgbClr val="ED7D31"/>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1000" u="none" strike="noStrike" dirty="0">
                          <a:solidFill>
                            <a:srgbClr val="ED7D31"/>
                          </a:solidFill>
                          <a:effectLst/>
                        </a:rPr>
                        <a:t>80%</a:t>
                      </a:r>
                      <a:endParaRPr lang="en-US" altLang="zh-CN" sz="1000" b="0" i="0" u="none" strike="noStrike" dirty="0">
                        <a:solidFill>
                          <a:srgbClr val="ED7D31"/>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865312"/>
                  </a:ext>
                </a:extLst>
              </a:tr>
              <a:tr h="118079">
                <a:tc>
                  <a:txBody>
                    <a:bodyPr/>
                    <a:lstStyle/>
                    <a:p>
                      <a:pPr algn="ctr" fontAlgn="ctr"/>
                      <a:r>
                        <a:rPr lang="zh-CN" altLang="en-US" sz="700" u="none" strike="noStrike" dirty="0">
                          <a:solidFill>
                            <a:schemeClr val="tx1">
                              <a:lumMod val="50000"/>
                              <a:lumOff val="50000"/>
                            </a:schemeClr>
                          </a:solidFill>
                          <a:effectLst/>
                        </a:rPr>
                        <a:t>嘉泽新能源</a:t>
                      </a:r>
                      <a:r>
                        <a:rPr lang="en-US" altLang="zh-CN" sz="700" u="none" strike="noStrike" dirty="0">
                          <a:solidFill>
                            <a:schemeClr val="tx1">
                              <a:lumMod val="50000"/>
                              <a:lumOff val="50000"/>
                            </a:schemeClr>
                          </a:solidFill>
                          <a:effectLst/>
                        </a:rPr>
                        <a:t>1</a:t>
                      </a:r>
                      <a:endParaRPr lang="en-US" altLang="zh-CN" sz="700" b="0" i="0" u="none" strike="noStrike" dirty="0">
                        <a:solidFill>
                          <a:schemeClr val="tx1">
                            <a:lumMod val="50000"/>
                            <a:lumOff val="50000"/>
                          </a:schemeClr>
                        </a:solidFill>
                        <a:effectLst/>
                        <a:latin typeface="微软雅黑" panose="020B0503020204020204" pitchFamily="34" charset="-122"/>
                        <a:ea typeface="微软雅黑" panose="020B0503020204020204" pitchFamily="34"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13">
                  <a:txBody>
                    <a:bodyPr/>
                    <a:lstStyle/>
                    <a:p>
                      <a:pPr algn="ctr" fontAlgn="ctr"/>
                      <a:r>
                        <a:rPr lang="zh-CN" altLang="en-US" sz="700" u="none" strike="noStrike" dirty="0">
                          <a:solidFill>
                            <a:schemeClr val="tx1">
                              <a:lumMod val="50000"/>
                              <a:lumOff val="50000"/>
                            </a:schemeClr>
                          </a:solidFill>
                          <a:effectLst/>
                        </a:rPr>
                        <a:t>否</a:t>
                      </a:r>
                      <a:endParaRPr lang="zh-CN" altLang="en-US" sz="700" b="0" i="0" u="none" strike="noStrike" dirty="0">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altLang="zh-CN" sz="700" u="none" strike="noStrike">
                          <a:solidFill>
                            <a:schemeClr val="tx1">
                              <a:lumMod val="50000"/>
                              <a:lumOff val="50000"/>
                            </a:schemeClr>
                          </a:solidFill>
                          <a:effectLst/>
                        </a:rPr>
                        <a:t>0</a:t>
                      </a:r>
                      <a:endParaRPr lang="en-US" altLang="zh-CN" sz="700" b="0" i="0" u="none" strike="noStrike">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0460038"/>
                  </a:ext>
                </a:extLst>
              </a:tr>
              <a:tr h="118079">
                <a:tc>
                  <a:txBody>
                    <a:bodyPr/>
                    <a:lstStyle/>
                    <a:p>
                      <a:pPr algn="ctr" fontAlgn="ctr"/>
                      <a:r>
                        <a:rPr lang="zh-CN" altLang="en-US" sz="700" u="none" strike="noStrike">
                          <a:solidFill>
                            <a:schemeClr val="tx1">
                              <a:lumMod val="50000"/>
                              <a:lumOff val="50000"/>
                            </a:schemeClr>
                          </a:solidFill>
                          <a:effectLst/>
                        </a:rPr>
                        <a:t>嘉泽新能源</a:t>
                      </a:r>
                      <a:r>
                        <a:rPr lang="en-US" altLang="zh-CN" sz="700" u="none" strike="noStrike">
                          <a:solidFill>
                            <a:schemeClr val="tx1">
                              <a:lumMod val="50000"/>
                              <a:lumOff val="50000"/>
                            </a:schemeClr>
                          </a:solidFill>
                          <a:effectLst/>
                        </a:rPr>
                        <a:t>2</a:t>
                      </a:r>
                      <a:endParaRPr lang="en-US" altLang="zh-CN" sz="700" b="0" i="0" u="none" strike="noStrike">
                        <a:solidFill>
                          <a:schemeClr val="tx1">
                            <a:lumMod val="50000"/>
                            <a:lumOff val="50000"/>
                          </a:schemeClr>
                        </a:solidFill>
                        <a:effectLst/>
                        <a:latin typeface="微软雅黑" panose="020B0503020204020204" pitchFamily="34" charset="-122"/>
                        <a:ea typeface="微软雅黑" panose="020B0503020204020204" pitchFamily="34"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700" u="none" strike="noStrike">
                          <a:solidFill>
                            <a:schemeClr val="tx1">
                              <a:lumMod val="50000"/>
                              <a:lumOff val="50000"/>
                            </a:schemeClr>
                          </a:solidFill>
                          <a:effectLst/>
                        </a:rPr>
                        <a:t>0</a:t>
                      </a:r>
                      <a:endParaRPr lang="en-US" altLang="zh-CN" sz="700" b="0" i="0" u="none" strike="noStrike">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59769702"/>
                  </a:ext>
                </a:extLst>
              </a:tr>
              <a:tr h="118079">
                <a:tc>
                  <a:txBody>
                    <a:bodyPr/>
                    <a:lstStyle/>
                    <a:p>
                      <a:pPr algn="ctr" fontAlgn="ctr"/>
                      <a:r>
                        <a:rPr lang="zh-CN" altLang="en-US" sz="700" u="none" strike="noStrike">
                          <a:solidFill>
                            <a:schemeClr val="tx1">
                              <a:lumMod val="50000"/>
                              <a:lumOff val="50000"/>
                            </a:schemeClr>
                          </a:solidFill>
                          <a:effectLst/>
                        </a:rPr>
                        <a:t>嘉泽新能源</a:t>
                      </a:r>
                      <a:r>
                        <a:rPr lang="en-US" altLang="zh-CN" sz="700" u="none" strike="noStrike">
                          <a:solidFill>
                            <a:schemeClr val="tx1">
                              <a:lumMod val="50000"/>
                              <a:lumOff val="50000"/>
                            </a:schemeClr>
                          </a:solidFill>
                          <a:effectLst/>
                        </a:rPr>
                        <a:t>3</a:t>
                      </a:r>
                      <a:endParaRPr lang="en-US" altLang="zh-CN" sz="700" b="0" i="0" u="none" strike="noStrike">
                        <a:solidFill>
                          <a:schemeClr val="tx1">
                            <a:lumMod val="50000"/>
                            <a:lumOff val="50000"/>
                          </a:schemeClr>
                        </a:solidFill>
                        <a:effectLst/>
                        <a:latin typeface="微软雅黑" panose="020B0503020204020204" pitchFamily="34" charset="-122"/>
                        <a:ea typeface="微软雅黑" panose="020B0503020204020204" pitchFamily="34"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700" u="none" strike="noStrike">
                          <a:solidFill>
                            <a:schemeClr val="tx1">
                              <a:lumMod val="50000"/>
                              <a:lumOff val="50000"/>
                            </a:schemeClr>
                          </a:solidFill>
                          <a:effectLst/>
                        </a:rPr>
                        <a:t>0</a:t>
                      </a:r>
                      <a:endParaRPr lang="en-US" altLang="zh-CN" sz="700" b="0" i="0" u="none" strike="noStrike">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77482146"/>
                  </a:ext>
                </a:extLst>
              </a:tr>
              <a:tr h="118079">
                <a:tc>
                  <a:txBody>
                    <a:bodyPr/>
                    <a:lstStyle/>
                    <a:p>
                      <a:pPr algn="ctr" fontAlgn="ctr"/>
                      <a:r>
                        <a:rPr lang="zh-CN" altLang="en-US" sz="700" u="none" strike="noStrike" dirty="0">
                          <a:solidFill>
                            <a:schemeClr val="tx1">
                              <a:lumMod val="50000"/>
                              <a:lumOff val="50000"/>
                            </a:schemeClr>
                          </a:solidFill>
                          <a:effectLst/>
                        </a:rPr>
                        <a:t>嘉泽新能源</a:t>
                      </a:r>
                      <a:r>
                        <a:rPr lang="en-US" altLang="zh-CN" sz="700" u="none" strike="noStrike" dirty="0">
                          <a:solidFill>
                            <a:schemeClr val="tx1">
                              <a:lumMod val="50000"/>
                              <a:lumOff val="50000"/>
                            </a:schemeClr>
                          </a:solidFill>
                          <a:effectLst/>
                        </a:rPr>
                        <a:t>4</a:t>
                      </a:r>
                      <a:endParaRPr lang="en-US" altLang="zh-CN" sz="700" b="0" i="0" u="none" strike="noStrike" dirty="0">
                        <a:solidFill>
                          <a:schemeClr val="tx1">
                            <a:lumMod val="50000"/>
                            <a:lumOff val="50000"/>
                          </a:schemeClr>
                        </a:solidFill>
                        <a:effectLst/>
                        <a:latin typeface="微软雅黑" panose="020B0503020204020204" pitchFamily="34" charset="-122"/>
                        <a:ea typeface="微软雅黑" panose="020B0503020204020204" pitchFamily="34"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700" u="none" strike="noStrike" dirty="0">
                          <a:solidFill>
                            <a:schemeClr val="tx1">
                              <a:lumMod val="50000"/>
                              <a:lumOff val="50000"/>
                            </a:schemeClr>
                          </a:solidFill>
                          <a:effectLst/>
                        </a:rPr>
                        <a:t>0</a:t>
                      </a:r>
                      <a:endParaRPr lang="en-US" altLang="zh-CN" sz="700" b="0" i="0" u="none" strike="noStrike" dirty="0">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1573611"/>
                  </a:ext>
                </a:extLst>
              </a:tr>
              <a:tr h="118079">
                <a:tc>
                  <a:txBody>
                    <a:bodyPr/>
                    <a:lstStyle/>
                    <a:p>
                      <a:pPr algn="ctr" fontAlgn="ctr"/>
                      <a:r>
                        <a:rPr lang="zh-CN" altLang="en-US" sz="700" u="none" strike="noStrike" dirty="0">
                          <a:solidFill>
                            <a:schemeClr val="tx1">
                              <a:lumMod val="50000"/>
                              <a:lumOff val="50000"/>
                            </a:schemeClr>
                          </a:solidFill>
                          <a:effectLst/>
                        </a:rPr>
                        <a:t>上海墨钧</a:t>
                      </a:r>
                      <a:endParaRPr lang="zh-CN" altLang="en-US" sz="700" b="0" i="0" u="none" strike="noStrike" dirty="0">
                        <a:solidFill>
                          <a:schemeClr val="tx1">
                            <a:lumMod val="50000"/>
                            <a:lumOff val="50000"/>
                          </a:schemeClr>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700" u="none" strike="noStrike" dirty="0">
                          <a:solidFill>
                            <a:schemeClr val="tx1">
                              <a:lumMod val="50000"/>
                              <a:lumOff val="50000"/>
                            </a:schemeClr>
                          </a:solidFill>
                          <a:effectLst/>
                        </a:rPr>
                        <a:t>0</a:t>
                      </a:r>
                      <a:endParaRPr lang="en-US" altLang="zh-CN" sz="700" b="0" i="0" u="none" strike="noStrike" dirty="0">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59097095"/>
                  </a:ext>
                </a:extLst>
              </a:tr>
              <a:tr h="118079">
                <a:tc>
                  <a:txBody>
                    <a:bodyPr/>
                    <a:lstStyle/>
                    <a:p>
                      <a:pPr algn="ctr" fontAlgn="ctr"/>
                      <a:r>
                        <a:rPr lang="zh-CN" altLang="en-US" sz="700" u="none" strike="noStrike">
                          <a:solidFill>
                            <a:schemeClr val="tx1">
                              <a:lumMod val="50000"/>
                              <a:lumOff val="50000"/>
                            </a:schemeClr>
                          </a:solidFill>
                          <a:effectLst/>
                        </a:rPr>
                        <a:t>上海墨钧</a:t>
                      </a:r>
                      <a:endParaRPr lang="zh-CN" altLang="en-US" sz="700" b="0" i="0" u="none" strike="noStrike">
                        <a:solidFill>
                          <a:schemeClr val="tx1">
                            <a:lumMod val="50000"/>
                            <a:lumOff val="50000"/>
                          </a:schemeClr>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700" u="none" strike="noStrike">
                          <a:solidFill>
                            <a:schemeClr val="tx1">
                              <a:lumMod val="50000"/>
                              <a:lumOff val="50000"/>
                            </a:schemeClr>
                          </a:solidFill>
                          <a:effectLst/>
                        </a:rPr>
                        <a:t>0</a:t>
                      </a:r>
                      <a:endParaRPr lang="en-US" altLang="zh-CN" sz="700" b="0" i="0" u="none" strike="noStrike">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81543"/>
                  </a:ext>
                </a:extLst>
              </a:tr>
              <a:tr h="118079">
                <a:tc>
                  <a:txBody>
                    <a:bodyPr/>
                    <a:lstStyle/>
                    <a:p>
                      <a:pPr algn="ctr" fontAlgn="ctr"/>
                      <a:r>
                        <a:rPr lang="zh-CN" altLang="en-US" sz="700" u="none" strike="noStrike">
                          <a:solidFill>
                            <a:schemeClr val="tx1">
                              <a:lumMod val="50000"/>
                              <a:lumOff val="50000"/>
                            </a:schemeClr>
                          </a:solidFill>
                          <a:effectLst/>
                        </a:rPr>
                        <a:t>国电投</a:t>
                      </a:r>
                      <a:r>
                        <a:rPr lang="en-US" altLang="zh-CN" sz="700" u="none" strike="noStrike">
                          <a:solidFill>
                            <a:schemeClr val="tx1">
                              <a:lumMod val="50000"/>
                              <a:lumOff val="50000"/>
                            </a:schemeClr>
                          </a:solidFill>
                          <a:effectLst/>
                        </a:rPr>
                        <a:t>1</a:t>
                      </a:r>
                      <a:endParaRPr lang="en-US" altLang="zh-CN" sz="700" b="0" i="0" u="none" strike="noStrike">
                        <a:solidFill>
                          <a:schemeClr val="tx1">
                            <a:lumMod val="50000"/>
                            <a:lumOff val="50000"/>
                          </a:schemeClr>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700" u="none" strike="noStrike">
                          <a:solidFill>
                            <a:schemeClr val="tx1">
                              <a:lumMod val="50000"/>
                              <a:lumOff val="50000"/>
                            </a:schemeClr>
                          </a:solidFill>
                          <a:effectLst/>
                        </a:rPr>
                        <a:t>0</a:t>
                      </a:r>
                      <a:endParaRPr lang="en-US" altLang="zh-CN" sz="700" b="0" i="0" u="none" strike="noStrike">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70661241"/>
                  </a:ext>
                </a:extLst>
              </a:tr>
              <a:tr h="118079">
                <a:tc>
                  <a:txBody>
                    <a:bodyPr/>
                    <a:lstStyle/>
                    <a:p>
                      <a:pPr algn="ctr" fontAlgn="ctr"/>
                      <a:r>
                        <a:rPr lang="zh-CN" altLang="en-US" sz="700" u="none" strike="noStrike" dirty="0">
                          <a:solidFill>
                            <a:schemeClr val="tx1">
                              <a:lumMod val="50000"/>
                              <a:lumOff val="50000"/>
                            </a:schemeClr>
                          </a:solidFill>
                          <a:effectLst/>
                        </a:rPr>
                        <a:t>国电投</a:t>
                      </a:r>
                      <a:r>
                        <a:rPr lang="en-US" altLang="zh-CN" sz="700" u="none" strike="noStrike" dirty="0">
                          <a:solidFill>
                            <a:schemeClr val="tx1">
                              <a:lumMod val="50000"/>
                              <a:lumOff val="50000"/>
                            </a:schemeClr>
                          </a:solidFill>
                          <a:effectLst/>
                        </a:rPr>
                        <a:t>2</a:t>
                      </a:r>
                      <a:endParaRPr lang="en-US" altLang="zh-CN" sz="700" b="0" i="0" u="none" strike="noStrike" dirty="0">
                        <a:solidFill>
                          <a:schemeClr val="tx1">
                            <a:lumMod val="50000"/>
                            <a:lumOff val="50000"/>
                          </a:schemeClr>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700" u="none" strike="noStrike">
                          <a:solidFill>
                            <a:schemeClr val="tx1">
                              <a:lumMod val="50000"/>
                              <a:lumOff val="50000"/>
                            </a:schemeClr>
                          </a:solidFill>
                          <a:effectLst/>
                        </a:rPr>
                        <a:t>0</a:t>
                      </a:r>
                      <a:endParaRPr lang="en-US" altLang="zh-CN" sz="700" b="0" i="0" u="none" strike="noStrike">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76812872"/>
                  </a:ext>
                </a:extLst>
              </a:tr>
              <a:tr h="118079">
                <a:tc>
                  <a:txBody>
                    <a:bodyPr/>
                    <a:lstStyle/>
                    <a:p>
                      <a:pPr algn="ctr" fontAlgn="ctr"/>
                      <a:r>
                        <a:rPr lang="zh-CN" altLang="en-US" sz="700" u="none" strike="noStrike" dirty="0">
                          <a:solidFill>
                            <a:schemeClr val="tx1">
                              <a:lumMod val="50000"/>
                              <a:lumOff val="50000"/>
                            </a:schemeClr>
                          </a:solidFill>
                          <a:effectLst/>
                        </a:rPr>
                        <a:t>国电投</a:t>
                      </a:r>
                      <a:r>
                        <a:rPr lang="en-US" altLang="zh-CN" sz="700" u="none" strike="noStrike" dirty="0">
                          <a:solidFill>
                            <a:schemeClr val="tx1">
                              <a:lumMod val="50000"/>
                              <a:lumOff val="50000"/>
                            </a:schemeClr>
                          </a:solidFill>
                          <a:effectLst/>
                        </a:rPr>
                        <a:t>3</a:t>
                      </a:r>
                      <a:endParaRPr lang="en-US" altLang="zh-CN" sz="700" b="0" i="0" u="none" strike="noStrike" dirty="0">
                        <a:solidFill>
                          <a:schemeClr val="tx1">
                            <a:lumMod val="50000"/>
                            <a:lumOff val="50000"/>
                          </a:schemeClr>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700" u="none" strike="noStrike">
                          <a:solidFill>
                            <a:schemeClr val="tx1">
                              <a:lumMod val="50000"/>
                              <a:lumOff val="50000"/>
                            </a:schemeClr>
                          </a:solidFill>
                          <a:effectLst/>
                        </a:rPr>
                        <a:t>0</a:t>
                      </a:r>
                      <a:endParaRPr lang="en-US" altLang="zh-CN" sz="700" b="0" i="0" u="none" strike="noStrike">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18144138"/>
                  </a:ext>
                </a:extLst>
              </a:tr>
              <a:tr h="118079">
                <a:tc>
                  <a:txBody>
                    <a:bodyPr/>
                    <a:lstStyle/>
                    <a:p>
                      <a:pPr algn="ctr" fontAlgn="ctr"/>
                      <a:r>
                        <a:rPr lang="zh-CN" altLang="en-US" sz="700" u="none" strike="noStrike" dirty="0">
                          <a:solidFill>
                            <a:schemeClr val="tx1">
                              <a:lumMod val="50000"/>
                              <a:lumOff val="50000"/>
                            </a:schemeClr>
                          </a:solidFill>
                          <a:effectLst/>
                        </a:rPr>
                        <a:t>国能</a:t>
                      </a:r>
                      <a:r>
                        <a:rPr lang="en-US" altLang="zh-CN" sz="700" u="none" strike="noStrike" dirty="0">
                          <a:solidFill>
                            <a:schemeClr val="tx1">
                              <a:lumMod val="50000"/>
                              <a:lumOff val="50000"/>
                            </a:schemeClr>
                          </a:solidFill>
                          <a:effectLst/>
                        </a:rPr>
                        <a:t>1</a:t>
                      </a:r>
                      <a:endParaRPr lang="en-US" altLang="zh-CN" sz="700" b="0" i="0" u="none" strike="noStrike" dirty="0">
                        <a:solidFill>
                          <a:schemeClr val="tx1">
                            <a:lumMod val="50000"/>
                            <a:lumOff val="50000"/>
                          </a:schemeClr>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700" u="none" strike="noStrike">
                          <a:solidFill>
                            <a:schemeClr val="tx1">
                              <a:lumMod val="50000"/>
                              <a:lumOff val="50000"/>
                            </a:schemeClr>
                          </a:solidFill>
                          <a:effectLst/>
                        </a:rPr>
                        <a:t>0</a:t>
                      </a:r>
                      <a:endParaRPr lang="en-US" altLang="zh-CN" sz="700" b="0" i="0" u="none" strike="noStrike">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3553760"/>
                  </a:ext>
                </a:extLst>
              </a:tr>
              <a:tr h="118079">
                <a:tc>
                  <a:txBody>
                    <a:bodyPr/>
                    <a:lstStyle/>
                    <a:p>
                      <a:pPr algn="ctr" fontAlgn="ctr"/>
                      <a:r>
                        <a:rPr lang="zh-CN" altLang="en-US" sz="700" u="none" strike="noStrike">
                          <a:solidFill>
                            <a:schemeClr val="tx1">
                              <a:lumMod val="50000"/>
                              <a:lumOff val="50000"/>
                            </a:schemeClr>
                          </a:solidFill>
                          <a:effectLst/>
                        </a:rPr>
                        <a:t>国能</a:t>
                      </a:r>
                      <a:r>
                        <a:rPr lang="en-US" altLang="zh-CN" sz="700" u="none" strike="noStrike">
                          <a:solidFill>
                            <a:schemeClr val="tx1">
                              <a:lumMod val="50000"/>
                              <a:lumOff val="50000"/>
                            </a:schemeClr>
                          </a:solidFill>
                          <a:effectLst/>
                        </a:rPr>
                        <a:t>2</a:t>
                      </a:r>
                      <a:endParaRPr lang="en-US" altLang="zh-CN" sz="700" b="0" i="0" u="none" strike="noStrike">
                        <a:solidFill>
                          <a:schemeClr val="tx1">
                            <a:lumMod val="50000"/>
                            <a:lumOff val="50000"/>
                          </a:schemeClr>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700" u="none" strike="noStrike">
                          <a:solidFill>
                            <a:schemeClr val="tx1">
                              <a:lumMod val="50000"/>
                              <a:lumOff val="50000"/>
                            </a:schemeClr>
                          </a:solidFill>
                          <a:effectLst/>
                        </a:rPr>
                        <a:t>0</a:t>
                      </a:r>
                      <a:endParaRPr lang="en-US" altLang="zh-CN" sz="700" b="0" i="0" u="none" strike="noStrike">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9728788"/>
                  </a:ext>
                </a:extLst>
              </a:tr>
              <a:tr h="118079">
                <a:tc>
                  <a:txBody>
                    <a:bodyPr/>
                    <a:lstStyle/>
                    <a:p>
                      <a:pPr algn="ctr" fontAlgn="ctr"/>
                      <a:r>
                        <a:rPr lang="zh-CN" altLang="en-US" sz="700" u="none" strike="noStrike">
                          <a:solidFill>
                            <a:schemeClr val="tx1">
                              <a:lumMod val="50000"/>
                              <a:lumOff val="50000"/>
                            </a:schemeClr>
                          </a:solidFill>
                          <a:effectLst/>
                        </a:rPr>
                        <a:t>国能</a:t>
                      </a:r>
                      <a:r>
                        <a:rPr lang="en-US" altLang="zh-CN" sz="700" u="none" strike="noStrike">
                          <a:solidFill>
                            <a:schemeClr val="tx1">
                              <a:lumMod val="50000"/>
                              <a:lumOff val="50000"/>
                            </a:schemeClr>
                          </a:solidFill>
                          <a:effectLst/>
                        </a:rPr>
                        <a:t>3</a:t>
                      </a:r>
                      <a:endParaRPr lang="en-US" altLang="zh-CN" sz="700" b="0" i="0" u="none" strike="noStrike">
                        <a:solidFill>
                          <a:schemeClr val="tx1">
                            <a:lumMod val="50000"/>
                            <a:lumOff val="50000"/>
                          </a:schemeClr>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700" u="none" strike="noStrike" dirty="0">
                          <a:solidFill>
                            <a:schemeClr val="tx1">
                              <a:lumMod val="50000"/>
                              <a:lumOff val="50000"/>
                            </a:schemeClr>
                          </a:solidFill>
                          <a:effectLst/>
                        </a:rPr>
                        <a:t>0</a:t>
                      </a:r>
                      <a:endParaRPr lang="en-US" altLang="zh-CN" sz="700" b="0" i="0" u="none" strike="noStrike" dirty="0">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35110022"/>
                  </a:ext>
                </a:extLst>
              </a:tr>
              <a:tr h="118079">
                <a:tc>
                  <a:txBody>
                    <a:bodyPr/>
                    <a:lstStyle/>
                    <a:p>
                      <a:pPr algn="ctr" fontAlgn="ctr"/>
                      <a:r>
                        <a:rPr lang="zh-CN" altLang="en-US" sz="700" u="none" strike="noStrike">
                          <a:solidFill>
                            <a:schemeClr val="tx1">
                              <a:lumMod val="50000"/>
                              <a:lumOff val="50000"/>
                            </a:schemeClr>
                          </a:solidFill>
                          <a:effectLst/>
                        </a:rPr>
                        <a:t>国能</a:t>
                      </a:r>
                      <a:r>
                        <a:rPr lang="en-US" altLang="zh-CN" sz="700" u="none" strike="noStrike">
                          <a:solidFill>
                            <a:schemeClr val="tx1">
                              <a:lumMod val="50000"/>
                              <a:lumOff val="50000"/>
                            </a:schemeClr>
                          </a:solidFill>
                          <a:effectLst/>
                        </a:rPr>
                        <a:t>4</a:t>
                      </a:r>
                      <a:endParaRPr lang="en-US" altLang="zh-CN" sz="700" b="0" i="0" u="none" strike="noStrike">
                        <a:solidFill>
                          <a:schemeClr val="tx1">
                            <a:lumMod val="50000"/>
                            <a:lumOff val="50000"/>
                          </a:schemeClr>
                        </a:solidFill>
                        <a:effectLst/>
                        <a:latin typeface="宋体" panose="02010600030101010101" pitchFamily="2" charset="-122"/>
                        <a:ea typeface="宋体" panose="02010600030101010101" pitchFamily="2" charset="-122"/>
                      </a:endParaRPr>
                    </a:p>
                  </a:txBody>
                  <a:tcPr marL="5090" marR="5090" marT="509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zh-CN" altLang="en-US"/>
                    </a:p>
                  </a:txBody>
                  <a:tcPr/>
                </a:tc>
                <a:tc>
                  <a:txBody>
                    <a:bodyPr/>
                    <a:lstStyle/>
                    <a:p>
                      <a:pPr algn="ctr" fontAlgn="b"/>
                      <a:r>
                        <a:rPr lang="en-US" altLang="zh-CN" sz="700" u="none" strike="noStrike" dirty="0">
                          <a:solidFill>
                            <a:schemeClr val="tx1">
                              <a:lumMod val="50000"/>
                              <a:lumOff val="50000"/>
                            </a:schemeClr>
                          </a:solidFill>
                          <a:effectLst/>
                        </a:rPr>
                        <a:t>0</a:t>
                      </a:r>
                      <a:endParaRPr lang="en-US" altLang="zh-CN" sz="700" b="0" i="0" u="none" strike="noStrike" dirty="0">
                        <a:solidFill>
                          <a:schemeClr val="tx1">
                            <a:lumMod val="50000"/>
                            <a:lumOff val="50000"/>
                          </a:schemeClr>
                        </a:solidFill>
                        <a:effectLst/>
                        <a:latin typeface="等线" panose="02010600030101010101" pitchFamily="2" charset="-122"/>
                        <a:ea typeface="等线" panose="02010600030101010101" pitchFamily="2" charset="-122"/>
                      </a:endParaRPr>
                    </a:p>
                  </a:txBody>
                  <a:tcPr marL="5090" marR="5090" marT="509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4782403"/>
                  </a:ext>
                </a:extLst>
              </a:tr>
            </a:tbl>
          </a:graphicData>
        </a:graphic>
      </p:graphicFrame>
      <p:sp>
        <p:nvSpPr>
          <p:cNvPr id="4" name="文本框 3">
            <a:extLst>
              <a:ext uri="{FF2B5EF4-FFF2-40B4-BE49-F238E27FC236}">
                <a16:creationId xmlns:a16="http://schemas.microsoft.com/office/drawing/2014/main" id="{1D535E41-29B5-BD7C-2630-7312301C25C9}"/>
              </a:ext>
            </a:extLst>
          </p:cNvPr>
          <p:cNvSpPr txBox="1"/>
          <p:nvPr/>
        </p:nvSpPr>
        <p:spPr>
          <a:xfrm>
            <a:off x="10968544" y="1113851"/>
            <a:ext cx="1099658" cy="6463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066E9F"/>
                </a:solidFill>
                <a:effectLst/>
                <a:uLnTx/>
                <a:uFillTx/>
                <a:latin typeface="DengXian"/>
                <a:ea typeface="DengXian" panose="02010600030101010101" pitchFamily="2" charset="-122"/>
              </a:rPr>
              <a:t>非边际项目，获得最</a:t>
            </a:r>
            <a:r>
              <a:rPr lang="zh-CN" altLang="en-US" sz="1200" b="1" kern="0" dirty="0">
                <a:solidFill>
                  <a:srgbClr val="066E9F"/>
                </a:solidFill>
                <a:latin typeface="DengXian"/>
                <a:ea typeface="DengXian" panose="02010600030101010101" pitchFamily="2" charset="-122"/>
              </a:rPr>
              <a:t>高申报上限电量</a:t>
            </a:r>
            <a:endParaRPr kumimoji="0" lang="zh-CN" altLang="en-US" sz="1200" b="1" i="0" u="none" strike="noStrike" kern="0" cap="none" spc="0" normalizeH="0" baseline="0" noProof="0" dirty="0">
              <a:ln>
                <a:noFill/>
              </a:ln>
              <a:solidFill>
                <a:srgbClr val="066E9F"/>
              </a:solidFill>
              <a:effectLst/>
              <a:uLnTx/>
              <a:uFillTx/>
              <a:latin typeface="DengXian"/>
              <a:ea typeface="DengXian" panose="02010600030101010101" pitchFamily="2" charset="-122"/>
            </a:endParaRPr>
          </a:p>
        </p:txBody>
      </p:sp>
      <p:sp>
        <p:nvSpPr>
          <p:cNvPr id="5" name="矩形: 圆角 4">
            <a:extLst>
              <a:ext uri="{FF2B5EF4-FFF2-40B4-BE49-F238E27FC236}">
                <a16:creationId xmlns:a16="http://schemas.microsoft.com/office/drawing/2014/main" id="{9448F19C-DF8C-D9C0-8E9B-072EDFF48BF4}"/>
              </a:ext>
            </a:extLst>
          </p:cNvPr>
          <p:cNvSpPr/>
          <p:nvPr/>
        </p:nvSpPr>
        <p:spPr>
          <a:xfrm>
            <a:off x="7166579" y="1125509"/>
            <a:ext cx="3693759" cy="1633870"/>
          </a:xfrm>
          <a:prstGeom prst="roundRect">
            <a:avLst/>
          </a:prstGeom>
          <a:noFill/>
          <a:ln w="19050">
            <a:solidFill>
              <a:srgbClr val="066E9F"/>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rgbClr val="FFC000"/>
              </a:solidFill>
            </a:endParaRPr>
          </a:p>
        </p:txBody>
      </p:sp>
      <p:cxnSp>
        <p:nvCxnSpPr>
          <p:cNvPr id="6" name="直接箭头连接符 5">
            <a:extLst>
              <a:ext uri="{FF2B5EF4-FFF2-40B4-BE49-F238E27FC236}">
                <a16:creationId xmlns:a16="http://schemas.microsoft.com/office/drawing/2014/main" id="{5DB82BBD-1173-EAC5-1551-9B3E7A6DF085}"/>
              </a:ext>
            </a:extLst>
          </p:cNvPr>
          <p:cNvCxnSpPr>
            <a:cxnSpLocks/>
          </p:cNvCxnSpPr>
          <p:nvPr/>
        </p:nvCxnSpPr>
        <p:spPr>
          <a:xfrm flipH="1">
            <a:off x="10900084" y="1735823"/>
            <a:ext cx="330007" cy="264341"/>
          </a:xfrm>
          <a:prstGeom prst="straightConnector1">
            <a:avLst/>
          </a:prstGeom>
          <a:noFill/>
          <a:ln w="6350" cap="flat" cmpd="sng" algn="ctr">
            <a:solidFill>
              <a:srgbClr val="066E9F"/>
            </a:solidFill>
            <a:prstDash val="solid"/>
            <a:miter lim="800000"/>
            <a:tailEnd type="triangle"/>
          </a:ln>
          <a:effectLst/>
        </p:spPr>
      </p:cxnSp>
      <p:cxnSp>
        <p:nvCxnSpPr>
          <p:cNvPr id="8" name="直接箭头连接符 7">
            <a:extLst>
              <a:ext uri="{FF2B5EF4-FFF2-40B4-BE49-F238E27FC236}">
                <a16:creationId xmlns:a16="http://schemas.microsoft.com/office/drawing/2014/main" id="{32FDAA5D-84D3-789E-0053-FA14817C0B0B}"/>
              </a:ext>
            </a:extLst>
          </p:cNvPr>
          <p:cNvCxnSpPr>
            <a:cxnSpLocks/>
          </p:cNvCxnSpPr>
          <p:nvPr/>
        </p:nvCxnSpPr>
        <p:spPr>
          <a:xfrm flipH="1" flipV="1">
            <a:off x="10600266" y="2857936"/>
            <a:ext cx="615403" cy="166656"/>
          </a:xfrm>
          <a:prstGeom prst="straightConnector1">
            <a:avLst/>
          </a:prstGeom>
          <a:noFill/>
          <a:ln w="6350" cap="flat" cmpd="sng" algn="ctr">
            <a:solidFill>
              <a:srgbClr val="ED7D31"/>
            </a:solidFill>
            <a:prstDash val="solid"/>
            <a:miter lim="800000"/>
            <a:tailEnd type="triangle"/>
          </a:ln>
          <a:effectLst/>
        </p:spPr>
      </p:cxnSp>
      <p:sp>
        <p:nvSpPr>
          <p:cNvPr id="9" name="文本框 8">
            <a:extLst>
              <a:ext uri="{FF2B5EF4-FFF2-40B4-BE49-F238E27FC236}">
                <a16:creationId xmlns:a16="http://schemas.microsoft.com/office/drawing/2014/main" id="{8BAD8B61-92BA-E9C4-B129-E266A5E3F60A}"/>
              </a:ext>
            </a:extLst>
          </p:cNvPr>
          <p:cNvSpPr txBox="1"/>
          <p:nvPr/>
        </p:nvSpPr>
        <p:spPr>
          <a:xfrm>
            <a:off x="10968544" y="2952022"/>
            <a:ext cx="1309528"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200" b="1" kern="0" dirty="0">
                <a:solidFill>
                  <a:srgbClr val="ED7D31"/>
                </a:solidFill>
                <a:latin typeface="DengXian"/>
                <a:ea typeface="DengXian" panose="02010600030101010101" pitchFamily="2" charset="-122"/>
              </a:rPr>
              <a:t>边际项目获得“全省机制</a:t>
            </a:r>
            <a:r>
              <a:rPr lang="en-US" altLang="zh-CN" sz="1200" b="1" kern="0" dirty="0">
                <a:solidFill>
                  <a:srgbClr val="ED7D31"/>
                </a:solidFill>
                <a:latin typeface="DengXian"/>
                <a:ea typeface="DengXian" panose="02010600030101010101" pitchFamily="2" charset="-122"/>
              </a:rPr>
              <a:t>-</a:t>
            </a:r>
            <a:r>
              <a:rPr lang="zh-CN" altLang="en-US" sz="1200" b="1" kern="0" dirty="0">
                <a:solidFill>
                  <a:srgbClr val="ED7D31"/>
                </a:solidFill>
                <a:latin typeface="DengXian"/>
                <a:ea typeface="DengXian" panose="02010600030101010101" pitchFamily="2" charset="-122"/>
              </a:rPr>
              <a:t>前序中标项目机制电量”的剩余电量</a:t>
            </a:r>
            <a:endParaRPr kumimoji="0" lang="zh-CN" altLang="en-US" sz="1200" b="1" i="0" u="none" strike="noStrike" kern="0" cap="none" spc="0" normalizeH="0" baseline="0" noProof="0" dirty="0">
              <a:ln>
                <a:noFill/>
              </a:ln>
              <a:solidFill>
                <a:srgbClr val="ED7D31"/>
              </a:solidFill>
              <a:effectLst/>
              <a:uLnTx/>
              <a:uFillTx/>
              <a:latin typeface="DengXian"/>
              <a:ea typeface="DengXian" panose="02010600030101010101" pitchFamily="2" charset="-122"/>
            </a:endParaRPr>
          </a:p>
        </p:txBody>
      </p:sp>
      <p:grpSp>
        <p:nvGrpSpPr>
          <p:cNvPr id="10" name="组合 9">
            <a:extLst>
              <a:ext uri="{FF2B5EF4-FFF2-40B4-BE49-F238E27FC236}">
                <a16:creationId xmlns:a16="http://schemas.microsoft.com/office/drawing/2014/main" id="{B442E2BC-57A8-9214-704E-A8313766384E}"/>
              </a:ext>
            </a:extLst>
          </p:cNvPr>
          <p:cNvGrpSpPr/>
          <p:nvPr/>
        </p:nvGrpSpPr>
        <p:grpSpPr>
          <a:xfrm>
            <a:off x="172432" y="4492679"/>
            <a:ext cx="6618367" cy="1698794"/>
            <a:chOff x="148726" y="3746714"/>
            <a:chExt cx="5413966" cy="2230894"/>
          </a:xfrm>
        </p:grpSpPr>
        <p:sp>
          <p:nvSpPr>
            <p:cNvPr id="11" name="矩形 10">
              <a:extLst>
                <a:ext uri="{FF2B5EF4-FFF2-40B4-BE49-F238E27FC236}">
                  <a16:creationId xmlns:a16="http://schemas.microsoft.com/office/drawing/2014/main" id="{0B83D100-2A15-3F98-193F-3EBE24B0F368}"/>
                </a:ext>
              </a:extLst>
            </p:cNvPr>
            <p:cNvSpPr/>
            <p:nvPr/>
          </p:nvSpPr>
          <p:spPr>
            <a:xfrm>
              <a:off x="2512266" y="4752698"/>
              <a:ext cx="196017" cy="744977"/>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cxnSp>
          <p:nvCxnSpPr>
            <p:cNvPr id="12" name="直接箭头连接符 11">
              <a:extLst>
                <a:ext uri="{FF2B5EF4-FFF2-40B4-BE49-F238E27FC236}">
                  <a16:creationId xmlns:a16="http://schemas.microsoft.com/office/drawing/2014/main" id="{A0F46656-FA9D-3578-6465-F0896059075E}"/>
                </a:ext>
              </a:extLst>
            </p:cNvPr>
            <p:cNvCxnSpPr/>
            <p:nvPr/>
          </p:nvCxnSpPr>
          <p:spPr>
            <a:xfrm>
              <a:off x="1491469" y="5497251"/>
              <a:ext cx="3346423" cy="0"/>
            </a:xfrm>
            <a:prstGeom prst="straightConnector1">
              <a:avLst/>
            </a:prstGeom>
            <a:noFill/>
            <a:ln w="6350" cap="flat" cmpd="sng" algn="ctr">
              <a:solidFill>
                <a:sysClr val="windowText" lastClr="000000"/>
              </a:solidFill>
              <a:prstDash val="solid"/>
              <a:miter lim="800000"/>
              <a:tailEnd type="triangle"/>
            </a:ln>
            <a:effectLst/>
          </p:spPr>
        </p:cxnSp>
        <p:cxnSp>
          <p:nvCxnSpPr>
            <p:cNvPr id="13" name="直接箭头连接符 12">
              <a:extLst>
                <a:ext uri="{FF2B5EF4-FFF2-40B4-BE49-F238E27FC236}">
                  <a16:creationId xmlns:a16="http://schemas.microsoft.com/office/drawing/2014/main" id="{36873411-E070-D07E-6AC6-53172834AA59}"/>
                </a:ext>
              </a:extLst>
            </p:cNvPr>
            <p:cNvCxnSpPr/>
            <p:nvPr/>
          </p:nvCxnSpPr>
          <p:spPr>
            <a:xfrm flipV="1">
              <a:off x="1875996" y="4124798"/>
              <a:ext cx="0" cy="1653806"/>
            </a:xfrm>
            <a:prstGeom prst="straightConnector1">
              <a:avLst/>
            </a:prstGeom>
            <a:noFill/>
            <a:ln w="6350" cap="flat" cmpd="sng" algn="ctr">
              <a:solidFill>
                <a:sysClr val="windowText" lastClr="000000"/>
              </a:solidFill>
              <a:prstDash val="solid"/>
              <a:miter lim="800000"/>
              <a:tailEnd type="triangle"/>
            </a:ln>
            <a:effectLst/>
          </p:spPr>
        </p:cxnSp>
        <p:cxnSp>
          <p:nvCxnSpPr>
            <p:cNvPr id="14" name="直接连接符 13">
              <a:extLst>
                <a:ext uri="{FF2B5EF4-FFF2-40B4-BE49-F238E27FC236}">
                  <a16:creationId xmlns:a16="http://schemas.microsoft.com/office/drawing/2014/main" id="{E9B06DC4-7E85-81BA-09BE-DC05107071B7}"/>
                </a:ext>
              </a:extLst>
            </p:cNvPr>
            <p:cNvCxnSpPr/>
            <p:nvPr/>
          </p:nvCxnSpPr>
          <p:spPr>
            <a:xfrm>
              <a:off x="1044586" y="4342402"/>
              <a:ext cx="3554275" cy="0"/>
            </a:xfrm>
            <a:prstGeom prst="line">
              <a:avLst/>
            </a:prstGeom>
            <a:noFill/>
            <a:ln w="6350" cap="flat" cmpd="sng" algn="ctr">
              <a:solidFill>
                <a:sysClr val="windowText" lastClr="000000"/>
              </a:solidFill>
              <a:prstDash val="dash"/>
              <a:miter lim="800000"/>
            </a:ln>
            <a:effectLst/>
          </p:spPr>
        </p:cxnSp>
        <p:sp>
          <p:nvSpPr>
            <p:cNvPr id="15" name="矩形 14">
              <a:extLst>
                <a:ext uri="{FF2B5EF4-FFF2-40B4-BE49-F238E27FC236}">
                  <a16:creationId xmlns:a16="http://schemas.microsoft.com/office/drawing/2014/main" id="{85652593-8A7C-5D0C-7345-676407B82637}"/>
                </a:ext>
              </a:extLst>
            </p:cNvPr>
            <p:cNvSpPr/>
            <p:nvPr/>
          </p:nvSpPr>
          <p:spPr>
            <a:xfrm>
              <a:off x="1875996" y="5016893"/>
              <a:ext cx="156784" cy="480358"/>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16" name="矩形 15">
              <a:extLst>
                <a:ext uri="{FF2B5EF4-FFF2-40B4-BE49-F238E27FC236}">
                  <a16:creationId xmlns:a16="http://schemas.microsoft.com/office/drawing/2014/main" id="{88A14E9B-701F-40D1-DA71-932EB0002AE2}"/>
                </a:ext>
              </a:extLst>
            </p:cNvPr>
            <p:cNvSpPr/>
            <p:nvPr/>
          </p:nvSpPr>
          <p:spPr>
            <a:xfrm>
              <a:off x="2032781" y="4897567"/>
              <a:ext cx="157121" cy="599683"/>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17" name="矩形 16">
              <a:extLst>
                <a:ext uri="{FF2B5EF4-FFF2-40B4-BE49-F238E27FC236}">
                  <a16:creationId xmlns:a16="http://schemas.microsoft.com/office/drawing/2014/main" id="{0DF4262A-12E4-839E-E48E-8C469693DD50}"/>
                </a:ext>
              </a:extLst>
            </p:cNvPr>
            <p:cNvSpPr/>
            <p:nvPr/>
          </p:nvSpPr>
          <p:spPr>
            <a:xfrm>
              <a:off x="2189163" y="4847288"/>
              <a:ext cx="160043" cy="649963"/>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18" name="矩形 17">
              <a:extLst>
                <a:ext uri="{FF2B5EF4-FFF2-40B4-BE49-F238E27FC236}">
                  <a16:creationId xmlns:a16="http://schemas.microsoft.com/office/drawing/2014/main" id="{F4B5CD80-72AC-CA40-C147-98C7B0160084}"/>
                </a:ext>
              </a:extLst>
            </p:cNvPr>
            <p:cNvSpPr/>
            <p:nvPr/>
          </p:nvSpPr>
          <p:spPr>
            <a:xfrm>
              <a:off x="2892913" y="4660066"/>
              <a:ext cx="256388" cy="831487"/>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19" name="矩形 18">
              <a:extLst>
                <a:ext uri="{FF2B5EF4-FFF2-40B4-BE49-F238E27FC236}">
                  <a16:creationId xmlns:a16="http://schemas.microsoft.com/office/drawing/2014/main" id="{D5F764F7-C2C7-5C80-B47E-DF4C15AE3A41}"/>
                </a:ext>
              </a:extLst>
            </p:cNvPr>
            <p:cNvSpPr/>
            <p:nvPr/>
          </p:nvSpPr>
          <p:spPr>
            <a:xfrm>
              <a:off x="3144616" y="4600578"/>
              <a:ext cx="170211" cy="896738"/>
            </a:xfrm>
            <a:prstGeom prst="rect">
              <a:avLst/>
            </a:prstGeom>
            <a:solidFill>
              <a:schemeClr val="bg1">
                <a:lumMod val="50000"/>
              </a:scheme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cxnSp>
          <p:nvCxnSpPr>
            <p:cNvPr id="20" name="直接连接符 19">
              <a:extLst>
                <a:ext uri="{FF2B5EF4-FFF2-40B4-BE49-F238E27FC236}">
                  <a16:creationId xmlns:a16="http://schemas.microsoft.com/office/drawing/2014/main" id="{70402489-6E3F-0D49-8D40-E139EC3416DC}"/>
                </a:ext>
              </a:extLst>
            </p:cNvPr>
            <p:cNvCxnSpPr/>
            <p:nvPr/>
          </p:nvCxnSpPr>
          <p:spPr>
            <a:xfrm>
              <a:off x="3047193" y="3967348"/>
              <a:ext cx="0" cy="2010260"/>
            </a:xfrm>
            <a:prstGeom prst="line">
              <a:avLst/>
            </a:prstGeom>
            <a:noFill/>
            <a:ln w="19050" cap="flat" cmpd="sng" algn="ctr">
              <a:solidFill>
                <a:srgbClr val="ED7D31"/>
              </a:solidFill>
              <a:prstDash val="dash"/>
              <a:miter lim="800000"/>
            </a:ln>
            <a:effectLst/>
          </p:spPr>
        </p:cxnSp>
        <p:sp>
          <p:nvSpPr>
            <p:cNvPr id="21" name="文本框 20">
              <a:extLst>
                <a:ext uri="{FF2B5EF4-FFF2-40B4-BE49-F238E27FC236}">
                  <a16:creationId xmlns:a16="http://schemas.microsoft.com/office/drawing/2014/main" id="{6D82EC51-56E3-A0ED-D0E5-9B25E1491829}"/>
                </a:ext>
              </a:extLst>
            </p:cNvPr>
            <p:cNvSpPr txBox="1"/>
            <p:nvPr/>
          </p:nvSpPr>
          <p:spPr>
            <a:xfrm>
              <a:off x="150829" y="5023559"/>
              <a:ext cx="1048489"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DengXian"/>
                  <a:ea typeface="DengXian" panose="02010600030101010101" pitchFamily="2" charset="-122"/>
                </a:rPr>
                <a:t>竞价下限</a:t>
              </a:r>
            </a:p>
          </p:txBody>
        </p:sp>
        <p:sp>
          <p:nvSpPr>
            <p:cNvPr id="22" name="文本框 21">
              <a:extLst>
                <a:ext uri="{FF2B5EF4-FFF2-40B4-BE49-F238E27FC236}">
                  <a16:creationId xmlns:a16="http://schemas.microsoft.com/office/drawing/2014/main" id="{21738252-67C8-2C5C-5F60-5A0B11E12438}"/>
                </a:ext>
              </a:extLst>
            </p:cNvPr>
            <p:cNvSpPr txBox="1"/>
            <p:nvPr/>
          </p:nvSpPr>
          <p:spPr>
            <a:xfrm>
              <a:off x="854701" y="4516771"/>
              <a:ext cx="1114201" cy="29494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ED7D31"/>
                  </a:solidFill>
                  <a:effectLst/>
                  <a:uLnTx/>
                  <a:uFillTx/>
                  <a:latin typeface="DengXian"/>
                  <a:ea typeface="DengXian" panose="02010600030101010101" pitchFamily="2" charset="-122"/>
                </a:rPr>
                <a:t>出清价格</a:t>
              </a:r>
            </a:p>
          </p:txBody>
        </p:sp>
        <p:sp>
          <p:nvSpPr>
            <p:cNvPr id="23" name="文本框 22">
              <a:extLst>
                <a:ext uri="{FF2B5EF4-FFF2-40B4-BE49-F238E27FC236}">
                  <a16:creationId xmlns:a16="http://schemas.microsoft.com/office/drawing/2014/main" id="{920F7E92-5292-F807-B2D2-6F4CF6EC6572}"/>
                </a:ext>
              </a:extLst>
            </p:cNvPr>
            <p:cNvSpPr txBox="1"/>
            <p:nvPr/>
          </p:nvSpPr>
          <p:spPr>
            <a:xfrm>
              <a:off x="1383114" y="4105643"/>
              <a:ext cx="717068"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prstClr val="black"/>
                  </a:solidFill>
                  <a:effectLst/>
                  <a:uLnTx/>
                  <a:uFillTx/>
                  <a:latin typeface="DengXian"/>
                  <a:ea typeface="DengXian" panose="02010600030101010101" pitchFamily="2" charset="-122"/>
                </a:rPr>
                <a:t>价格</a:t>
              </a:r>
            </a:p>
          </p:txBody>
        </p:sp>
        <p:sp>
          <p:nvSpPr>
            <p:cNvPr id="24" name="文本框 23">
              <a:extLst>
                <a:ext uri="{FF2B5EF4-FFF2-40B4-BE49-F238E27FC236}">
                  <a16:creationId xmlns:a16="http://schemas.microsoft.com/office/drawing/2014/main" id="{D9E7910C-F075-7ACA-2AC6-7DB6573C5E32}"/>
                </a:ext>
              </a:extLst>
            </p:cNvPr>
            <p:cNvSpPr txBox="1"/>
            <p:nvPr/>
          </p:nvSpPr>
          <p:spPr>
            <a:xfrm>
              <a:off x="4845624" y="5358803"/>
              <a:ext cx="717068"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prstClr val="black"/>
                  </a:solidFill>
                  <a:effectLst/>
                  <a:uLnTx/>
                  <a:uFillTx/>
                  <a:latin typeface="DengXian"/>
                  <a:ea typeface="DengXian" panose="02010600030101010101" pitchFamily="2" charset="-122"/>
                </a:rPr>
                <a:t>电量</a:t>
              </a:r>
            </a:p>
          </p:txBody>
        </p:sp>
        <p:sp>
          <p:nvSpPr>
            <p:cNvPr id="25" name="左大括号 24">
              <a:extLst>
                <a:ext uri="{FF2B5EF4-FFF2-40B4-BE49-F238E27FC236}">
                  <a16:creationId xmlns:a16="http://schemas.microsoft.com/office/drawing/2014/main" id="{F213C627-17AA-B44F-753E-BBB13A35E098}"/>
                </a:ext>
              </a:extLst>
            </p:cNvPr>
            <p:cNvSpPr/>
            <p:nvPr/>
          </p:nvSpPr>
          <p:spPr>
            <a:xfrm rot="5400000">
              <a:off x="2375942" y="3617351"/>
              <a:ext cx="186862" cy="1099494"/>
            </a:xfrm>
            <a:prstGeom prst="leftBrace">
              <a:avLst/>
            </a:prstGeom>
            <a:noFill/>
            <a:ln w="635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DengXian"/>
                <a:ea typeface="DengXian" panose="02010600030101010101" pitchFamily="2" charset="-122"/>
                <a:cs typeface="+mn-cs"/>
              </a:endParaRPr>
            </a:p>
          </p:txBody>
        </p:sp>
        <p:sp>
          <p:nvSpPr>
            <p:cNvPr id="26" name="文本框 25">
              <a:extLst>
                <a:ext uri="{FF2B5EF4-FFF2-40B4-BE49-F238E27FC236}">
                  <a16:creationId xmlns:a16="http://schemas.microsoft.com/office/drawing/2014/main" id="{A82C1DC4-F1C8-FD9E-145B-450780B64CFD}"/>
                </a:ext>
              </a:extLst>
            </p:cNvPr>
            <p:cNvSpPr txBox="1"/>
            <p:nvPr/>
          </p:nvSpPr>
          <p:spPr>
            <a:xfrm>
              <a:off x="1942425" y="3746714"/>
              <a:ext cx="950488" cy="36376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66E9F"/>
                  </a:solidFill>
                  <a:effectLst/>
                  <a:uLnTx/>
                  <a:uFillTx/>
                  <a:latin typeface="DengXian"/>
                  <a:ea typeface="DengXian" panose="02010600030101010101" pitchFamily="2" charset="-122"/>
                </a:rPr>
                <a:t>全省</a:t>
              </a:r>
              <a:r>
                <a:rPr lang="zh-CN" altLang="en-US" sz="1200" kern="0" dirty="0">
                  <a:solidFill>
                    <a:srgbClr val="066E9F"/>
                  </a:solidFill>
                  <a:latin typeface="DengXian"/>
                  <a:ea typeface="DengXian" panose="02010600030101010101" pitchFamily="2" charset="-122"/>
                </a:rPr>
                <a:t>机制</a:t>
              </a:r>
              <a:r>
                <a:rPr kumimoji="0" lang="zh-CN" altLang="en-US" sz="1200" b="0" i="0" u="none" strike="noStrike" kern="0" cap="none" spc="0" normalizeH="0" baseline="0" noProof="0" dirty="0">
                  <a:ln>
                    <a:noFill/>
                  </a:ln>
                  <a:solidFill>
                    <a:srgbClr val="066E9F"/>
                  </a:solidFill>
                  <a:effectLst/>
                  <a:uLnTx/>
                  <a:uFillTx/>
                  <a:latin typeface="DengXian"/>
                  <a:ea typeface="DengXian" panose="02010600030101010101" pitchFamily="2" charset="-122"/>
                </a:rPr>
                <a:t>电量</a:t>
              </a:r>
            </a:p>
          </p:txBody>
        </p:sp>
        <p:sp>
          <p:nvSpPr>
            <p:cNvPr id="27" name="文本框 26">
              <a:extLst>
                <a:ext uri="{FF2B5EF4-FFF2-40B4-BE49-F238E27FC236}">
                  <a16:creationId xmlns:a16="http://schemas.microsoft.com/office/drawing/2014/main" id="{EA7785E0-979E-F514-9F4F-25DBD8C46DAC}"/>
                </a:ext>
              </a:extLst>
            </p:cNvPr>
            <p:cNvSpPr txBox="1"/>
            <p:nvPr/>
          </p:nvSpPr>
          <p:spPr>
            <a:xfrm>
              <a:off x="3699194" y="5594546"/>
              <a:ext cx="1470918" cy="29494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DengXian"/>
                  <a:ea typeface="DengXian" panose="02010600030101010101" pitchFamily="2" charset="-122"/>
                </a:rPr>
                <a:t>未中标项目</a:t>
              </a:r>
            </a:p>
          </p:txBody>
        </p:sp>
        <p:sp>
          <p:nvSpPr>
            <p:cNvPr id="28" name="文本框 27">
              <a:extLst>
                <a:ext uri="{FF2B5EF4-FFF2-40B4-BE49-F238E27FC236}">
                  <a16:creationId xmlns:a16="http://schemas.microsoft.com/office/drawing/2014/main" id="{903F2147-1F22-DBED-AE6F-DF70AAA82A42}"/>
                </a:ext>
              </a:extLst>
            </p:cNvPr>
            <p:cNvSpPr txBox="1"/>
            <p:nvPr/>
          </p:nvSpPr>
          <p:spPr>
            <a:xfrm>
              <a:off x="148726" y="4216069"/>
              <a:ext cx="1120516"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DengXian"/>
                  <a:ea typeface="DengXian" panose="02010600030101010101" pitchFamily="2" charset="-122"/>
                </a:rPr>
                <a:t>竞价上限</a:t>
              </a:r>
            </a:p>
          </p:txBody>
        </p:sp>
        <p:sp>
          <p:nvSpPr>
            <p:cNvPr id="29" name="矩形 28">
              <a:extLst>
                <a:ext uri="{FF2B5EF4-FFF2-40B4-BE49-F238E27FC236}">
                  <a16:creationId xmlns:a16="http://schemas.microsoft.com/office/drawing/2014/main" id="{C13B6C6B-7298-569A-CC7D-18182448F28B}"/>
                </a:ext>
              </a:extLst>
            </p:cNvPr>
            <p:cNvSpPr/>
            <p:nvPr/>
          </p:nvSpPr>
          <p:spPr>
            <a:xfrm>
              <a:off x="2350715" y="4801171"/>
              <a:ext cx="160043" cy="691710"/>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30" name="矩形 29">
              <a:extLst>
                <a:ext uri="{FF2B5EF4-FFF2-40B4-BE49-F238E27FC236}">
                  <a16:creationId xmlns:a16="http://schemas.microsoft.com/office/drawing/2014/main" id="{7E0C6DD1-C2C7-A7EC-1F82-E1083AB36E4B}"/>
                </a:ext>
              </a:extLst>
            </p:cNvPr>
            <p:cNvSpPr/>
            <p:nvPr/>
          </p:nvSpPr>
          <p:spPr>
            <a:xfrm>
              <a:off x="2700010" y="4705804"/>
              <a:ext cx="186197" cy="784473"/>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cxnSp>
          <p:nvCxnSpPr>
            <p:cNvPr id="31" name="直接箭头连接符 30">
              <a:extLst>
                <a:ext uri="{FF2B5EF4-FFF2-40B4-BE49-F238E27FC236}">
                  <a16:creationId xmlns:a16="http://schemas.microsoft.com/office/drawing/2014/main" id="{ED663DF9-8F1F-E717-F1D7-FDF4318AE849}"/>
                </a:ext>
              </a:extLst>
            </p:cNvPr>
            <p:cNvCxnSpPr>
              <a:cxnSpLocks/>
            </p:cNvCxnSpPr>
            <p:nvPr/>
          </p:nvCxnSpPr>
          <p:spPr>
            <a:xfrm flipV="1">
              <a:off x="2799010" y="5367884"/>
              <a:ext cx="189858" cy="429189"/>
            </a:xfrm>
            <a:prstGeom prst="straightConnector1">
              <a:avLst/>
            </a:prstGeom>
            <a:noFill/>
            <a:ln w="6350" cap="flat" cmpd="sng" algn="ctr">
              <a:solidFill>
                <a:srgbClr val="ED7D31"/>
              </a:solidFill>
              <a:prstDash val="solid"/>
              <a:miter lim="800000"/>
              <a:tailEnd type="triangle"/>
            </a:ln>
            <a:effectLst/>
          </p:spPr>
        </p:cxnSp>
        <p:sp>
          <p:nvSpPr>
            <p:cNvPr id="32" name="矩形 31">
              <a:extLst>
                <a:ext uri="{FF2B5EF4-FFF2-40B4-BE49-F238E27FC236}">
                  <a16:creationId xmlns:a16="http://schemas.microsoft.com/office/drawing/2014/main" id="{7AD517C3-E0D7-7BEF-D09C-5D7FF0901C94}"/>
                </a:ext>
              </a:extLst>
            </p:cNvPr>
            <p:cNvSpPr/>
            <p:nvPr/>
          </p:nvSpPr>
          <p:spPr>
            <a:xfrm>
              <a:off x="3306475" y="4532638"/>
              <a:ext cx="151294" cy="959037"/>
            </a:xfrm>
            <a:prstGeom prst="rect">
              <a:avLst/>
            </a:prstGeom>
            <a:solidFill>
              <a:schemeClr val="bg1">
                <a:lumMod val="50000"/>
              </a:scheme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33" name="矩形 32">
              <a:extLst>
                <a:ext uri="{FF2B5EF4-FFF2-40B4-BE49-F238E27FC236}">
                  <a16:creationId xmlns:a16="http://schemas.microsoft.com/office/drawing/2014/main" id="{039F6418-96F2-1DCE-2FBD-7A45B2DB7A06}"/>
                </a:ext>
              </a:extLst>
            </p:cNvPr>
            <p:cNvSpPr/>
            <p:nvPr/>
          </p:nvSpPr>
          <p:spPr>
            <a:xfrm>
              <a:off x="3458874" y="4468737"/>
              <a:ext cx="151292" cy="1018952"/>
            </a:xfrm>
            <a:prstGeom prst="rect">
              <a:avLst/>
            </a:prstGeom>
            <a:solidFill>
              <a:schemeClr val="bg1">
                <a:lumMod val="50000"/>
              </a:scheme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34" name="矩形 33">
              <a:extLst>
                <a:ext uri="{FF2B5EF4-FFF2-40B4-BE49-F238E27FC236}">
                  <a16:creationId xmlns:a16="http://schemas.microsoft.com/office/drawing/2014/main" id="{C7FD9CFA-C88C-671F-FD26-EA4C55774DF6}"/>
                </a:ext>
              </a:extLst>
            </p:cNvPr>
            <p:cNvSpPr/>
            <p:nvPr/>
          </p:nvSpPr>
          <p:spPr>
            <a:xfrm>
              <a:off x="3610836" y="4424276"/>
              <a:ext cx="151291" cy="1068194"/>
            </a:xfrm>
            <a:prstGeom prst="rect">
              <a:avLst/>
            </a:prstGeom>
            <a:solidFill>
              <a:schemeClr val="bg1">
                <a:lumMod val="50000"/>
              </a:scheme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35" name="矩形 34">
              <a:extLst>
                <a:ext uri="{FF2B5EF4-FFF2-40B4-BE49-F238E27FC236}">
                  <a16:creationId xmlns:a16="http://schemas.microsoft.com/office/drawing/2014/main" id="{922A878C-C530-B53D-8602-87DFCBE0D659}"/>
                </a:ext>
              </a:extLst>
            </p:cNvPr>
            <p:cNvSpPr/>
            <p:nvPr/>
          </p:nvSpPr>
          <p:spPr>
            <a:xfrm>
              <a:off x="3763364" y="4385731"/>
              <a:ext cx="169901" cy="1111519"/>
            </a:xfrm>
            <a:prstGeom prst="rect">
              <a:avLst/>
            </a:prstGeom>
            <a:solidFill>
              <a:schemeClr val="bg1">
                <a:lumMod val="50000"/>
              </a:scheme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cxnSp>
          <p:nvCxnSpPr>
            <p:cNvPr id="36" name="直接连接符 35">
              <a:extLst>
                <a:ext uri="{FF2B5EF4-FFF2-40B4-BE49-F238E27FC236}">
                  <a16:creationId xmlns:a16="http://schemas.microsoft.com/office/drawing/2014/main" id="{4B15A6EE-2409-934C-E170-59DAC316B3C5}"/>
                </a:ext>
              </a:extLst>
            </p:cNvPr>
            <p:cNvCxnSpPr>
              <a:cxnSpLocks/>
            </p:cNvCxnSpPr>
            <p:nvPr/>
          </p:nvCxnSpPr>
          <p:spPr>
            <a:xfrm>
              <a:off x="1511642" y="4658630"/>
              <a:ext cx="2840358" cy="0"/>
            </a:xfrm>
            <a:prstGeom prst="line">
              <a:avLst/>
            </a:prstGeom>
            <a:noFill/>
            <a:ln w="19050" cap="flat" cmpd="sng" algn="ctr">
              <a:solidFill>
                <a:srgbClr val="ED7D31"/>
              </a:solidFill>
              <a:prstDash val="dashDot"/>
              <a:miter lim="800000"/>
            </a:ln>
            <a:effectLst/>
          </p:spPr>
        </p:cxnSp>
        <p:cxnSp>
          <p:nvCxnSpPr>
            <p:cNvPr id="37" name="直接箭头连接符 36">
              <a:extLst>
                <a:ext uri="{FF2B5EF4-FFF2-40B4-BE49-F238E27FC236}">
                  <a16:creationId xmlns:a16="http://schemas.microsoft.com/office/drawing/2014/main" id="{C8451382-950C-E666-9414-09CE0F9726A1}"/>
                </a:ext>
              </a:extLst>
            </p:cNvPr>
            <p:cNvCxnSpPr>
              <a:cxnSpLocks/>
              <a:stCxn id="27" idx="1"/>
            </p:cNvCxnSpPr>
            <p:nvPr/>
          </p:nvCxnSpPr>
          <p:spPr>
            <a:xfrm flipH="1" flipV="1">
              <a:off x="3524773" y="5278659"/>
              <a:ext cx="174421" cy="463359"/>
            </a:xfrm>
            <a:prstGeom prst="straightConnector1">
              <a:avLst/>
            </a:prstGeom>
            <a:noFill/>
            <a:ln w="6350" cap="flat" cmpd="sng" algn="ctr">
              <a:solidFill>
                <a:srgbClr val="000000"/>
              </a:solidFill>
              <a:prstDash val="solid"/>
              <a:miter lim="800000"/>
              <a:tailEnd type="triangle"/>
            </a:ln>
            <a:effectLst/>
          </p:spPr>
        </p:cxnSp>
        <p:sp>
          <p:nvSpPr>
            <p:cNvPr id="38" name="文本框 37">
              <a:extLst>
                <a:ext uri="{FF2B5EF4-FFF2-40B4-BE49-F238E27FC236}">
                  <a16:creationId xmlns:a16="http://schemas.microsoft.com/office/drawing/2014/main" id="{76AEE865-F34C-EF5C-63EB-0B92C45C9ABD}"/>
                </a:ext>
              </a:extLst>
            </p:cNvPr>
            <p:cNvSpPr txBox="1"/>
            <p:nvPr/>
          </p:nvSpPr>
          <p:spPr>
            <a:xfrm>
              <a:off x="1858586" y="5634245"/>
              <a:ext cx="989365" cy="29494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ED7D31"/>
                  </a:solidFill>
                  <a:effectLst/>
                  <a:uLnTx/>
                  <a:uFillTx/>
                  <a:latin typeface="DengXian"/>
                  <a:ea typeface="DengXian" panose="02010600030101010101" pitchFamily="2" charset="-122"/>
                </a:rPr>
                <a:t>边际中标项目</a:t>
              </a:r>
            </a:p>
          </p:txBody>
        </p:sp>
        <p:cxnSp>
          <p:nvCxnSpPr>
            <p:cNvPr id="39" name="直接连接符 38">
              <a:extLst>
                <a:ext uri="{FF2B5EF4-FFF2-40B4-BE49-F238E27FC236}">
                  <a16:creationId xmlns:a16="http://schemas.microsoft.com/office/drawing/2014/main" id="{36968CE0-FE2F-86D7-02C3-0B0A5A8FF0F1}"/>
                </a:ext>
              </a:extLst>
            </p:cNvPr>
            <p:cNvCxnSpPr/>
            <p:nvPr/>
          </p:nvCxnSpPr>
          <p:spPr>
            <a:xfrm>
              <a:off x="1044586" y="5161000"/>
              <a:ext cx="3554275" cy="0"/>
            </a:xfrm>
            <a:prstGeom prst="line">
              <a:avLst/>
            </a:prstGeom>
            <a:noFill/>
            <a:ln w="6350" cap="flat" cmpd="sng" algn="ctr">
              <a:solidFill>
                <a:sysClr val="windowText" lastClr="000000"/>
              </a:solidFill>
              <a:prstDash val="dash"/>
              <a:miter lim="800000"/>
            </a:ln>
            <a:effectLst/>
          </p:spPr>
        </p:cxnSp>
      </p:grpSp>
      <p:cxnSp>
        <p:nvCxnSpPr>
          <p:cNvPr id="41" name="直接箭头连接符 40">
            <a:extLst>
              <a:ext uri="{FF2B5EF4-FFF2-40B4-BE49-F238E27FC236}">
                <a16:creationId xmlns:a16="http://schemas.microsoft.com/office/drawing/2014/main" id="{AF310EC8-1BA2-88C4-A0DE-7F6E0E288730}"/>
              </a:ext>
            </a:extLst>
          </p:cNvPr>
          <p:cNvCxnSpPr>
            <a:endCxn id="29" idx="0"/>
          </p:cNvCxnSpPr>
          <p:nvPr/>
        </p:nvCxnSpPr>
        <p:spPr>
          <a:xfrm flipH="1">
            <a:off x="3009334" y="2249424"/>
            <a:ext cx="4157245" cy="2973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7B206408-A72C-461B-4BBD-8FD9BAAE9EB6}"/>
              </a:ext>
            </a:extLst>
          </p:cNvPr>
          <p:cNvCxnSpPr>
            <a:endCxn id="18" idx="0"/>
          </p:cNvCxnSpPr>
          <p:nvPr/>
        </p:nvCxnSpPr>
        <p:spPr>
          <a:xfrm flipH="1">
            <a:off x="3683809" y="2831009"/>
            <a:ext cx="3640535" cy="2357175"/>
          </a:xfrm>
          <a:prstGeom prst="straightConnector1">
            <a:avLst/>
          </a:prstGeom>
          <a:ln>
            <a:solidFill>
              <a:srgbClr val="EFAE8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81E996E3-3560-E98B-E579-5790770DADF5}"/>
              </a:ext>
            </a:extLst>
          </p:cNvPr>
          <p:cNvCxnSpPr/>
          <p:nvPr/>
        </p:nvCxnSpPr>
        <p:spPr>
          <a:xfrm flipH="1">
            <a:off x="4798886" y="3913632"/>
            <a:ext cx="2367693" cy="1177517"/>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7" name="图片 46">
            <a:extLst>
              <a:ext uri="{FF2B5EF4-FFF2-40B4-BE49-F238E27FC236}">
                <a16:creationId xmlns:a16="http://schemas.microsoft.com/office/drawing/2014/main" id="{53A21D0E-4877-5FF1-7388-CB01F167FBB5}"/>
              </a:ext>
            </a:extLst>
          </p:cNvPr>
          <p:cNvPicPr>
            <a:picLocks noChangeAspect="1"/>
          </p:cNvPicPr>
          <p:nvPr/>
        </p:nvPicPr>
        <p:blipFill>
          <a:blip r:embed="rId3"/>
          <a:stretch>
            <a:fillRect/>
          </a:stretch>
        </p:blipFill>
        <p:spPr>
          <a:xfrm>
            <a:off x="6539252" y="4558199"/>
            <a:ext cx="5123372" cy="2166131"/>
          </a:xfrm>
          <a:prstGeom prst="rect">
            <a:avLst/>
          </a:prstGeom>
        </p:spPr>
      </p:pic>
    </p:spTree>
    <p:extLst>
      <p:ext uri="{BB962C8B-B14F-4D97-AF65-F5344CB8AC3E}">
        <p14:creationId xmlns:p14="http://schemas.microsoft.com/office/powerpoint/2010/main" val="71534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4C7E0-B344-26D1-57FA-B05FAB00F816}"/>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BB1DA5BA-EFF6-E4D8-3C69-F10476233618}"/>
              </a:ext>
            </a:extLst>
          </p:cNvPr>
          <p:cNvSpPr txBox="1"/>
          <p:nvPr/>
        </p:nvSpPr>
        <p:spPr>
          <a:xfrm>
            <a:off x="0" y="207489"/>
            <a:ext cx="86913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3.2</a:t>
            </a:r>
            <a:r>
              <a:rPr lang="en-US" altLang="zh-CN" sz="2400" b="1" dirty="0">
                <a:solidFill>
                  <a:prstClr val="black"/>
                </a:solidFill>
                <a:latin typeface="微软雅黑" panose="020B0503020204020204" pitchFamily="34" charset="-122"/>
                <a:ea typeface="微软雅黑" panose="020B0503020204020204" pitchFamily="34" charset="-122"/>
              </a:rPr>
              <a:t>.1</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结论</a:t>
            </a:r>
            <a:r>
              <a:rPr lang="en-US" altLang="zh-CN" sz="2400" b="1" dirty="0">
                <a:solidFill>
                  <a:prstClr val="black"/>
                </a:solidFill>
                <a:latin typeface="微软雅黑" panose="020B0503020204020204" pitchFamily="34" charset="-122"/>
                <a:ea typeface="微软雅黑" panose="020B0503020204020204" pitchFamily="34" charset="-122"/>
              </a:rPr>
              <a:t>2</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：对于项目集中度高的省份机制电价将被抬升</a:t>
            </a:r>
          </a:p>
        </p:txBody>
      </p:sp>
      <p:sp>
        <p:nvSpPr>
          <p:cNvPr id="2" name="文本框 1">
            <a:extLst>
              <a:ext uri="{FF2B5EF4-FFF2-40B4-BE49-F238E27FC236}">
                <a16:creationId xmlns:a16="http://schemas.microsoft.com/office/drawing/2014/main" id="{46DB2E62-3762-07D1-887A-B91B53890CA6}"/>
              </a:ext>
            </a:extLst>
          </p:cNvPr>
          <p:cNvSpPr txBox="1"/>
          <p:nvPr/>
        </p:nvSpPr>
        <p:spPr>
          <a:xfrm>
            <a:off x="-1" y="863476"/>
            <a:ext cx="7480373" cy="3660682"/>
          </a:xfrm>
          <a:prstGeom prst="rect">
            <a:avLst/>
          </a:prstGeom>
          <a:noFill/>
        </p:spPr>
        <p:txBody>
          <a:bodyPr wrap="square" rtlCol="0">
            <a:spAutoFit/>
          </a:bodyPr>
          <a:lstStyle/>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zh-CN" altLang="en-US" sz="1200" b="1" dirty="0">
                <a:solidFill>
                  <a:prstClr val="black"/>
                </a:solidFill>
                <a:latin typeface="微软雅黑" panose="020B0503020204020204" pitchFamily="34" charset="-122"/>
                <a:ea typeface="微软雅黑" panose="020B0503020204020204" pitchFamily="34" charset="-122"/>
              </a:rPr>
              <a:t>通过牺牲中标电量，发电集团可以抱团抬高竞价结果</a:t>
            </a:r>
            <a:r>
              <a:rPr lang="zh-CN" altLang="en-US" sz="1200" dirty="0">
                <a:solidFill>
                  <a:prstClr val="black"/>
                </a:solidFill>
                <a:latin typeface="微软雅黑" panose="020B0503020204020204" pitchFamily="34" charset="-122"/>
                <a:ea typeface="微软雅黑" panose="020B0503020204020204" pitchFamily="34" charset="-122"/>
              </a:rPr>
              <a:t>，但前提是大部分项目统一报价，此时机制电价基本会维持在允许的价格上限。</a:t>
            </a:r>
            <a:endParaRPr lang="en-US" altLang="zh-CN" sz="1200" dirty="0">
              <a:solidFill>
                <a:prstClr val="black"/>
              </a:solidFill>
              <a:latin typeface="微软雅黑" panose="020B0503020204020204" pitchFamily="34" charset="-122"/>
              <a:ea typeface="微软雅黑" panose="020B0503020204020204" pitchFamily="34" charset="-122"/>
            </a:endParaRPr>
          </a:p>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zh-CN" altLang="en-US" sz="1200" b="1" dirty="0">
                <a:solidFill>
                  <a:prstClr val="black"/>
                </a:solidFill>
                <a:latin typeface="微软雅黑" panose="020B0503020204020204" pitchFamily="34" charset="-122"/>
                <a:ea typeface="微软雅黑" panose="020B0503020204020204" pitchFamily="34" charset="-122"/>
              </a:rPr>
              <a:t>市场背景</a:t>
            </a:r>
            <a:r>
              <a:rPr lang="zh-CN" altLang="en-US" sz="1200" dirty="0">
                <a:solidFill>
                  <a:prstClr val="black"/>
                </a:solidFill>
                <a:latin typeface="微软雅黑" panose="020B0503020204020204" pitchFamily="34" charset="-122"/>
                <a:ea typeface="微软雅黑" panose="020B0503020204020204" pitchFamily="34" charset="-122"/>
              </a:rPr>
              <a:t>：</a:t>
            </a:r>
            <a:endParaRPr lang="en-US" altLang="zh-CN" sz="1200" dirty="0">
              <a:solidFill>
                <a:prstClr val="black"/>
              </a:solidFill>
              <a:latin typeface="微软雅黑" panose="020B0503020204020204" pitchFamily="34" charset="-122"/>
              <a:ea typeface="微软雅黑" panose="020B0503020204020204" pitchFamily="34" charset="-122"/>
            </a:endParaRPr>
          </a:p>
          <a:p>
            <a:pPr marR="0" lvl="0" algn="just" defTabSz="914400" rtl="0" eaLnBrk="1" fontAlgn="auto" latinLnBrk="0" hangingPunct="1">
              <a:lnSpc>
                <a:spcPct val="150000"/>
              </a:lnSpc>
              <a:spcBef>
                <a:spcPts val="0"/>
              </a:spcBef>
              <a:spcAft>
                <a:spcPts val="0"/>
              </a:spcAft>
              <a:buClrTx/>
              <a:buSzTx/>
              <a:tabLst/>
              <a:defRPr/>
            </a:pPr>
            <a:r>
              <a:rPr lang="zh-CN" altLang="en-US" sz="1200" dirty="0">
                <a:solidFill>
                  <a:prstClr val="black"/>
                </a:solidFill>
                <a:latin typeface="微软雅黑" panose="020B0503020204020204" pitchFamily="34" charset="-122"/>
                <a:ea typeface="微软雅黑" panose="020B0503020204020204" pitchFamily="34" charset="-122"/>
              </a:rPr>
              <a:t>       以辽宁为例，同为东北地区，现货市场运行后风电结算价格也经历了从</a:t>
            </a:r>
            <a:r>
              <a:rPr lang="en-US" altLang="zh-CN" sz="1200" dirty="0">
                <a:solidFill>
                  <a:prstClr val="black"/>
                </a:solidFill>
                <a:latin typeface="微软雅黑" panose="020B0503020204020204" pitchFamily="34" charset="-122"/>
                <a:ea typeface="微软雅黑" panose="020B0503020204020204" pitchFamily="34" charset="-122"/>
              </a:rPr>
              <a:t>0.33</a:t>
            </a:r>
            <a:r>
              <a:rPr lang="zh-CN" altLang="en-US" sz="1200" dirty="0">
                <a:solidFill>
                  <a:prstClr val="black"/>
                </a:solidFill>
                <a:latin typeface="微软雅黑" panose="020B0503020204020204" pitchFamily="34" charset="-122"/>
                <a:ea typeface="微软雅黑" panose="020B0503020204020204" pitchFamily="34" charset="-122"/>
              </a:rPr>
              <a:t>元</a:t>
            </a:r>
            <a:r>
              <a:rPr lang="en-US" altLang="zh-CN" sz="1200" dirty="0">
                <a:solidFill>
                  <a:prstClr val="black"/>
                </a:solidFill>
                <a:latin typeface="微软雅黑" panose="020B0503020204020204" pitchFamily="34" charset="-122"/>
                <a:ea typeface="微软雅黑" panose="020B0503020204020204" pitchFamily="34" charset="-122"/>
              </a:rPr>
              <a:t>/kwh</a:t>
            </a:r>
            <a:r>
              <a:rPr lang="zh-CN" altLang="en-US" sz="1200" dirty="0">
                <a:solidFill>
                  <a:prstClr val="black"/>
                </a:solidFill>
                <a:latin typeface="微软雅黑" panose="020B0503020204020204" pitchFamily="34" charset="-122"/>
                <a:ea typeface="微软雅黑" panose="020B0503020204020204" pitchFamily="34" charset="-122"/>
              </a:rPr>
              <a:t>下降至</a:t>
            </a:r>
            <a:r>
              <a:rPr lang="en-US" altLang="zh-CN" sz="1200" b="1" dirty="0">
                <a:solidFill>
                  <a:srgbClr val="FF0000"/>
                </a:solidFill>
                <a:latin typeface="微软雅黑" panose="020B0503020204020204" pitchFamily="34" charset="-122"/>
                <a:ea typeface="微软雅黑" panose="020B0503020204020204" pitchFamily="34" charset="-122"/>
              </a:rPr>
              <a:t>0.291</a:t>
            </a:r>
            <a:r>
              <a:rPr lang="zh-CN" altLang="en-US" sz="1200" dirty="0">
                <a:solidFill>
                  <a:prstClr val="black"/>
                </a:solidFill>
                <a:latin typeface="微软雅黑" panose="020B0503020204020204" pitchFamily="34" charset="-122"/>
                <a:ea typeface="微软雅黑" panose="020B0503020204020204" pitchFamily="34" charset="-122"/>
              </a:rPr>
              <a:t>元</a:t>
            </a:r>
            <a:r>
              <a:rPr lang="en-US" altLang="zh-CN" sz="1200" dirty="0">
                <a:solidFill>
                  <a:prstClr val="black"/>
                </a:solidFill>
                <a:latin typeface="微软雅黑" panose="020B0503020204020204" pitchFamily="34" charset="-122"/>
                <a:ea typeface="微软雅黑" panose="020B0503020204020204" pitchFamily="34" charset="-122"/>
              </a:rPr>
              <a:t>/kwh</a:t>
            </a:r>
            <a:r>
              <a:rPr lang="zh-CN" altLang="en-US" sz="1200" dirty="0">
                <a:solidFill>
                  <a:prstClr val="black"/>
                </a:solidFill>
                <a:latin typeface="微软雅黑" panose="020B0503020204020204" pitchFamily="34" charset="-122"/>
                <a:ea typeface="微软雅黑" panose="020B0503020204020204" pitchFamily="34" charset="-122"/>
              </a:rPr>
              <a:t>的过程，但机制电价仍达到</a:t>
            </a:r>
            <a:r>
              <a:rPr lang="en-US" altLang="zh-CN" sz="1200" b="1" dirty="0">
                <a:solidFill>
                  <a:srgbClr val="FF0000"/>
                </a:solidFill>
                <a:latin typeface="微软雅黑" panose="020B0503020204020204" pitchFamily="34" charset="-122"/>
                <a:ea typeface="微软雅黑" panose="020B0503020204020204" pitchFamily="34" charset="-122"/>
              </a:rPr>
              <a:t>0.33</a:t>
            </a:r>
            <a:r>
              <a:rPr lang="zh-CN" altLang="en-US" sz="1200" dirty="0">
                <a:solidFill>
                  <a:prstClr val="black"/>
                </a:solidFill>
                <a:latin typeface="微软雅黑" panose="020B0503020204020204" pitchFamily="34" charset="-122"/>
                <a:ea typeface="微软雅黑" panose="020B0503020204020204" pitchFamily="34" charset="-122"/>
              </a:rPr>
              <a:t>元</a:t>
            </a:r>
            <a:r>
              <a:rPr lang="en-US" altLang="zh-CN" sz="1200" dirty="0">
                <a:solidFill>
                  <a:prstClr val="black"/>
                </a:solidFill>
                <a:latin typeface="微软雅黑" panose="020B0503020204020204" pitchFamily="34" charset="-122"/>
                <a:ea typeface="微软雅黑" panose="020B0503020204020204" pitchFamily="34" charset="-122"/>
              </a:rPr>
              <a:t>/kwh</a:t>
            </a:r>
            <a:r>
              <a:rPr lang="zh-CN" altLang="en-US" sz="1200" dirty="0">
                <a:solidFill>
                  <a:prstClr val="black"/>
                </a:solidFill>
                <a:latin typeface="微软雅黑" panose="020B0503020204020204" pitchFamily="34" charset="-122"/>
                <a:ea typeface="微软雅黑" panose="020B0503020204020204" pitchFamily="34" charset="-122"/>
              </a:rPr>
              <a:t>的上限电价。</a:t>
            </a: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竞价结果分析：</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lang="en-US" altLang="zh-CN" sz="1200" dirty="0">
                <a:solidFill>
                  <a:prstClr val="black"/>
                </a:solidFill>
                <a:latin typeface="微软雅黑" panose="020B0503020204020204" pitchFamily="34" charset="-122"/>
                <a:ea typeface="微软雅黑" panose="020B0503020204020204" pitchFamily="34" charset="-122"/>
              </a:rPr>
              <a:t>1</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低价跟随者，高比例中标</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：部分小集团项目申报低价确保</a:t>
            </a:r>
            <a:r>
              <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80%</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高比例中标。</a:t>
            </a: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lang="en-US" altLang="zh-CN" sz="1200" dirty="0">
                <a:solidFill>
                  <a:prstClr val="black"/>
                </a:solidFill>
                <a:latin typeface="微软雅黑" panose="020B0503020204020204" pitchFamily="34" charset="-122"/>
                <a:ea typeface="微软雅黑" panose="020B0503020204020204" pitchFamily="34" charset="-122"/>
              </a:rPr>
              <a:t>2</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大量</a:t>
            </a:r>
            <a:r>
              <a:rPr lang="zh-CN" altLang="en-US" sz="1200" b="1" dirty="0">
                <a:solidFill>
                  <a:prstClr val="black"/>
                </a:solidFill>
                <a:latin typeface="微软雅黑" panose="020B0503020204020204" pitchFamily="34" charset="-122"/>
                <a:ea typeface="微软雅黑" panose="020B0503020204020204" pitchFamily="34" charset="-122"/>
              </a:rPr>
              <a:t>项目抱团做边际，损失电量但高价中标</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：相熟的发电集团项目抱团成为边际，以</a:t>
            </a:r>
            <a:r>
              <a:rPr lang="en-US" altLang="zh-CN" sz="1200" dirty="0">
                <a:solidFill>
                  <a:prstClr val="black"/>
                </a:solidFill>
                <a:latin typeface="微软雅黑" panose="020B0503020204020204" pitchFamily="34" charset="-122"/>
                <a:ea typeface="微软雅黑" panose="020B0503020204020204" pitchFamily="34" charset="-122"/>
              </a:rPr>
              <a:t>66.47</a:t>
            </a:r>
            <a:r>
              <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比例中标，维护整个市场的高价。</a:t>
            </a: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3</a:t>
            </a:r>
            <a:r>
              <a:rPr lang="zh-CN" altLang="en-US" sz="1200" dirty="0">
                <a:solidFill>
                  <a:prstClr val="black"/>
                </a:solidFill>
                <a:latin typeface="微软雅黑" panose="020B0503020204020204" pitchFamily="34" charset="-122"/>
                <a:ea typeface="微软雅黑" panose="020B0503020204020204" pitchFamily="34" charset="-122"/>
              </a:rPr>
              <a:t>）</a:t>
            </a:r>
            <a:r>
              <a:rPr lang="zh-CN" altLang="en-US" sz="1200" b="1" dirty="0">
                <a:solidFill>
                  <a:prstClr val="black"/>
                </a:solidFill>
                <a:latin typeface="微软雅黑" panose="020B0503020204020204" pitchFamily="34" charset="-122"/>
                <a:ea typeface="微软雅黑" panose="020B0503020204020204" pitchFamily="34" charset="-122"/>
              </a:rPr>
              <a:t>因为出清电价被抬高至上限，无未中标项目</a:t>
            </a:r>
            <a:r>
              <a:rPr lang="zh-CN" altLang="en-US" sz="1200" dirty="0">
                <a:solidFill>
                  <a:prstClr val="black"/>
                </a:solidFill>
                <a:latin typeface="微软雅黑" panose="020B0503020204020204" pitchFamily="34" charset="-122"/>
                <a:ea typeface="微软雅黑" panose="020B0503020204020204" pitchFamily="34" charset="-122"/>
              </a:rPr>
              <a:t>。</a:t>
            </a:r>
            <a:endParaRPr lang="en-US" altLang="zh-CN" sz="1200" dirty="0">
              <a:solidFill>
                <a:prstClr val="black"/>
              </a:solidFill>
              <a:latin typeface="微软雅黑" panose="020B0503020204020204" pitchFamily="34" charset="-122"/>
              <a:ea typeface="微软雅黑" panose="020B0503020204020204" pitchFamily="34" charset="-122"/>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抱团抬价能否成功的影响因素主要有，项目集中度、抱团损失电量、发电集团属性等，其中抱团损失电量是核心因素。抬高机制电价导致的系统成本增加，通过用户侧系统运行费疏导向工商业用户，可能触发政府主管部门监管，持续。</a:t>
            </a: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3" name="表格 2">
            <a:extLst>
              <a:ext uri="{FF2B5EF4-FFF2-40B4-BE49-F238E27FC236}">
                <a16:creationId xmlns:a16="http://schemas.microsoft.com/office/drawing/2014/main" id="{114D18C5-1192-5B93-BC95-667E94982C49}"/>
              </a:ext>
            </a:extLst>
          </p:cNvPr>
          <p:cNvGraphicFramePr>
            <a:graphicFrameLocks noGrp="1"/>
          </p:cNvGraphicFramePr>
          <p:nvPr>
            <p:extLst>
              <p:ext uri="{D42A27DB-BD31-4B8C-83A1-F6EECF244321}">
                <p14:modId xmlns:p14="http://schemas.microsoft.com/office/powerpoint/2010/main" val="3725973378"/>
              </p:ext>
            </p:extLst>
          </p:nvPr>
        </p:nvGraphicFramePr>
        <p:xfrm>
          <a:off x="7655827" y="1027003"/>
          <a:ext cx="3111765" cy="5132198"/>
        </p:xfrm>
        <a:graphic>
          <a:graphicData uri="http://schemas.openxmlformats.org/drawingml/2006/table">
            <a:tbl>
              <a:tblPr>
                <a:tableStyleId>{5C22544A-7EE6-4342-B048-85BDC9FD1C3A}</a:tableStyleId>
              </a:tblPr>
              <a:tblGrid>
                <a:gridCol w="1513494">
                  <a:extLst>
                    <a:ext uri="{9D8B030D-6E8A-4147-A177-3AD203B41FA5}">
                      <a16:colId xmlns:a16="http://schemas.microsoft.com/office/drawing/2014/main" val="3678556640"/>
                    </a:ext>
                  </a:extLst>
                </a:gridCol>
                <a:gridCol w="615365">
                  <a:extLst>
                    <a:ext uri="{9D8B030D-6E8A-4147-A177-3AD203B41FA5}">
                      <a16:colId xmlns:a16="http://schemas.microsoft.com/office/drawing/2014/main" val="2756426259"/>
                    </a:ext>
                  </a:extLst>
                </a:gridCol>
                <a:gridCol w="982906">
                  <a:extLst>
                    <a:ext uri="{9D8B030D-6E8A-4147-A177-3AD203B41FA5}">
                      <a16:colId xmlns:a16="http://schemas.microsoft.com/office/drawing/2014/main" val="4270013031"/>
                    </a:ext>
                  </a:extLst>
                </a:gridCol>
              </a:tblGrid>
              <a:tr h="134954">
                <a:tc>
                  <a:txBody>
                    <a:bodyPr/>
                    <a:lstStyle/>
                    <a:p>
                      <a:pPr marL="0" algn="ctr" defTabSz="914400" rtl="0" eaLnBrk="1" fontAlgn="ctr" latinLnBrk="0" hangingPunct="1"/>
                      <a:r>
                        <a:rPr lang="zh-CN" altLang="en-US" sz="1000" b="1" u="none" strike="noStrike" kern="1200" dirty="0">
                          <a:solidFill>
                            <a:schemeClr val="tx1"/>
                          </a:solidFill>
                          <a:effectLst/>
                          <a:latin typeface="+mn-lt"/>
                          <a:ea typeface="+mn-ea"/>
                          <a:cs typeface="+mn-cs"/>
                        </a:rPr>
                        <a:t>发电集团项目清单</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zh-CN" altLang="en-US" sz="1000" b="1" u="none" strike="noStrike" kern="1200" dirty="0">
                          <a:solidFill>
                            <a:schemeClr val="tx1"/>
                          </a:solidFill>
                          <a:effectLst/>
                          <a:latin typeface="+mn-lt"/>
                          <a:ea typeface="+mn-ea"/>
                          <a:cs typeface="+mn-cs"/>
                        </a:rPr>
                        <a:t>是否中标</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zh-CN" altLang="en-US" sz="1000" b="1" u="none" strike="noStrike" kern="1200" dirty="0">
                          <a:solidFill>
                            <a:schemeClr val="tx1"/>
                          </a:solidFill>
                          <a:effectLst/>
                          <a:latin typeface="+mn-lt"/>
                          <a:ea typeface="+mn-ea"/>
                          <a:cs typeface="+mn-cs"/>
                        </a:rPr>
                        <a:t>机制电量比例</a:t>
                      </a:r>
                      <a:r>
                        <a:rPr lang="en-US" altLang="zh-CN" sz="1000" b="1" u="none" strike="noStrike" kern="1200" dirty="0">
                          <a:solidFill>
                            <a:schemeClr val="tx1"/>
                          </a:solidFill>
                          <a:effectLst/>
                          <a:latin typeface="+mn-lt"/>
                          <a:ea typeface="+mn-ea"/>
                          <a:cs typeface="+mn-cs"/>
                        </a:rPr>
                        <a:t>(%)</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40979505"/>
                  </a:ext>
                </a:extLst>
              </a:tr>
              <a:tr h="131195">
                <a:tc>
                  <a:txBody>
                    <a:bodyPr/>
                    <a:lstStyle/>
                    <a:p>
                      <a:pPr marL="0" algn="ctr" defTabSz="914400" rtl="0" eaLnBrk="1" fontAlgn="ctr" latinLnBrk="0" hangingPunct="1"/>
                      <a:r>
                        <a:rPr lang="zh-CN" altLang="en-US" sz="1000" u="none" strike="noStrike" kern="1200">
                          <a:solidFill>
                            <a:srgbClr val="066E9F"/>
                          </a:solidFill>
                          <a:effectLst/>
                          <a:latin typeface="+mn-lt"/>
                          <a:ea typeface="+mn-ea"/>
                          <a:cs typeface="+mn-cs"/>
                        </a:rPr>
                        <a:t>北京远能合创</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32">
                  <a:txBody>
                    <a:bodyPr/>
                    <a:lstStyle/>
                    <a:p>
                      <a:pPr marL="0" algn="ctr" defTabSz="914400" rtl="0" eaLnBrk="1" fontAlgn="ctr" latinLnBrk="0" hangingPunct="1"/>
                      <a:r>
                        <a:rPr lang="zh-CN" altLang="en-US" sz="1000" u="none" strike="noStrike" kern="1200" dirty="0">
                          <a:solidFill>
                            <a:schemeClr val="tx1"/>
                          </a:solidFill>
                          <a:effectLst/>
                          <a:latin typeface="+mn-lt"/>
                          <a:ea typeface="+mn-ea"/>
                          <a:cs typeface="+mn-cs"/>
                        </a:rPr>
                        <a:t>是</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000" u="none" strike="noStrike" kern="1200" dirty="0">
                          <a:solidFill>
                            <a:srgbClr val="066E9F"/>
                          </a:solidFill>
                          <a:effectLst/>
                          <a:latin typeface="+mn-lt"/>
                          <a:ea typeface="+mn-ea"/>
                          <a:cs typeface="+mn-cs"/>
                        </a:rPr>
                        <a:t>80</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9439225"/>
                  </a:ext>
                </a:extLst>
              </a:tr>
              <a:tr h="131195">
                <a:tc>
                  <a:txBody>
                    <a:bodyPr/>
                    <a:lstStyle/>
                    <a:p>
                      <a:pPr marL="0" algn="ctr" defTabSz="914400" rtl="0" eaLnBrk="1" fontAlgn="ctr" latinLnBrk="0" hangingPunct="1"/>
                      <a:r>
                        <a:rPr lang="zh-CN" altLang="en-US" sz="1000" u="none" strike="noStrike" kern="1200">
                          <a:solidFill>
                            <a:srgbClr val="066E9F"/>
                          </a:solidFill>
                          <a:effectLst/>
                          <a:latin typeface="+mn-lt"/>
                          <a:ea typeface="+mn-ea"/>
                          <a:cs typeface="+mn-cs"/>
                        </a:rPr>
                        <a:t>北票同鑫</a:t>
                      </a:r>
                      <a:r>
                        <a:rPr lang="en-US" altLang="zh-CN" sz="1000" u="none" strike="noStrike" kern="1200">
                          <a:solidFill>
                            <a:srgbClr val="066E9F"/>
                          </a:solidFill>
                          <a:effectLst/>
                          <a:latin typeface="+mn-lt"/>
                          <a:ea typeface="+mn-ea"/>
                          <a:cs typeface="+mn-cs"/>
                        </a:rPr>
                        <a:t>1</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066E9F"/>
                          </a:solidFill>
                          <a:effectLst/>
                          <a:latin typeface="+mn-lt"/>
                          <a:ea typeface="+mn-ea"/>
                          <a:cs typeface="+mn-cs"/>
                        </a:rPr>
                        <a:t>80</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6263007"/>
                  </a:ext>
                </a:extLst>
              </a:tr>
              <a:tr h="131195">
                <a:tc>
                  <a:txBody>
                    <a:bodyPr/>
                    <a:lstStyle/>
                    <a:p>
                      <a:pPr marL="0" algn="ctr" defTabSz="914400" rtl="0" eaLnBrk="1" fontAlgn="ctr" latinLnBrk="0" hangingPunct="1"/>
                      <a:r>
                        <a:rPr lang="zh-CN" altLang="en-US" sz="1000" u="none" strike="noStrike" kern="1200">
                          <a:solidFill>
                            <a:srgbClr val="066E9F"/>
                          </a:solidFill>
                          <a:effectLst/>
                          <a:latin typeface="+mn-lt"/>
                          <a:ea typeface="+mn-ea"/>
                          <a:cs typeface="+mn-cs"/>
                        </a:rPr>
                        <a:t>北票同鑫</a:t>
                      </a:r>
                      <a:r>
                        <a:rPr lang="en-US" altLang="zh-CN" sz="1000" u="none" strike="noStrike" kern="1200">
                          <a:solidFill>
                            <a:srgbClr val="066E9F"/>
                          </a:solidFill>
                          <a:effectLst/>
                          <a:latin typeface="+mn-lt"/>
                          <a:ea typeface="+mn-ea"/>
                          <a:cs typeface="+mn-cs"/>
                        </a:rPr>
                        <a:t>2</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066E9F"/>
                          </a:solidFill>
                          <a:effectLst/>
                          <a:latin typeface="+mn-lt"/>
                          <a:ea typeface="+mn-ea"/>
                          <a:cs typeface="+mn-cs"/>
                        </a:rPr>
                        <a:t>80</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2878144"/>
                  </a:ext>
                </a:extLst>
              </a:tr>
              <a:tr h="131195">
                <a:tc>
                  <a:txBody>
                    <a:bodyPr/>
                    <a:lstStyle/>
                    <a:p>
                      <a:pPr marL="0" algn="ctr" defTabSz="914400" rtl="0" eaLnBrk="1" fontAlgn="ctr" latinLnBrk="0" hangingPunct="1"/>
                      <a:r>
                        <a:rPr lang="zh-CN" altLang="en-US" sz="1000" u="none" strike="noStrike" kern="1200">
                          <a:solidFill>
                            <a:srgbClr val="066E9F"/>
                          </a:solidFill>
                          <a:effectLst/>
                          <a:latin typeface="+mn-lt"/>
                          <a:ea typeface="+mn-ea"/>
                          <a:cs typeface="+mn-cs"/>
                        </a:rPr>
                        <a:t>大连北黄海电力院</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066E9F"/>
                          </a:solidFill>
                          <a:effectLst/>
                          <a:latin typeface="+mn-lt"/>
                          <a:ea typeface="+mn-ea"/>
                          <a:cs typeface="+mn-cs"/>
                        </a:rPr>
                        <a:t>80</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6154669"/>
                  </a:ext>
                </a:extLst>
              </a:tr>
              <a:tr h="131195">
                <a:tc>
                  <a:txBody>
                    <a:bodyPr/>
                    <a:lstStyle/>
                    <a:p>
                      <a:pPr marL="0" algn="ctr" defTabSz="914400" rtl="0" eaLnBrk="1" fontAlgn="ctr" latinLnBrk="0" hangingPunct="1"/>
                      <a:r>
                        <a:rPr lang="zh-CN" altLang="en-US" sz="1000" u="none" strike="noStrike" kern="1200">
                          <a:solidFill>
                            <a:srgbClr val="066E9F"/>
                          </a:solidFill>
                          <a:effectLst/>
                          <a:latin typeface="+mn-lt"/>
                          <a:ea typeface="+mn-ea"/>
                          <a:cs typeface="+mn-cs"/>
                        </a:rPr>
                        <a:t>辽宁尚风能源</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066E9F"/>
                          </a:solidFill>
                          <a:effectLst/>
                          <a:latin typeface="+mn-lt"/>
                          <a:ea typeface="+mn-ea"/>
                          <a:cs typeface="+mn-cs"/>
                        </a:rPr>
                        <a:t>80</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7794598"/>
                  </a:ext>
                </a:extLst>
              </a:tr>
              <a:tr h="131195">
                <a:tc>
                  <a:txBody>
                    <a:bodyPr/>
                    <a:lstStyle/>
                    <a:p>
                      <a:pPr marL="0" algn="ctr" defTabSz="914400" rtl="0" eaLnBrk="1" fontAlgn="ctr" latinLnBrk="0" hangingPunct="1"/>
                      <a:r>
                        <a:rPr lang="zh-CN" altLang="en-US" sz="1000" u="none" strike="noStrike" kern="1200">
                          <a:solidFill>
                            <a:srgbClr val="066E9F"/>
                          </a:solidFill>
                          <a:effectLst/>
                          <a:latin typeface="+mn-lt"/>
                          <a:ea typeface="+mn-ea"/>
                          <a:cs typeface="+mn-cs"/>
                        </a:rPr>
                        <a:t>辽宁煜恒新能源</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066E9F"/>
                          </a:solidFill>
                          <a:effectLst/>
                          <a:latin typeface="+mn-lt"/>
                          <a:ea typeface="+mn-ea"/>
                          <a:cs typeface="+mn-cs"/>
                        </a:rPr>
                        <a:t>80</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700669"/>
                  </a:ext>
                </a:extLst>
              </a:tr>
              <a:tr h="131195">
                <a:tc>
                  <a:txBody>
                    <a:bodyPr/>
                    <a:lstStyle/>
                    <a:p>
                      <a:pPr marL="0" algn="ctr" defTabSz="914400" rtl="0" eaLnBrk="1" fontAlgn="ctr" latinLnBrk="0" hangingPunct="1"/>
                      <a:r>
                        <a:rPr lang="zh-CN" altLang="en-US" sz="1000" u="none" strike="noStrike" kern="1200">
                          <a:solidFill>
                            <a:srgbClr val="066E9F"/>
                          </a:solidFill>
                          <a:effectLst/>
                          <a:latin typeface="+mn-lt"/>
                          <a:ea typeface="+mn-ea"/>
                          <a:cs typeface="+mn-cs"/>
                        </a:rPr>
                        <a:t>辽阳县常风新能源</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066E9F"/>
                          </a:solidFill>
                          <a:effectLst/>
                          <a:latin typeface="+mn-lt"/>
                          <a:ea typeface="+mn-ea"/>
                          <a:cs typeface="+mn-cs"/>
                        </a:rPr>
                        <a:t>80</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6189491"/>
                  </a:ext>
                </a:extLst>
              </a:tr>
              <a:tr h="131195">
                <a:tc>
                  <a:txBody>
                    <a:bodyPr/>
                    <a:lstStyle/>
                    <a:p>
                      <a:pPr marL="0" algn="ctr" defTabSz="914400" rtl="0" eaLnBrk="1" fontAlgn="ctr" latinLnBrk="0" hangingPunct="1"/>
                      <a:r>
                        <a:rPr lang="zh-CN" altLang="en-US" sz="1000" u="none" strike="noStrike" kern="1200">
                          <a:solidFill>
                            <a:srgbClr val="066E9F"/>
                          </a:solidFill>
                          <a:effectLst/>
                          <a:latin typeface="+mn-lt"/>
                          <a:ea typeface="+mn-ea"/>
                          <a:cs typeface="+mn-cs"/>
                        </a:rPr>
                        <a:t>南京福瑞拓</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dirty="0">
                          <a:solidFill>
                            <a:srgbClr val="066E9F"/>
                          </a:solidFill>
                          <a:effectLst/>
                          <a:latin typeface="+mn-lt"/>
                          <a:ea typeface="+mn-ea"/>
                          <a:cs typeface="+mn-cs"/>
                        </a:rPr>
                        <a:t>80</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2741975"/>
                  </a:ext>
                </a:extLst>
              </a:tr>
              <a:tr h="131195">
                <a:tc>
                  <a:txBody>
                    <a:bodyPr/>
                    <a:lstStyle/>
                    <a:p>
                      <a:pPr marL="0" algn="ctr" defTabSz="914400" rtl="0" eaLnBrk="1" fontAlgn="ctr" latinLnBrk="0" hangingPunct="1"/>
                      <a:r>
                        <a:rPr lang="zh-CN" altLang="en-US" sz="1000" u="none" strike="noStrike" kern="1200">
                          <a:solidFill>
                            <a:srgbClr val="066E9F"/>
                          </a:solidFill>
                          <a:effectLst/>
                          <a:latin typeface="+mn-lt"/>
                          <a:ea typeface="+mn-ea"/>
                          <a:cs typeface="+mn-cs"/>
                        </a:rPr>
                        <a:t>神风新能源</a:t>
                      </a:r>
                      <a:r>
                        <a:rPr lang="en-US" altLang="zh-CN" sz="1000" u="none" strike="noStrike" kern="1200">
                          <a:solidFill>
                            <a:srgbClr val="066E9F"/>
                          </a:solidFill>
                          <a:effectLst/>
                          <a:latin typeface="+mn-lt"/>
                          <a:ea typeface="+mn-ea"/>
                          <a:cs typeface="+mn-cs"/>
                        </a:rPr>
                        <a:t>1</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066E9F"/>
                          </a:solidFill>
                          <a:effectLst/>
                          <a:latin typeface="+mn-lt"/>
                          <a:ea typeface="+mn-ea"/>
                          <a:cs typeface="+mn-cs"/>
                        </a:rPr>
                        <a:t>80</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7473183"/>
                  </a:ext>
                </a:extLst>
              </a:tr>
              <a:tr h="131195">
                <a:tc>
                  <a:txBody>
                    <a:bodyPr/>
                    <a:lstStyle/>
                    <a:p>
                      <a:pPr marL="0" algn="ctr" defTabSz="914400" rtl="0" eaLnBrk="1" fontAlgn="ctr" latinLnBrk="0" hangingPunct="1"/>
                      <a:r>
                        <a:rPr lang="zh-CN" altLang="en-US" sz="1000" u="none" strike="noStrike" kern="1200">
                          <a:solidFill>
                            <a:srgbClr val="066E9F"/>
                          </a:solidFill>
                          <a:effectLst/>
                          <a:latin typeface="+mn-lt"/>
                          <a:ea typeface="+mn-ea"/>
                          <a:cs typeface="+mn-cs"/>
                        </a:rPr>
                        <a:t>神风新能源</a:t>
                      </a:r>
                      <a:r>
                        <a:rPr lang="en-US" altLang="zh-CN" sz="1000" u="none" strike="noStrike" kern="1200">
                          <a:solidFill>
                            <a:srgbClr val="066E9F"/>
                          </a:solidFill>
                          <a:effectLst/>
                          <a:latin typeface="+mn-lt"/>
                          <a:ea typeface="+mn-ea"/>
                          <a:cs typeface="+mn-cs"/>
                        </a:rPr>
                        <a:t>2</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066E9F"/>
                          </a:solidFill>
                          <a:effectLst/>
                          <a:latin typeface="+mn-lt"/>
                          <a:ea typeface="+mn-ea"/>
                          <a:cs typeface="+mn-cs"/>
                        </a:rPr>
                        <a:t>80</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90555051"/>
                  </a:ext>
                </a:extLst>
              </a:tr>
              <a:tr h="131195">
                <a:tc>
                  <a:txBody>
                    <a:bodyPr/>
                    <a:lstStyle/>
                    <a:p>
                      <a:pPr marL="0" algn="ctr" defTabSz="914400" rtl="0" eaLnBrk="1" fontAlgn="ctr" latinLnBrk="0" hangingPunct="1"/>
                      <a:r>
                        <a:rPr lang="zh-CN" altLang="en-US" sz="1000" u="none" strike="noStrike" kern="1200">
                          <a:solidFill>
                            <a:srgbClr val="066E9F"/>
                          </a:solidFill>
                          <a:effectLst/>
                          <a:latin typeface="+mn-lt"/>
                          <a:ea typeface="+mn-ea"/>
                          <a:cs typeface="+mn-cs"/>
                        </a:rPr>
                        <a:t>神风新能源</a:t>
                      </a:r>
                      <a:r>
                        <a:rPr lang="en-US" altLang="zh-CN" sz="1000" u="none" strike="noStrike" kern="1200">
                          <a:solidFill>
                            <a:srgbClr val="066E9F"/>
                          </a:solidFill>
                          <a:effectLst/>
                          <a:latin typeface="+mn-lt"/>
                          <a:ea typeface="+mn-ea"/>
                          <a:cs typeface="+mn-cs"/>
                        </a:rPr>
                        <a:t>3</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066E9F"/>
                          </a:solidFill>
                          <a:effectLst/>
                          <a:latin typeface="+mn-lt"/>
                          <a:ea typeface="+mn-ea"/>
                          <a:cs typeface="+mn-cs"/>
                        </a:rPr>
                        <a:t>80</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7867570"/>
                  </a:ext>
                </a:extLst>
              </a:tr>
              <a:tr h="131195">
                <a:tc>
                  <a:txBody>
                    <a:bodyPr/>
                    <a:lstStyle/>
                    <a:p>
                      <a:pPr marL="0" algn="ctr" defTabSz="914400" rtl="0" eaLnBrk="1" fontAlgn="ctr" latinLnBrk="0" hangingPunct="1"/>
                      <a:r>
                        <a:rPr lang="zh-CN" altLang="en-US" sz="1000" u="none" strike="noStrike" kern="1200" dirty="0">
                          <a:solidFill>
                            <a:srgbClr val="ED7D31"/>
                          </a:solidFill>
                          <a:effectLst/>
                          <a:latin typeface="+mn-lt"/>
                          <a:ea typeface="+mn-ea"/>
                          <a:cs typeface="+mn-cs"/>
                        </a:rPr>
                        <a:t>北京风光无限风能</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4893631"/>
                  </a:ext>
                </a:extLst>
              </a:tr>
              <a:tr h="131195">
                <a:tc>
                  <a:txBody>
                    <a:bodyPr/>
                    <a:lstStyle/>
                    <a:p>
                      <a:pPr marL="0" algn="ctr" defTabSz="914400" rtl="0" eaLnBrk="1" fontAlgn="ctr" latinLnBrk="0" hangingPunct="1"/>
                      <a:r>
                        <a:rPr lang="zh-CN" altLang="en-US" sz="1000" u="none" strike="noStrike" kern="1200">
                          <a:solidFill>
                            <a:srgbClr val="ED7D31"/>
                          </a:solidFill>
                          <a:effectLst/>
                          <a:latin typeface="+mn-lt"/>
                          <a:ea typeface="+mn-ea"/>
                          <a:cs typeface="+mn-cs"/>
                        </a:rPr>
                        <a:t>北京海和启航</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53452"/>
                  </a:ext>
                </a:extLst>
              </a:tr>
              <a:tr h="131195">
                <a:tc>
                  <a:txBody>
                    <a:bodyPr/>
                    <a:lstStyle/>
                    <a:p>
                      <a:pPr marL="0" algn="ctr" defTabSz="914400" rtl="0" eaLnBrk="1" fontAlgn="ctr" latinLnBrk="0" hangingPunct="1"/>
                      <a:r>
                        <a:rPr lang="zh-CN" altLang="en-US" sz="1000" u="none" strike="noStrike" kern="1200" dirty="0">
                          <a:solidFill>
                            <a:srgbClr val="ED7D31"/>
                          </a:solidFill>
                          <a:effectLst/>
                          <a:latin typeface="+mn-lt"/>
                          <a:ea typeface="+mn-ea"/>
                          <a:cs typeface="+mn-cs"/>
                        </a:rPr>
                        <a:t>大唐</a:t>
                      </a:r>
                      <a:r>
                        <a:rPr lang="en-US" altLang="zh-CN" sz="1000" u="none" strike="noStrike" kern="1200" dirty="0">
                          <a:solidFill>
                            <a:srgbClr val="ED7D31"/>
                          </a:solidFill>
                          <a:effectLst/>
                          <a:latin typeface="+mn-lt"/>
                          <a:ea typeface="+mn-ea"/>
                          <a:cs typeface="+mn-cs"/>
                        </a:rPr>
                        <a:t>1</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8339943"/>
                  </a:ext>
                </a:extLst>
              </a:tr>
              <a:tr h="131195">
                <a:tc>
                  <a:txBody>
                    <a:bodyPr/>
                    <a:lstStyle/>
                    <a:p>
                      <a:pPr marL="0" algn="ctr" defTabSz="914400" rtl="0" eaLnBrk="1" fontAlgn="ctr" latinLnBrk="0" hangingPunct="1"/>
                      <a:r>
                        <a:rPr lang="zh-CN" altLang="en-US" sz="1000" u="none" strike="noStrike" kern="1200">
                          <a:solidFill>
                            <a:srgbClr val="ED7D31"/>
                          </a:solidFill>
                          <a:effectLst/>
                          <a:latin typeface="+mn-lt"/>
                          <a:ea typeface="+mn-ea"/>
                          <a:cs typeface="+mn-cs"/>
                        </a:rPr>
                        <a:t>大唐</a:t>
                      </a:r>
                      <a:r>
                        <a:rPr lang="en-US" altLang="zh-CN" sz="1000" u="none" strike="noStrike" kern="1200">
                          <a:solidFill>
                            <a:srgbClr val="ED7D31"/>
                          </a:solidFill>
                          <a:effectLst/>
                          <a:latin typeface="+mn-lt"/>
                          <a:ea typeface="+mn-ea"/>
                          <a:cs typeface="+mn-cs"/>
                        </a:rPr>
                        <a:t>2</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700865"/>
                  </a:ext>
                </a:extLst>
              </a:tr>
              <a:tr h="131195">
                <a:tc>
                  <a:txBody>
                    <a:bodyPr/>
                    <a:lstStyle/>
                    <a:p>
                      <a:pPr marL="0" algn="ctr" defTabSz="914400" rtl="0" eaLnBrk="1" fontAlgn="ctr" latinLnBrk="0" hangingPunct="1"/>
                      <a:r>
                        <a:rPr lang="zh-CN" altLang="en-US" sz="1000" u="none" strike="noStrike" kern="1200">
                          <a:solidFill>
                            <a:srgbClr val="ED7D31"/>
                          </a:solidFill>
                          <a:effectLst/>
                          <a:latin typeface="+mn-lt"/>
                          <a:ea typeface="+mn-ea"/>
                          <a:cs typeface="+mn-cs"/>
                        </a:rPr>
                        <a:t>大唐</a:t>
                      </a:r>
                      <a:r>
                        <a:rPr lang="en-US" altLang="zh-CN" sz="1000" u="none" strike="noStrike" kern="1200">
                          <a:solidFill>
                            <a:srgbClr val="ED7D31"/>
                          </a:solidFill>
                          <a:effectLst/>
                          <a:latin typeface="+mn-lt"/>
                          <a:ea typeface="+mn-ea"/>
                          <a:cs typeface="+mn-cs"/>
                        </a:rPr>
                        <a:t>3</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6808831"/>
                  </a:ext>
                </a:extLst>
              </a:tr>
              <a:tr h="131195">
                <a:tc>
                  <a:txBody>
                    <a:bodyPr/>
                    <a:lstStyle/>
                    <a:p>
                      <a:pPr marL="0" algn="ctr" defTabSz="914400" rtl="0" eaLnBrk="1" fontAlgn="ctr" latinLnBrk="0" hangingPunct="1"/>
                      <a:r>
                        <a:rPr lang="zh-CN" altLang="en-US" sz="1000" u="none" strike="noStrike" kern="1200">
                          <a:solidFill>
                            <a:srgbClr val="ED7D31"/>
                          </a:solidFill>
                          <a:effectLst/>
                          <a:latin typeface="+mn-lt"/>
                          <a:ea typeface="+mn-ea"/>
                          <a:cs typeface="+mn-cs"/>
                        </a:rPr>
                        <a:t>大唐</a:t>
                      </a:r>
                      <a:r>
                        <a:rPr lang="en-US" altLang="zh-CN" sz="1000" u="none" strike="noStrike" kern="1200">
                          <a:solidFill>
                            <a:srgbClr val="ED7D31"/>
                          </a:solidFill>
                          <a:effectLst/>
                          <a:latin typeface="+mn-lt"/>
                          <a:ea typeface="+mn-ea"/>
                          <a:cs typeface="+mn-cs"/>
                        </a:rPr>
                        <a:t>4</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7906505"/>
                  </a:ext>
                </a:extLst>
              </a:tr>
              <a:tr h="131195">
                <a:tc>
                  <a:txBody>
                    <a:bodyPr/>
                    <a:lstStyle/>
                    <a:p>
                      <a:pPr marL="0" algn="ctr" defTabSz="914400" rtl="0" eaLnBrk="1" fontAlgn="ctr" latinLnBrk="0" hangingPunct="1"/>
                      <a:r>
                        <a:rPr lang="zh-CN" altLang="en-US" sz="1000" u="none" strike="noStrike" kern="1200">
                          <a:solidFill>
                            <a:srgbClr val="ED7D31"/>
                          </a:solidFill>
                          <a:effectLst/>
                          <a:latin typeface="+mn-lt"/>
                          <a:ea typeface="+mn-ea"/>
                          <a:cs typeface="+mn-cs"/>
                        </a:rPr>
                        <a:t>国电投</a:t>
                      </a:r>
                      <a:r>
                        <a:rPr lang="en-US" altLang="zh-CN" sz="1000" u="none" strike="noStrike" kern="1200">
                          <a:solidFill>
                            <a:srgbClr val="ED7D31"/>
                          </a:solidFill>
                          <a:effectLst/>
                          <a:latin typeface="+mn-lt"/>
                          <a:ea typeface="+mn-ea"/>
                          <a:cs typeface="+mn-cs"/>
                        </a:rPr>
                        <a:t>1</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58296610"/>
                  </a:ext>
                </a:extLst>
              </a:tr>
              <a:tr h="131195">
                <a:tc>
                  <a:txBody>
                    <a:bodyPr/>
                    <a:lstStyle/>
                    <a:p>
                      <a:pPr marL="0" algn="ctr" defTabSz="914400" rtl="0" eaLnBrk="1" fontAlgn="ctr" latinLnBrk="0" hangingPunct="1"/>
                      <a:r>
                        <a:rPr lang="zh-CN" altLang="en-US" sz="1000" u="none" strike="noStrike" kern="1200" dirty="0">
                          <a:solidFill>
                            <a:srgbClr val="ED7D31"/>
                          </a:solidFill>
                          <a:effectLst/>
                          <a:latin typeface="+mn-lt"/>
                          <a:ea typeface="+mn-ea"/>
                          <a:cs typeface="+mn-cs"/>
                        </a:rPr>
                        <a:t>国电投</a:t>
                      </a:r>
                      <a:r>
                        <a:rPr lang="en-US" altLang="zh-CN" sz="1000" u="none" strike="noStrike" kern="1200" dirty="0">
                          <a:solidFill>
                            <a:srgbClr val="ED7D31"/>
                          </a:solidFill>
                          <a:effectLst/>
                          <a:latin typeface="+mn-lt"/>
                          <a:ea typeface="+mn-ea"/>
                          <a:cs typeface="+mn-cs"/>
                        </a:rPr>
                        <a:t>2</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51492055"/>
                  </a:ext>
                </a:extLst>
              </a:tr>
              <a:tr h="131195">
                <a:tc>
                  <a:txBody>
                    <a:bodyPr/>
                    <a:lstStyle/>
                    <a:p>
                      <a:pPr marL="0" algn="ctr" defTabSz="914400" rtl="0" eaLnBrk="1" fontAlgn="ctr" latinLnBrk="0" hangingPunct="1"/>
                      <a:r>
                        <a:rPr lang="zh-CN" altLang="en-US" sz="1000" u="none" strike="noStrike" kern="1200">
                          <a:solidFill>
                            <a:srgbClr val="ED7D31"/>
                          </a:solidFill>
                          <a:effectLst/>
                          <a:latin typeface="+mn-lt"/>
                          <a:ea typeface="+mn-ea"/>
                          <a:cs typeface="+mn-cs"/>
                        </a:rPr>
                        <a:t>国能</a:t>
                      </a:r>
                      <a:r>
                        <a:rPr lang="en-US" altLang="zh-CN" sz="1000" u="none" strike="noStrike" kern="1200">
                          <a:solidFill>
                            <a:srgbClr val="ED7D31"/>
                          </a:solidFill>
                          <a:effectLst/>
                          <a:latin typeface="+mn-lt"/>
                          <a:ea typeface="+mn-ea"/>
                          <a:cs typeface="+mn-cs"/>
                        </a:rPr>
                        <a:t>1</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6926901"/>
                  </a:ext>
                </a:extLst>
              </a:tr>
              <a:tr h="131195">
                <a:tc>
                  <a:txBody>
                    <a:bodyPr/>
                    <a:lstStyle/>
                    <a:p>
                      <a:pPr marL="0" algn="ctr" defTabSz="914400" rtl="0" eaLnBrk="1" fontAlgn="ctr" latinLnBrk="0" hangingPunct="1"/>
                      <a:r>
                        <a:rPr lang="zh-CN" altLang="en-US" sz="1000" u="none" strike="noStrike" kern="1200">
                          <a:solidFill>
                            <a:srgbClr val="ED7D31"/>
                          </a:solidFill>
                          <a:effectLst/>
                          <a:latin typeface="+mn-lt"/>
                          <a:ea typeface="+mn-ea"/>
                          <a:cs typeface="+mn-cs"/>
                        </a:rPr>
                        <a:t>国能</a:t>
                      </a:r>
                      <a:r>
                        <a:rPr lang="en-US" altLang="zh-CN" sz="1000" u="none" strike="noStrike" kern="1200">
                          <a:solidFill>
                            <a:srgbClr val="ED7D31"/>
                          </a:solidFill>
                          <a:effectLst/>
                          <a:latin typeface="+mn-lt"/>
                          <a:ea typeface="+mn-ea"/>
                          <a:cs typeface="+mn-cs"/>
                        </a:rPr>
                        <a:t>2</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8455148"/>
                  </a:ext>
                </a:extLst>
              </a:tr>
              <a:tr h="131195">
                <a:tc>
                  <a:txBody>
                    <a:bodyPr/>
                    <a:lstStyle/>
                    <a:p>
                      <a:pPr marL="0" algn="ctr" defTabSz="914400" rtl="0" eaLnBrk="1" fontAlgn="ctr" latinLnBrk="0" hangingPunct="1"/>
                      <a:r>
                        <a:rPr lang="zh-CN" altLang="en-US" sz="1000" u="none" strike="noStrike" kern="1200">
                          <a:solidFill>
                            <a:srgbClr val="ED7D31"/>
                          </a:solidFill>
                          <a:effectLst/>
                          <a:latin typeface="+mn-lt"/>
                          <a:ea typeface="+mn-ea"/>
                          <a:cs typeface="+mn-cs"/>
                        </a:rPr>
                        <a:t>华电</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6518961"/>
                  </a:ext>
                </a:extLst>
              </a:tr>
              <a:tr h="131195">
                <a:tc>
                  <a:txBody>
                    <a:bodyPr/>
                    <a:lstStyle/>
                    <a:p>
                      <a:pPr marL="0" algn="ctr" defTabSz="914400" rtl="0" eaLnBrk="1" fontAlgn="ctr" latinLnBrk="0" hangingPunct="1"/>
                      <a:r>
                        <a:rPr lang="zh-CN" altLang="en-US" sz="1000" u="none" strike="noStrike" kern="1200">
                          <a:solidFill>
                            <a:srgbClr val="ED7D31"/>
                          </a:solidFill>
                          <a:effectLst/>
                          <a:latin typeface="+mn-lt"/>
                          <a:ea typeface="+mn-ea"/>
                          <a:cs typeface="+mn-cs"/>
                        </a:rPr>
                        <a:t>华润</a:t>
                      </a:r>
                      <a:r>
                        <a:rPr lang="en-US" altLang="zh-CN" sz="1000" u="none" strike="noStrike" kern="1200">
                          <a:solidFill>
                            <a:srgbClr val="ED7D31"/>
                          </a:solidFill>
                          <a:effectLst/>
                          <a:latin typeface="+mn-lt"/>
                          <a:ea typeface="+mn-ea"/>
                          <a:cs typeface="+mn-cs"/>
                        </a:rPr>
                        <a:t>1</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4462442"/>
                  </a:ext>
                </a:extLst>
              </a:tr>
              <a:tr h="131195">
                <a:tc>
                  <a:txBody>
                    <a:bodyPr/>
                    <a:lstStyle/>
                    <a:p>
                      <a:pPr marL="0" algn="ctr" defTabSz="914400" rtl="0" eaLnBrk="1" fontAlgn="ctr" latinLnBrk="0" hangingPunct="1"/>
                      <a:r>
                        <a:rPr lang="zh-CN" altLang="en-US" sz="1000" u="none" strike="noStrike" kern="1200">
                          <a:solidFill>
                            <a:srgbClr val="ED7D31"/>
                          </a:solidFill>
                          <a:effectLst/>
                          <a:latin typeface="+mn-lt"/>
                          <a:ea typeface="+mn-ea"/>
                          <a:cs typeface="+mn-cs"/>
                        </a:rPr>
                        <a:t>华润</a:t>
                      </a:r>
                      <a:r>
                        <a:rPr lang="en-US" altLang="zh-CN" sz="1000" u="none" strike="noStrike" kern="1200">
                          <a:solidFill>
                            <a:srgbClr val="ED7D31"/>
                          </a:solidFill>
                          <a:effectLst/>
                          <a:latin typeface="+mn-lt"/>
                          <a:ea typeface="+mn-ea"/>
                          <a:cs typeface="+mn-cs"/>
                        </a:rPr>
                        <a:t>2</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9060563"/>
                  </a:ext>
                </a:extLst>
              </a:tr>
              <a:tr h="131195">
                <a:tc>
                  <a:txBody>
                    <a:bodyPr/>
                    <a:lstStyle/>
                    <a:p>
                      <a:pPr marL="0" algn="ctr" defTabSz="914400" rtl="0" eaLnBrk="1" fontAlgn="ctr" latinLnBrk="0" hangingPunct="1"/>
                      <a:r>
                        <a:rPr lang="zh-CN" altLang="en-US" sz="1000" u="none" strike="noStrike" kern="1200" dirty="0">
                          <a:solidFill>
                            <a:srgbClr val="ED7D31"/>
                          </a:solidFill>
                          <a:effectLst/>
                          <a:latin typeface="+mn-lt"/>
                          <a:ea typeface="+mn-ea"/>
                          <a:cs typeface="+mn-cs"/>
                        </a:rPr>
                        <a:t>华润</a:t>
                      </a:r>
                      <a:r>
                        <a:rPr lang="en-US" altLang="zh-CN" sz="1000" u="none" strike="noStrike" kern="1200" dirty="0">
                          <a:solidFill>
                            <a:srgbClr val="ED7D31"/>
                          </a:solidFill>
                          <a:effectLst/>
                          <a:latin typeface="+mn-lt"/>
                          <a:ea typeface="+mn-ea"/>
                          <a:cs typeface="+mn-cs"/>
                        </a:rPr>
                        <a:t>3</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1091028"/>
                  </a:ext>
                </a:extLst>
              </a:tr>
              <a:tr h="131195">
                <a:tc>
                  <a:txBody>
                    <a:bodyPr/>
                    <a:lstStyle/>
                    <a:p>
                      <a:pPr marL="0" algn="ctr" defTabSz="914400" rtl="0" eaLnBrk="1" fontAlgn="ctr" latinLnBrk="0" hangingPunct="1"/>
                      <a:r>
                        <a:rPr lang="zh-CN" altLang="en-US" sz="1000" u="none" strike="noStrike" kern="1200">
                          <a:solidFill>
                            <a:srgbClr val="ED7D31"/>
                          </a:solidFill>
                          <a:effectLst/>
                          <a:latin typeface="+mn-lt"/>
                          <a:ea typeface="+mn-ea"/>
                          <a:cs typeface="+mn-cs"/>
                        </a:rPr>
                        <a:t>华润</a:t>
                      </a:r>
                      <a:r>
                        <a:rPr lang="en-US" altLang="zh-CN" sz="1000" u="none" strike="noStrike" kern="1200">
                          <a:solidFill>
                            <a:srgbClr val="ED7D31"/>
                          </a:solidFill>
                          <a:effectLst/>
                          <a:latin typeface="+mn-lt"/>
                          <a:ea typeface="+mn-ea"/>
                          <a:cs typeface="+mn-cs"/>
                        </a:rPr>
                        <a:t>4</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2695496"/>
                  </a:ext>
                </a:extLst>
              </a:tr>
              <a:tr h="131195">
                <a:tc>
                  <a:txBody>
                    <a:bodyPr/>
                    <a:lstStyle/>
                    <a:p>
                      <a:pPr marL="0" algn="ctr" defTabSz="914400" rtl="0" eaLnBrk="1" fontAlgn="ctr" latinLnBrk="0" hangingPunct="1"/>
                      <a:r>
                        <a:rPr lang="zh-CN" altLang="en-US" sz="1000" u="none" strike="noStrike" kern="1200">
                          <a:solidFill>
                            <a:srgbClr val="ED7D31"/>
                          </a:solidFill>
                          <a:effectLst/>
                          <a:latin typeface="+mn-lt"/>
                          <a:ea typeface="+mn-ea"/>
                          <a:cs typeface="+mn-cs"/>
                        </a:rPr>
                        <a:t>辽宁国力新能源</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877441"/>
                  </a:ext>
                </a:extLst>
              </a:tr>
              <a:tr h="131195">
                <a:tc>
                  <a:txBody>
                    <a:bodyPr/>
                    <a:lstStyle/>
                    <a:p>
                      <a:pPr marL="0" algn="ctr" defTabSz="914400" rtl="0" eaLnBrk="1" fontAlgn="ctr" latinLnBrk="0" hangingPunct="1"/>
                      <a:r>
                        <a:rPr lang="zh-CN" altLang="en-US" sz="1000" u="none" strike="noStrike" kern="1200">
                          <a:solidFill>
                            <a:srgbClr val="ED7D31"/>
                          </a:solidFill>
                          <a:effectLst/>
                          <a:latin typeface="+mn-lt"/>
                          <a:ea typeface="+mn-ea"/>
                          <a:cs typeface="+mn-cs"/>
                        </a:rPr>
                        <a:t>辽宁水资源</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7172818"/>
                  </a:ext>
                </a:extLst>
              </a:tr>
              <a:tr h="131195">
                <a:tc>
                  <a:txBody>
                    <a:bodyPr/>
                    <a:lstStyle/>
                    <a:p>
                      <a:pPr marL="0" algn="ctr" defTabSz="914400" rtl="0" eaLnBrk="1" fontAlgn="ctr" latinLnBrk="0" hangingPunct="1"/>
                      <a:r>
                        <a:rPr lang="zh-CN" altLang="en-US" sz="1000" u="none" strike="noStrike" kern="1200" dirty="0">
                          <a:solidFill>
                            <a:srgbClr val="ED7D31"/>
                          </a:solidFill>
                          <a:effectLst/>
                          <a:latin typeface="+mn-lt"/>
                          <a:ea typeface="+mn-ea"/>
                          <a:cs typeface="+mn-cs"/>
                        </a:rPr>
                        <a:t>三峡</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73537243"/>
                  </a:ext>
                </a:extLst>
              </a:tr>
              <a:tr h="131195">
                <a:tc rowSpan="2">
                  <a:txBody>
                    <a:bodyPr/>
                    <a:lstStyle/>
                    <a:p>
                      <a:pPr marL="0" algn="ctr" defTabSz="914400" rtl="0" eaLnBrk="1" fontAlgn="ctr" latinLnBrk="0" hangingPunct="1"/>
                      <a:r>
                        <a:rPr lang="zh-CN" altLang="en-US" sz="1000" u="none" strike="noStrike" kern="1200" dirty="0">
                          <a:solidFill>
                            <a:srgbClr val="ED7D31"/>
                          </a:solidFill>
                          <a:effectLst/>
                          <a:latin typeface="+mn-lt"/>
                          <a:ea typeface="+mn-ea"/>
                          <a:cs typeface="+mn-cs"/>
                        </a:rPr>
                        <a:t>中船</a:t>
                      </a:r>
                      <a:r>
                        <a:rPr lang="en-US" altLang="zh-CN" sz="1000" u="none" strike="noStrike" kern="1200" dirty="0">
                          <a:solidFill>
                            <a:srgbClr val="ED7D31"/>
                          </a:solidFill>
                          <a:effectLst/>
                          <a:latin typeface="+mn-lt"/>
                          <a:ea typeface="+mn-ea"/>
                          <a:cs typeface="+mn-cs"/>
                        </a:rPr>
                        <a:t>1</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algn="ctr" defTabSz="914400" rtl="0" eaLnBrk="1" fontAlgn="ctr" latinLnBrk="0" hangingPunct="1"/>
                      <a:r>
                        <a:rPr lang="en-US" altLang="zh-CN" sz="1000" u="none" strike="noStrike" kern="1200" dirty="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8783660"/>
                  </a:ext>
                </a:extLst>
              </a:tr>
              <a:tr h="34534">
                <a:tc vMerge="1">
                  <a:txBody>
                    <a:bodyPr/>
                    <a:lstStyle/>
                    <a:p>
                      <a:pPr algn="l" fontAlgn="ctr"/>
                      <a:endParaRPr lang="en-US" altLang="zh-CN" sz="800" b="0" i="0" u="none" strike="noStrike">
                        <a:solidFill>
                          <a:srgbClr val="000000"/>
                        </a:solidFill>
                        <a:effectLst/>
                        <a:latin typeface="微软雅黑" panose="020B0503020204020204" pitchFamily="34" charset="-122"/>
                        <a:ea typeface="微软雅黑" panose="020B0503020204020204" pitchFamily="34" charset="-122"/>
                      </a:endParaRPr>
                    </a:p>
                  </a:txBody>
                  <a:tcPr marL="6902" marR="6902" marT="6902" marB="0" anchor="ctr"/>
                </a:tc>
                <a:tc vMerge="1">
                  <a:txBody>
                    <a:bodyPr/>
                    <a:lstStyle/>
                    <a:p>
                      <a:endParaRPr lang="zh-CN" altLang="en-US"/>
                    </a:p>
                  </a:txBody>
                  <a:tcPr/>
                </a:tc>
                <a:tc rowSpan="2">
                  <a:txBody>
                    <a:bodyPr/>
                    <a:lstStyle/>
                    <a:p>
                      <a:pPr marL="0" algn="ctr" defTabSz="914400" rtl="0" eaLnBrk="1" fontAlgn="ctr" latinLnBrk="0" hangingPunct="1"/>
                      <a:r>
                        <a:rPr lang="en-US" altLang="zh-CN" sz="1000" u="none" strike="noStrike" kern="1200" dirty="0">
                          <a:solidFill>
                            <a:srgbClr val="ED7D31"/>
                          </a:solidFill>
                          <a:effectLst/>
                          <a:latin typeface="+mn-lt"/>
                          <a:ea typeface="+mn-ea"/>
                          <a:cs typeface="+mn-cs"/>
                        </a:rPr>
                        <a:t>66.47</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76603366"/>
                  </a:ext>
                </a:extLst>
              </a:tr>
              <a:tr h="131195">
                <a:tc>
                  <a:txBody>
                    <a:bodyPr/>
                    <a:lstStyle/>
                    <a:p>
                      <a:pPr marL="0" algn="ctr" defTabSz="914400" rtl="0" eaLnBrk="1" fontAlgn="ctr" latinLnBrk="0" hangingPunct="1"/>
                      <a:r>
                        <a:rPr lang="zh-CN" altLang="en-US" sz="1000" u="none" strike="noStrike" kern="1200" dirty="0">
                          <a:solidFill>
                            <a:srgbClr val="ED7D31"/>
                          </a:solidFill>
                          <a:effectLst/>
                          <a:latin typeface="+mn-lt"/>
                          <a:ea typeface="+mn-ea"/>
                          <a:cs typeface="+mn-cs"/>
                        </a:rPr>
                        <a:t>中船</a:t>
                      </a:r>
                      <a:r>
                        <a:rPr lang="en-US" altLang="zh-CN" sz="1000" u="none" strike="noStrike" kern="1200" dirty="0">
                          <a:solidFill>
                            <a:srgbClr val="ED7D31"/>
                          </a:solidFill>
                          <a:effectLst/>
                          <a:latin typeface="+mn-lt"/>
                          <a:ea typeface="+mn-ea"/>
                          <a:cs typeface="+mn-cs"/>
                        </a:rPr>
                        <a:t>2</a:t>
                      </a:r>
                    </a:p>
                  </a:txBody>
                  <a:tcPr marL="6902" marR="6902" marT="690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vMerge="1">
                  <a:txBody>
                    <a:bodyPr/>
                    <a:lstStyle/>
                    <a:p>
                      <a:pPr algn="l" fontAlgn="ctr"/>
                      <a:r>
                        <a:rPr lang="en-US" altLang="zh-CN" sz="800" u="none" strike="noStrike" dirty="0">
                          <a:effectLst/>
                        </a:rPr>
                        <a:t>66.47</a:t>
                      </a:r>
                      <a:endParaRPr lang="en-US" altLang="zh-CN"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902" marR="6902" marT="6902" marB="0" anchor="ctr"/>
                </a:tc>
                <a:extLst>
                  <a:ext uri="{0D108BD9-81ED-4DB2-BD59-A6C34878D82A}">
                    <a16:rowId xmlns:a16="http://schemas.microsoft.com/office/drawing/2014/main" val="3163048552"/>
                  </a:ext>
                </a:extLst>
              </a:tr>
            </a:tbl>
          </a:graphicData>
        </a:graphic>
      </p:graphicFrame>
      <p:sp>
        <p:nvSpPr>
          <p:cNvPr id="4" name="文本框 3">
            <a:extLst>
              <a:ext uri="{FF2B5EF4-FFF2-40B4-BE49-F238E27FC236}">
                <a16:creationId xmlns:a16="http://schemas.microsoft.com/office/drawing/2014/main" id="{093B541E-6978-362B-F521-69711031AFC8}"/>
              </a:ext>
            </a:extLst>
          </p:cNvPr>
          <p:cNvSpPr txBox="1"/>
          <p:nvPr/>
        </p:nvSpPr>
        <p:spPr>
          <a:xfrm>
            <a:off x="10902048" y="892550"/>
            <a:ext cx="1192037" cy="6463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200" b="1" kern="0" dirty="0">
                <a:solidFill>
                  <a:srgbClr val="066E9F"/>
                </a:solidFill>
                <a:latin typeface="DengXian"/>
                <a:ea typeface="DengXian" panose="02010600030101010101" pitchFamily="2" charset="-122"/>
              </a:rPr>
              <a:t>低价抢跑项目，获得</a:t>
            </a:r>
            <a:r>
              <a:rPr kumimoji="0" lang="zh-CN" altLang="en-US" sz="1200" b="1" i="0" u="none" strike="noStrike" kern="0" cap="none" spc="0" normalizeH="0" baseline="0" noProof="0" dirty="0">
                <a:ln>
                  <a:noFill/>
                </a:ln>
                <a:solidFill>
                  <a:srgbClr val="066E9F"/>
                </a:solidFill>
                <a:effectLst/>
                <a:uLnTx/>
                <a:uFillTx/>
                <a:latin typeface="DengXian"/>
                <a:ea typeface="DengXian" panose="02010600030101010101" pitchFamily="2" charset="-122"/>
              </a:rPr>
              <a:t>最</a:t>
            </a:r>
            <a:r>
              <a:rPr lang="zh-CN" altLang="en-US" sz="1200" b="1" kern="0" dirty="0">
                <a:solidFill>
                  <a:srgbClr val="066E9F"/>
                </a:solidFill>
                <a:latin typeface="DengXian"/>
                <a:ea typeface="DengXian" panose="02010600030101010101" pitchFamily="2" charset="-122"/>
              </a:rPr>
              <a:t>高申报上限电量</a:t>
            </a:r>
            <a:endParaRPr kumimoji="0" lang="zh-CN" altLang="en-US" sz="1200" b="1" i="0" u="none" strike="noStrike" kern="0" cap="none" spc="0" normalizeH="0" baseline="0" noProof="0" dirty="0">
              <a:ln>
                <a:noFill/>
              </a:ln>
              <a:solidFill>
                <a:srgbClr val="066E9F"/>
              </a:solidFill>
              <a:effectLst/>
              <a:uLnTx/>
              <a:uFillTx/>
              <a:latin typeface="DengXian"/>
              <a:ea typeface="DengXian" panose="02010600030101010101" pitchFamily="2" charset="-122"/>
            </a:endParaRPr>
          </a:p>
        </p:txBody>
      </p:sp>
      <p:sp>
        <p:nvSpPr>
          <p:cNvPr id="5" name="矩形: 圆角 4">
            <a:extLst>
              <a:ext uri="{FF2B5EF4-FFF2-40B4-BE49-F238E27FC236}">
                <a16:creationId xmlns:a16="http://schemas.microsoft.com/office/drawing/2014/main" id="{B3DCF545-2B48-9A06-1C1E-77443986D3CE}"/>
              </a:ext>
            </a:extLst>
          </p:cNvPr>
          <p:cNvSpPr/>
          <p:nvPr/>
        </p:nvSpPr>
        <p:spPr>
          <a:xfrm>
            <a:off x="7637794" y="1218988"/>
            <a:ext cx="3226647" cy="1730188"/>
          </a:xfrm>
          <a:prstGeom prst="roundRect">
            <a:avLst/>
          </a:prstGeom>
          <a:noFill/>
          <a:ln w="19050">
            <a:solidFill>
              <a:srgbClr val="066E9F"/>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rgbClr val="FFC000"/>
              </a:solidFill>
            </a:endParaRPr>
          </a:p>
        </p:txBody>
      </p:sp>
      <p:cxnSp>
        <p:nvCxnSpPr>
          <p:cNvPr id="6" name="直接箭头连接符 5">
            <a:extLst>
              <a:ext uri="{FF2B5EF4-FFF2-40B4-BE49-F238E27FC236}">
                <a16:creationId xmlns:a16="http://schemas.microsoft.com/office/drawing/2014/main" id="{37CEF6BF-0EC7-0472-7B9D-668ADF50FE9A}"/>
              </a:ext>
            </a:extLst>
          </p:cNvPr>
          <p:cNvCxnSpPr>
            <a:cxnSpLocks/>
          </p:cNvCxnSpPr>
          <p:nvPr/>
        </p:nvCxnSpPr>
        <p:spPr>
          <a:xfrm flipH="1">
            <a:off x="10918463" y="1538881"/>
            <a:ext cx="279513" cy="370816"/>
          </a:xfrm>
          <a:prstGeom prst="straightConnector1">
            <a:avLst/>
          </a:prstGeom>
          <a:noFill/>
          <a:ln w="6350" cap="flat" cmpd="sng" algn="ctr">
            <a:solidFill>
              <a:srgbClr val="066E9F"/>
            </a:solidFill>
            <a:prstDash val="solid"/>
            <a:miter lim="800000"/>
            <a:tailEnd type="triangle"/>
          </a:ln>
          <a:effectLst/>
        </p:spPr>
      </p:cxnSp>
      <p:cxnSp>
        <p:nvCxnSpPr>
          <p:cNvPr id="8" name="直接箭头连接符 7">
            <a:extLst>
              <a:ext uri="{FF2B5EF4-FFF2-40B4-BE49-F238E27FC236}">
                <a16:creationId xmlns:a16="http://schemas.microsoft.com/office/drawing/2014/main" id="{BDA2D423-DFCD-ED45-0C93-7B68114CF19D}"/>
              </a:ext>
            </a:extLst>
          </p:cNvPr>
          <p:cNvCxnSpPr>
            <a:cxnSpLocks/>
          </p:cNvCxnSpPr>
          <p:nvPr/>
        </p:nvCxnSpPr>
        <p:spPr>
          <a:xfrm flipH="1">
            <a:off x="10920776" y="4130601"/>
            <a:ext cx="313543" cy="460965"/>
          </a:xfrm>
          <a:prstGeom prst="straightConnector1">
            <a:avLst/>
          </a:prstGeom>
          <a:noFill/>
          <a:ln w="6350" cap="flat" cmpd="sng" algn="ctr">
            <a:solidFill>
              <a:srgbClr val="ED7D31"/>
            </a:solidFill>
            <a:prstDash val="solid"/>
            <a:miter lim="800000"/>
            <a:tailEnd type="triangle"/>
          </a:ln>
          <a:effectLst/>
        </p:spPr>
      </p:cxnSp>
      <p:sp>
        <p:nvSpPr>
          <p:cNvPr id="9" name="文本框 8">
            <a:extLst>
              <a:ext uri="{FF2B5EF4-FFF2-40B4-BE49-F238E27FC236}">
                <a16:creationId xmlns:a16="http://schemas.microsoft.com/office/drawing/2014/main" id="{FEA185BC-FA16-BF91-B179-0533E80D5DF5}"/>
              </a:ext>
            </a:extLst>
          </p:cNvPr>
          <p:cNvSpPr txBox="1"/>
          <p:nvPr/>
        </p:nvSpPr>
        <p:spPr>
          <a:xfrm>
            <a:off x="10882472" y="3364766"/>
            <a:ext cx="1309528"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200" b="1" kern="0" dirty="0">
                <a:solidFill>
                  <a:srgbClr val="ED7D31"/>
                </a:solidFill>
                <a:latin typeface="DengXian"/>
                <a:ea typeface="DengXian" panose="02010600030101010101" pitchFamily="2" charset="-122"/>
              </a:rPr>
              <a:t>边际项目平分“全省机制</a:t>
            </a:r>
            <a:r>
              <a:rPr lang="en-US" altLang="zh-CN" sz="1200" b="1" kern="0" dirty="0">
                <a:solidFill>
                  <a:srgbClr val="ED7D31"/>
                </a:solidFill>
                <a:latin typeface="DengXian"/>
                <a:ea typeface="DengXian" panose="02010600030101010101" pitchFamily="2" charset="-122"/>
              </a:rPr>
              <a:t>-</a:t>
            </a:r>
            <a:r>
              <a:rPr lang="zh-CN" altLang="en-US" sz="1200" b="1" kern="0" dirty="0">
                <a:solidFill>
                  <a:srgbClr val="ED7D31"/>
                </a:solidFill>
                <a:latin typeface="DengXian"/>
                <a:ea typeface="DengXian" panose="02010600030101010101" pitchFamily="2" charset="-122"/>
              </a:rPr>
              <a:t>前序中标项目机制电量”的剩余电量</a:t>
            </a:r>
            <a:endParaRPr kumimoji="0" lang="zh-CN" altLang="en-US" sz="1200" b="1" i="0" u="none" strike="noStrike" kern="0" cap="none" spc="0" normalizeH="0" baseline="0" noProof="0" dirty="0">
              <a:ln>
                <a:noFill/>
              </a:ln>
              <a:solidFill>
                <a:srgbClr val="ED7D31"/>
              </a:solidFill>
              <a:effectLst/>
              <a:uLnTx/>
              <a:uFillTx/>
              <a:latin typeface="DengXian"/>
              <a:ea typeface="DengXian" panose="02010600030101010101" pitchFamily="2" charset="-122"/>
            </a:endParaRPr>
          </a:p>
        </p:txBody>
      </p:sp>
      <p:sp>
        <p:nvSpPr>
          <p:cNvPr id="10" name="矩形: 圆角 9">
            <a:extLst>
              <a:ext uri="{FF2B5EF4-FFF2-40B4-BE49-F238E27FC236}">
                <a16:creationId xmlns:a16="http://schemas.microsoft.com/office/drawing/2014/main" id="{710AE7F7-EB2E-AB1C-4C68-CD7D96C57A69}"/>
              </a:ext>
            </a:extLst>
          </p:cNvPr>
          <p:cNvSpPr/>
          <p:nvPr/>
        </p:nvSpPr>
        <p:spPr>
          <a:xfrm>
            <a:off x="7614833" y="2949176"/>
            <a:ext cx="3226645" cy="3284781"/>
          </a:xfrm>
          <a:prstGeom prst="roundRect">
            <a:avLst/>
          </a:prstGeom>
          <a:noFill/>
          <a:ln w="19050">
            <a:solidFill>
              <a:srgbClr val="F7964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rgbClr val="FFC000"/>
              </a:solidFill>
            </a:endParaRPr>
          </a:p>
        </p:txBody>
      </p:sp>
      <p:sp>
        <p:nvSpPr>
          <p:cNvPr id="11" name="矩形 10">
            <a:extLst>
              <a:ext uri="{FF2B5EF4-FFF2-40B4-BE49-F238E27FC236}">
                <a16:creationId xmlns:a16="http://schemas.microsoft.com/office/drawing/2014/main" id="{43FED540-1AE0-2406-D201-B6E4F8DEC342}"/>
              </a:ext>
            </a:extLst>
          </p:cNvPr>
          <p:cNvSpPr/>
          <p:nvPr/>
        </p:nvSpPr>
        <p:spPr>
          <a:xfrm>
            <a:off x="3147842" y="5224404"/>
            <a:ext cx="280864" cy="656471"/>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cxnSp>
        <p:nvCxnSpPr>
          <p:cNvPr id="12" name="直接箭头连接符 11">
            <a:extLst>
              <a:ext uri="{FF2B5EF4-FFF2-40B4-BE49-F238E27FC236}">
                <a16:creationId xmlns:a16="http://schemas.microsoft.com/office/drawing/2014/main" id="{A37099B8-B7F5-919C-867F-5BADD7547562}"/>
              </a:ext>
            </a:extLst>
          </p:cNvPr>
          <p:cNvCxnSpPr/>
          <p:nvPr/>
        </p:nvCxnSpPr>
        <p:spPr>
          <a:xfrm>
            <a:off x="1899957" y="5880552"/>
            <a:ext cx="4090874" cy="0"/>
          </a:xfrm>
          <a:prstGeom prst="straightConnector1">
            <a:avLst/>
          </a:prstGeom>
          <a:noFill/>
          <a:ln w="6350" cap="flat" cmpd="sng" algn="ctr">
            <a:solidFill>
              <a:sysClr val="windowText" lastClr="000000"/>
            </a:solidFill>
            <a:prstDash val="solid"/>
            <a:miter lim="800000"/>
            <a:tailEnd type="triangle"/>
          </a:ln>
          <a:effectLst/>
        </p:spPr>
      </p:cxnSp>
      <p:cxnSp>
        <p:nvCxnSpPr>
          <p:cNvPr id="13" name="直接箭头连接符 12">
            <a:extLst>
              <a:ext uri="{FF2B5EF4-FFF2-40B4-BE49-F238E27FC236}">
                <a16:creationId xmlns:a16="http://schemas.microsoft.com/office/drawing/2014/main" id="{A5480A27-9A75-09F3-6011-64C5DA2CF2E5}"/>
              </a:ext>
            </a:extLst>
          </p:cNvPr>
          <p:cNvCxnSpPr/>
          <p:nvPr/>
        </p:nvCxnSpPr>
        <p:spPr>
          <a:xfrm flipV="1">
            <a:off x="2370027" y="4835449"/>
            <a:ext cx="0" cy="1259350"/>
          </a:xfrm>
          <a:prstGeom prst="straightConnector1">
            <a:avLst/>
          </a:prstGeom>
          <a:noFill/>
          <a:ln w="6350" cap="flat" cmpd="sng" algn="ctr">
            <a:solidFill>
              <a:sysClr val="windowText" lastClr="000000"/>
            </a:solidFill>
            <a:prstDash val="solid"/>
            <a:miter lim="800000"/>
            <a:tailEnd type="triangle"/>
          </a:ln>
          <a:effectLst/>
        </p:spPr>
      </p:cxnSp>
      <p:cxnSp>
        <p:nvCxnSpPr>
          <p:cNvPr id="14" name="直接连接符 13">
            <a:extLst>
              <a:ext uri="{FF2B5EF4-FFF2-40B4-BE49-F238E27FC236}">
                <a16:creationId xmlns:a16="http://schemas.microsoft.com/office/drawing/2014/main" id="{02D1A0CE-2610-6443-B45B-48BA90631C11}"/>
              </a:ext>
            </a:extLst>
          </p:cNvPr>
          <p:cNvCxnSpPr/>
          <p:nvPr/>
        </p:nvCxnSpPr>
        <p:spPr>
          <a:xfrm>
            <a:off x="1353660" y="5001151"/>
            <a:ext cx="4344966" cy="0"/>
          </a:xfrm>
          <a:prstGeom prst="line">
            <a:avLst/>
          </a:prstGeom>
          <a:noFill/>
          <a:ln w="6350" cap="flat" cmpd="sng" algn="ctr">
            <a:solidFill>
              <a:sysClr val="windowText" lastClr="000000"/>
            </a:solidFill>
            <a:prstDash val="dash"/>
            <a:miter lim="800000"/>
          </a:ln>
          <a:effectLst/>
        </p:spPr>
      </p:cxnSp>
      <p:sp>
        <p:nvSpPr>
          <p:cNvPr id="15" name="矩形 14">
            <a:extLst>
              <a:ext uri="{FF2B5EF4-FFF2-40B4-BE49-F238E27FC236}">
                <a16:creationId xmlns:a16="http://schemas.microsoft.com/office/drawing/2014/main" id="{1E0E1F72-83BA-FC60-3FF4-6B6B2AF5DABA}"/>
              </a:ext>
            </a:extLst>
          </p:cNvPr>
          <p:cNvSpPr/>
          <p:nvPr/>
        </p:nvSpPr>
        <p:spPr>
          <a:xfrm>
            <a:off x="2370025" y="5514766"/>
            <a:ext cx="250390" cy="365786"/>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16" name="矩形 15">
            <a:extLst>
              <a:ext uri="{FF2B5EF4-FFF2-40B4-BE49-F238E27FC236}">
                <a16:creationId xmlns:a16="http://schemas.microsoft.com/office/drawing/2014/main" id="{93E1B281-0891-3B81-F6A6-CE4B3F3E4B74}"/>
              </a:ext>
            </a:extLst>
          </p:cNvPr>
          <p:cNvSpPr/>
          <p:nvPr/>
        </p:nvSpPr>
        <p:spPr>
          <a:xfrm>
            <a:off x="2623854" y="5423901"/>
            <a:ext cx="238727" cy="456650"/>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17" name="矩形 16">
            <a:extLst>
              <a:ext uri="{FF2B5EF4-FFF2-40B4-BE49-F238E27FC236}">
                <a16:creationId xmlns:a16="http://schemas.microsoft.com/office/drawing/2014/main" id="{202A003B-27B8-B325-B8AF-4647F1BACA8F}"/>
              </a:ext>
            </a:extLst>
          </p:cNvPr>
          <p:cNvSpPr/>
          <p:nvPr/>
        </p:nvSpPr>
        <p:spPr>
          <a:xfrm>
            <a:off x="2866019" y="5321396"/>
            <a:ext cx="271704" cy="559156"/>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cxnSp>
        <p:nvCxnSpPr>
          <p:cNvPr id="18" name="直接连接符 17">
            <a:extLst>
              <a:ext uri="{FF2B5EF4-FFF2-40B4-BE49-F238E27FC236}">
                <a16:creationId xmlns:a16="http://schemas.microsoft.com/office/drawing/2014/main" id="{EA958620-E96A-2C53-D261-AFE5644046D6}"/>
              </a:ext>
            </a:extLst>
          </p:cNvPr>
          <p:cNvCxnSpPr/>
          <p:nvPr/>
        </p:nvCxnSpPr>
        <p:spPr>
          <a:xfrm>
            <a:off x="5425430" y="4715553"/>
            <a:ext cx="0" cy="1530784"/>
          </a:xfrm>
          <a:prstGeom prst="line">
            <a:avLst/>
          </a:prstGeom>
          <a:noFill/>
          <a:ln w="19050" cap="flat" cmpd="sng" algn="ctr">
            <a:solidFill>
              <a:srgbClr val="ED7D31"/>
            </a:solidFill>
            <a:prstDash val="dash"/>
            <a:miter lim="800000"/>
          </a:ln>
          <a:effectLst/>
        </p:spPr>
      </p:cxnSp>
      <p:sp>
        <p:nvSpPr>
          <p:cNvPr id="19" name="文本框 18">
            <a:extLst>
              <a:ext uri="{FF2B5EF4-FFF2-40B4-BE49-F238E27FC236}">
                <a16:creationId xmlns:a16="http://schemas.microsoft.com/office/drawing/2014/main" id="{E052DE6F-05C7-4FCB-30DD-D3E78205E6D1}"/>
              </a:ext>
            </a:extLst>
          </p:cNvPr>
          <p:cNvSpPr txBox="1"/>
          <p:nvPr/>
        </p:nvSpPr>
        <p:spPr>
          <a:xfrm>
            <a:off x="261076" y="5519842"/>
            <a:ext cx="1281738" cy="2109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DengXian"/>
                <a:ea typeface="DengXian" panose="02010600030101010101" pitchFamily="2" charset="-122"/>
              </a:rPr>
              <a:t>竞价下限</a:t>
            </a:r>
          </a:p>
        </p:txBody>
      </p:sp>
      <p:sp>
        <p:nvSpPr>
          <p:cNvPr id="20" name="文本框 19">
            <a:extLst>
              <a:ext uri="{FF2B5EF4-FFF2-40B4-BE49-F238E27FC236}">
                <a16:creationId xmlns:a16="http://schemas.microsoft.com/office/drawing/2014/main" id="{35B34107-F591-A141-DCDD-1ECBBE3CECA3}"/>
              </a:ext>
            </a:extLst>
          </p:cNvPr>
          <p:cNvSpPr txBox="1"/>
          <p:nvPr/>
        </p:nvSpPr>
        <p:spPr>
          <a:xfrm>
            <a:off x="1121533" y="4957322"/>
            <a:ext cx="1362068" cy="22459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ED7D31"/>
                </a:solidFill>
                <a:effectLst/>
                <a:uLnTx/>
                <a:uFillTx/>
                <a:latin typeface="DengXian"/>
                <a:ea typeface="DengXian" panose="02010600030101010101" pitchFamily="2" charset="-122"/>
              </a:rPr>
              <a:t>出清价格</a:t>
            </a:r>
          </a:p>
        </p:txBody>
      </p:sp>
      <p:sp>
        <p:nvSpPr>
          <p:cNvPr id="21" name="文本框 20">
            <a:extLst>
              <a:ext uri="{FF2B5EF4-FFF2-40B4-BE49-F238E27FC236}">
                <a16:creationId xmlns:a16="http://schemas.microsoft.com/office/drawing/2014/main" id="{A853DA43-97F3-2EC0-255E-DE10C8B416C0}"/>
              </a:ext>
            </a:extLst>
          </p:cNvPr>
          <p:cNvSpPr txBox="1"/>
          <p:nvPr/>
        </p:nvSpPr>
        <p:spPr>
          <a:xfrm>
            <a:off x="1944475" y="4723653"/>
            <a:ext cx="876588" cy="19921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prstClr val="black"/>
                </a:solidFill>
                <a:effectLst/>
                <a:uLnTx/>
                <a:uFillTx/>
                <a:latin typeface="DengXian"/>
                <a:ea typeface="DengXian" panose="02010600030101010101" pitchFamily="2" charset="-122"/>
              </a:rPr>
              <a:t>价格</a:t>
            </a:r>
          </a:p>
        </p:txBody>
      </p:sp>
      <p:sp>
        <p:nvSpPr>
          <p:cNvPr id="22" name="文本框 21">
            <a:extLst>
              <a:ext uri="{FF2B5EF4-FFF2-40B4-BE49-F238E27FC236}">
                <a16:creationId xmlns:a16="http://schemas.microsoft.com/office/drawing/2014/main" id="{364443AC-647B-9BB7-C825-24E3760EAE80}"/>
              </a:ext>
            </a:extLst>
          </p:cNvPr>
          <p:cNvSpPr txBox="1"/>
          <p:nvPr/>
        </p:nvSpPr>
        <p:spPr>
          <a:xfrm>
            <a:off x="6000284" y="5775126"/>
            <a:ext cx="876588" cy="19921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prstClr val="black"/>
                </a:solidFill>
                <a:effectLst/>
                <a:uLnTx/>
                <a:uFillTx/>
                <a:latin typeface="DengXian"/>
                <a:ea typeface="DengXian" panose="02010600030101010101" pitchFamily="2" charset="-122"/>
              </a:rPr>
              <a:t>电量</a:t>
            </a:r>
          </a:p>
        </p:txBody>
      </p:sp>
      <p:sp>
        <p:nvSpPr>
          <p:cNvPr id="23" name="左大括号 22">
            <a:extLst>
              <a:ext uri="{FF2B5EF4-FFF2-40B4-BE49-F238E27FC236}">
                <a16:creationId xmlns:a16="http://schemas.microsoft.com/office/drawing/2014/main" id="{616F40CE-434C-11F5-26FA-C4A46D7B2DC4}"/>
              </a:ext>
            </a:extLst>
          </p:cNvPr>
          <p:cNvSpPr/>
          <p:nvPr/>
        </p:nvSpPr>
        <p:spPr>
          <a:xfrm rot="5400000">
            <a:off x="3804784" y="3328283"/>
            <a:ext cx="229102" cy="2991945"/>
          </a:xfrm>
          <a:prstGeom prst="leftBrace">
            <a:avLst/>
          </a:prstGeom>
          <a:noFill/>
          <a:ln w="635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DengXian"/>
              <a:ea typeface="DengXian" panose="02010600030101010101" pitchFamily="2" charset="-122"/>
              <a:cs typeface="+mn-cs"/>
            </a:endParaRPr>
          </a:p>
        </p:txBody>
      </p:sp>
      <p:sp>
        <p:nvSpPr>
          <p:cNvPr id="24" name="文本框 23">
            <a:extLst>
              <a:ext uri="{FF2B5EF4-FFF2-40B4-BE49-F238E27FC236}">
                <a16:creationId xmlns:a16="http://schemas.microsoft.com/office/drawing/2014/main" id="{95010E0C-67BA-2672-AA30-B3A2C58F2ECD}"/>
              </a:ext>
            </a:extLst>
          </p:cNvPr>
          <p:cNvSpPr txBox="1"/>
          <p:nvPr/>
        </p:nvSpPr>
        <p:spPr>
          <a:xfrm>
            <a:off x="3338367" y="4494527"/>
            <a:ext cx="1161935"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66E9F"/>
                </a:solidFill>
                <a:effectLst/>
                <a:uLnTx/>
                <a:uFillTx/>
                <a:latin typeface="DengXian"/>
                <a:ea typeface="DengXian" panose="02010600030101010101" pitchFamily="2" charset="-122"/>
              </a:rPr>
              <a:t>全省</a:t>
            </a:r>
            <a:r>
              <a:rPr lang="zh-CN" altLang="en-US" sz="1200" kern="0" dirty="0">
                <a:solidFill>
                  <a:srgbClr val="066E9F"/>
                </a:solidFill>
                <a:latin typeface="DengXian"/>
                <a:ea typeface="DengXian" panose="02010600030101010101" pitchFamily="2" charset="-122"/>
              </a:rPr>
              <a:t>机制</a:t>
            </a:r>
            <a:r>
              <a:rPr kumimoji="0" lang="zh-CN" altLang="en-US" sz="1200" b="0" i="0" u="none" strike="noStrike" kern="0" cap="none" spc="0" normalizeH="0" baseline="0" noProof="0" dirty="0">
                <a:ln>
                  <a:noFill/>
                </a:ln>
                <a:solidFill>
                  <a:srgbClr val="066E9F"/>
                </a:solidFill>
                <a:effectLst/>
                <a:uLnTx/>
                <a:uFillTx/>
                <a:latin typeface="DengXian"/>
                <a:ea typeface="DengXian" panose="02010600030101010101" pitchFamily="2" charset="-122"/>
              </a:rPr>
              <a:t>电量</a:t>
            </a:r>
          </a:p>
        </p:txBody>
      </p:sp>
      <p:sp>
        <p:nvSpPr>
          <p:cNvPr id="25" name="文本框 24">
            <a:extLst>
              <a:ext uri="{FF2B5EF4-FFF2-40B4-BE49-F238E27FC236}">
                <a16:creationId xmlns:a16="http://schemas.microsoft.com/office/drawing/2014/main" id="{273B10BF-7F03-5F0A-0C1C-B0AABF0788B2}"/>
              </a:ext>
            </a:extLst>
          </p:cNvPr>
          <p:cNvSpPr txBox="1"/>
          <p:nvPr/>
        </p:nvSpPr>
        <p:spPr>
          <a:xfrm>
            <a:off x="258505" y="4904950"/>
            <a:ext cx="1369788" cy="2109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DengXian"/>
                <a:ea typeface="DengXian" panose="02010600030101010101" pitchFamily="2" charset="-122"/>
              </a:rPr>
              <a:t>竞价上限</a:t>
            </a:r>
          </a:p>
        </p:txBody>
      </p:sp>
      <p:sp>
        <p:nvSpPr>
          <p:cNvPr id="26" name="矩形 25">
            <a:extLst>
              <a:ext uri="{FF2B5EF4-FFF2-40B4-BE49-F238E27FC236}">
                <a16:creationId xmlns:a16="http://schemas.microsoft.com/office/drawing/2014/main" id="{439AE39D-FE24-2B83-66A0-AEE3B1A8A6A6}"/>
              </a:ext>
            </a:extLst>
          </p:cNvPr>
          <p:cNvSpPr/>
          <p:nvPr/>
        </p:nvSpPr>
        <p:spPr>
          <a:xfrm>
            <a:off x="3421104" y="5115882"/>
            <a:ext cx="341762" cy="759360"/>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cxnSp>
        <p:nvCxnSpPr>
          <p:cNvPr id="27" name="直接箭头连接符 26">
            <a:extLst>
              <a:ext uri="{FF2B5EF4-FFF2-40B4-BE49-F238E27FC236}">
                <a16:creationId xmlns:a16="http://schemas.microsoft.com/office/drawing/2014/main" id="{A4312A55-CCAF-810E-8B6B-3A6A3A17A5B5}"/>
              </a:ext>
            </a:extLst>
          </p:cNvPr>
          <p:cNvCxnSpPr>
            <a:cxnSpLocks/>
          </p:cNvCxnSpPr>
          <p:nvPr/>
        </p:nvCxnSpPr>
        <p:spPr>
          <a:xfrm flipV="1">
            <a:off x="3498376" y="5782041"/>
            <a:ext cx="232094" cy="326821"/>
          </a:xfrm>
          <a:prstGeom prst="straightConnector1">
            <a:avLst/>
          </a:prstGeom>
          <a:noFill/>
          <a:ln w="6350" cap="flat" cmpd="sng" algn="ctr">
            <a:solidFill>
              <a:srgbClr val="ED7D31"/>
            </a:solidFill>
            <a:prstDash val="solid"/>
            <a:miter lim="800000"/>
            <a:tailEnd type="triangle"/>
          </a:ln>
          <a:effectLst/>
        </p:spPr>
      </p:cxnSp>
      <p:sp>
        <p:nvSpPr>
          <p:cNvPr id="28" name="文本框 27">
            <a:extLst>
              <a:ext uri="{FF2B5EF4-FFF2-40B4-BE49-F238E27FC236}">
                <a16:creationId xmlns:a16="http://schemas.microsoft.com/office/drawing/2014/main" id="{826A9D58-DC9A-9107-B1AB-FD9B91479EAA}"/>
              </a:ext>
            </a:extLst>
          </p:cNvPr>
          <p:cNvSpPr txBox="1"/>
          <p:nvPr/>
        </p:nvSpPr>
        <p:spPr>
          <a:xfrm>
            <a:off x="2438468" y="5966107"/>
            <a:ext cx="1209461" cy="22459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ED7D31"/>
                </a:solidFill>
                <a:effectLst/>
                <a:uLnTx/>
                <a:uFillTx/>
                <a:latin typeface="DengXian"/>
                <a:ea typeface="DengXian" panose="02010600030101010101" pitchFamily="2" charset="-122"/>
              </a:rPr>
              <a:t>边际中标项目</a:t>
            </a:r>
          </a:p>
        </p:txBody>
      </p:sp>
      <p:cxnSp>
        <p:nvCxnSpPr>
          <p:cNvPr id="29" name="直接连接符 28">
            <a:extLst>
              <a:ext uri="{FF2B5EF4-FFF2-40B4-BE49-F238E27FC236}">
                <a16:creationId xmlns:a16="http://schemas.microsoft.com/office/drawing/2014/main" id="{4AF91C40-9FA1-44ED-1677-C45CD32E2BA1}"/>
              </a:ext>
            </a:extLst>
          </p:cNvPr>
          <p:cNvCxnSpPr/>
          <p:nvPr/>
        </p:nvCxnSpPr>
        <p:spPr>
          <a:xfrm>
            <a:off x="1353660" y="5624502"/>
            <a:ext cx="4344966" cy="0"/>
          </a:xfrm>
          <a:prstGeom prst="line">
            <a:avLst/>
          </a:prstGeom>
          <a:noFill/>
          <a:ln w="6350" cap="flat" cmpd="sng" algn="ctr">
            <a:solidFill>
              <a:sysClr val="windowText" lastClr="000000"/>
            </a:solidFill>
            <a:prstDash val="dash"/>
            <a:miter lim="800000"/>
          </a:ln>
          <a:effectLst/>
        </p:spPr>
      </p:cxnSp>
      <p:sp>
        <p:nvSpPr>
          <p:cNvPr id="30" name="矩形 29">
            <a:extLst>
              <a:ext uri="{FF2B5EF4-FFF2-40B4-BE49-F238E27FC236}">
                <a16:creationId xmlns:a16="http://schemas.microsoft.com/office/drawing/2014/main" id="{4A56A106-7E91-BD5D-4502-60B248BAA417}"/>
              </a:ext>
            </a:extLst>
          </p:cNvPr>
          <p:cNvSpPr/>
          <p:nvPr/>
        </p:nvSpPr>
        <p:spPr>
          <a:xfrm>
            <a:off x="4003732" y="5063497"/>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31" name="矩形 30">
            <a:extLst>
              <a:ext uri="{FF2B5EF4-FFF2-40B4-BE49-F238E27FC236}">
                <a16:creationId xmlns:a16="http://schemas.microsoft.com/office/drawing/2014/main" id="{35B8FAF9-A2A2-9915-BAE2-4AB7642A4ED3}"/>
              </a:ext>
            </a:extLst>
          </p:cNvPr>
          <p:cNvSpPr/>
          <p:nvPr/>
        </p:nvSpPr>
        <p:spPr>
          <a:xfrm>
            <a:off x="4236823" y="5060232"/>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32" name="矩形 31">
            <a:extLst>
              <a:ext uri="{FF2B5EF4-FFF2-40B4-BE49-F238E27FC236}">
                <a16:creationId xmlns:a16="http://schemas.microsoft.com/office/drawing/2014/main" id="{5CF7F0E1-017D-6EE5-5EF1-1A9966E9D59F}"/>
              </a:ext>
            </a:extLst>
          </p:cNvPr>
          <p:cNvSpPr/>
          <p:nvPr/>
        </p:nvSpPr>
        <p:spPr>
          <a:xfrm>
            <a:off x="4468250" y="5063496"/>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33" name="矩形 32">
            <a:extLst>
              <a:ext uri="{FF2B5EF4-FFF2-40B4-BE49-F238E27FC236}">
                <a16:creationId xmlns:a16="http://schemas.microsoft.com/office/drawing/2014/main" id="{43BEE031-F4AD-5BED-EF30-E9F4F29B5B19}"/>
              </a:ext>
            </a:extLst>
          </p:cNvPr>
          <p:cNvSpPr/>
          <p:nvPr/>
        </p:nvSpPr>
        <p:spPr>
          <a:xfrm>
            <a:off x="3760502" y="5058874"/>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34" name="矩形 33">
            <a:extLst>
              <a:ext uri="{FF2B5EF4-FFF2-40B4-BE49-F238E27FC236}">
                <a16:creationId xmlns:a16="http://schemas.microsoft.com/office/drawing/2014/main" id="{4F43C33D-3CAE-B92B-CB5B-A57F380A6C97}"/>
              </a:ext>
            </a:extLst>
          </p:cNvPr>
          <p:cNvSpPr/>
          <p:nvPr/>
        </p:nvSpPr>
        <p:spPr>
          <a:xfrm>
            <a:off x="4704201" y="5054733"/>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35" name="矩形 34">
            <a:extLst>
              <a:ext uri="{FF2B5EF4-FFF2-40B4-BE49-F238E27FC236}">
                <a16:creationId xmlns:a16="http://schemas.microsoft.com/office/drawing/2014/main" id="{4F2071C8-A6A0-6B59-D8E2-A74C6C488A1D}"/>
              </a:ext>
            </a:extLst>
          </p:cNvPr>
          <p:cNvSpPr/>
          <p:nvPr/>
        </p:nvSpPr>
        <p:spPr>
          <a:xfrm>
            <a:off x="4944627" y="5054733"/>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36" name="矩形 35">
            <a:extLst>
              <a:ext uri="{FF2B5EF4-FFF2-40B4-BE49-F238E27FC236}">
                <a16:creationId xmlns:a16="http://schemas.microsoft.com/office/drawing/2014/main" id="{ED882F6E-A756-6E3D-0D4F-1B45241D092E}"/>
              </a:ext>
            </a:extLst>
          </p:cNvPr>
          <p:cNvSpPr/>
          <p:nvPr/>
        </p:nvSpPr>
        <p:spPr>
          <a:xfrm>
            <a:off x="5177718" y="5058874"/>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cxnSp>
        <p:nvCxnSpPr>
          <p:cNvPr id="37" name="直接连接符 36">
            <a:extLst>
              <a:ext uri="{FF2B5EF4-FFF2-40B4-BE49-F238E27FC236}">
                <a16:creationId xmlns:a16="http://schemas.microsoft.com/office/drawing/2014/main" id="{FCF0D59D-12F1-F3B1-3EB4-F2B976C5A717}"/>
              </a:ext>
            </a:extLst>
          </p:cNvPr>
          <p:cNvCxnSpPr>
            <a:cxnSpLocks/>
          </p:cNvCxnSpPr>
          <p:nvPr/>
        </p:nvCxnSpPr>
        <p:spPr>
          <a:xfrm flipV="1">
            <a:off x="1924618" y="5063496"/>
            <a:ext cx="3869513" cy="1850"/>
          </a:xfrm>
          <a:prstGeom prst="line">
            <a:avLst/>
          </a:prstGeom>
          <a:noFill/>
          <a:ln w="19050" cap="flat" cmpd="sng" algn="ctr">
            <a:solidFill>
              <a:srgbClr val="ED7D31"/>
            </a:solidFill>
            <a:prstDash val="dashDot"/>
            <a:miter lim="800000"/>
          </a:ln>
          <a:effectLst/>
        </p:spPr>
      </p:cxnSp>
      <p:sp>
        <p:nvSpPr>
          <p:cNvPr id="38" name="文本框 37">
            <a:extLst>
              <a:ext uri="{FF2B5EF4-FFF2-40B4-BE49-F238E27FC236}">
                <a16:creationId xmlns:a16="http://schemas.microsoft.com/office/drawing/2014/main" id="{28498C70-F069-3EE1-494F-CF90F7AB1832}"/>
              </a:ext>
            </a:extLst>
          </p:cNvPr>
          <p:cNvSpPr txBox="1"/>
          <p:nvPr/>
        </p:nvSpPr>
        <p:spPr>
          <a:xfrm>
            <a:off x="6068174" y="4551985"/>
            <a:ext cx="1458954" cy="1223412"/>
          </a:xfrm>
          <a:prstGeom prst="rect">
            <a:avLst/>
          </a:prstGeom>
          <a:noFill/>
          <a:ln>
            <a:solidFill>
              <a:schemeClr val="tx1">
                <a:lumMod val="50000"/>
                <a:lumOff val="50000"/>
              </a:schemeClr>
            </a:solidFill>
            <a:prstDash val="dash"/>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050" kern="0" dirty="0">
                <a:latin typeface="DengXian"/>
                <a:ea typeface="DengXian" panose="02010600030101010101" pitchFamily="2" charset="-122"/>
              </a:rPr>
              <a:t>抬价</a:t>
            </a:r>
            <a:r>
              <a:rPr kumimoji="0" lang="zh-CN" altLang="en-US" sz="1050" b="0" i="0" u="none" strike="noStrike" kern="0" cap="none" spc="0" normalizeH="0" baseline="0" noProof="0" dirty="0">
                <a:ln>
                  <a:noFill/>
                </a:ln>
                <a:effectLst/>
                <a:uLnTx/>
                <a:uFillTx/>
                <a:latin typeface="DengXian"/>
                <a:ea typeface="DengXian" panose="02010600030101010101" pitchFamily="2" charset="-122"/>
              </a:rPr>
              <a:t>成功省份因有接近于竞价上限的出清价格，因此少有</a:t>
            </a:r>
            <a:r>
              <a:rPr lang="zh-CN" altLang="en-US" sz="1050" kern="0" dirty="0">
                <a:latin typeface="DengXian"/>
                <a:ea typeface="DengXian" panose="02010600030101010101" pitchFamily="2" charset="-122"/>
              </a:rPr>
              <a:t>完全</a:t>
            </a:r>
            <a:r>
              <a:rPr kumimoji="0" lang="zh-CN" altLang="en-US" sz="1050" b="0" i="0" u="none" strike="noStrike" kern="0" cap="none" spc="0" normalizeH="0" baseline="0" noProof="0" dirty="0">
                <a:ln>
                  <a:noFill/>
                </a:ln>
                <a:effectLst/>
                <a:uLnTx/>
                <a:uFillTx/>
                <a:latin typeface="DengXian"/>
                <a:ea typeface="DengXian" panose="02010600030101010101" pitchFamily="2" charset="-122"/>
              </a:rPr>
              <a:t>未中标项目，所有参与抬价的项目牺牲一部分电量满足政府要求的供需比。</a:t>
            </a:r>
          </a:p>
        </p:txBody>
      </p:sp>
      <p:cxnSp>
        <p:nvCxnSpPr>
          <p:cNvPr id="40" name="直接箭头连接符 39">
            <a:extLst>
              <a:ext uri="{FF2B5EF4-FFF2-40B4-BE49-F238E27FC236}">
                <a16:creationId xmlns:a16="http://schemas.microsoft.com/office/drawing/2014/main" id="{579864E7-A558-F9A4-4CD5-5C91F8FB8F32}"/>
              </a:ext>
            </a:extLst>
          </p:cNvPr>
          <p:cNvCxnSpPr/>
          <p:nvPr/>
        </p:nvCxnSpPr>
        <p:spPr>
          <a:xfrm flipH="1">
            <a:off x="3147842" y="2468880"/>
            <a:ext cx="4507985" cy="2713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53ED39D1-3464-6F5D-88DF-7ACA5B390A68}"/>
              </a:ext>
            </a:extLst>
          </p:cNvPr>
          <p:cNvCxnSpPr>
            <a:endCxn id="34" idx="0"/>
          </p:cNvCxnSpPr>
          <p:nvPr/>
        </p:nvCxnSpPr>
        <p:spPr>
          <a:xfrm flipH="1">
            <a:off x="4822998" y="3611880"/>
            <a:ext cx="3104850" cy="1442853"/>
          </a:xfrm>
          <a:prstGeom prst="straightConnector1">
            <a:avLst/>
          </a:prstGeom>
          <a:ln>
            <a:solidFill>
              <a:srgbClr val="EFAE81"/>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C0EF83D3-9C51-2F5D-2DF9-976D9DFDAFED}"/>
              </a:ext>
            </a:extLst>
          </p:cNvPr>
          <p:cNvSpPr/>
          <p:nvPr/>
        </p:nvSpPr>
        <p:spPr>
          <a:xfrm>
            <a:off x="5425430" y="5063496"/>
            <a:ext cx="541681" cy="819999"/>
          </a:xfrm>
          <a:prstGeom prst="rect">
            <a:avLst/>
          </a:prstGeom>
          <a:solidFill>
            <a:schemeClr val="bg2">
              <a:lumMod val="7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07978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02E38-BD5D-74FD-30C8-33B88D038EDB}"/>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D804B446-ADFE-E130-6710-2E2EDD12F00D}"/>
              </a:ext>
            </a:extLst>
          </p:cNvPr>
          <p:cNvSpPr txBox="1"/>
          <p:nvPr/>
        </p:nvSpPr>
        <p:spPr>
          <a:xfrm>
            <a:off x="0" y="234921"/>
            <a:ext cx="86913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3.2.2 </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结论</a:t>
            </a:r>
            <a:r>
              <a:rPr lang="en-US" altLang="zh-CN" sz="2400" b="1" dirty="0">
                <a:solidFill>
                  <a:prstClr val="black"/>
                </a:solidFill>
                <a:latin typeface="微软雅黑" panose="020B0503020204020204" pitchFamily="34" charset="-122"/>
                <a:ea typeface="微软雅黑" panose="020B0503020204020204" pitchFamily="34" charset="-122"/>
              </a:rPr>
              <a:t>2</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：对于项目集中度高的省份机制电价将被抬升</a:t>
            </a:r>
          </a:p>
        </p:txBody>
      </p:sp>
      <p:sp>
        <p:nvSpPr>
          <p:cNvPr id="3" name="文本框 2">
            <a:extLst>
              <a:ext uri="{FF2B5EF4-FFF2-40B4-BE49-F238E27FC236}">
                <a16:creationId xmlns:a16="http://schemas.microsoft.com/office/drawing/2014/main" id="{A933FF4F-CE23-05B7-2043-D6BF9FD0D0C3}"/>
              </a:ext>
            </a:extLst>
          </p:cNvPr>
          <p:cNvSpPr txBox="1"/>
          <p:nvPr/>
        </p:nvSpPr>
        <p:spPr>
          <a:xfrm>
            <a:off x="-1" y="863476"/>
            <a:ext cx="7514008" cy="3937681"/>
          </a:xfrm>
          <a:prstGeom prst="rect">
            <a:avLst/>
          </a:prstGeom>
          <a:noFill/>
        </p:spPr>
        <p:txBody>
          <a:bodyPr wrap="square" rtlCol="0">
            <a:spAutoFit/>
          </a:bodyPr>
          <a:lstStyle/>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zh-CN" altLang="en-US" sz="1200" b="1" dirty="0">
                <a:solidFill>
                  <a:prstClr val="black"/>
                </a:solidFill>
                <a:latin typeface="微软雅黑" panose="020B0503020204020204" pitchFamily="34" charset="-122"/>
                <a:ea typeface="微软雅黑" panose="020B0503020204020204" pitchFamily="34" charset="-122"/>
              </a:rPr>
              <a:t>通过虚报竞价项目，发电集团也可以抱团抬高竞价结果</a:t>
            </a:r>
            <a:r>
              <a:rPr lang="zh-CN" altLang="en-US" sz="1200" dirty="0">
                <a:solidFill>
                  <a:prstClr val="black"/>
                </a:solidFill>
                <a:latin typeface="微软雅黑" panose="020B0503020204020204" pitchFamily="34" charset="-122"/>
                <a:ea typeface="微软雅黑" panose="020B0503020204020204" pitchFamily="34" charset="-122"/>
              </a:rPr>
              <a:t>，但前提是政府监管相对宽松，对参与项目的提交资料中不含接入系统批复等关键材料。</a:t>
            </a:r>
            <a:endParaRPr lang="en-US" altLang="zh-CN" sz="1200" dirty="0">
              <a:solidFill>
                <a:prstClr val="black"/>
              </a:solidFill>
              <a:latin typeface="微软雅黑" panose="020B0503020204020204" pitchFamily="34" charset="-122"/>
              <a:ea typeface="微软雅黑" panose="020B0503020204020204" pitchFamily="34" charset="-122"/>
            </a:endParaRPr>
          </a:p>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zh-CN" altLang="en-US" sz="1200" b="1" dirty="0">
                <a:solidFill>
                  <a:prstClr val="black"/>
                </a:solidFill>
                <a:latin typeface="微软雅黑" panose="020B0503020204020204" pitchFamily="34" charset="-122"/>
                <a:ea typeface="微软雅黑" panose="020B0503020204020204" pitchFamily="34" charset="-122"/>
              </a:rPr>
              <a:t>市场背景</a:t>
            </a:r>
            <a:r>
              <a:rPr lang="zh-CN" altLang="en-US" sz="1200" dirty="0">
                <a:solidFill>
                  <a:prstClr val="black"/>
                </a:solidFill>
                <a:latin typeface="微软雅黑" panose="020B0503020204020204" pitchFamily="34" charset="-122"/>
                <a:ea typeface="微软雅黑" panose="020B0503020204020204" pitchFamily="34" charset="-122"/>
              </a:rPr>
              <a:t>：</a:t>
            </a:r>
            <a:endParaRPr lang="en-US" altLang="zh-CN" sz="1200" dirty="0">
              <a:solidFill>
                <a:prstClr val="black"/>
              </a:solidFill>
              <a:latin typeface="微软雅黑" panose="020B0503020204020204" pitchFamily="34" charset="-122"/>
              <a:ea typeface="微软雅黑" panose="020B0503020204020204" pitchFamily="34" charset="-122"/>
            </a:endParaRPr>
          </a:p>
          <a:p>
            <a:pPr marR="0" lvl="0" algn="just" defTabSz="914400" rtl="0" eaLnBrk="1" fontAlgn="auto" latinLnBrk="0" hangingPunct="1">
              <a:lnSpc>
                <a:spcPct val="150000"/>
              </a:lnSpc>
              <a:spcBef>
                <a:spcPts val="0"/>
              </a:spcBef>
              <a:spcAft>
                <a:spcPts val="0"/>
              </a:spcAft>
              <a:buClrTx/>
              <a:buSzTx/>
              <a:tabLst/>
              <a:defRPr/>
            </a:pPr>
            <a:r>
              <a:rPr lang="zh-CN" altLang="en-US" sz="1200" dirty="0">
                <a:solidFill>
                  <a:prstClr val="black"/>
                </a:solidFill>
                <a:latin typeface="微软雅黑" panose="020B0503020204020204" pitchFamily="34" charset="-122"/>
                <a:ea typeface="微软雅黑" panose="020B0503020204020204" pitchFamily="34" charset="-122"/>
              </a:rPr>
              <a:t>       以广西为例，</a:t>
            </a:r>
            <a:r>
              <a:rPr lang="en-US" altLang="zh-CN" sz="1200" dirty="0">
                <a:solidFill>
                  <a:prstClr val="black"/>
                </a:solidFill>
                <a:latin typeface="微软雅黑" panose="020B0503020204020204" pitchFamily="34" charset="-122"/>
                <a:ea typeface="微软雅黑" panose="020B0503020204020204" pitchFamily="34" charset="-122"/>
              </a:rPr>
              <a:t>2025</a:t>
            </a:r>
            <a:r>
              <a:rPr lang="zh-CN" altLang="en-US" sz="1200" dirty="0">
                <a:solidFill>
                  <a:prstClr val="black"/>
                </a:solidFill>
                <a:latin typeface="微软雅黑" panose="020B0503020204020204" pitchFamily="34" charset="-122"/>
                <a:ea typeface="微软雅黑" panose="020B0503020204020204" pitchFamily="34" charset="-122"/>
              </a:rPr>
              <a:t>年</a:t>
            </a:r>
            <a:r>
              <a:rPr lang="en-US" altLang="zh-CN" sz="1200" dirty="0">
                <a:solidFill>
                  <a:prstClr val="black"/>
                </a:solidFill>
                <a:latin typeface="微软雅黑" panose="020B0503020204020204" pitchFamily="34" charset="-122"/>
                <a:ea typeface="微软雅黑" panose="020B0503020204020204" pitchFamily="34" charset="-122"/>
              </a:rPr>
              <a:t>7</a:t>
            </a:r>
            <a:r>
              <a:rPr lang="zh-CN" altLang="en-US" sz="1200" dirty="0">
                <a:solidFill>
                  <a:prstClr val="black"/>
                </a:solidFill>
                <a:latin typeface="微软雅黑" panose="020B0503020204020204" pitchFamily="34" charset="-122"/>
                <a:ea typeface="微软雅黑" panose="020B0503020204020204" pitchFamily="34" charset="-122"/>
              </a:rPr>
              <a:t>月现货市场运行后现货价格迅速降至</a:t>
            </a:r>
            <a:r>
              <a:rPr lang="en-US" altLang="zh-CN" sz="1200" dirty="0">
                <a:solidFill>
                  <a:prstClr val="black"/>
                </a:solidFill>
                <a:latin typeface="微软雅黑" panose="020B0503020204020204" pitchFamily="34" charset="-122"/>
                <a:ea typeface="微软雅黑" panose="020B0503020204020204" pitchFamily="34" charset="-122"/>
              </a:rPr>
              <a:t>0.2</a:t>
            </a:r>
            <a:r>
              <a:rPr lang="zh-CN" altLang="en-US" sz="1200" dirty="0">
                <a:solidFill>
                  <a:prstClr val="black"/>
                </a:solidFill>
                <a:latin typeface="微软雅黑" panose="020B0503020204020204" pitchFamily="34" charset="-122"/>
                <a:ea typeface="微软雅黑" panose="020B0503020204020204" pitchFamily="34" charset="-122"/>
              </a:rPr>
              <a:t>元</a:t>
            </a:r>
            <a:r>
              <a:rPr lang="en-US" altLang="zh-CN" sz="1200" dirty="0">
                <a:solidFill>
                  <a:prstClr val="black"/>
                </a:solidFill>
                <a:latin typeface="微软雅黑" panose="020B0503020204020204" pitchFamily="34" charset="-122"/>
                <a:ea typeface="微软雅黑" panose="020B0503020204020204" pitchFamily="34" charset="-122"/>
              </a:rPr>
              <a:t>/kwh</a:t>
            </a:r>
            <a:r>
              <a:rPr lang="zh-CN" altLang="en-US" sz="1200" dirty="0">
                <a:solidFill>
                  <a:prstClr val="black"/>
                </a:solidFill>
                <a:latin typeface="微软雅黑" panose="020B0503020204020204" pitchFamily="34" charset="-122"/>
                <a:ea typeface="微软雅黑" panose="020B0503020204020204" pitchFamily="34" charset="-122"/>
              </a:rPr>
              <a:t>左右，同时省内限电率快速上涨至</a:t>
            </a:r>
            <a:r>
              <a:rPr lang="en-US" altLang="zh-CN" sz="1200" dirty="0">
                <a:solidFill>
                  <a:prstClr val="black"/>
                </a:solidFill>
                <a:latin typeface="微软雅黑" panose="020B0503020204020204" pitchFamily="34" charset="-122"/>
                <a:ea typeface="微软雅黑" panose="020B0503020204020204" pitchFamily="34" charset="-122"/>
              </a:rPr>
              <a:t>10-15%</a:t>
            </a:r>
            <a:r>
              <a:rPr lang="zh-CN" altLang="en-US" sz="1200" dirty="0">
                <a:solidFill>
                  <a:prstClr val="black"/>
                </a:solidFill>
                <a:latin typeface="微软雅黑" panose="020B0503020204020204" pitchFamily="34" charset="-122"/>
                <a:ea typeface="微软雅黑" panose="020B0503020204020204" pitchFamily="34" charset="-122"/>
              </a:rPr>
              <a:t>，市场对未来现货电价持悲观态度，但机制电价仍达到</a:t>
            </a:r>
            <a:r>
              <a:rPr lang="en-US" altLang="zh-CN" sz="1200" dirty="0">
                <a:solidFill>
                  <a:prstClr val="black"/>
                </a:solidFill>
                <a:latin typeface="微软雅黑" panose="020B0503020204020204" pitchFamily="34" charset="-122"/>
                <a:ea typeface="微软雅黑" panose="020B0503020204020204" pitchFamily="34" charset="-122"/>
              </a:rPr>
              <a:t>0.355</a:t>
            </a:r>
            <a:r>
              <a:rPr lang="zh-CN" altLang="en-US" sz="1200" dirty="0">
                <a:solidFill>
                  <a:prstClr val="black"/>
                </a:solidFill>
                <a:latin typeface="微软雅黑" panose="020B0503020204020204" pitchFamily="34" charset="-122"/>
                <a:ea typeface="微软雅黑" panose="020B0503020204020204" pitchFamily="34" charset="-122"/>
              </a:rPr>
              <a:t>元</a:t>
            </a:r>
            <a:r>
              <a:rPr lang="en-US" altLang="zh-CN" sz="1200" dirty="0">
                <a:solidFill>
                  <a:prstClr val="black"/>
                </a:solidFill>
                <a:latin typeface="微软雅黑" panose="020B0503020204020204" pitchFamily="34" charset="-122"/>
                <a:ea typeface="微软雅黑" panose="020B0503020204020204" pitchFamily="34" charset="-122"/>
              </a:rPr>
              <a:t>/kwh</a:t>
            </a:r>
            <a:r>
              <a:rPr lang="zh-CN" altLang="en-US" sz="1200" dirty="0">
                <a:solidFill>
                  <a:prstClr val="black"/>
                </a:solidFill>
                <a:latin typeface="微软雅黑" panose="020B0503020204020204" pitchFamily="34" charset="-122"/>
                <a:ea typeface="微软雅黑" panose="020B0503020204020204" pitchFamily="34" charset="-122"/>
              </a:rPr>
              <a:t>的高电价。</a:t>
            </a: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竞价结果分析：</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lang="en-US" altLang="zh-CN" sz="1200" dirty="0">
                <a:solidFill>
                  <a:prstClr val="black"/>
                </a:solidFill>
                <a:latin typeface="微软雅黑" panose="020B0503020204020204" pitchFamily="34" charset="-122"/>
                <a:ea typeface="微软雅黑" panose="020B0503020204020204" pitchFamily="34" charset="-122"/>
              </a:rPr>
              <a:t>1</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低价跟随者，高比例中标</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：远景等民营集团项目申报低价确保</a:t>
            </a:r>
            <a:r>
              <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80%</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高比例中标。</a:t>
            </a: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lang="en-US" altLang="zh-CN" sz="1200" dirty="0">
                <a:solidFill>
                  <a:prstClr val="black"/>
                </a:solidFill>
                <a:latin typeface="微软雅黑" panose="020B0503020204020204" pitchFamily="34" charset="-122"/>
                <a:ea typeface="微软雅黑" panose="020B0503020204020204" pitchFamily="34" charset="-122"/>
              </a:rPr>
              <a:t>2</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国央企</a:t>
            </a:r>
            <a:r>
              <a:rPr lang="zh-CN" altLang="en-US" sz="1200" b="1" dirty="0">
                <a:solidFill>
                  <a:prstClr val="black"/>
                </a:solidFill>
                <a:latin typeface="微软雅黑" panose="020B0503020204020204" pitchFamily="34" charset="-122"/>
                <a:ea typeface="微软雅黑" panose="020B0503020204020204" pitchFamily="34" charset="-122"/>
              </a:rPr>
              <a:t>项目抱团做边际，</a:t>
            </a:r>
            <a:r>
              <a:rPr lang="en-US" altLang="zh-CN" sz="1200" b="1" dirty="0">
                <a:solidFill>
                  <a:prstClr val="black"/>
                </a:solidFill>
                <a:latin typeface="微软雅黑" panose="020B0503020204020204" pitchFamily="34" charset="-122"/>
                <a:ea typeface="微软雅黑" panose="020B0503020204020204" pitchFamily="34" charset="-122"/>
              </a:rPr>
              <a:t>26</a:t>
            </a:r>
            <a:r>
              <a:rPr lang="zh-CN" altLang="en-US" sz="1200" b="1" dirty="0">
                <a:solidFill>
                  <a:prstClr val="black"/>
                </a:solidFill>
                <a:latin typeface="微软雅黑" panose="020B0503020204020204" pitchFamily="34" charset="-122"/>
                <a:ea typeface="微软雅黑" panose="020B0503020204020204" pitchFamily="34" charset="-122"/>
              </a:rPr>
              <a:t>年真实项目损失电量但高价中标</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：当地国央企项目抱团成为边际，以</a:t>
            </a:r>
            <a:r>
              <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55%</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比例中标，维护出清高价。</a:t>
            </a: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3</a:t>
            </a:r>
            <a:r>
              <a:rPr lang="zh-CN" altLang="en-US" sz="1200" dirty="0">
                <a:solidFill>
                  <a:prstClr val="black"/>
                </a:solidFill>
                <a:latin typeface="微软雅黑" panose="020B0503020204020204" pitchFamily="34" charset="-122"/>
                <a:ea typeface="微软雅黑" panose="020B0503020204020204" pitchFamily="34" charset="-122"/>
              </a:rPr>
              <a:t>）国央企把</a:t>
            </a:r>
            <a:r>
              <a:rPr lang="en-US" altLang="zh-CN" sz="1200" dirty="0">
                <a:solidFill>
                  <a:prstClr val="black"/>
                </a:solidFill>
                <a:latin typeface="微软雅黑" panose="020B0503020204020204" pitchFamily="34" charset="-122"/>
                <a:ea typeface="微软雅黑" panose="020B0503020204020204" pitchFamily="34" charset="-122"/>
              </a:rPr>
              <a:t>27</a:t>
            </a:r>
            <a:r>
              <a:rPr lang="zh-CN" altLang="en-US" sz="1200" dirty="0">
                <a:solidFill>
                  <a:prstClr val="black"/>
                </a:solidFill>
                <a:latin typeface="微软雅黑" panose="020B0503020204020204" pitchFamily="34" charset="-122"/>
                <a:ea typeface="微软雅黑" panose="020B0503020204020204" pitchFamily="34" charset="-122"/>
              </a:rPr>
              <a:t>年项目</a:t>
            </a:r>
            <a:r>
              <a:rPr lang="zh-CN" altLang="en-US" sz="1200" b="1" dirty="0">
                <a:solidFill>
                  <a:prstClr val="black"/>
                </a:solidFill>
                <a:latin typeface="微软雅黑" panose="020B0503020204020204" pitchFamily="34" charset="-122"/>
                <a:ea typeface="微软雅黑" panose="020B0503020204020204" pitchFamily="34" charset="-122"/>
              </a:rPr>
              <a:t>提前虚报</a:t>
            </a:r>
            <a:r>
              <a:rPr lang="zh-CN" altLang="en-US" sz="1200" dirty="0">
                <a:solidFill>
                  <a:prstClr val="black"/>
                </a:solidFill>
                <a:latin typeface="微软雅黑" panose="020B0503020204020204" pitchFamily="34" charset="-122"/>
                <a:ea typeface="微软雅黑" panose="020B0503020204020204" pitchFamily="34" charset="-122"/>
              </a:rPr>
              <a:t>参与本次竞价，</a:t>
            </a:r>
            <a:r>
              <a:rPr lang="zh-CN" altLang="en-US" sz="1200" b="1" dirty="0">
                <a:solidFill>
                  <a:prstClr val="black"/>
                </a:solidFill>
                <a:latin typeface="微软雅黑" panose="020B0503020204020204" pitchFamily="34" charset="-122"/>
                <a:ea typeface="微软雅黑" panose="020B0503020204020204" pitchFamily="34" charset="-122"/>
              </a:rPr>
              <a:t>申报时故意报顶价不中标</a:t>
            </a:r>
            <a:r>
              <a:rPr lang="zh-CN" altLang="en-US" sz="1200" dirty="0">
                <a:solidFill>
                  <a:prstClr val="black"/>
                </a:solidFill>
                <a:latin typeface="微软雅黑" panose="020B0503020204020204" pitchFamily="34" charset="-122"/>
                <a:ea typeface="微软雅黑" panose="020B0503020204020204" pitchFamily="34" charset="-122"/>
              </a:rPr>
              <a:t>，满足整体的供需比例。</a:t>
            </a:r>
            <a:endParaRPr lang="en-US" altLang="zh-CN" sz="1200" dirty="0">
              <a:solidFill>
                <a:prstClr val="black"/>
              </a:solidFill>
              <a:latin typeface="微软雅黑" panose="020B0503020204020204" pitchFamily="34" charset="-122"/>
              <a:ea typeface="微软雅黑" panose="020B0503020204020204" pitchFamily="34" charset="-122"/>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过程中能源主管部门已经发现了虚报问题，经调研按电网计划本次参与竞价风电项目仅</a:t>
            </a:r>
            <a:r>
              <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10GW</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左右，实际申报参与达到</a:t>
            </a:r>
            <a:r>
              <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18GW</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，但经过多方协调最终政府按</a:t>
            </a:r>
            <a:r>
              <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18GW</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规模给予机制电量才促成本次的抬价成功，</a:t>
            </a:r>
            <a:r>
              <a:rPr lang="zh-CN" altLang="en-US" sz="1200" dirty="0">
                <a:solidFill>
                  <a:prstClr val="black"/>
                </a:solidFill>
                <a:latin typeface="微软雅黑" panose="020B0503020204020204" pitchFamily="34" charset="-122"/>
                <a:ea typeface="微软雅黑" panose="020B0503020204020204" pitchFamily="34" charset="-122"/>
              </a:rPr>
              <a:t>下次机制竞价能否复现具有较大不确定性</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矩形 5">
            <a:extLst>
              <a:ext uri="{FF2B5EF4-FFF2-40B4-BE49-F238E27FC236}">
                <a16:creationId xmlns:a16="http://schemas.microsoft.com/office/drawing/2014/main" id="{F8B199E4-DB3C-4249-4D5D-9ED3282BD676}"/>
              </a:ext>
            </a:extLst>
          </p:cNvPr>
          <p:cNvSpPr/>
          <p:nvPr/>
        </p:nvSpPr>
        <p:spPr>
          <a:xfrm>
            <a:off x="2910098" y="5233548"/>
            <a:ext cx="280864" cy="656471"/>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cxnSp>
        <p:nvCxnSpPr>
          <p:cNvPr id="8" name="直接箭头连接符 7">
            <a:extLst>
              <a:ext uri="{FF2B5EF4-FFF2-40B4-BE49-F238E27FC236}">
                <a16:creationId xmlns:a16="http://schemas.microsoft.com/office/drawing/2014/main" id="{313C1674-FF4D-BB03-D1F1-118989BA3B68}"/>
              </a:ext>
            </a:extLst>
          </p:cNvPr>
          <p:cNvCxnSpPr/>
          <p:nvPr/>
        </p:nvCxnSpPr>
        <p:spPr>
          <a:xfrm>
            <a:off x="1662213" y="5889696"/>
            <a:ext cx="4090874" cy="0"/>
          </a:xfrm>
          <a:prstGeom prst="straightConnector1">
            <a:avLst/>
          </a:prstGeom>
          <a:noFill/>
          <a:ln w="6350" cap="flat" cmpd="sng" algn="ctr">
            <a:solidFill>
              <a:sysClr val="windowText" lastClr="000000"/>
            </a:solidFill>
            <a:prstDash val="solid"/>
            <a:miter lim="800000"/>
            <a:tailEnd type="triangle"/>
          </a:ln>
          <a:effectLst/>
        </p:spPr>
      </p:cxnSp>
      <p:cxnSp>
        <p:nvCxnSpPr>
          <p:cNvPr id="9" name="直接箭头连接符 8">
            <a:extLst>
              <a:ext uri="{FF2B5EF4-FFF2-40B4-BE49-F238E27FC236}">
                <a16:creationId xmlns:a16="http://schemas.microsoft.com/office/drawing/2014/main" id="{F754A8AF-A17B-E9B5-CB8C-C426D3E194AE}"/>
              </a:ext>
            </a:extLst>
          </p:cNvPr>
          <p:cNvCxnSpPr/>
          <p:nvPr/>
        </p:nvCxnSpPr>
        <p:spPr>
          <a:xfrm flipV="1">
            <a:off x="2132283" y="4844593"/>
            <a:ext cx="0" cy="1259350"/>
          </a:xfrm>
          <a:prstGeom prst="straightConnector1">
            <a:avLst/>
          </a:prstGeom>
          <a:noFill/>
          <a:ln w="6350" cap="flat" cmpd="sng" algn="ctr">
            <a:solidFill>
              <a:sysClr val="windowText" lastClr="000000"/>
            </a:solidFill>
            <a:prstDash val="solid"/>
            <a:miter lim="800000"/>
            <a:tailEnd type="triangle"/>
          </a:ln>
          <a:effectLst/>
        </p:spPr>
      </p:cxnSp>
      <p:cxnSp>
        <p:nvCxnSpPr>
          <p:cNvPr id="10" name="直接连接符 9">
            <a:extLst>
              <a:ext uri="{FF2B5EF4-FFF2-40B4-BE49-F238E27FC236}">
                <a16:creationId xmlns:a16="http://schemas.microsoft.com/office/drawing/2014/main" id="{ACE458BF-D148-6919-21B5-5D968DC8CE86}"/>
              </a:ext>
            </a:extLst>
          </p:cNvPr>
          <p:cNvCxnSpPr/>
          <p:nvPr/>
        </p:nvCxnSpPr>
        <p:spPr>
          <a:xfrm>
            <a:off x="1115916" y="5010295"/>
            <a:ext cx="4344966" cy="0"/>
          </a:xfrm>
          <a:prstGeom prst="line">
            <a:avLst/>
          </a:prstGeom>
          <a:noFill/>
          <a:ln w="6350" cap="flat" cmpd="sng" algn="ctr">
            <a:solidFill>
              <a:sysClr val="windowText" lastClr="000000"/>
            </a:solidFill>
            <a:prstDash val="dash"/>
            <a:miter lim="800000"/>
          </a:ln>
          <a:effectLst/>
        </p:spPr>
      </p:cxnSp>
      <p:sp>
        <p:nvSpPr>
          <p:cNvPr id="11" name="矩形 10">
            <a:extLst>
              <a:ext uri="{FF2B5EF4-FFF2-40B4-BE49-F238E27FC236}">
                <a16:creationId xmlns:a16="http://schemas.microsoft.com/office/drawing/2014/main" id="{E97B722E-B169-C639-00C4-CC242E508F96}"/>
              </a:ext>
            </a:extLst>
          </p:cNvPr>
          <p:cNvSpPr/>
          <p:nvPr/>
        </p:nvSpPr>
        <p:spPr>
          <a:xfrm>
            <a:off x="2132281" y="5523910"/>
            <a:ext cx="250390" cy="365786"/>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12" name="矩形 11">
            <a:extLst>
              <a:ext uri="{FF2B5EF4-FFF2-40B4-BE49-F238E27FC236}">
                <a16:creationId xmlns:a16="http://schemas.microsoft.com/office/drawing/2014/main" id="{405F5AE1-357E-84E2-7F62-4CBD4C9227DF}"/>
              </a:ext>
            </a:extLst>
          </p:cNvPr>
          <p:cNvSpPr/>
          <p:nvPr/>
        </p:nvSpPr>
        <p:spPr>
          <a:xfrm>
            <a:off x="2386110" y="5433045"/>
            <a:ext cx="238727" cy="456650"/>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13" name="矩形 12">
            <a:extLst>
              <a:ext uri="{FF2B5EF4-FFF2-40B4-BE49-F238E27FC236}">
                <a16:creationId xmlns:a16="http://schemas.microsoft.com/office/drawing/2014/main" id="{992C66F5-E571-9302-C39C-46DFF009B322}"/>
              </a:ext>
            </a:extLst>
          </p:cNvPr>
          <p:cNvSpPr/>
          <p:nvPr/>
        </p:nvSpPr>
        <p:spPr>
          <a:xfrm>
            <a:off x="2628275" y="5330540"/>
            <a:ext cx="271704" cy="559156"/>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cxnSp>
        <p:nvCxnSpPr>
          <p:cNvPr id="14" name="直接连接符 13">
            <a:extLst>
              <a:ext uri="{FF2B5EF4-FFF2-40B4-BE49-F238E27FC236}">
                <a16:creationId xmlns:a16="http://schemas.microsoft.com/office/drawing/2014/main" id="{B2E3826C-A519-47F9-BF47-3CB5B01908B5}"/>
              </a:ext>
            </a:extLst>
          </p:cNvPr>
          <p:cNvCxnSpPr/>
          <p:nvPr/>
        </p:nvCxnSpPr>
        <p:spPr>
          <a:xfrm>
            <a:off x="5187686" y="4724697"/>
            <a:ext cx="0" cy="1530784"/>
          </a:xfrm>
          <a:prstGeom prst="line">
            <a:avLst/>
          </a:prstGeom>
          <a:noFill/>
          <a:ln w="19050" cap="flat" cmpd="sng" algn="ctr">
            <a:solidFill>
              <a:srgbClr val="ED7D31"/>
            </a:solidFill>
            <a:prstDash val="dash"/>
            <a:miter lim="800000"/>
          </a:ln>
          <a:effectLst/>
        </p:spPr>
      </p:cxnSp>
      <p:sp>
        <p:nvSpPr>
          <p:cNvPr id="15" name="文本框 14">
            <a:extLst>
              <a:ext uri="{FF2B5EF4-FFF2-40B4-BE49-F238E27FC236}">
                <a16:creationId xmlns:a16="http://schemas.microsoft.com/office/drawing/2014/main" id="{862DCED7-9BB9-D7F7-C67D-EDF7C1E58BE1}"/>
              </a:ext>
            </a:extLst>
          </p:cNvPr>
          <p:cNvSpPr txBox="1"/>
          <p:nvPr/>
        </p:nvSpPr>
        <p:spPr>
          <a:xfrm>
            <a:off x="23332" y="5528986"/>
            <a:ext cx="1281738" cy="2109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DengXian"/>
                <a:ea typeface="DengXian" panose="02010600030101010101" pitchFamily="2" charset="-122"/>
              </a:rPr>
              <a:t>竞价下限</a:t>
            </a:r>
          </a:p>
        </p:txBody>
      </p:sp>
      <p:sp>
        <p:nvSpPr>
          <p:cNvPr id="16" name="文本框 15">
            <a:extLst>
              <a:ext uri="{FF2B5EF4-FFF2-40B4-BE49-F238E27FC236}">
                <a16:creationId xmlns:a16="http://schemas.microsoft.com/office/drawing/2014/main" id="{B82DA89A-8B1F-59D6-B82B-157ABA97DAC0}"/>
              </a:ext>
            </a:extLst>
          </p:cNvPr>
          <p:cNvSpPr txBox="1"/>
          <p:nvPr/>
        </p:nvSpPr>
        <p:spPr>
          <a:xfrm>
            <a:off x="883789" y="4966466"/>
            <a:ext cx="1362068" cy="22459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ED7D31"/>
                </a:solidFill>
                <a:effectLst/>
                <a:uLnTx/>
                <a:uFillTx/>
                <a:latin typeface="DengXian"/>
                <a:ea typeface="DengXian" panose="02010600030101010101" pitchFamily="2" charset="-122"/>
              </a:rPr>
              <a:t>出清价格</a:t>
            </a:r>
          </a:p>
        </p:txBody>
      </p:sp>
      <p:sp>
        <p:nvSpPr>
          <p:cNvPr id="17" name="文本框 16">
            <a:extLst>
              <a:ext uri="{FF2B5EF4-FFF2-40B4-BE49-F238E27FC236}">
                <a16:creationId xmlns:a16="http://schemas.microsoft.com/office/drawing/2014/main" id="{D036C09A-F932-162B-5E83-A29A13D27017}"/>
              </a:ext>
            </a:extLst>
          </p:cNvPr>
          <p:cNvSpPr txBox="1"/>
          <p:nvPr/>
        </p:nvSpPr>
        <p:spPr>
          <a:xfrm>
            <a:off x="1706731" y="4732797"/>
            <a:ext cx="876588" cy="19921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prstClr val="black"/>
                </a:solidFill>
                <a:effectLst/>
                <a:uLnTx/>
                <a:uFillTx/>
                <a:latin typeface="DengXian"/>
                <a:ea typeface="DengXian" panose="02010600030101010101" pitchFamily="2" charset="-122"/>
              </a:rPr>
              <a:t>价格</a:t>
            </a:r>
          </a:p>
        </p:txBody>
      </p:sp>
      <p:sp>
        <p:nvSpPr>
          <p:cNvPr id="18" name="文本框 17">
            <a:extLst>
              <a:ext uri="{FF2B5EF4-FFF2-40B4-BE49-F238E27FC236}">
                <a16:creationId xmlns:a16="http://schemas.microsoft.com/office/drawing/2014/main" id="{321D5684-B270-38F6-F11B-ECF1017315A9}"/>
              </a:ext>
            </a:extLst>
          </p:cNvPr>
          <p:cNvSpPr txBox="1"/>
          <p:nvPr/>
        </p:nvSpPr>
        <p:spPr>
          <a:xfrm>
            <a:off x="5762540" y="5784270"/>
            <a:ext cx="876588" cy="19921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prstClr val="black"/>
                </a:solidFill>
                <a:effectLst/>
                <a:uLnTx/>
                <a:uFillTx/>
                <a:latin typeface="DengXian"/>
                <a:ea typeface="DengXian" panose="02010600030101010101" pitchFamily="2" charset="-122"/>
              </a:rPr>
              <a:t>电量</a:t>
            </a:r>
          </a:p>
        </p:txBody>
      </p:sp>
      <p:sp>
        <p:nvSpPr>
          <p:cNvPr id="19" name="左大括号 18">
            <a:extLst>
              <a:ext uri="{FF2B5EF4-FFF2-40B4-BE49-F238E27FC236}">
                <a16:creationId xmlns:a16="http://schemas.microsoft.com/office/drawing/2014/main" id="{1D77C5BE-EBC3-38CB-F54A-103A77CCD7D1}"/>
              </a:ext>
            </a:extLst>
          </p:cNvPr>
          <p:cNvSpPr/>
          <p:nvPr/>
        </p:nvSpPr>
        <p:spPr>
          <a:xfrm rot="5400000">
            <a:off x="3567040" y="3337427"/>
            <a:ext cx="229102" cy="2991945"/>
          </a:xfrm>
          <a:prstGeom prst="leftBrace">
            <a:avLst/>
          </a:prstGeom>
          <a:noFill/>
          <a:ln w="635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DengXian"/>
              <a:ea typeface="DengXian" panose="02010600030101010101" pitchFamily="2" charset="-122"/>
              <a:cs typeface="+mn-cs"/>
            </a:endParaRPr>
          </a:p>
        </p:txBody>
      </p:sp>
      <p:sp>
        <p:nvSpPr>
          <p:cNvPr id="20" name="文本框 19">
            <a:extLst>
              <a:ext uri="{FF2B5EF4-FFF2-40B4-BE49-F238E27FC236}">
                <a16:creationId xmlns:a16="http://schemas.microsoft.com/office/drawing/2014/main" id="{0771061B-85C7-1D0B-C97F-47F1103AF75D}"/>
              </a:ext>
            </a:extLst>
          </p:cNvPr>
          <p:cNvSpPr txBox="1"/>
          <p:nvPr/>
        </p:nvSpPr>
        <p:spPr>
          <a:xfrm>
            <a:off x="3100623" y="4503671"/>
            <a:ext cx="1161935"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66E9F"/>
                </a:solidFill>
                <a:effectLst/>
                <a:uLnTx/>
                <a:uFillTx/>
                <a:latin typeface="DengXian"/>
                <a:ea typeface="DengXian" panose="02010600030101010101" pitchFamily="2" charset="-122"/>
              </a:rPr>
              <a:t>全省</a:t>
            </a:r>
            <a:r>
              <a:rPr lang="zh-CN" altLang="en-US" sz="1200" kern="0" dirty="0">
                <a:solidFill>
                  <a:srgbClr val="066E9F"/>
                </a:solidFill>
                <a:latin typeface="DengXian"/>
                <a:ea typeface="DengXian" panose="02010600030101010101" pitchFamily="2" charset="-122"/>
              </a:rPr>
              <a:t>机制</a:t>
            </a:r>
            <a:r>
              <a:rPr kumimoji="0" lang="zh-CN" altLang="en-US" sz="1200" b="0" i="0" u="none" strike="noStrike" kern="0" cap="none" spc="0" normalizeH="0" baseline="0" noProof="0" dirty="0">
                <a:ln>
                  <a:noFill/>
                </a:ln>
                <a:solidFill>
                  <a:srgbClr val="066E9F"/>
                </a:solidFill>
                <a:effectLst/>
                <a:uLnTx/>
                <a:uFillTx/>
                <a:latin typeface="DengXian"/>
                <a:ea typeface="DengXian" panose="02010600030101010101" pitchFamily="2" charset="-122"/>
              </a:rPr>
              <a:t>电量</a:t>
            </a:r>
          </a:p>
        </p:txBody>
      </p:sp>
      <p:sp>
        <p:nvSpPr>
          <p:cNvPr id="21" name="文本框 20">
            <a:extLst>
              <a:ext uri="{FF2B5EF4-FFF2-40B4-BE49-F238E27FC236}">
                <a16:creationId xmlns:a16="http://schemas.microsoft.com/office/drawing/2014/main" id="{598ABB63-3D33-D69A-0449-5993A7D47638}"/>
              </a:ext>
            </a:extLst>
          </p:cNvPr>
          <p:cNvSpPr txBox="1"/>
          <p:nvPr/>
        </p:nvSpPr>
        <p:spPr>
          <a:xfrm>
            <a:off x="20761" y="4914094"/>
            <a:ext cx="1369788" cy="2109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DengXian"/>
                <a:ea typeface="DengXian" panose="02010600030101010101" pitchFamily="2" charset="-122"/>
              </a:rPr>
              <a:t>竞价上限</a:t>
            </a:r>
          </a:p>
        </p:txBody>
      </p:sp>
      <p:sp>
        <p:nvSpPr>
          <p:cNvPr id="22" name="矩形 21">
            <a:extLst>
              <a:ext uri="{FF2B5EF4-FFF2-40B4-BE49-F238E27FC236}">
                <a16:creationId xmlns:a16="http://schemas.microsoft.com/office/drawing/2014/main" id="{0D6F8ABC-F815-0335-63E5-EB903585E827}"/>
              </a:ext>
            </a:extLst>
          </p:cNvPr>
          <p:cNvSpPr/>
          <p:nvPr/>
        </p:nvSpPr>
        <p:spPr>
          <a:xfrm>
            <a:off x="3183360" y="5125026"/>
            <a:ext cx="341762" cy="759360"/>
          </a:xfrm>
          <a:prstGeom prst="rect">
            <a:avLst/>
          </a:prstGeom>
          <a:solidFill>
            <a:srgbClr val="066E9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DengXian"/>
              <a:ea typeface="DengXian" panose="02010600030101010101" pitchFamily="2" charset="-122"/>
              <a:cs typeface="+mn-cs"/>
            </a:endParaRPr>
          </a:p>
        </p:txBody>
      </p:sp>
      <p:cxnSp>
        <p:nvCxnSpPr>
          <p:cNvPr id="23" name="直接箭头连接符 22">
            <a:extLst>
              <a:ext uri="{FF2B5EF4-FFF2-40B4-BE49-F238E27FC236}">
                <a16:creationId xmlns:a16="http://schemas.microsoft.com/office/drawing/2014/main" id="{301CE444-1564-1517-E072-CCF4CF0FC3FC}"/>
              </a:ext>
            </a:extLst>
          </p:cNvPr>
          <p:cNvCxnSpPr>
            <a:cxnSpLocks/>
          </p:cNvCxnSpPr>
          <p:nvPr/>
        </p:nvCxnSpPr>
        <p:spPr>
          <a:xfrm flipV="1">
            <a:off x="3260632" y="5791185"/>
            <a:ext cx="232094" cy="326821"/>
          </a:xfrm>
          <a:prstGeom prst="straightConnector1">
            <a:avLst/>
          </a:prstGeom>
          <a:noFill/>
          <a:ln w="6350" cap="flat" cmpd="sng" algn="ctr">
            <a:solidFill>
              <a:srgbClr val="ED7D31"/>
            </a:solidFill>
            <a:prstDash val="solid"/>
            <a:miter lim="800000"/>
            <a:tailEnd type="triangle"/>
          </a:ln>
          <a:effectLst/>
        </p:spPr>
      </p:cxnSp>
      <p:sp>
        <p:nvSpPr>
          <p:cNvPr id="24" name="文本框 23">
            <a:extLst>
              <a:ext uri="{FF2B5EF4-FFF2-40B4-BE49-F238E27FC236}">
                <a16:creationId xmlns:a16="http://schemas.microsoft.com/office/drawing/2014/main" id="{AA5179B2-785B-53CA-D431-16D10EEDA708}"/>
              </a:ext>
            </a:extLst>
          </p:cNvPr>
          <p:cNvSpPr txBox="1"/>
          <p:nvPr/>
        </p:nvSpPr>
        <p:spPr>
          <a:xfrm>
            <a:off x="2200724" y="5975251"/>
            <a:ext cx="1209461" cy="22459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ED7D31"/>
                </a:solidFill>
                <a:effectLst/>
                <a:uLnTx/>
                <a:uFillTx/>
                <a:latin typeface="DengXian"/>
                <a:ea typeface="DengXian" panose="02010600030101010101" pitchFamily="2" charset="-122"/>
              </a:rPr>
              <a:t>边际中标项目</a:t>
            </a:r>
          </a:p>
        </p:txBody>
      </p:sp>
      <p:cxnSp>
        <p:nvCxnSpPr>
          <p:cNvPr id="25" name="直接连接符 24">
            <a:extLst>
              <a:ext uri="{FF2B5EF4-FFF2-40B4-BE49-F238E27FC236}">
                <a16:creationId xmlns:a16="http://schemas.microsoft.com/office/drawing/2014/main" id="{3217D80C-3D93-93AB-B35F-A861A7A0305C}"/>
              </a:ext>
            </a:extLst>
          </p:cNvPr>
          <p:cNvCxnSpPr/>
          <p:nvPr/>
        </p:nvCxnSpPr>
        <p:spPr>
          <a:xfrm>
            <a:off x="1115916" y="5633646"/>
            <a:ext cx="4344966" cy="0"/>
          </a:xfrm>
          <a:prstGeom prst="line">
            <a:avLst/>
          </a:prstGeom>
          <a:noFill/>
          <a:ln w="6350" cap="flat" cmpd="sng" algn="ctr">
            <a:solidFill>
              <a:sysClr val="windowText" lastClr="000000"/>
            </a:solidFill>
            <a:prstDash val="dash"/>
            <a:miter lim="800000"/>
          </a:ln>
          <a:effectLst/>
        </p:spPr>
      </p:cxnSp>
      <p:sp>
        <p:nvSpPr>
          <p:cNvPr id="26" name="矩形 25">
            <a:extLst>
              <a:ext uri="{FF2B5EF4-FFF2-40B4-BE49-F238E27FC236}">
                <a16:creationId xmlns:a16="http://schemas.microsoft.com/office/drawing/2014/main" id="{99DF593A-393E-D0ED-6A84-A8C154BC858C}"/>
              </a:ext>
            </a:extLst>
          </p:cNvPr>
          <p:cNvSpPr/>
          <p:nvPr/>
        </p:nvSpPr>
        <p:spPr>
          <a:xfrm>
            <a:off x="3765988" y="5072641"/>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27" name="矩形 26">
            <a:extLst>
              <a:ext uri="{FF2B5EF4-FFF2-40B4-BE49-F238E27FC236}">
                <a16:creationId xmlns:a16="http://schemas.microsoft.com/office/drawing/2014/main" id="{E5F00527-FD49-9D11-DA05-170B67F905BC}"/>
              </a:ext>
            </a:extLst>
          </p:cNvPr>
          <p:cNvSpPr/>
          <p:nvPr/>
        </p:nvSpPr>
        <p:spPr>
          <a:xfrm>
            <a:off x="3999079" y="5069376"/>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28" name="矩形 27">
            <a:extLst>
              <a:ext uri="{FF2B5EF4-FFF2-40B4-BE49-F238E27FC236}">
                <a16:creationId xmlns:a16="http://schemas.microsoft.com/office/drawing/2014/main" id="{5F790C90-88AB-1F29-E5A2-A6F766F131C3}"/>
              </a:ext>
            </a:extLst>
          </p:cNvPr>
          <p:cNvSpPr/>
          <p:nvPr/>
        </p:nvSpPr>
        <p:spPr>
          <a:xfrm>
            <a:off x="4230506" y="5072640"/>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29" name="矩形 28">
            <a:extLst>
              <a:ext uri="{FF2B5EF4-FFF2-40B4-BE49-F238E27FC236}">
                <a16:creationId xmlns:a16="http://schemas.microsoft.com/office/drawing/2014/main" id="{575BC99E-EEED-6D4F-1A9B-CB5D21C682C4}"/>
              </a:ext>
            </a:extLst>
          </p:cNvPr>
          <p:cNvSpPr/>
          <p:nvPr/>
        </p:nvSpPr>
        <p:spPr>
          <a:xfrm>
            <a:off x="3522758" y="5068018"/>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30" name="矩形 29">
            <a:extLst>
              <a:ext uri="{FF2B5EF4-FFF2-40B4-BE49-F238E27FC236}">
                <a16:creationId xmlns:a16="http://schemas.microsoft.com/office/drawing/2014/main" id="{9C91A490-2CD2-4380-F357-B4B7F5103763}"/>
              </a:ext>
            </a:extLst>
          </p:cNvPr>
          <p:cNvSpPr/>
          <p:nvPr/>
        </p:nvSpPr>
        <p:spPr>
          <a:xfrm>
            <a:off x="4466457" y="5063877"/>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31" name="矩形 30">
            <a:extLst>
              <a:ext uri="{FF2B5EF4-FFF2-40B4-BE49-F238E27FC236}">
                <a16:creationId xmlns:a16="http://schemas.microsoft.com/office/drawing/2014/main" id="{4F435A3B-9A87-8583-1294-24F7A1E41BBF}"/>
              </a:ext>
            </a:extLst>
          </p:cNvPr>
          <p:cNvSpPr/>
          <p:nvPr/>
        </p:nvSpPr>
        <p:spPr>
          <a:xfrm>
            <a:off x="4706883" y="5063877"/>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sp>
        <p:nvSpPr>
          <p:cNvPr id="32" name="矩形 31">
            <a:extLst>
              <a:ext uri="{FF2B5EF4-FFF2-40B4-BE49-F238E27FC236}">
                <a16:creationId xmlns:a16="http://schemas.microsoft.com/office/drawing/2014/main" id="{3D317635-DB0F-923C-F7A4-CD7EDB36710F}"/>
              </a:ext>
            </a:extLst>
          </p:cNvPr>
          <p:cNvSpPr/>
          <p:nvPr/>
        </p:nvSpPr>
        <p:spPr>
          <a:xfrm>
            <a:off x="4939974" y="5068018"/>
            <a:ext cx="237593" cy="819999"/>
          </a:xfrm>
          <a:prstGeom prst="rect">
            <a:avLst/>
          </a:prstGeom>
          <a:solidFill>
            <a:srgbClr val="ED7D31">
              <a:alpha val="58824"/>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DengXian"/>
              <a:ea typeface="DengXian" panose="02010600030101010101" pitchFamily="2" charset="-122"/>
              <a:cs typeface="+mn-cs"/>
            </a:endParaRPr>
          </a:p>
        </p:txBody>
      </p:sp>
      <p:cxnSp>
        <p:nvCxnSpPr>
          <p:cNvPr id="33" name="直接连接符 32">
            <a:extLst>
              <a:ext uri="{FF2B5EF4-FFF2-40B4-BE49-F238E27FC236}">
                <a16:creationId xmlns:a16="http://schemas.microsoft.com/office/drawing/2014/main" id="{2FE228A2-67E6-B0D2-3AB5-229F44022B35}"/>
              </a:ext>
            </a:extLst>
          </p:cNvPr>
          <p:cNvCxnSpPr>
            <a:cxnSpLocks/>
          </p:cNvCxnSpPr>
          <p:nvPr/>
        </p:nvCxnSpPr>
        <p:spPr>
          <a:xfrm flipV="1">
            <a:off x="1686874" y="5072640"/>
            <a:ext cx="3869513" cy="1850"/>
          </a:xfrm>
          <a:prstGeom prst="line">
            <a:avLst/>
          </a:prstGeom>
          <a:noFill/>
          <a:ln w="19050" cap="flat" cmpd="sng" algn="ctr">
            <a:solidFill>
              <a:srgbClr val="ED7D31"/>
            </a:solidFill>
            <a:prstDash val="dashDot"/>
            <a:miter lim="800000"/>
          </a:ln>
          <a:effectLst/>
        </p:spPr>
      </p:cxnSp>
      <p:sp>
        <p:nvSpPr>
          <p:cNvPr id="34" name="文本框 33">
            <a:extLst>
              <a:ext uri="{FF2B5EF4-FFF2-40B4-BE49-F238E27FC236}">
                <a16:creationId xmlns:a16="http://schemas.microsoft.com/office/drawing/2014/main" id="{F2FED3BD-6A8B-F455-DE3A-8CA12DED4EBC}"/>
              </a:ext>
            </a:extLst>
          </p:cNvPr>
          <p:cNvSpPr txBox="1"/>
          <p:nvPr/>
        </p:nvSpPr>
        <p:spPr>
          <a:xfrm>
            <a:off x="5870769" y="5023548"/>
            <a:ext cx="1581810" cy="738664"/>
          </a:xfrm>
          <a:prstGeom prst="rect">
            <a:avLst/>
          </a:prstGeom>
          <a:noFill/>
          <a:ln>
            <a:solidFill>
              <a:schemeClr val="tx1">
                <a:lumMod val="50000"/>
                <a:lumOff val="50000"/>
              </a:schemeClr>
            </a:solidFill>
            <a:prstDash val="dash"/>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050" kern="0" dirty="0">
                <a:latin typeface="DengXian"/>
                <a:ea typeface="DengXian" panose="02010600030101010101" pitchFamily="2" charset="-122"/>
              </a:rPr>
              <a:t>国央企主动损失</a:t>
            </a:r>
            <a:r>
              <a:rPr lang="en-US" altLang="zh-CN" sz="1050" kern="0" dirty="0">
                <a:latin typeface="DengXian"/>
                <a:ea typeface="DengXian" panose="02010600030101010101" pitchFamily="2" charset="-122"/>
              </a:rPr>
              <a:t>25%</a:t>
            </a:r>
            <a:r>
              <a:rPr lang="zh-CN" altLang="en-US" sz="1050" kern="0" dirty="0">
                <a:latin typeface="DengXian"/>
                <a:ea typeface="DengXian" panose="02010600030101010101" pitchFamily="2" charset="-122"/>
              </a:rPr>
              <a:t>电量</a:t>
            </a:r>
            <a:r>
              <a:rPr lang="en-US" altLang="zh-CN" sz="1050" kern="0" dirty="0">
                <a:latin typeface="DengXian"/>
                <a:ea typeface="DengXian" panose="02010600030101010101" pitchFamily="2" charset="-122"/>
              </a:rPr>
              <a:t>+</a:t>
            </a:r>
            <a:r>
              <a:rPr lang="zh-CN" altLang="en-US" sz="1050" kern="0" dirty="0">
                <a:latin typeface="DengXian"/>
                <a:ea typeface="DengXian" panose="02010600030101010101" pitchFamily="2" charset="-122"/>
              </a:rPr>
              <a:t>虚报</a:t>
            </a:r>
            <a:r>
              <a:rPr lang="en-US" altLang="zh-CN" sz="1050" kern="0" dirty="0">
                <a:latin typeface="DengXian"/>
                <a:ea typeface="DengXian" panose="02010600030101010101" pitchFamily="2" charset="-122"/>
              </a:rPr>
              <a:t>27</a:t>
            </a:r>
            <a:r>
              <a:rPr lang="zh-CN" altLang="en-US" sz="1050" kern="0" dirty="0">
                <a:latin typeface="DengXian"/>
                <a:ea typeface="DengXian" panose="02010600030101010101" pitchFamily="2" charset="-122"/>
              </a:rPr>
              <a:t>年并网项目进行抬价，才维持住本次的抱团抬价联盟</a:t>
            </a:r>
            <a:r>
              <a:rPr kumimoji="0" lang="zh-CN" altLang="en-US" sz="1050" b="0" i="0" u="none" strike="noStrike" kern="0" cap="none" spc="0" normalizeH="0" baseline="0" noProof="0" dirty="0">
                <a:ln>
                  <a:noFill/>
                </a:ln>
                <a:effectLst/>
                <a:uLnTx/>
                <a:uFillTx/>
                <a:latin typeface="DengXian"/>
                <a:ea typeface="DengXian" panose="02010600030101010101" pitchFamily="2" charset="-122"/>
              </a:rPr>
              <a:t>。</a:t>
            </a:r>
          </a:p>
        </p:txBody>
      </p:sp>
      <p:sp>
        <p:nvSpPr>
          <p:cNvPr id="35" name="矩形 34">
            <a:extLst>
              <a:ext uri="{FF2B5EF4-FFF2-40B4-BE49-F238E27FC236}">
                <a16:creationId xmlns:a16="http://schemas.microsoft.com/office/drawing/2014/main" id="{F12C71DC-40EE-9772-D2FC-D576D73B7B06}"/>
              </a:ext>
            </a:extLst>
          </p:cNvPr>
          <p:cNvSpPr/>
          <p:nvPr/>
        </p:nvSpPr>
        <p:spPr>
          <a:xfrm>
            <a:off x="5187686" y="5072640"/>
            <a:ext cx="541681" cy="819999"/>
          </a:xfrm>
          <a:prstGeom prst="rect">
            <a:avLst/>
          </a:prstGeom>
          <a:solidFill>
            <a:schemeClr val="bg2">
              <a:lumMod val="7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7" name="图片 36">
            <a:extLst>
              <a:ext uri="{FF2B5EF4-FFF2-40B4-BE49-F238E27FC236}">
                <a16:creationId xmlns:a16="http://schemas.microsoft.com/office/drawing/2014/main" id="{C11AF2BD-00AF-7B18-2BEE-606BDF5F743F}"/>
              </a:ext>
            </a:extLst>
          </p:cNvPr>
          <p:cNvPicPr>
            <a:picLocks noChangeAspect="1"/>
          </p:cNvPicPr>
          <p:nvPr/>
        </p:nvPicPr>
        <p:blipFill>
          <a:blip r:embed="rId3"/>
          <a:stretch>
            <a:fillRect/>
          </a:stretch>
        </p:blipFill>
        <p:spPr>
          <a:xfrm>
            <a:off x="7622691" y="1096449"/>
            <a:ext cx="4432300" cy="4991100"/>
          </a:xfrm>
          <a:prstGeom prst="rect">
            <a:avLst/>
          </a:prstGeom>
        </p:spPr>
      </p:pic>
      <p:sp>
        <p:nvSpPr>
          <p:cNvPr id="2" name="矩形: 圆角 1">
            <a:extLst>
              <a:ext uri="{FF2B5EF4-FFF2-40B4-BE49-F238E27FC236}">
                <a16:creationId xmlns:a16="http://schemas.microsoft.com/office/drawing/2014/main" id="{636DEF9E-15E3-11C0-A263-30870F1503F0}"/>
              </a:ext>
            </a:extLst>
          </p:cNvPr>
          <p:cNvSpPr/>
          <p:nvPr/>
        </p:nvSpPr>
        <p:spPr>
          <a:xfrm>
            <a:off x="7781544" y="1435608"/>
            <a:ext cx="4105656" cy="219456"/>
          </a:xfrm>
          <a:prstGeom prst="round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14937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7E5D4-E391-6710-A5F5-FE4E58E5BDE3}"/>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0111B2E4-3C96-1707-C843-0B3D7A177978}"/>
              </a:ext>
            </a:extLst>
          </p:cNvPr>
          <p:cNvSpPr txBox="1"/>
          <p:nvPr/>
        </p:nvSpPr>
        <p:spPr>
          <a:xfrm>
            <a:off x="0" y="234921"/>
            <a:ext cx="999894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3.3 </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结论</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：随着监管加强和非技术成本降低，机制电价呈逐年下行趋势</a:t>
            </a:r>
          </a:p>
        </p:txBody>
      </p:sp>
      <p:sp>
        <p:nvSpPr>
          <p:cNvPr id="2" name="文本框 1">
            <a:extLst>
              <a:ext uri="{FF2B5EF4-FFF2-40B4-BE49-F238E27FC236}">
                <a16:creationId xmlns:a16="http://schemas.microsoft.com/office/drawing/2014/main" id="{F59BBE72-1ED7-555D-4DAB-F0C029D078ED}"/>
              </a:ext>
            </a:extLst>
          </p:cNvPr>
          <p:cNvSpPr txBox="1"/>
          <p:nvPr/>
        </p:nvSpPr>
        <p:spPr>
          <a:xfrm>
            <a:off x="134111" y="759145"/>
            <a:ext cx="11923777" cy="931409"/>
          </a:xfrm>
          <a:prstGeom prst="rect">
            <a:avLst/>
          </a:prstGeom>
          <a:noFill/>
        </p:spPr>
        <p:txBody>
          <a:bodyPr wrap="square" rtlCol="0">
            <a:spAutoFit/>
          </a:bodyPr>
          <a:lstStyle/>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机制竞价在未来</a:t>
            </a:r>
            <a:r>
              <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年应该是常态化工作，需进一步分析逐年趋势。首次竞价项目的非技术成本较高，政府可能在政策设计上予以倾斜，后续政策收紧可能导致机制电价快速下跌，以新疆两次竞价对比为例。</a:t>
            </a:r>
            <a:endParaRPr kumimoji="0" lang="en-US" altLang="zh-CN" sz="1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p>
        </p:txBody>
      </p:sp>
      <p:cxnSp>
        <p:nvCxnSpPr>
          <p:cNvPr id="4" name="直接连接符 3">
            <a:extLst>
              <a:ext uri="{FF2B5EF4-FFF2-40B4-BE49-F238E27FC236}">
                <a16:creationId xmlns:a16="http://schemas.microsoft.com/office/drawing/2014/main" id="{8FA5291E-6990-F7F9-6BDB-7AB7AFC0FC8C}"/>
              </a:ext>
            </a:extLst>
          </p:cNvPr>
          <p:cNvCxnSpPr>
            <a:cxnSpLocks/>
          </p:cNvCxnSpPr>
          <p:nvPr/>
        </p:nvCxnSpPr>
        <p:spPr>
          <a:xfrm>
            <a:off x="6095999" y="1124712"/>
            <a:ext cx="1" cy="5056632"/>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9" name="矩形: 圆角 8">
            <a:extLst>
              <a:ext uri="{FF2B5EF4-FFF2-40B4-BE49-F238E27FC236}">
                <a16:creationId xmlns:a16="http://schemas.microsoft.com/office/drawing/2014/main" id="{4C1CB1C2-5801-5FE3-46DA-F69F4DFB6C4E}"/>
              </a:ext>
            </a:extLst>
          </p:cNvPr>
          <p:cNvSpPr/>
          <p:nvPr/>
        </p:nvSpPr>
        <p:spPr>
          <a:xfrm>
            <a:off x="3926981" y="1828800"/>
            <a:ext cx="2103120" cy="3685032"/>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8C3C4E0D-9899-4B1E-C208-FD287388E3F9}"/>
              </a:ext>
            </a:extLst>
          </p:cNvPr>
          <p:cNvSpPr txBox="1"/>
          <p:nvPr/>
        </p:nvSpPr>
        <p:spPr>
          <a:xfrm>
            <a:off x="4069829" y="2230593"/>
            <a:ext cx="1810512" cy="3410712"/>
          </a:xfrm>
          <a:prstGeom prst="rect">
            <a:avLst/>
          </a:prstGeom>
        </p:spPr>
        <p:txBody>
          <a:bodyPr wrap="square" rtlCol="0">
            <a:noAutofit/>
          </a:bodyPr>
          <a:lstStyle/>
          <a:p>
            <a:pPr marL="171450" indent="-171450" algn="just">
              <a:lnSpc>
                <a:spcPct val="150000"/>
              </a:lnSpc>
              <a:buFont typeface="Wingdings" panose="05000000000000000000" pitchFamily="2" charset="2"/>
              <a:buChar char="Ø"/>
            </a:pPr>
            <a:r>
              <a:rPr lang="en-US" altLang="zh-CN" sz="1100" b="1" dirty="0">
                <a:solidFill>
                  <a:prstClr val="black"/>
                </a:solidFill>
                <a:latin typeface="微软雅黑" panose="020B0503020204020204" pitchFamily="34" charset="-122"/>
                <a:ea typeface="微软雅黑" panose="020B0503020204020204" pitchFamily="34" charset="-122"/>
              </a:rPr>
              <a:t>25</a:t>
            </a:r>
            <a:r>
              <a:rPr lang="zh-CN" altLang="en-US" sz="1100" b="1" dirty="0">
                <a:solidFill>
                  <a:prstClr val="black"/>
                </a:solidFill>
                <a:latin typeface="微软雅黑" panose="020B0503020204020204" pitchFamily="34" charset="-122"/>
                <a:ea typeface="微软雅黑" panose="020B0503020204020204" pitchFamily="34" charset="-122"/>
              </a:rPr>
              <a:t>年下半年首次竞价</a:t>
            </a:r>
            <a:endParaRPr lang="en-US" altLang="zh-CN" sz="1100" b="1" dirty="0">
              <a:solidFill>
                <a:prstClr val="black"/>
              </a:solidFill>
              <a:latin typeface="微软雅黑" panose="020B0503020204020204" pitchFamily="34" charset="-122"/>
              <a:ea typeface="微软雅黑" panose="020B0503020204020204" pitchFamily="34" charset="-122"/>
            </a:endParaRPr>
          </a:p>
          <a:p>
            <a:pPr marL="171450" indent="-171450" algn="just">
              <a:lnSpc>
                <a:spcPct val="150000"/>
              </a:lnSpc>
              <a:buFont typeface="Wingdings" panose="05000000000000000000" pitchFamily="2" charset="2"/>
              <a:buChar char="p"/>
            </a:pPr>
            <a:r>
              <a:rPr lang="zh-CN" altLang="en-US" sz="1100" b="1" dirty="0">
                <a:solidFill>
                  <a:prstClr val="black"/>
                </a:solidFill>
                <a:latin typeface="微软雅黑" panose="020B0503020204020204" pitchFamily="34" charset="-122"/>
                <a:ea typeface="微软雅黑" panose="020B0503020204020204" pitchFamily="34" charset="-122"/>
              </a:rPr>
              <a:t>供需比</a:t>
            </a:r>
            <a:r>
              <a:rPr lang="en-US" altLang="zh-CN" sz="1100" b="1" dirty="0">
                <a:solidFill>
                  <a:prstClr val="black"/>
                </a:solidFill>
                <a:latin typeface="微软雅黑" panose="020B0503020204020204" pitchFamily="34" charset="-122"/>
                <a:ea typeface="微软雅黑" panose="020B0503020204020204" pitchFamily="34" charset="-122"/>
              </a:rPr>
              <a:t>114%</a:t>
            </a:r>
            <a:r>
              <a:rPr lang="zh-CN" altLang="en-US" sz="1100" dirty="0">
                <a:solidFill>
                  <a:prstClr val="black"/>
                </a:solidFill>
                <a:latin typeface="微软雅黑" panose="020B0503020204020204" pitchFamily="34" charset="-122"/>
                <a:ea typeface="微软雅黑" panose="020B0503020204020204" pitchFamily="34" charset="-122"/>
              </a:rPr>
              <a:t>，即</a:t>
            </a:r>
            <a:r>
              <a:rPr lang="en-US" altLang="zh-CN" sz="1100" dirty="0">
                <a:solidFill>
                  <a:prstClr val="black"/>
                </a:solidFill>
                <a:latin typeface="微软雅黑" panose="020B0503020204020204" pitchFamily="34" charset="-122"/>
                <a:ea typeface="微软雅黑" panose="020B0503020204020204" pitchFamily="34" charset="-122"/>
              </a:rPr>
              <a:t>11</a:t>
            </a:r>
            <a:r>
              <a:rPr lang="zh-CN" altLang="en-US" sz="1100" dirty="0">
                <a:solidFill>
                  <a:prstClr val="black"/>
                </a:solidFill>
                <a:latin typeface="微软雅黑" panose="020B0503020204020204" pitchFamily="34" charset="-122"/>
                <a:ea typeface="微软雅黑" panose="020B0503020204020204" pitchFamily="34" charset="-122"/>
              </a:rPr>
              <a:t>个项目取</a:t>
            </a:r>
            <a:r>
              <a:rPr lang="en-US" altLang="zh-CN" sz="1100" dirty="0">
                <a:solidFill>
                  <a:prstClr val="black"/>
                </a:solidFill>
                <a:latin typeface="微软雅黑" panose="020B0503020204020204" pitchFamily="34" charset="-122"/>
                <a:ea typeface="微软雅黑" panose="020B0503020204020204" pitchFamily="34" charset="-122"/>
              </a:rPr>
              <a:t>10</a:t>
            </a:r>
            <a:r>
              <a:rPr lang="zh-CN" altLang="en-US" sz="1100" dirty="0">
                <a:solidFill>
                  <a:prstClr val="black"/>
                </a:solidFill>
                <a:latin typeface="微软雅黑" panose="020B0503020204020204" pitchFamily="34" charset="-122"/>
                <a:ea typeface="微软雅黑" panose="020B0503020204020204" pitchFamily="34" charset="-122"/>
              </a:rPr>
              <a:t>个。</a:t>
            </a:r>
            <a:endParaRPr lang="en-US" altLang="zh-CN" sz="1100" dirty="0">
              <a:solidFill>
                <a:prstClr val="black"/>
              </a:solidFill>
              <a:latin typeface="微软雅黑" panose="020B0503020204020204" pitchFamily="34" charset="-122"/>
              <a:ea typeface="微软雅黑" panose="020B0503020204020204" pitchFamily="34" charset="-122"/>
            </a:endParaRPr>
          </a:p>
          <a:p>
            <a:pPr marL="171450" indent="-171450" algn="just">
              <a:lnSpc>
                <a:spcPct val="150000"/>
              </a:lnSpc>
              <a:buFont typeface="Wingdings" panose="05000000000000000000" pitchFamily="2" charset="2"/>
              <a:buChar char="p"/>
            </a:pPr>
            <a:r>
              <a:rPr lang="zh-CN" altLang="en-US" sz="1100" dirty="0">
                <a:solidFill>
                  <a:prstClr val="black"/>
                </a:solidFill>
                <a:latin typeface="微软雅黑" panose="020B0503020204020204" pitchFamily="34" charset="-122"/>
                <a:ea typeface="微软雅黑" panose="020B0503020204020204" pitchFamily="34" charset="-122"/>
              </a:rPr>
              <a:t>抬价项目电量损失</a:t>
            </a:r>
            <a:r>
              <a:rPr lang="en-US" altLang="zh-CN" sz="1100" dirty="0">
                <a:solidFill>
                  <a:prstClr val="black"/>
                </a:solidFill>
                <a:latin typeface="微软雅黑" panose="020B0503020204020204" pitchFamily="34" charset="-122"/>
                <a:ea typeface="微软雅黑" panose="020B0503020204020204" pitchFamily="34" charset="-122"/>
              </a:rPr>
              <a:t>13%</a:t>
            </a:r>
            <a:r>
              <a:rPr lang="zh-CN" altLang="en-US" sz="1100" dirty="0">
                <a:solidFill>
                  <a:prstClr val="black"/>
                </a:solidFill>
                <a:latin typeface="微软雅黑" panose="020B0503020204020204" pitchFamily="34" charset="-122"/>
                <a:ea typeface="微软雅黑" panose="020B0503020204020204" pitchFamily="34" charset="-122"/>
              </a:rPr>
              <a:t>，在可接受范围内。</a:t>
            </a:r>
            <a:endParaRPr lang="en-US" altLang="zh-CN" sz="1100" dirty="0">
              <a:solidFill>
                <a:prstClr val="black"/>
              </a:solidFill>
              <a:latin typeface="微软雅黑" panose="020B0503020204020204" pitchFamily="34" charset="-122"/>
              <a:ea typeface="微软雅黑" panose="020B0503020204020204" pitchFamily="34" charset="-122"/>
            </a:endParaRPr>
          </a:p>
          <a:p>
            <a:pPr marL="171450" indent="-171450" algn="just">
              <a:lnSpc>
                <a:spcPct val="150000"/>
              </a:lnSpc>
              <a:buFont typeface="Wingdings" panose="05000000000000000000" pitchFamily="2" charset="2"/>
              <a:buChar char="p"/>
            </a:pPr>
            <a:endParaRPr lang="en-US" altLang="zh-CN" sz="1100" dirty="0">
              <a:solidFill>
                <a:prstClr val="black"/>
              </a:solidFill>
              <a:latin typeface="微软雅黑" panose="020B0503020204020204" pitchFamily="34" charset="-122"/>
              <a:ea typeface="微软雅黑" panose="020B0503020204020204" pitchFamily="34" charset="-122"/>
            </a:endParaRPr>
          </a:p>
          <a:p>
            <a:pPr marL="171450" indent="-171450" algn="just">
              <a:lnSpc>
                <a:spcPct val="150000"/>
              </a:lnSpc>
              <a:buFont typeface="Wingdings" panose="05000000000000000000" pitchFamily="2" charset="2"/>
              <a:buChar char="p"/>
            </a:pPr>
            <a:r>
              <a:rPr lang="zh-CN" altLang="en-US" sz="1100" dirty="0">
                <a:solidFill>
                  <a:prstClr val="black"/>
                </a:solidFill>
                <a:latin typeface="微软雅黑" panose="020B0503020204020204" pitchFamily="34" charset="-122"/>
                <a:ea typeface="微软雅黑" panose="020B0503020204020204" pitchFamily="34" charset="-122"/>
              </a:rPr>
              <a:t>最终出清价格</a:t>
            </a:r>
            <a:r>
              <a:rPr lang="en-US" altLang="zh-CN" sz="1100" b="1" dirty="0">
                <a:solidFill>
                  <a:srgbClr val="FF0000"/>
                </a:solidFill>
                <a:latin typeface="微软雅黑" panose="020B0503020204020204" pitchFamily="34" charset="-122"/>
                <a:ea typeface="微软雅黑" panose="020B0503020204020204" pitchFamily="34" charset="-122"/>
              </a:rPr>
              <a:t>0.252</a:t>
            </a:r>
            <a:r>
              <a:rPr lang="zh-CN" altLang="en-US" sz="1100" dirty="0">
                <a:solidFill>
                  <a:prstClr val="black"/>
                </a:solidFill>
                <a:latin typeface="微软雅黑" panose="020B0503020204020204" pitchFamily="34" charset="-122"/>
                <a:ea typeface="微软雅黑" panose="020B0503020204020204" pitchFamily="34" charset="-122"/>
              </a:rPr>
              <a:t>元</a:t>
            </a:r>
            <a:r>
              <a:rPr lang="en-US" altLang="zh-CN" sz="1100" dirty="0">
                <a:solidFill>
                  <a:prstClr val="black"/>
                </a:solidFill>
                <a:latin typeface="微软雅黑" panose="020B0503020204020204" pitchFamily="34" charset="-122"/>
                <a:ea typeface="微软雅黑" panose="020B0503020204020204" pitchFamily="34" charset="-122"/>
              </a:rPr>
              <a:t>/kwh</a:t>
            </a:r>
            <a:r>
              <a:rPr lang="zh-CN" altLang="en-US" sz="1100" dirty="0">
                <a:solidFill>
                  <a:prstClr val="black"/>
                </a:solidFill>
                <a:latin typeface="微软雅黑" panose="020B0503020204020204" pitchFamily="34" charset="-122"/>
                <a:ea typeface="微软雅黑" panose="020B0503020204020204" pitchFamily="34" charset="-122"/>
              </a:rPr>
              <a:t>显著高于新疆现货电价（低于</a:t>
            </a:r>
            <a:r>
              <a:rPr lang="en-US" altLang="zh-CN" sz="1100" dirty="0">
                <a:solidFill>
                  <a:prstClr val="black"/>
                </a:solidFill>
                <a:latin typeface="微软雅黑" panose="020B0503020204020204" pitchFamily="34" charset="-122"/>
                <a:ea typeface="微软雅黑" panose="020B0503020204020204" pitchFamily="34" charset="-122"/>
              </a:rPr>
              <a:t>0.2</a:t>
            </a:r>
            <a:r>
              <a:rPr lang="zh-CN" altLang="en-US" sz="1100" dirty="0">
                <a:solidFill>
                  <a:prstClr val="black"/>
                </a:solidFill>
                <a:latin typeface="微软雅黑" panose="020B0503020204020204" pitchFamily="34" charset="-122"/>
                <a:ea typeface="微软雅黑" panose="020B0503020204020204" pitchFamily="34" charset="-122"/>
              </a:rPr>
              <a:t>元</a:t>
            </a:r>
            <a:r>
              <a:rPr lang="en-US" altLang="zh-CN" sz="1100" dirty="0">
                <a:solidFill>
                  <a:prstClr val="black"/>
                </a:solidFill>
                <a:latin typeface="微软雅黑" panose="020B0503020204020204" pitchFamily="34" charset="-122"/>
                <a:ea typeface="微软雅黑" panose="020B0503020204020204" pitchFamily="34" charset="-122"/>
              </a:rPr>
              <a:t>/kwh </a:t>
            </a:r>
            <a:r>
              <a:rPr lang="zh-CN" altLang="en-US" sz="1100" dirty="0">
                <a:solidFill>
                  <a:prstClr val="black"/>
                </a:solidFill>
                <a:latin typeface="微软雅黑" panose="020B0503020204020204" pitchFamily="34" charset="-122"/>
                <a:ea typeface="微软雅黑" panose="020B0503020204020204" pitchFamily="34" charset="-122"/>
              </a:rPr>
              <a:t>）。</a:t>
            </a:r>
          </a:p>
        </p:txBody>
      </p:sp>
      <p:sp>
        <p:nvSpPr>
          <p:cNvPr id="11" name="矩形: 圆角 10">
            <a:extLst>
              <a:ext uri="{FF2B5EF4-FFF2-40B4-BE49-F238E27FC236}">
                <a16:creationId xmlns:a16="http://schemas.microsoft.com/office/drawing/2014/main" id="{A7AD338E-F38F-9EF4-C779-C6220484C333}"/>
              </a:ext>
            </a:extLst>
          </p:cNvPr>
          <p:cNvSpPr/>
          <p:nvPr/>
        </p:nvSpPr>
        <p:spPr>
          <a:xfrm>
            <a:off x="10120878" y="1753113"/>
            <a:ext cx="1937010" cy="3685032"/>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09082B17-DF42-A62F-2A4B-D5C64173C894}"/>
              </a:ext>
            </a:extLst>
          </p:cNvPr>
          <p:cNvSpPr txBox="1"/>
          <p:nvPr/>
        </p:nvSpPr>
        <p:spPr>
          <a:xfrm>
            <a:off x="10171145" y="2201169"/>
            <a:ext cx="1810512" cy="3410712"/>
          </a:xfrm>
          <a:prstGeom prst="rect">
            <a:avLst/>
          </a:prstGeom>
        </p:spPr>
        <p:txBody>
          <a:bodyPr wrap="square" rtlCol="0">
            <a:noAutofit/>
          </a:bodyPr>
          <a:lstStyle/>
          <a:p>
            <a:pPr marL="171450" indent="-171450" algn="just">
              <a:lnSpc>
                <a:spcPct val="150000"/>
              </a:lnSpc>
              <a:buFont typeface="Wingdings" panose="05000000000000000000" pitchFamily="2" charset="2"/>
              <a:buChar char="Ø"/>
            </a:pPr>
            <a:r>
              <a:rPr lang="en-US" altLang="zh-CN" sz="1100" b="1" dirty="0">
                <a:solidFill>
                  <a:prstClr val="black"/>
                </a:solidFill>
                <a:latin typeface="微软雅黑" panose="020B0503020204020204" pitchFamily="34" charset="-122"/>
                <a:ea typeface="微软雅黑" panose="020B0503020204020204" pitchFamily="34" charset="-122"/>
              </a:rPr>
              <a:t>26</a:t>
            </a:r>
            <a:r>
              <a:rPr lang="zh-CN" altLang="en-US" sz="1100" b="1" dirty="0">
                <a:solidFill>
                  <a:prstClr val="black"/>
                </a:solidFill>
                <a:latin typeface="微软雅黑" panose="020B0503020204020204" pitchFamily="34" charset="-122"/>
                <a:ea typeface="微软雅黑" panose="020B0503020204020204" pitchFamily="34" charset="-122"/>
              </a:rPr>
              <a:t>年竞价</a:t>
            </a:r>
            <a:endParaRPr lang="en-US" altLang="zh-CN" sz="1100" b="1" dirty="0">
              <a:solidFill>
                <a:prstClr val="black"/>
              </a:solidFill>
              <a:latin typeface="微软雅黑" panose="020B0503020204020204" pitchFamily="34" charset="-122"/>
              <a:ea typeface="微软雅黑" panose="020B0503020204020204" pitchFamily="34" charset="-122"/>
            </a:endParaRPr>
          </a:p>
          <a:p>
            <a:pPr marL="171450" indent="-171450" algn="just">
              <a:lnSpc>
                <a:spcPct val="150000"/>
              </a:lnSpc>
              <a:buFont typeface="Wingdings" panose="05000000000000000000" pitchFamily="2" charset="2"/>
              <a:buChar char="p"/>
            </a:pPr>
            <a:r>
              <a:rPr lang="zh-CN" altLang="en-US" sz="1100" b="1" dirty="0">
                <a:solidFill>
                  <a:prstClr val="black"/>
                </a:solidFill>
                <a:latin typeface="微软雅黑" panose="020B0503020204020204" pitchFamily="34" charset="-122"/>
                <a:ea typeface="微软雅黑" panose="020B0503020204020204" pitchFamily="34" charset="-122"/>
              </a:rPr>
              <a:t>供需比</a:t>
            </a:r>
            <a:r>
              <a:rPr lang="en-US" altLang="zh-CN" sz="1100" b="1" dirty="0">
                <a:solidFill>
                  <a:prstClr val="black"/>
                </a:solidFill>
                <a:latin typeface="微软雅黑" panose="020B0503020204020204" pitchFamily="34" charset="-122"/>
                <a:ea typeface="微软雅黑" panose="020B0503020204020204" pitchFamily="34" charset="-122"/>
              </a:rPr>
              <a:t>198%</a:t>
            </a:r>
            <a:r>
              <a:rPr lang="zh-CN" altLang="en-US" sz="1100" dirty="0">
                <a:solidFill>
                  <a:prstClr val="black"/>
                </a:solidFill>
                <a:latin typeface="微软雅黑" panose="020B0503020204020204" pitchFamily="34" charset="-122"/>
                <a:ea typeface="微软雅黑" panose="020B0503020204020204" pitchFamily="34" charset="-122"/>
              </a:rPr>
              <a:t>，即</a:t>
            </a:r>
            <a:r>
              <a:rPr lang="en-US" altLang="zh-CN" sz="1100" dirty="0">
                <a:solidFill>
                  <a:prstClr val="black"/>
                </a:solidFill>
                <a:latin typeface="微软雅黑" panose="020B0503020204020204" pitchFamily="34" charset="-122"/>
                <a:ea typeface="微软雅黑" panose="020B0503020204020204" pitchFamily="34" charset="-122"/>
              </a:rPr>
              <a:t>2</a:t>
            </a:r>
            <a:r>
              <a:rPr lang="zh-CN" altLang="en-US" sz="1100" dirty="0">
                <a:solidFill>
                  <a:prstClr val="black"/>
                </a:solidFill>
                <a:latin typeface="微软雅黑" panose="020B0503020204020204" pitchFamily="34" charset="-122"/>
                <a:ea typeface="微软雅黑" panose="020B0503020204020204" pitchFamily="34" charset="-122"/>
              </a:rPr>
              <a:t>个项目取</a:t>
            </a:r>
            <a:r>
              <a:rPr lang="en-US" altLang="zh-CN" sz="1100" dirty="0">
                <a:solidFill>
                  <a:prstClr val="black"/>
                </a:solidFill>
                <a:latin typeface="微软雅黑" panose="020B0503020204020204" pitchFamily="34" charset="-122"/>
                <a:ea typeface="微软雅黑" panose="020B0503020204020204" pitchFamily="34" charset="-122"/>
              </a:rPr>
              <a:t>1</a:t>
            </a:r>
            <a:r>
              <a:rPr lang="zh-CN" altLang="en-US" sz="1100" dirty="0">
                <a:solidFill>
                  <a:prstClr val="black"/>
                </a:solidFill>
                <a:latin typeface="微软雅黑" panose="020B0503020204020204" pitchFamily="34" charset="-122"/>
                <a:ea typeface="微软雅黑" panose="020B0503020204020204" pitchFamily="34" charset="-122"/>
              </a:rPr>
              <a:t>个。</a:t>
            </a:r>
            <a:endParaRPr lang="en-US" altLang="zh-CN" sz="1100" dirty="0">
              <a:solidFill>
                <a:prstClr val="black"/>
              </a:solidFill>
              <a:latin typeface="微软雅黑" panose="020B0503020204020204" pitchFamily="34" charset="-122"/>
              <a:ea typeface="微软雅黑" panose="020B0503020204020204" pitchFamily="34" charset="-122"/>
            </a:endParaRPr>
          </a:p>
          <a:p>
            <a:pPr marL="171450" indent="-171450" algn="just">
              <a:lnSpc>
                <a:spcPct val="150000"/>
              </a:lnSpc>
              <a:buFont typeface="Wingdings" panose="05000000000000000000" pitchFamily="2" charset="2"/>
              <a:buChar char="p"/>
            </a:pPr>
            <a:r>
              <a:rPr lang="zh-CN" altLang="en-US" sz="1100" dirty="0">
                <a:solidFill>
                  <a:prstClr val="black"/>
                </a:solidFill>
                <a:latin typeface="微软雅黑" panose="020B0503020204020204" pitchFamily="34" charset="-122"/>
                <a:ea typeface="微软雅黑" panose="020B0503020204020204" pitchFamily="34" charset="-122"/>
              </a:rPr>
              <a:t>如果抬价，项目电量损失至少</a:t>
            </a:r>
            <a:r>
              <a:rPr lang="en-US" altLang="zh-CN" sz="1100" dirty="0">
                <a:solidFill>
                  <a:prstClr val="black"/>
                </a:solidFill>
                <a:latin typeface="微软雅黑" panose="020B0503020204020204" pitchFamily="34" charset="-122"/>
                <a:ea typeface="微软雅黑" panose="020B0503020204020204" pitchFamily="34" charset="-122"/>
              </a:rPr>
              <a:t>40%</a:t>
            </a:r>
            <a:r>
              <a:rPr lang="zh-CN" altLang="en-US" sz="1100" dirty="0">
                <a:solidFill>
                  <a:prstClr val="black"/>
                </a:solidFill>
                <a:latin typeface="微软雅黑" panose="020B0503020204020204" pitchFamily="34" charset="-122"/>
                <a:ea typeface="微软雅黑" panose="020B0503020204020204" pitchFamily="34" charset="-122"/>
              </a:rPr>
              <a:t>，难以接受。</a:t>
            </a:r>
            <a:endParaRPr lang="en-US" altLang="zh-CN" sz="1100" dirty="0">
              <a:solidFill>
                <a:prstClr val="black"/>
              </a:solidFill>
              <a:latin typeface="微软雅黑" panose="020B0503020204020204" pitchFamily="34" charset="-122"/>
              <a:ea typeface="微软雅黑" panose="020B0503020204020204" pitchFamily="34" charset="-122"/>
            </a:endParaRPr>
          </a:p>
          <a:p>
            <a:pPr marL="171450" indent="-171450" algn="just">
              <a:lnSpc>
                <a:spcPct val="150000"/>
              </a:lnSpc>
              <a:buFont typeface="Wingdings" panose="05000000000000000000" pitchFamily="2" charset="2"/>
              <a:buChar char="p"/>
            </a:pPr>
            <a:endParaRPr lang="en-US" altLang="zh-CN" sz="1100" dirty="0">
              <a:solidFill>
                <a:prstClr val="black"/>
              </a:solidFill>
              <a:latin typeface="微软雅黑" panose="020B0503020204020204" pitchFamily="34" charset="-122"/>
              <a:ea typeface="微软雅黑" panose="020B0503020204020204" pitchFamily="34" charset="-122"/>
            </a:endParaRPr>
          </a:p>
          <a:p>
            <a:pPr marL="171450" indent="-171450" algn="just">
              <a:lnSpc>
                <a:spcPct val="150000"/>
              </a:lnSpc>
              <a:buFont typeface="Wingdings" panose="05000000000000000000" pitchFamily="2" charset="2"/>
              <a:buChar char="p"/>
            </a:pPr>
            <a:r>
              <a:rPr lang="zh-CN" altLang="en-US" sz="1100" dirty="0">
                <a:solidFill>
                  <a:prstClr val="black"/>
                </a:solidFill>
                <a:latin typeface="微软雅黑" panose="020B0503020204020204" pitchFamily="34" charset="-122"/>
                <a:ea typeface="微软雅黑" panose="020B0503020204020204" pitchFamily="34" charset="-122"/>
              </a:rPr>
              <a:t>最终出清价格</a:t>
            </a:r>
            <a:r>
              <a:rPr lang="en-US" altLang="zh-CN" sz="1100" b="1" dirty="0">
                <a:solidFill>
                  <a:srgbClr val="FF0000"/>
                </a:solidFill>
                <a:latin typeface="微软雅黑" panose="020B0503020204020204" pitchFamily="34" charset="-122"/>
                <a:ea typeface="微软雅黑" panose="020B0503020204020204" pitchFamily="34" charset="-122"/>
              </a:rPr>
              <a:t>0.21</a:t>
            </a:r>
            <a:r>
              <a:rPr lang="zh-CN" altLang="en-US" sz="1100" dirty="0">
                <a:solidFill>
                  <a:prstClr val="black"/>
                </a:solidFill>
                <a:latin typeface="微软雅黑" panose="020B0503020204020204" pitchFamily="34" charset="-122"/>
                <a:ea typeface="微软雅黑" panose="020B0503020204020204" pitchFamily="34" charset="-122"/>
              </a:rPr>
              <a:t>元</a:t>
            </a:r>
            <a:r>
              <a:rPr lang="en-US" altLang="zh-CN" sz="1100" dirty="0">
                <a:solidFill>
                  <a:prstClr val="black"/>
                </a:solidFill>
                <a:latin typeface="微软雅黑" panose="020B0503020204020204" pitchFamily="34" charset="-122"/>
                <a:ea typeface="微软雅黑" panose="020B0503020204020204" pitchFamily="34" charset="-122"/>
              </a:rPr>
              <a:t>/kwh</a:t>
            </a:r>
            <a:r>
              <a:rPr lang="zh-CN" altLang="en-US" sz="1100" dirty="0">
                <a:solidFill>
                  <a:prstClr val="black"/>
                </a:solidFill>
                <a:latin typeface="微软雅黑" panose="020B0503020204020204" pitchFamily="34" charset="-122"/>
                <a:ea typeface="微软雅黑" panose="020B0503020204020204" pitchFamily="34" charset="-122"/>
              </a:rPr>
              <a:t>快速回落且趋近新疆现货电价。</a:t>
            </a:r>
          </a:p>
        </p:txBody>
      </p:sp>
      <p:pic>
        <p:nvPicPr>
          <p:cNvPr id="5" name="图片 4">
            <a:extLst>
              <a:ext uri="{FF2B5EF4-FFF2-40B4-BE49-F238E27FC236}">
                <a16:creationId xmlns:a16="http://schemas.microsoft.com/office/drawing/2014/main" id="{B4EB79A7-222B-8E7F-7E82-CCA1A763536E}"/>
              </a:ext>
            </a:extLst>
          </p:cNvPr>
          <p:cNvPicPr>
            <a:picLocks noChangeAspect="1"/>
          </p:cNvPicPr>
          <p:nvPr/>
        </p:nvPicPr>
        <p:blipFill>
          <a:blip r:embed="rId3"/>
          <a:stretch>
            <a:fillRect/>
          </a:stretch>
        </p:blipFill>
        <p:spPr>
          <a:xfrm>
            <a:off x="6338341" y="2045081"/>
            <a:ext cx="3540196" cy="2965196"/>
          </a:xfrm>
          <a:prstGeom prst="rect">
            <a:avLst/>
          </a:prstGeom>
        </p:spPr>
      </p:pic>
      <p:pic>
        <p:nvPicPr>
          <p:cNvPr id="6" name="图片 5">
            <a:extLst>
              <a:ext uri="{FF2B5EF4-FFF2-40B4-BE49-F238E27FC236}">
                <a16:creationId xmlns:a16="http://schemas.microsoft.com/office/drawing/2014/main" id="{93779860-38E0-3E72-D7B3-F5EFCAE51594}"/>
              </a:ext>
            </a:extLst>
          </p:cNvPr>
          <p:cNvPicPr>
            <a:picLocks noChangeAspect="1"/>
          </p:cNvPicPr>
          <p:nvPr/>
        </p:nvPicPr>
        <p:blipFill>
          <a:blip r:embed="rId4"/>
          <a:stretch>
            <a:fillRect/>
          </a:stretch>
        </p:blipFill>
        <p:spPr>
          <a:xfrm>
            <a:off x="79108" y="1753113"/>
            <a:ext cx="3797606" cy="4018719"/>
          </a:xfrm>
          <a:prstGeom prst="rect">
            <a:avLst/>
          </a:prstGeom>
        </p:spPr>
      </p:pic>
    </p:spTree>
    <p:extLst>
      <p:ext uri="{BB962C8B-B14F-4D97-AF65-F5344CB8AC3E}">
        <p14:creationId xmlns:p14="http://schemas.microsoft.com/office/powerpoint/2010/main" val="1130666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6D26E-3AEC-BF9C-BE4D-EC58ADA50221}"/>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C3FAE732-7462-C908-6450-3415EA272178}"/>
              </a:ext>
            </a:extLst>
          </p:cNvPr>
          <p:cNvSpPr txBox="1"/>
          <p:nvPr/>
        </p:nvSpPr>
        <p:spPr>
          <a:xfrm>
            <a:off x="0" y="189374"/>
            <a:ext cx="86913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b="1" dirty="0">
                <a:solidFill>
                  <a:prstClr val="black"/>
                </a:solidFill>
                <a:latin typeface="微软雅黑" panose="020B0503020204020204" pitchFamily="34" charset="-122"/>
                <a:ea typeface="微软雅黑" panose="020B0503020204020204" pitchFamily="34" charset="-122"/>
              </a:rPr>
              <a:t>4.</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机制电价在电站价值评估中的应用</a:t>
            </a:r>
          </a:p>
        </p:txBody>
      </p:sp>
      <p:sp>
        <p:nvSpPr>
          <p:cNvPr id="3" name="文本框 2">
            <a:extLst>
              <a:ext uri="{FF2B5EF4-FFF2-40B4-BE49-F238E27FC236}">
                <a16:creationId xmlns:a16="http://schemas.microsoft.com/office/drawing/2014/main" id="{800567F0-B039-C760-89A9-BCB297FD2749}"/>
              </a:ext>
            </a:extLst>
          </p:cNvPr>
          <p:cNvSpPr txBox="1"/>
          <p:nvPr/>
        </p:nvSpPr>
        <p:spPr>
          <a:xfrm>
            <a:off x="224490" y="1653490"/>
            <a:ext cx="6238940" cy="276999"/>
          </a:xfrm>
          <a:prstGeom prst="rect">
            <a:avLst/>
          </a:prstGeom>
          <a:noFill/>
        </p:spPr>
        <p:txBody>
          <a:bodyPr wrap="square">
            <a:spAutoFit/>
          </a:bodyPr>
          <a:lstStyle/>
          <a:p>
            <a:r>
              <a:rPr lang="zh-CN" altLang="en-US" sz="1200" b="1" dirty="0">
                <a:solidFill>
                  <a:srgbClr val="000000"/>
                </a:solidFill>
                <a:latin typeface="微软雅黑" panose="020B0503020204020204" pitchFamily="34" charset="-122"/>
                <a:ea typeface="微软雅黑" panose="020B0503020204020204" pitchFamily="34" charset="-122"/>
                <a:cs typeface="+mn-ea"/>
                <a:sym typeface="+mn-lt"/>
              </a:rPr>
              <a:t>未抬价省份的长期电价预测</a:t>
            </a:r>
            <a:endParaRPr lang="zh-CN" altLang="en-US" sz="1200" b="1" dirty="0"/>
          </a:p>
        </p:txBody>
      </p:sp>
      <p:sp>
        <p:nvSpPr>
          <p:cNvPr id="4" name="文本框 3">
            <a:extLst>
              <a:ext uri="{FF2B5EF4-FFF2-40B4-BE49-F238E27FC236}">
                <a16:creationId xmlns:a16="http://schemas.microsoft.com/office/drawing/2014/main" id="{9B784403-48CC-697F-C2A3-937B96FCE1F9}"/>
              </a:ext>
            </a:extLst>
          </p:cNvPr>
          <p:cNvSpPr txBox="1"/>
          <p:nvPr/>
        </p:nvSpPr>
        <p:spPr>
          <a:xfrm>
            <a:off x="224490" y="4019750"/>
            <a:ext cx="6238940" cy="276999"/>
          </a:xfrm>
          <a:prstGeom prst="rect">
            <a:avLst/>
          </a:prstGeom>
          <a:noFill/>
        </p:spPr>
        <p:txBody>
          <a:bodyPr wrap="square">
            <a:spAutoFit/>
          </a:bodyPr>
          <a:lstStyle/>
          <a:p>
            <a:r>
              <a:rPr lang="zh-CN" altLang="en-US" sz="1200" b="1" dirty="0">
                <a:solidFill>
                  <a:srgbClr val="000000"/>
                </a:solidFill>
                <a:latin typeface="微软雅黑" panose="020B0503020204020204" pitchFamily="34" charset="-122"/>
                <a:ea typeface="微软雅黑" panose="020B0503020204020204" pitchFamily="34" charset="-122"/>
                <a:cs typeface="+mn-ea"/>
                <a:sym typeface="+mn-lt"/>
              </a:rPr>
              <a:t>抬价成功省份电价预测</a:t>
            </a:r>
            <a:endParaRPr lang="en-US" altLang="zh-CN" sz="1200" b="1" dirty="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5" name="文本框 4">
            <a:extLst>
              <a:ext uri="{FF2B5EF4-FFF2-40B4-BE49-F238E27FC236}">
                <a16:creationId xmlns:a16="http://schemas.microsoft.com/office/drawing/2014/main" id="{A2DA8890-E754-A300-B6B7-AEC8E00B1542}"/>
              </a:ext>
            </a:extLst>
          </p:cNvPr>
          <p:cNvSpPr txBox="1"/>
          <p:nvPr/>
        </p:nvSpPr>
        <p:spPr>
          <a:xfrm>
            <a:off x="160482" y="903098"/>
            <a:ext cx="11797884" cy="617220"/>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随着政策逐渐收紧，抬价预计在后续面临管控风险，如新疆等地区两次竞价结果快速下降的情况可能再次发生，为规避对机制电价结果乐观预期导致的投资风险，在电站价值评估中应对比机制竞价结果与市场价格一致性，输出长期电价预测时尽量采用“未抬价省份”的机制电价纳入预测。</a:t>
            </a:r>
            <a:endParaRPr lang="zh-CN" altLang="en-US" sz="1200" dirty="0"/>
          </a:p>
        </p:txBody>
      </p:sp>
      <p:pic>
        <p:nvPicPr>
          <p:cNvPr id="11" name="图片 10">
            <a:extLst>
              <a:ext uri="{FF2B5EF4-FFF2-40B4-BE49-F238E27FC236}">
                <a16:creationId xmlns:a16="http://schemas.microsoft.com/office/drawing/2014/main" id="{C52D64C8-0295-09DC-ACFB-EBBE68A98769}"/>
              </a:ext>
            </a:extLst>
          </p:cNvPr>
          <p:cNvPicPr>
            <a:picLocks noChangeAspect="1"/>
          </p:cNvPicPr>
          <p:nvPr/>
        </p:nvPicPr>
        <p:blipFill>
          <a:blip r:embed="rId3"/>
          <a:stretch>
            <a:fillRect/>
          </a:stretch>
        </p:blipFill>
        <p:spPr>
          <a:xfrm>
            <a:off x="1598564" y="4356218"/>
            <a:ext cx="9601716" cy="2361078"/>
          </a:xfrm>
          <a:prstGeom prst="rect">
            <a:avLst/>
          </a:prstGeom>
        </p:spPr>
      </p:pic>
      <p:pic>
        <p:nvPicPr>
          <p:cNvPr id="14" name="图片 13">
            <a:extLst>
              <a:ext uri="{FF2B5EF4-FFF2-40B4-BE49-F238E27FC236}">
                <a16:creationId xmlns:a16="http://schemas.microsoft.com/office/drawing/2014/main" id="{2A6CA088-1F55-8485-15EC-C13D117417C6}"/>
              </a:ext>
            </a:extLst>
          </p:cNvPr>
          <p:cNvPicPr>
            <a:picLocks noChangeAspect="1"/>
          </p:cNvPicPr>
          <p:nvPr/>
        </p:nvPicPr>
        <p:blipFill>
          <a:blip r:embed="rId4"/>
          <a:srcRect r="12468"/>
          <a:stretch/>
        </p:blipFill>
        <p:spPr>
          <a:xfrm>
            <a:off x="2850017" y="1817478"/>
            <a:ext cx="6934063" cy="2255102"/>
          </a:xfrm>
          <a:prstGeom prst="rect">
            <a:avLst/>
          </a:prstGeom>
        </p:spPr>
      </p:pic>
    </p:spTree>
    <p:extLst>
      <p:ext uri="{BB962C8B-B14F-4D97-AF65-F5344CB8AC3E}">
        <p14:creationId xmlns:p14="http://schemas.microsoft.com/office/powerpoint/2010/main" val="20983836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oAutofit/>
      </a:bodyPr>
      <a:lstStyle>
        <a:defPPr>
          <a:lnSpc>
            <a:spcPct val="120000"/>
          </a:lnSpc>
          <a:defRPr sz="3200" dirty="0">
            <a:solidFill>
              <a:schemeClr val="accent5">
                <a:lumMod val="75000"/>
              </a:schemeClr>
            </a:solidFill>
            <a:latin typeface="黑体" panose="02010609060101010101" pitchFamily="49" charset="-122"/>
            <a:ea typeface="黑体" panose="02010609060101010101" pitchFamily="49" charset="-122"/>
            <a:cs typeface="SimHei"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黄绿色">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1535</TotalTime>
  <Words>1650</Words>
  <Application>Microsoft Office PowerPoint</Application>
  <PresentationFormat>宽屏</PresentationFormat>
  <Paragraphs>215</Paragraphs>
  <Slides>8</Slides>
  <Notes>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vt:i4>
      </vt:variant>
    </vt:vector>
  </HeadingPairs>
  <TitlesOfParts>
    <vt:vector size="18" baseType="lpstr">
      <vt:lpstr>quote-cjk-patch</vt:lpstr>
      <vt:lpstr>DengXian</vt:lpstr>
      <vt:lpstr>DengXian</vt:lpstr>
      <vt:lpstr>宋体</vt:lpstr>
      <vt:lpstr>微软雅黑</vt:lpstr>
      <vt:lpstr>微软雅黑 Light</vt:lpstr>
      <vt:lpstr>Arial</vt:lpstr>
      <vt:lpstr>Segoe UI</vt:lpstr>
      <vt:lpstr>Wingdings</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Xuanding Wang</dc:creator>
  <cp:lastModifiedBy>Dipeng Chen</cp:lastModifiedBy>
  <cp:revision>4</cp:revision>
  <dcterms:created xsi:type="dcterms:W3CDTF">2026-02-24T09:38:05Z</dcterms:created>
  <dcterms:modified xsi:type="dcterms:W3CDTF">2026-05-09T06:11:41Z</dcterms:modified>
</cp:coreProperties>
</file>