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0"/>
  </p:notesMasterIdLst>
  <p:sldIdLst>
    <p:sldId id="16772690" r:id="rId3"/>
    <p:sldId id="16775883" r:id="rId4"/>
    <p:sldId id="16772746" r:id="rId5"/>
    <p:sldId id="16775896" r:id="rId6"/>
    <p:sldId id="16772742" r:id="rId7"/>
    <p:sldId id="16775893" r:id="rId8"/>
    <p:sldId id="16772731" r:id="rId9"/>
    <p:sldId id="16775885" r:id="rId10"/>
    <p:sldId id="16775884" r:id="rId11"/>
    <p:sldId id="16775894" r:id="rId12"/>
    <p:sldId id="16775897" r:id="rId13"/>
    <p:sldId id="16775895" r:id="rId14"/>
    <p:sldId id="16775886" r:id="rId15"/>
    <p:sldId id="16775887" r:id="rId16"/>
    <p:sldId id="16775888" r:id="rId17"/>
    <p:sldId id="16772752" r:id="rId18"/>
    <p:sldId id="167727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106510E-A83A-4C65-9D54-E34780A9DDB5}">
          <p14:sldIdLst>
            <p14:sldId id="16772690"/>
            <p14:sldId id="16775883"/>
            <p14:sldId id="16772746"/>
          </p14:sldIdLst>
        </p14:section>
        <p14:section name="市场环境" id="{48A1BE95-3CEE-4304-A741-546A7AA94F97}">
          <p14:sldIdLst>
            <p14:sldId id="16775896"/>
            <p14:sldId id="16772742"/>
          </p14:sldIdLst>
        </p14:section>
        <p14:section name="策略与竞争" id="{5588AE6D-4643-4601-9425-B52CBA002C99}">
          <p14:sldIdLst>
            <p14:sldId id="16775893"/>
            <p14:sldId id="16772731"/>
            <p14:sldId id="16775885"/>
            <p14:sldId id="16775884"/>
            <p14:sldId id="16775894"/>
            <p14:sldId id="16775897"/>
            <p14:sldId id="16775895"/>
            <p14:sldId id="16775886"/>
            <p14:sldId id="16775887"/>
            <p14:sldId id="16775888"/>
          </p14:sldIdLst>
        </p14:section>
        <p14:section name="优化及应对措施" id="{B7EA5D60-EFC9-49C2-82FF-07D582D74D04}">
          <p14:sldIdLst>
            <p14:sldId id="16772752"/>
            <p14:sldId id="16772735"/>
          </p14:sldIdLst>
        </p14:section>
        <p14:section name="backup" id="{ADA1A3B3-49D6-4874-A7CB-02635A2E191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97AD"/>
    <a:srgbClr val="8C5A3C"/>
    <a:srgbClr val="9B9EA2"/>
    <a:srgbClr val="BF6F8E"/>
    <a:srgbClr val="EAE1DB"/>
    <a:srgbClr val="C77620"/>
    <a:srgbClr val="1178C5"/>
    <a:srgbClr val="5B9BD5"/>
    <a:srgbClr val="5F5F5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72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nvisionint-my.sharepoint.com/personal/charlotte_qi_envision-energy_com/Documents/&#12304;&#26085;&#26356;&#12305;&#33945;&#35199;&#20648;&#33021;&#23454;&#38469;&#30003;&#25253;&#31574;&#30053;/&#12304;&#22797;&#30424;&#12305;&#33945;&#35199;&#20648;&#33021;&#22797;&#30424;&#25253;&#21578;/&#33945;&#35199;&#20648;&#33021;3&#26376;&#22797;&#3042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ng.you1\Documents\&#24037;&#20316;&#25991;&#20214;\09-&#20132;&#26131;&#23454;&#25805;\&#20132;&#26131;&#30003;&#25253;\&#24052;&#30431;\&#31574;&#30053;&#26085;4.9\4.9&#20986;&#28165;&#32467;&#26524;\2-5&#27597;\4.9&#20986;&#28165;&#32467;&#26524;2-5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3&#26376;&#20869;&#33945;&#20986;&#28165;&#30005;&#20215;\&#24037;&#20316;&#31807;1_&#25353;&#20215;&#21306;&#27719;&#24635;_&#25130;&#33267;03-31_10&#28857;45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Sheet1!$H$40</c:f>
              <c:strCache>
                <c:ptCount val="1"/>
                <c:pt idx="0">
                  <c:v>Mar-25</c:v>
                </c:pt>
              </c:strCache>
            </c:strRef>
          </c:tx>
          <c:spPr>
            <a:solidFill>
              <a:srgbClr val="7B97AD"/>
            </a:solidFill>
            <a:ln>
              <a:noFill/>
            </a:ln>
            <a:effectLst/>
          </c:spPr>
          <c:invertIfNegative val="0"/>
          <c:cat>
            <c:strRef>
              <c:f>Sheet1!$I$39:$K$39</c:f>
              <c:strCache>
                <c:ptCount val="3"/>
                <c:pt idx="0">
                  <c:v>4h峰谷差-实时</c:v>
                </c:pt>
                <c:pt idx="1">
                  <c:v>4h峰谷差-呼包东</c:v>
                </c:pt>
                <c:pt idx="2">
                  <c:v>4h峰谷差-呼包西</c:v>
                </c:pt>
              </c:strCache>
            </c:strRef>
          </c:cat>
          <c:val>
            <c:numRef>
              <c:f>Sheet1!$I$40:$K$40</c:f>
              <c:numCache>
                <c:formatCode>General</c:formatCode>
                <c:ptCount val="3"/>
                <c:pt idx="0">
                  <c:v>412.36</c:v>
                </c:pt>
                <c:pt idx="1">
                  <c:v>401.63</c:v>
                </c:pt>
                <c:pt idx="2">
                  <c:v>424.37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A-43FF-94FF-65F0D91E7784}"/>
            </c:ext>
          </c:extLst>
        </c:ser>
        <c:ser>
          <c:idx val="1"/>
          <c:order val="1"/>
          <c:tx>
            <c:strRef>
              <c:f>Sheet1!$H$41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8C5A3C"/>
            </a:solidFill>
            <a:ln>
              <a:noFill/>
            </a:ln>
            <a:effectLst/>
          </c:spPr>
          <c:invertIfNegative val="0"/>
          <c:cat>
            <c:strRef>
              <c:f>Sheet1!$I$39:$K$39</c:f>
              <c:strCache>
                <c:ptCount val="3"/>
                <c:pt idx="0">
                  <c:v>4h峰谷差-实时</c:v>
                </c:pt>
                <c:pt idx="1">
                  <c:v>4h峰谷差-呼包东</c:v>
                </c:pt>
                <c:pt idx="2">
                  <c:v>4h峰谷差-呼包西</c:v>
                </c:pt>
              </c:strCache>
            </c:strRef>
          </c:cat>
          <c:val>
            <c:numRef>
              <c:f>Sheet1!$I$41:$K$41</c:f>
              <c:numCache>
                <c:formatCode>General</c:formatCode>
                <c:ptCount val="3"/>
                <c:pt idx="0">
                  <c:v>327.97</c:v>
                </c:pt>
                <c:pt idx="1">
                  <c:v>366.6</c:v>
                </c:pt>
                <c:pt idx="2">
                  <c:v>309.01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0A-43FF-94FF-65F0D91E7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1466496"/>
        <c:axId val="1901456416"/>
      </c:barChart>
      <c:catAx>
        <c:axId val="190146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01456416"/>
        <c:crosses val="autoZero"/>
        <c:auto val="1"/>
        <c:lblAlgn val="ctr"/>
        <c:lblOffset val="100"/>
        <c:noMultiLvlLbl val="0"/>
      </c:catAx>
      <c:valAx>
        <c:axId val="1901456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01466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zh-CN"/>
              <a:t>出清结果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'4.9出清结果2-5'!$A$2:$A$97</c:f>
              <c:numCache>
                <c:formatCode>h:mm</c:formatCode>
                <c:ptCount val="96"/>
                <c:pt idx="0">
                  <c:v>1.0416666666666666E-2</c:v>
                </c:pt>
                <c:pt idx="1">
                  <c:v>2.0833333333333332E-2</c:v>
                </c:pt>
                <c:pt idx="2">
                  <c:v>3.125E-2</c:v>
                </c:pt>
                <c:pt idx="3">
                  <c:v>4.1666666666666664E-2</c:v>
                </c:pt>
                <c:pt idx="4">
                  <c:v>5.2083333333333336E-2</c:v>
                </c:pt>
                <c:pt idx="5">
                  <c:v>6.25E-2</c:v>
                </c:pt>
                <c:pt idx="6">
                  <c:v>7.2916666666666671E-2</c:v>
                </c:pt>
                <c:pt idx="7">
                  <c:v>8.3333333333333329E-2</c:v>
                </c:pt>
                <c:pt idx="8">
                  <c:v>9.375E-2</c:v>
                </c:pt>
                <c:pt idx="9">
                  <c:v>0.10416666666666667</c:v>
                </c:pt>
                <c:pt idx="10">
                  <c:v>0.11458333333333333</c:v>
                </c:pt>
                <c:pt idx="11">
                  <c:v>0.125</c:v>
                </c:pt>
                <c:pt idx="12">
                  <c:v>0.13541666666666666</c:v>
                </c:pt>
                <c:pt idx="13">
                  <c:v>0.14583333333333334</c:v>
                </c:pt>
                <c:pt idx="14">
                  <c:v>0.15625</c:v>
                </c:pt>
                <c:pt idx="15">
                  <c:v>0.16666666666666666</c:v>
                </c:pt>
                <c:pt idx="16">
                  <c:v>0.17708333333333334</c:v>
                </c:pt>
                <c:pt idx="17">
                  <c:v>0.1875</c:v>
                </c:pt>
                <c:pt idx="18">
                  <c:v>0.19791666666666666</c:v>
                </c:pt>
                <c:pt idx="19">
                  <c:v>0.20833333333333334</c:v>
                </c:pt>
                <c:pt idx="20">
                  <c:v>0.21875</c:v>
                </c:pt>
                <c:pt idx="21">
                  <c:v>0.22916666666666666</c:v>
                </c:pt>
                <c:pt idx="22">
                  <c:v>0.23958333333333334</c:v>
                </c:pt>
                <c:pt idx="23">
                  <c:v>0.25</c:v>
                </c:pt>
                <c:pt idx="24">
                  <c:v>0.26041666666666669</c:v>
                </c:pt>
                <c:pt idx="25">
                  <c:v>0.27083333333333331</c:v>
                </c:pt>
                <c:pt idx="26">
                  <c:v>0.28125</c:v>
                </c:pt>
                <c:pt idx="27">
                  <c:v>0.29166666666666669</c:v>
                </c:pt>
                <c:pt idx="28">
                  <c:v>0.30208333333333331</c:v>
                </c:pt>
                <c:pt idx="29">
                  <c:v>0.3125</c:v>
                </c:pt>
                <c:pt idx="30">
                  <c:v>0.32291666666666669</c:v>
                </c:pt>
                <c:pt idx="31">
                  <c:v>0.33333333333333331</c:v>
                </c:pt>
                <c:pt idx="32">
                  <c:v>0.34375</c:v>
                </c:pt>
                <c:pt idx="33">
                  <c:v>0.35416666666666669</c:v>
                </c:pt>
                <c:pt idx="34">
                  <c:v>0.36458333333333331</c:v>
                </c:pt>
                <c:pt idx="35">
                  <c:v>0.375</c:v>
                </c:pt>
                <c:pt idx="36">
                  <c:v>0.38541666666666669</c:v>
                </c:pt>
                <c:pt idx="37">
                  <c:v>0.39583333333333331</c:v>
                </c:pt>
                <c:pt idx="38">
                  <c:v>0.40625</c:v>
                </c:pt>
                <c:pt idx="39">
                  <c:v>0.41666666666666669</c:v>
                </c:pt>
                <c:pt idx="40">
                  <c:v>0.42708333333333331</c:v>
                </c:pt>
                <c:pt idx="41">
                  <c:v>0.4375</c:v>
                </c:pt>
                <c:pt idx="42">
                  <c:v>0.44791666666666669</c:v>
                </c:pt>
                <c:pt idx="43">
                  <c:v>0.45833333333333331</c:v>
                </c:pt>
                <c:pt idx="44">
                  <c:v>0.46875</c:v>
                </c:pt>
                <c:pt idx="45">
                  <c:v>0.47916666666666669</c:v>
                </c:pt>
                <c:pt idx="46">
                  <c:v>0.48958333333333331</c:v>
                </c:pt>
                <c:pt idx="47">
                  <c:v>0.5</c:v>
                </c:pt>
                <c:pt idx="48">
                  <c:v>0.51041666666666663</c:v>
                </c:pt>
                <c:pt idx="49">
                  <c:v>0.52083333333333337</c:v>
                </c:pt>
                <c:pt idx="50">
                  <c:v>0.53125</c:v>
                </c:pt>
                <c:pt idx="51">
                  <c:v>0.54166666666666663</c:v>
                </c:pt>
                <c:pt idx="52">
                  <c:v>0.55208333333333337</c:v>
                </c:pt>
                <c:pt idx="53">
                  <c:v>0.5625</c:v>
                </c:pt>
                <c:pt idx="54">
                  <c:v>0.57291666666666663</c:v>
                </c:pt>
                <c:pt idx="55">
                  <c:v>0.58333333333333337</c:v>
                </c:pt>
                <c:pt idx="56">
                  <c:v>0.59375</c:v>
                </c:pt>
                <c:pt idx="57">
                  <c:v>0.60416666666666663</c:v>
                </c:pt>
                <c:pt idx="58">
                  <c:v>0.61458333333333337</c:v>
                </c:pt>
                <c:pt idx="59">
                  <c:v>0.625</c:v>
                </c:pt>
                <c:pt idx="60">
                  <c:v>0.63541666666666663</c:v>
                </c:pt>
                <c:pt idx="61">
                  <c:v>0.64583333333333337</c:v>
                </c:pt>
                <c:pt idx="62">
                  <c:v>0.65625</c:v>
                </c:pt>
                <c:pt idx="63">
                  <c:v>0.66666666666666663</c:v>
                </c:pt>
                <c:pt idx="64">
                  <c:v>0.67708333333333337</c:v>
                </c:pt>
                <c:pt idx="65">
                  <c:v>0.6875</c:v>
                </c:pt>
                <c:pt idx="66">
                  <c:v>0.69791666666666663</c:v>
                </c:pt>
                <c:pt idx="67">
                  <c:v>0.70833333333333337</c:v>
                </c:pt>
                <c:pt idx="68">
                  <c:v>0.71875</c:v>
                </c:pt>
                <c:pt idx="69">
                  <c:v>0.72916666666666663</c:v>
                </c:pt>
                <c:pt idx="70">
                  <c:v>0.73958333333333337</c:v>
                </c:pt>
                <c:pt idx="71">
                  <c:v>0.75</c:v>
                </c:pt>
                <c:pt idx="72">
                  <c:v>0.76041666666666663</c:v>
                </c:pt>
                <c:pt idx="73">
                  <c:v>0.77083333333333337</c:v>
                </c:pt>
                <c:pt idx="74">
                  <c:v>0.78125</c:v>
                </c:pt>
                <c:pt idx="75">
                  <c:v>0.79166666666666663</c:v>
                </c:pt>
                <c:pt idx="76">
                  <c:v>0.80208333333333337</c:v>
                </c:pt>
                <c:pt idx="77">
                  <c:v>0.8125</c:v>
                </c:pt>
                <c:pt idx="78">
                  <c:v>0.82291666666666663</c:v>
                </c:pt>
                <c:pt idx="79">
                  <c:v>0.83333333333333337</c:v>
                </c:pt>
                <c:pt idx="80">
                  <c:v>0.84375</c:v>
                </c:pt>
                <c:pt idx="81">
                  <c:v>0.85416666666666663</c:v>
                </c:pt>
                <c:pt idx="82">
                  <c:v>0.86458333333333337</c:v>
                </c:pt>
                <c:pt idx="83">
                  <c:v>0.875</c:v>
                </c:pt>
                <c:pt idx="84">
                  <c:v>0.88541666666666663</c:v>
                </c:pt>
                <c:pt idx="85">
                  <c:v>0.89583333333333337</c:v>
                </c:pt>
                <c:pt idx="86">
                  <c:v>0.90625</c:v>
                </c:pt>
                <c:pt idx="87">
                  <c:v>0.91666666666666663</c:v>
                </c:pt>
                <c:pt idx="88">
                  <c:v>0.92708333333333337</c:v>
                </c:pt>
                <c:pt idx="89">
                  <c:v>0.9375</c:v>
                </c:pt>
                <c:pt idx="90">
                  <c:v>0.94791666666666663</c:v>
                </c:pt>
                <c:pt idx="91">
                  <c:v>0.95833333333333337</c:v>
                </c:pt>
                <c:pt idx="92">
                  <c:v>0.96875</c:v>
                </c:pt>
                <c:pt idx="93">
                  <c:v>0.97916666666666663</c:v>
                </c:pt>
                <c:pt idx="94">
                  <c:v>0.98958333333333337</c:v>
                </c:pt>
                <c:pt idx="95">
                  <c:v>0</c:v>
                </c:pt>
              </c:numCache>
            </c:numRef>
          </c:cat>
          <c:val>
            <c:numRef>
              <c:f>'4.9出清结果2-5'!$C$2:$C$97</c:f>
              <c:numCache>
                <c:formatCode>General</c:formatCode>
                <c:ptCount val="96"/>
                <c:pt idx="0">
                  <c:v>-48</c:v>
                </c:pt>
                <c:pt idx="1">
                  <c:v>-120</c:v>
                </c:pt>
                <c:pt idx="2">
                  <c:v>-140.65714285714284</c:v>
                </c:pt>
                <c:pt idx="3">
                  <c:v>-136.62857142857143</c:v>
                </c:pt>
                <c:pt idx="4">
                  <c:v>-86.802857142857135</c:v>
                </c:pt>
                <c:pt idx="5">
                  <c:v>-19.714285714285712</c:v>
                </c:pt>
                <c:pt idx="6">
                  <c:v>52.285714285714285</c:v>
                </c:pt>
                <c:pt idx="7">
                  <c:v>123.42857142857143</c:v>
                </c:pt>
                <c:pt idx="8">
                  <c:v>144</c:v>
                </c:pt>
                <c:pt idx="9">
                  <c:v>125.14285714285714</c:v>
                </c:pt>
                <c:pt idx="10">
                  <c:v>53.142857142857139</c:v>
                </c:pt>
                <c:pt idx="11">
                  <c:v>-11.64</c:v>
                </c:pt>
                <c:pt idx="12">
                  <c:v>-85.714285714285708</c:v>
                </c:pt>
                <c:pt idx="13">
                  <c:v>-133.71428571428572</c:v>
                </c:pt>
                <c:pt idx="14">
                  <c:v>-133.71428571428572</c:v>
                </c:pt>
                <c:pt idx="15">
                  <c:v>-133.71428571428572</c:v>
                </c:pt>
                <c:pt idx="16">
                  <c:v>-67.714285714285708</c:v>
                </c:pt>
                <c:pt idx="17">
                  <c:v>4.2857142857142856</c:v>
                </c:pt>
                <c:pt idx="18">
                  <c:v>76.285714285714278</c:v>
                </c:pt>
                <c:pt idx="19">
                  <c:v>124.28571428571429</c:v>
                </c:pt>
                <c:pt idx="20">
                  <c:v>124.28571428571429</c:v>
                </c:pt>
                <c:pt idx="21">
                  <c:v>115.71428571428572</c:v>
                </c:pt>
                <c:pt idx="22">
                  <c:v>43.714285714285715</c:v>
                </c:pt>
                <c:pt idx="23">
                  <c:v>-20.648571428571429</c:v>
                </c:pt>
                <c:pt idx="24">
                  <c:v>-25.714285714285715</c:v>
                </c:pt>
                <c:pt idx="25">
                  <c:v>-18.857142857142858</c:v>
                </c:pt>
                <c:pt idx="26">
                  <c:v>-25.714285714285715</c:v>
                </c:pt>
                <c:pt idx="27">
                  <c:v>-25.714285714285715</c:v>
                </c:pt>
                <c:pt idx="28">
                  <c:v>10.285714285714286</c:v>
                </c:pt>
                <c:pt idx="29">
                  <c:v>20.571428571428573</c:v>
                </c:pt>
                <c:pt idx="30">
                  <c:v>20.571428571428573</c:v>
                </c:pt>
                <c:pt idx="31">
                  <c:v>20.571428571428573</c:v>
                </c:pt>
                <c:pt idx="32">
                  <c:v>20.571428571428573</c:v>
                </c:pt>
                <c:pt idx="33">
                  <c:v>20.571428571428573</c:v>
                </c:pt>
                <c:pt idx="34">
                  <c:v>14.571428571428571</c:v>
                </c:pt>
                <c:pt idx="35">
                  <c:v>13.5</c:v>
                </c:pt>
                <c:pt idx="36">
                  <c:v>-56.74285714285714</c:v>
                </c:pt>
                <c:pt idx="37">
                  <c:v>-70.285714285714292</c:v>
                </c:pt>
                <c:pt idx="38">
                  <c:v>-70.285714285714292</c:v>
                </c:pt>
                <c:pt idx="39">
                  <c:v>-70.285714285714292</c:v>
                </c:pt>
                <c:pt idx="40">
                  <c:v>-70.285714285714292</c:v>
                </c:pt>
                <c:pt idx="41">
                  <c:v>-70.285714285714292</c:v>
                </c:pt>
                <c:pt idx="42">
                  <c:v>-70.285714285714292</c:v>
                </c:pt>
                <c:pt idx="43">
                  <c:v>-70.285714285714292</c:v>
                </c:pt>
                <c:pt idx="44">
                  <c:v>-70.285714285714292</c:v>
                </c:pt>
                <c:pt idx="45">
                  <c:v>-70.285714285714292</c:v>
                </c:pt>
                <c:pt idx="46">
                  <c:v>-70.285714285714292</c:v>
                </c:pt>
                <c:pt idx="47">
                  <c:v>-70.285714285714292</c:v>
                </c:pt>
                <c:pt idx="48">
                  <c:v>-70.285714285714292</c:v>
                </c:pt>
                <c:pt idx="49">
                  <c:v>-70.285714285714292</c:v>
                </c:pt>
                <c:pt idx="50">
                  <c:v>-70.285714285714292</c:v>
                </c:pt>
                <c:pt idx="51">
                  <c:v>-70.285714285714292</c:v>
                </c:pt>
                <c:pt idx="52">
                  <c:v>-70.285714285714292</c:v>
                </c:pt>
                <c:pt idx="53">
                  <c:v>-70.285714285714292</c:v>
                </c:pt>
                <c:pt idx="54">
                  <c:v>-70.285714285714292</c:v>
                </c:pt>
                <c:pt idx="55">
                  <c:v>-70.285714285714292</c:v>
                </c:pt>
                <c:pt idx="56">
                  <c:v>-70.285714285714292</c:v>
                </c:pt>
                <c:pt idx="57">
                  <c:v>-70.285714285714292</c:v>
                </c:pt>
                <c:pt idx="58">
                  <c:v>-70.285714285714292</c:v>
                </c:pt>
                <c:pt idx="59">
                  <c:v>-70.285714285714292</c:v>
                </c:pt>
                <c:pt idx="60">
                  <c:v>-70.285714285714292</c:v>
                </c:pt>
                <c:pt idx="61">
                  <c:v>-70.285714285714292</c:v>
                </c:pt>
                <c:pt idx="62">
                  <c:v>-70.285714285714292</c:v>
                </c:pt>
                <c:pt idx="63">
                  <c:v>-70.285714285714292</c:v>
                </c:pt>
                <c:pt idx="64">
                  <c:v>-70.285714285714292</c:v>
                </c:pt>
                <c:pt idx="65">
                  <c:v>-70.285714285714292</c:v>
                </c:pt>
                <c:pt idx="66">
                  <c:v>-70.285714285714292</c:v>
                </c:pt>
                <c:pt idx="67">
                  <c:v>-70.285714285714292</c:v>
                </c:pt>
                <c:pt idx="68">
                  <c:v>-20.59714285714286</c:v>
                </c:pt>
                <c:pt idx="69">
                  <c:v>-3.9942857142857142</c:v>
                </c:pt>
                <c:pt idx="70">
                  <c:v>0</c:v>
                </c:pt>
                <c:pt idx="71">
                  <c:v>0</c:v>
                </c:pt>
                <c:pt idx="72">
                  <c:v>10.285714285714286</c:v>
                </c:pt>
                <c:pt idx="73">
                  <c:v>10.285714285714286</c:v>
                </c:pt>
                <c:pt idx="74">
                  <c:v>59.948571428571427</c:v>
                </c:pt>
                <c:pt idx="75">
                  <c:v>108.85714285714286</c:v>
                </c:pt>
                <c:pt idx="76">
                  <c:v>100.28571428571429</c:v>
                </c:pt>
                <c:pt idx="77">
                  <c:v>70.285714285714292</c:v>
                </c:pt>
                <c:pt idx="78">
                  <c:v>70.285714285714292</c:v>
                </c:pt>
                <c:pt idx="79">
                  <c:v>70.285714285714292</c:v>
                </c:pt>
                <c:pt idx="80">
                  <c:v>70.285714285714292</c:v>
                </c:pt>
                <c:pt idx="81">
                  <c:v>70.285714285714292</c:v>
                </c:pt>
                <c:pt idx="82">
                  <c:v>70.285714285714292</c:v>
                </c:pt>
                <c:pt idx="83">
                  <c:v>70.285714285714292</c:v>
                </c:pt>
                <c:pt idx="84">
                  <c:v>70.285714285714292</c:v>
                </c:pt>
                <c:pt idx="85">
                  <c:v>70.285714285714292</c:v>
                </c:pt>
                <c:pt idx="86">
                  <c:v>82.285714285714292</c:v>
                </c:pt>
                <c:pt idx="87">
                  <c:v>130.28571428571428</c:v>
                </c:pt>
                <c:pt idx="88">
                  <c:v>130.28571428571428</c:v>
                </c:pt>
                <c:pt idx="89">
                  <c:v>130.28571428571428</c:v>
                </c:pt>
                <c:pt idx="90">
                  <c:v>130.28571428571428</c:v>
                </c:pt>
                <c:pt idx="91">
                  <c:v>130.28571428571428</c:v>
                </c:pt>
                <c:pt idx="92">
                  <c:v>130.28571428571428</c:v>
                </c:pt>
                <c:pt idx="93">
                  <c:v>130.28571428571428</c:v>
                </c:pt>
                <c:pt idx="94">
                  <c:v>82.285714285714292</c:v>
                </c:pt>
                <c:pt idx="95">
                  <c:v>14.571428571428571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55-4BE9-89EB-5C797255CA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87644544"/>
        <c:axId val="1987625824"/>
      </c:lineChart>
      <c:catAx>
        <c:axId val="1987644544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87625824"/>
        <c:crosses val="autoZero"/>
        <c:auto val="1"/>
        <c:lblAlgn val="ctr"/>
        <c:lblOffset val="100"/>
        <c:noMultiLvlLbl val="0"/>
      </c:catAx>
      <c:valAx>
        <c:axId val="1987625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87644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价区现货价格曲线对比</a:t>
            </a:r>
            <a:endParaRPr kumimoji="0" lang="en-US" altLang="zh-CN" b="1" i="0" strike="noStrike" kern="1200" spc="0" normalizeH="0" baseline="0" noProof="0">
              <a:ln>
                <a:noFill/>
                <a:prstDash val="solid"/>
              </a:ln>
              <a:solidFill>
                <a:prstClr val="black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c:rich>
      </c:tx>
      <c:layout>
        <c:manualLayout>
          <c:xMode val="edge"/>
          <c:yMode val="edge"/>
          <c:x val="0.34029032234946077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0448789277834278"/>
          <c:y val="0.12097515516745727"/>
          <c:w val="0.88977089087835148"/>
          <c:h val="0.80311551613161991"/>
        </c:manualLayout>
      </c:layout>
      <c:lineChart>
        <c:grouping val="standard"/>
        <c:varyColors val="1"/>
        <c:ser>
          <c:idx val="0"/>
          <c:order val="0"/>
          <c:tx>
            <c:strRef>
              <c:f>'1'!$B$115</c:f>
              <c:strCache>
                <c:ptCount val="1"/>
                <c:pt idx="0">
                  <c:v>1区</c:v>
                </c:pt>
              </c:strCache>
            </c:strRef>
          </c:tx>
          <c:spPr>
            <a:ln w="22000">
              <a:solidFill>
                <a:srgbClr val="92D050"/>
              </a:solidFill>
              <a:prstDash val="solid"/>
            </a:ln>
          </c:spPr>
          <c:marker>
            <c:symbol val="none"/>
          </c:marker>
          <c:cat>
            <c:strRef>
              <c:f>'1'!$A$116:$A$211</c:f>
              <c:strCache>
                <c:ptCount val="96"/>
                <c:pt idx="0">
                  <c:v>11:00</c:v>
                </c:pt>
                <c:pt idx="1">
                  <c:v>11:15</c:v>
                </c:pt>
                <c:pt idx="2">
                  <c:v>11:30</c:v>
                </c:pt>
                <c:pt idx="3">
                  <c:v>11:45</c:v>
                </c:pt>
                <c:pt idx="4">
                  <c:v>12:00</c:v>
                </c:pt>
                <c:pt idx="5">
                  <c:v>12:15</c:v>
                </c:pt>
                <c:pt idx="6">
                  <c:v>12:30</c:v>
                </c:pt>
                <c:pt idx="7">
                  <c:v>12:45</c:v>
                </c:pt>
                <c:pt idx="8">
                  <c:v>13:00</c:v>
                </c:pt>
                <c:pt idx="9">
                  <c:v>13:15</c:v>
                </c:pt>
                <c:pt idx="10">
                  <c:v>13:30</c:v>
                </c:pt>
                <c:pt idx="11">
                  <c:v>13:45</c:v>
                </c:pt>
                <c:pt idx="12">
                  <c:v>14:00</c:v>
                </c:pt>
                <c:pt idx="13">
                  <c:v>14:15</c:v>
                </c:pt>
                <c:pt idx="14">
                  <c:v>14:30</c:v>
                </c:pt>
                <c:pt idx="15">
                  <c:v>14:45</c:v>
                </c:pt>
                <c:pt idx="16">
                  <c:v>15:00</c:v>
                </c:pt>
                <c:pt idx="17">
                  <c:v>15:15</c:v>
                </c:pt>
                <c:pt idx="18">
                  <c:v>15:30</c:v>
                </c:pt>
                <c:pt idx="19">
                  <c:v>15:45</c:v>
                </c:pt>
                <c:pt idx="20">
                  <c:v>16:00</c:v>
                </c:pt>
                <c:pt idx="21">
                  <c:v>16:15</c:v>
                </c:pt>
                <c:pt idx="22">
                  <c:v>16:30</c:v>
                </c:pt>
                <c:pt idx="23">
                  <c:v>16:45</c:v>
                </c:pt>
                <c:pt idx="24">
                  <c:v>17:00</c:v>
                </c:pt>
                <c:pt idx="25">
                  <c:v>17:15</c:v>
                </c:pt>
                <c:pt idx="26">
                  <c:v>17:30</c:v>
                </c:pt>
                <c:pt idx="27">
                  <c:v>17:45</c:v>
                </c:pt>
                <c:pt idx="28">
                  <c:v>18:00</c:v>
                </c:pt>
                <c:pt idx="29">
                  <c:v>18:15</c:v>
                </c:pt>
                <c:pt idx="30">
                  <c:v>18:30</c:v>
                </c:pt>
                <c:pt idx="31">
                  <c:v>18:45</c:v>
                </c:pt>
                <c:pt idx="32">
                  <c:v>19:00</c:v>
                </c:pt>
                <c:pt idx="33">
                  <c:v>19:15</c:v>
                </c:pt>
                <c:pt idx="34">
                  <c:v>19:30</c:v>
                </c:pt>
                <c:pt idx="35">
                  <c:v>19:45</c:v>
                </c:pt>
                <c:pt idx="36">
                  <c:v>20:00</c:v>
                </c:pt>
                <c:pt idx="37">
                  <c:v>20:15</c:v>
                </c:pt>
                <c:pt idx="38">
                  <c:v>20:30</c:v>
                </c:pt>
                <c:pt idx="39">
                  <c:v>20:45</c:v>
                </c:pt>
                <c:pt idx="40">
                  <c:v>21:00</c:v>
                </c:pt>
                <c:pt idx="41">
                  <c:v>21:15</c:v>
                </c:pt>
                <c:pt idx="42">
                  <c:v>21:30</c:v>
                </c:pt>
                <c:pt idx="43">
                  <c:v>21:45</c:v>
                </c:pt>
                <c:pt idx="44">
                  <c:v>22:00</c:v>
                </c:pt>
                <c:pt idx="45">
                  <c:v>22:15</c:v>
                </c:pt>
                <c:pt idx="46">
                  <c:v>22:30</c:v>
                </c:pt>
                <c:pt idx="47">
                  <c:v>22:45</c:v>
                </c:pt>
                <c:pt idx="48">
                  <c:v>23:00</c:v>
                </c:pt>
                <c:pt idx="49">
                  <c:v>23:15</c:v>
                </c:pt>
                <c:pt idx="50">
                  <c:v>23:30</c:v>
                </c:pt>
                <c:pt idx="51">
                  <c:v>23:45</c:v>
                </c:pt>
                <c:pt idx="52">
                  <c:v>00:00</c:v>
                </c:pt>
                <c:pt idx="53">
                  <c:v>00:15</c:v>
                </c:pt>
                <c:pt idx="54">
                  <c:v>00:30</c:v>
                </c:pt>
                <c:pt idx="55">
                  <c:v>00:45</c:v>
                </c:pt>
                <c:pt idx="56">
                  <c:v>01:00</c:v>
                </c:pt>
                <c:pt idx="57">
                  <c:v>01:15</c:v>
                </c:pt>
                <c:pt idx="58">
                  <c:v>01:30</c:v>
                </c:pt>
                <c:pt idx="59">
                  <c:v>01:45</c:v>
                </c:pt>
                <c:pt idx="60">
                  <c:v>02:00</c:v>
                </c:pt>
                <c:pt idx="61">
                  <c:v>02:15</c:v>
                </c:pt>
                <c:pt idx="62">
                  <c:v>02:30</c:v>
                </c:pt>
                <c:pt idx="63">
                  <c:v>02:45</c:v>
                </c:pt>
                <c:pt idx="64">
                  <c:v>03:00</c:v>
                </c:pt>
                <c:pt idx="65">
                  <c:v>03:15</c:v>
                </c:pt>
                <c:pt idx="66">
                  <c:v>03:30</c:v>
                </c:pt>
                <c:pt idx="67">
                  <c:v>03:45</c:v>
                </c:pt>
                <c:pt idx="68">
                  <c:v>04:00</c:v>
                </c:pt>
                <c:pt idx="69">
                  <c:v>04:15</c:v>
                </c:pt>
                <c:pt idx="70">
                  <c:v>04:30</c:v>
                </c:pt>
                <c:pt idx="71">
                  <c:v>04:45</c:v>
                </c:pt>
                <c:pt idx="72">
                  <c:v>05:00</c:v>
                </c:pt>
                <c:pt idx="73">
                  <c:v>05:15</c:v>
                </c:pt>
                <c:pt idx="74">
                  <c:v>05:30</c:v>
                </c:pt>
                <c:pt idx="75">
                  <c:v>05:45</c:v>
                </c:pt>
                <c:pt idx="76">
                  <c:v>06:00</c:v>
                </c:pt>
                <c:pt idx="77">
                  <c:v>06:15</c:v>
                </c:pt>
                <c:pt idx="78">
                  <c:v>06:30</c:v>
                </c:pt>
                <c:pt idx="79">
                  <c:v>06:45</c:v>
                </c:pt>
                <c:pt idx="80">
                  <c:v>07:00</c:v>
                </c:pt>
                <c:pt idx="81">
                  <c:v>07:15</c:v>
                </c:pt>
                <c:pt idx="82">
                  <c:v>07:30</c:v>
                </c:pt>
                <c:pt idx="83">
                  <c:v>07:45</c:v>
                </c:pt>
                <c:pt idx="84">
                  <c:v>08:00</c:v>
                </c:pt>
                <c:pt idx="85">
                  <c:v>08:15</c:v>
                </c:pt>
                <c:pt idx="86">
                  <c:v>08:30</c:v>
                </c:pt>
                <c:pt idx="87">
                  <c:v>08:45</c:v>
                </c:pt>
                <c:pt idx="88">
                  <c:v>09:00</c:v>
                </c:pt>
                <c:pt idx="89">
                  <c:v>09:15</c:v>
                </c:pt>
                <c:pt idx="90">
                  <c:v>09:30</c:v>
                </c:pt>
                <c:pt idx="91">
                  <c:v>09:45</c:v>
                </c:pt>
                <c:pt idx="92">
                  <c:v>10:00</c:v>
                </c:pt>
                <c:pt idx="93">
                  <c:v>10:15</c:v>
                </c:pt>
                <c:pt idx="94">
                  <c:v>10:30</c:v>
                </c:pt>
                <c:pt idx="95">
                  <c:v>10:45</c:v>
                </c:pt>
              </c:strCache>
            </c:strRef>
          </c:cat>
          <c:val>
            <c:numRef>
              <c:f>'1'!$B$116:$B$211</c:f>
              <c:numCache>
                <c:formatCode>0.000000</c:formatCode>
                <c:ptCount val="96"/>
                <c:pt idx="0">
                  <c:v>5.3205860215053757</c:v>
                </c:pt>
                <c:pt idx="1">
                  <c:v>27.287075268817201</c:v>
                </c:pt>
                <c:pt idx="2">
                  <c:v>52.920876344086018</c:v>
                </c:pt>
                <c:pt idx="3">
                  <c:v>59.321569892473107</c:v>
                </c:pt>
                <c:pt idx="4">
                  <c:v>35.90520967741935</c:v>
                </c:pt>
                <c:pt idx="5">
                  <c:v>51.13417204301075</c:v>
                </c:pt>
                <c:pt idx="6">
                  <c:v>31.681537634408599</c:v>
                </c:pt>
                <c:pt idx="7">
                  <c:v>16.059043010752688</c:v>
                </c:pt>
                <c:pt idx="8">
                  <c:v>14.7993064516129</c:v>
                </c:pt>
                <c:pt idx="9">
                  <c:v>27.48219892473119</c:v>
                </c:pt>
                <c:pt idx="10">
                  <c:v>37.565403225806449</c:v>
                </c:pt>
                <c:pt idx="11">
                  <c:v>7.143752688172043</c:v>
                </c:pt>
                <c:pt idx="12">
                  <c:v>16.139935483870971</c:v>
                </c:pt>
                <c:pt idx="13">
                  <c:v>34.777967741935477</c:v>
                </c:pt>
                <c:pt idx="14">
                  <c:v>33.105086021505379</c:v>
                </c:pt>
                <c:pt idx="15">
                  <c:v>22.21409677419355</c:v>
                </c:pt>
                <c:pt idx="16">
                  <c:v>23.141505376344089</c:v>
                </c:pt>
                <c:pt idx="17">
                  <c:v>10.89493548387097</c:v>
                </c:pt>
                <c:pt idx="18">
                  <c:v>32.174408602150542</c:v>
                </c:pt>
                <c:pt idx="19">
                  <c:v>3.4853494623655918</c:v>
                </c:pt>
                <c:pt idx="20">
                  <c:v>18.955322580645159</c:v>
                </c:pt>
                <c:pt idx="21">
                  <c:v>23.988553763440859</c:v>
                </c:pt>
                <c:pt idx="22">
                  <c:v>37.472161290322582</c:v>
                </c:pt>
                <c:pt idx="23">
                  <c:v>95.550182795698916</c:v>
                </c:pt>
                <c:pt idx="24">
                  <c:v>145.69010752688169</c:v>
                </c:pt>
                <c:pt idx="25">
                  <c:v>211.54838709677421</c:v>
                </c:pt>
                <c:pt idx="26">
                  <c:v>199.6354301075269</c:v>
                </c:pt>
                <c:pt idx="27">
                  <c:v>237.56228494623659</c:v>
                </c:pt>
                <c:pt idx="28">
                  <c:v>240.2329731182796</c:v>
                </c:pt>
                <c:pt idx="29">
                  <c:v>276.15163978494633</c:v>
                </c:pt>
                <c:pt idx="30">
                  <c:v>275.35747849462359</c:v>
                </c:pt>
                <c:pt idx="31">
                  <c:v>278.18616666666668</c:v>
                </c:pt>
                <c:pt idx="32">
                  <c:v>277.23681182795701</c:v>
                </c:pt>
                <c:pt idx="33">
                  <c:v>266.55227956989251</c:v>
                </c:pt>
                <c:pt idx="34">
                  <c:v>275.20081720430107</c:v>
                </c:pt>
                <c:pt idx="35">
                  <c:v>277.22214516129031</c:v>
                </c:pt>
                <c:pt idx="36">
                  <c:v>248.77251612903231</c:v>
                </c:pt>
                <c:pt idx="37">
                  <c:v>252.87050537634411</c:v>
                </c:pt>
                <c:pt idx="38">
                  <c:v>274.85927956989252</c:v>
                </c:pt>
                <c:pt idx="39">
                  <c:v>282.81163978494618</c:v>
                </c:pt>
                <c:pt idx="40">
                  <c:v>261.99718279569902</c:v>
                </c:pt>
                <c:pt idx="41">
                  <c:v>277.82480107526879</c:v>
                </c:pt>
                <c:pt idx="42">
                  <c:v>284.25440322580653</c:v>
                </c:pt>
                <c:pt idx="43">
                  <c:v>289.03225806451621</c:v>
                </c:pt>
                <c:pt idx="44">
                  <c:v>288.92522043010752</c:v>
                </c:pt>
                <c:pt idx="45">
                  <c:v>284.70365053763442</c:v>
                </c:pt>
                <c:pt idx="46">
                  <c:v>278.17668817204299</c:v>
                </c:pt>
                <c:pt idx="47">
                  <c:v>272.87383870967739</c:v>
                </c:pt>
                <c:pt idx="48">
                  <c:v>262.09305376344082</c:v>
                </c:pt>
                <c:pt idx="49">
                  <c:v>262.80821505376338</c:v>
                </c:pt>
                <c:pt idx="50">
                  <c:v>271.36343010752688</c:v>
                </c:pt>
                <c:pt idx="51">
                  <c:v>278.85778494623662</c:v>
                </c:pt>
                <c:pt idx="52">
                  <c:v>310.89444444444439</c:v>
                </c:pt>
                <c:pt idx="53">
                  <c:v>339.12777777777779</c:v>
                </c:pt>
                <c:pt idx="54">
                  <c:v>303.02777777777783</c:v>
                </c:pt>
                <c:pt idx="55">
                  <c:v>285.33333333333331</c:v>
                </c:pt>
                <c:pt idx="56">
                  <c:v>307.39926111111112</c:v>
                </c:pt>
                <c:pt idx="57">
                  <c:v>311.31791111111107</c:v>
                </c:pt>
                <c:pt idx="58">
                  <c:v>313.32605000000001</c:v>
                </c:pt>
                <c:pt idx="59">
                  <c:v>277.23333333333329</c:v>
                </c:pt>
                <c:pt idx="60">
                  <c:v>299.32946666666669</c:v>
                </c:pt>
                <c:pt idx="61">
                  <c:v>308.46711111111108</c:v>
                </c:pt>
                <c:pt idx="62">
                  <c:v>310.66503333333333</c:v>
                </c:pt>
                <c:pt idx="63">
                  <c:v>337.28609444444447</c:v>
                </c:pt>
                <c:pt idx="64">
                  <c:v>325.8599055555556</c:v>
                </c:pt>
                <c:pt idx="65">
                  <c:v>321.40427222222218</c:v>
                </c:pt>
                <c:pt idx="66">
                  <c:v>298.76920555555557</c:v>
                </c:pt>
                <c:pt idx="67">
                  <c:v>274.24913888888892</c:v>
                </c:pt>
                <c:pt idx="68">
                  <c:v>291.09444444444438</c:v>
                </c:pt>
                <c:pt idx="69">
                  <c:v>276.82777777777778</c:v>
                </c:pt>
                <c:pt idx="70">
                  <c:v>253.7713611111111</c:v>
                </c:pt>
                <c:pt idx="71">
                  <c:v>237.6611111111111</c:v>
                </c:pt>
                <c:pt idx="72">
                  <c:v>227.25343333333331</c:v>
                </c:pt>
                <c:pt idx="73">
                  <c:v>220.04212777777781</c:v>
                </c:pt>
                <c:pt idx="74">
                  <c:v>225.17558888888891</c:v>
                </c:pt>
                <c:pt idx="75">
                  <c:v>215.02695555555559</c:v>
                </c:pt>
                <c:pt idx="76">
                  <c:v>179.5748222222222</c:v>
                </c:pt>
                <c:pt idx="77">
                  <c:v>204.99857222222221</c:v>
                </c:pt>
                <c:pt idx="78">
                  <c:v>206.57222222222219</c:v>
                </c:pt>
                <c:pt idx="79">
                  <c:v>218.2785777777778</c:v>
                </c:pt>
                <c:pt idx="80">
                  <c:v>180.9999277777778</c:v>
                </c:pt>
                <c:pt idx="81">
                  <c:v>198.13814444444449</c:v>
                </c:pt>
                <c:pt idx="82">
                  <c:v>178.61516666666671</c:v>
                </c:pt>
                <c:pt idx="83">
                  <c:v>156.1549722222222</c:v>
                </c:pt>
                <c:pt idx="84">
                  <c:v>137.7836111111111</c:v>
                </c:pt>
                <c:pt idx="85">
                  <c:v>128.15578888888891</c:v>
                </c:pt>
                <c:pt idx="86">
                  <c:v>107.9719888888889</c:v>
                </c:pt>
                <c:pt idx="87">
                  <c:v>81.643366666666665</c:v>
                </c:pt>
                <c:pt idx="88">
                  <c:v>64.714444444444453</c:v>
                </c:pt>
                <c:pt idx="89">
                  <c:v>28.54677777777778</c:v>
                </c:pt>
                <c:pt idx="90">
                  <c:v>18.337577777777781</c:v>
                </c:pt>
                <c:pt idx="91">
                  <c:v>4.779472222222223</c:v>
                </c:pt>
                <c:pt idx="92">
                  <c:v>7.358022222222222</c:v>
                </c:pt>
                <c:pt idx="93">
                  <c:v>10.67608888888889</c:v>
                </c:pt>
                <c:pt idx="94">
                  <c:v>0.1415166666666664</c:v>
                </c:pt>
                <c:pt idx="95">
                  <c:v>10.80998387096774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C5B-4E04-9DC3-D780C4806E4A}"/>
            </c:ext>
          </c:extLst>
        </c:ser>
        <c:ser>
          <c:idx val="2"/>
          <c:order val="1"/>
          <c:tx>
            <c:strRef>
              <c:f>'1'!$C$115</c:f>
              <c:strCache>
                <c:ptCount val="1"/>
                <c:pt idx="0">
                  <c:v>2区</c:v>
                </c:pt>
              </c:strCache>
            </c:strRef>
          </c:tx>
          <c:spPr>
            <a:ln w="22000">
              <a:solidFill>
                <a:srgbClr val="FFFF00"/>
              </a:solidFill>
              <a:prstDash val="solid"/>
            </a:ln>
          </c:spPr>
          <c:marker>
            <c:symbol val="none"/>
          </c:marker>
          <c:cat>
            <c:strRef>
              <c:f>'1'!$A$116:$A$211</c:f>
              <c:strCache>
                <c:ptCount val="96"/>
                <c:pt idx="0">
                  <c:v>11:00</c:v>
                </c:pt>
                <c:pt idx="1">
                  <c:v>11:15</c:v>
                </c:pt>
                <c:pt idx="2">
                  <c:v>11:30</c:v>
                </c:pt>
                <c:pt idx="3">
                  <c:v>11:45</c:v>
                </c:pt>
                <c:pt idx="4">
                  <c:v>12:00</c:v>
                </c:pt>
                <c:pt idx="5">
                  <c:v>12:15</c:v>
                </c:pt>
                <c:pt idx="6">
                  <c:v>12:30</c:v>
                </c:pt>
                <c:pt idx="7">
                  <c:v>12:45</c:v>
                </c:pt>
                <c:pt idx="8">
                  <c:v>13:00</c:v>
                </c:pt>
                <c:pt idx="9">
                  <c:v>13:15</c:v>
                </c:pt>
                <c:pt idx="10">
                  <c:v>13:30</c:v>
                </c:pt>
                <c:pt idx="11">
                  <c:v>13:45</c:v>
                </c:pt>
                <c:pt idx="12">
                  <c:v>14:00</c:v>
                </c:pt>
                <c:pt idx="13">
                  <c:v>14:15</c:v>
                </c:pt>
                <c:pt idx="14">
                  <c:v>14:30</c:v>
                </c:pt>
                <c:pt idx="15">
                  <c:v>14:45</c:v>
                </c:pt>
                <c:pt idx="16">
                  <c:v>15:00</c:v>
                </c:pt>
                <c:pt idx="17">
                  <c:v>15:15</c:v>
                </c:pt>
                <c:pt idx="18">
                  <c:v>15:30</c:v>
                </c:pt>
                <c:pt idx="19">
                  <c:v>15:45</c:v>
                </c:pt>
                <c:pt idx="20">
                  <c:v>16:00</c:v>
                </c:pt>
                <c:pt idx="21">
                  <c:v>16:15</c:v>
                </c:pt>
                <c:pt idx="22">
                  <c:v>16:30</c:v>
                </c:pt>
                <c:pt idx="23">
                  <c:v>16:45</c:v>
                </c:pt>
                <c:pt idx="24">
                  <c:v>17:00</c:v>
                </c:pt>
                <c:pt idx="25">
                  <c:v>17:15</c:v>
                </c:pt>
                <c:pt idx="26">
                  <c:v>17:30</c:v>
                </c:pt>
                <c:pt idx="27">
                  <c:v>17:45</c:v>
                </c:pt>
                <c:pt idx="28">
                  <c:v>18:00</c:v>
                </c:pt>
                <c:pt idx="29">
                  <c:v>18:15</c:v>
                </c:pt>
                <c:pt idx="30">
                  <c:v>18:30</c:v>
                </c:pt>
                <c:pt idx="31">
                  <c:v>18:45</c:v>
                </c:pt>
                <c:pt idx="32">
                  <c:v>19:00</c:v>
                </c:pt>
                <c:pt idx="33">
                  <c:v>19:15</c:v>
                </c:pt>
                <c:pt idx="34">
                  <c:v>19:30</c:v>
                </c:pt>
                <c:pt idx="35">
                  <c:v>19:45</c:v>
                </c:pt>
                <c:pt idx="36">
                  <c:v>20:00</c:v>
                </c:pt>
                <c:pt idx="37">
                  <c:v>20:15</c:v>
                </c:pt>
                <c:pt idx="38">
                  <c:v>20:30</c:v>
                </c:pt>
                <c:pt idx="39">
                  <c:v>20:45</c:v>
                </c:pt>
                <c:pt idx="40">
                  <c:v>21:00</c:v>
                </c:pt>
                <c:pt idx="41">
                  <c:v>21:15</c:v>
                </c:pt>
                <c:pt idx="42">
                  <c:v>21:30</c:v>
                </c:pt>
                <c:pt idx="43">
                  <c:v>21:45</c:v>
                </c:pt>
                <c:pt idx="44">
                  <c:v>22:00</c:v>
                </c:pt>
                <c:pt idx="45">
                  <c:v>22:15</c:v>
                </c:pt>
                <c:pt idx="46">
                  <c:v>22:30</c:v>
                </c:pt>
                <c:pt idx="47">
                  <c:v>22:45</c:v>
                </c:pt>
                <c:pt idx="48">
                  <c:v>23:00</c:v>
                </c:pt>
                <c:pt idx="49">
                  <c:v>23:15</c:v>
                </c:pt>
                <c:pt idx="50">
                  <c:v>23:30</c:v>
                </c:pt>
                <c:pt idx="51">
                  <c:v>23:45</c:v>
                </c:pt>
                <c:pt idx="52">
                  <c:v>00:00</c:v>
                </c:pt>
                <c:pt idx="53">
                  <c:v>00:15</c:v>
                </c:pt>
                <c:pt idx="54">
                  <c:v>00:30</c:v>
                </c:pt>
                <c:pt idx="55">
                  <c:v>00:45</c:v>
                </c:pt>
                <c:pt idx="56">
                  <c:v>01:00</c:v>
                </c:pt>
                <c:pt idx="57">
                  <c:v>01:15</c:v>
                </c:pt>
                <c:pt idx="58">
                  <c:v>01:30</c:v>
                </c:pt>
                <c:pt idx="59">
                  <c:v>01:45</c:v>
                </c:pt>
                <c:pt idx="60">
                  <c:v>02:00</c:v>
                </c:pt>
                <c:pt idx="61">
                  <c:v>02:15</c:v>
                </c:pt>
                <c:pt idx="62">
                  <c:v>02:30</c:v>
                </c:pt>
                <c:pt idx="63">
                  <c:v>02:45</c:v>
                </c:pt>
                <c:pt idx="64">
                  <c:v>03:00</c:v>
                </c:pt>
                <c:pt idx="65">
                  <c:v>03:15</c:v>
                </c:pt>
                <c:pt idx="66">
                  <c:v>03:30</c:v>
                </c:pt>
                <c:pt idx="67">
                  <c:v>03:45</c:v>
                </c:pt>
                <c:pt idx="68">
                  <c:v>04:00</c:v>
                </c:pt>
                <c:pt idx="69">
                  <c:v>04:15</c:v>
                </c:pt>
                <c:pt idx="70">
                  <c:v>04:30</c:v>
                </c:pt>
                <c:pt idx="71">
                  <c:v>04:45</c:v>
                </c:pt>
                <c:pt idx="72">
                  <c:v>05:00</c:v>
                </c:pt>
                <c:pt idx="73">
                  <c:v>05:15</c:v>
                </c:pt>
                <c:pt idx="74">
                  <c:v>05:30</c:v>
                </c:pt>
                <c:pt idx="75">
                  <c:v>05:45</c:v>
                </c:pt>
                <c:pt idx="76">
                  <c:v>06:00</c:v>
                </c:pt>
                <c:pt idx="77">
                  <c:v>06:15</c:v>
                </c:pt>
                <c:pt idx="78">
                  <c:v>06:30</c:v>
                </c:pt>
                <c:pt idx="79">
                  <c:v>06:45</c:v>
                </c:pt>
                <c:pt idx="80">
                  <c:v>07:00</c:v>
                </c:pt>
                <c:pt idx="81">
                  <c:v>07:15</c:v>
                </c:pt>
                <c:pt idx="82">
                  <c:v>07:30</c:v>
                </c:pt>
                <c:pt idx="83">
                  <c:v>07:45</c:v>
                </c:pt>
                <c:pt idx="84">
                  <c:v>08:00</c:v>
                </c:pt>
                <c:pt idx="85">
                  <c:v>08:15</c:v>
                </c:pt>
                <c:pt idx="86">
                  <c:v>08:30</c:v>
                </c:pt>
                <c:pt idx="87">
                  <c:v>08:45</c:v>
                </c:pt>
                <c:pt idx="88">
                  <c:v>09:00</c:v>
                </c:pt>
                <c:pt idx="89">
                  <c:v>09:15</c:v>
                </c:pt>
                <c:pt idx="90">
                  <c:v>09:30</c:v>
                </c:pt>
                <c:pt idx="91">
                  <c:v>09:45</c:v>
                </c:pt>
                <c:pt idx="92">
                  <c:v>10:00</c:v>
                </c:pt>
                <c:pt idx="93">
                  <c:v>10:15</c:v>
                </c:pt>
                <c:pt idx="94">
                  <c:v>10:30</c:v>
                </c:pt>
                <c:pt idx="95">
                  <c:v>10:45</c:v>
                </c:pt>
              </c:strCache>
            </c:strRef>
          </c:cat>
          <c:val>
            <c:numRef>
              <c:f>'1'!$C$116:$C$211</c:f>
              <c:numCache>
                <c:formatCode>0.000000</c:formatCode>
                <c:ptCount val="96"/>
                <c:pt idx="0">
                  <c:v>7.4662903225806456</c:v>
                </c:pt>
                <c:pt idx="1">
                  <c:v>32.525548387096777</c:v>
                </c:pt>
                <c:pt idx="2">
                  <c:v>57.515419354838713</c:v>
                </c:pt>
                <c:pt idx="3">
                  <c:v>67.224193548387092</c:v>
                </c:pt>
                <c:pt idx="4">
                  <c:v>44.45690322580645</c:v>
                </c:pt>
                <c:pt idx="5">
                  <c:v>59.984096774193553</c:v>
                </c:pt>
                <c:pt idx="6">
                  <c:v>40.843258064516128</c:v>
                </c:pt>
                <c:pt idx="7">
                  <c:v>23.53693548387097</c:v>
                </c:pt>
                <c:pt idx="8">
                  <c:v>15.32729032258065</c:v>
                </c:pt>
                <c:pt idx="9">
                  <c:v>25.399838709677422</c:v>
                </c:pt>
                <c:pt idx="10">
                  <c:v>36.535612903225811</c:v>
                </c:pt>
                <c:pt idx="11">
                  <c:v>14.98441935483871</c:v>
                </c:pt>
                <c:pt idx="12">
                  <c:v>34.240967741935478</c:v>
                </c:pt>
                <c:pt idx="13">
                  <c:v>43.295096774193553</c:v>
                </c:pt>
                <c:pt idx="14">
                  <c:v>41.640193548387103</c:v>
                </c:pt>
                <c:pt idx="15">
                  <c:v>29.692161290322581</c:v>
                </c:pt>
                <c:pt idx="16">
                  <c:v>30.641161290322579</c:v>
                </c:pt>
                <c:pt idx="17">
                  <c:v>28.111225806451611</c:v>
                </c:pt>
                <c:pt idx="18">
                  <c:v>37.673483870967743</c:v>
                </c:pt>
                <c:pt idx="19">
                  <c:v>9.5650645161290324</c:v>
                </c:pt>
                <c:pt idx="20">
                  <c:v>31.257612903225809</c:v>
                </c:pt>
                <c:pt idx="21">
                  <c:v>15.707903225806451</c:v>
                </c:pt>
                <c:pt idx="22">
                  <c:v>28.780935483870969</c:v>
                </c:pt>
                <c:pt idx="23">
                  <c:v>97.778774193548387</c:v>
                </c:pt>
                <c:pt idx="24">
                  <c:v>147.30638709677419</c:v>
                </c:pt>
                <c:pt idx="25">
                  <c:v>211.12903225806451</c:v>
                </c:pt>
                <c:pt idx="26">
                  <c:v>200.14409677419351</c:v>
                </c:pt>
                <c:pt idx="27">
                  <c:v>238.52445161290319</c:v>
                </c:pt>
                <c:pt idx="28">
                  <c:v>241.36374193548389</c:v>
                </c:pt>
                <c:pt idx="29">
                  <c:v>277.2711612903226</c:v>
                </c:pt>
                <c:pt idx="30">
                  <c:v>276.36309677419348</c:v>
                </c:pt>
                <c:pt idx="31">
                  <c:v>280.37425806451608</c:v>
                </c:pt>
                <c:pt idx="32">
                  <c:v>278.28658064516128</c:v>
                </c:pt>
                <c:pt idx="33">
                  <c:v>266.96409677419359</c:v>
                </c:pt>
                <c:pt idx="34">
                  <c:v>268.39216129032258</c:v>
                </c:pt>
                <c:pt idx="35">
                  <c:v>277.20293548387087</c:v>
                </c:pt>
                <c:pt idx="36">
                  <c:v>245.5144516129032</c:v>
                </c:pt>
                <c:pt idx="37">
                  <c:v>250.41606451612901</c:v>
                </c:pt>
                <c:pt idx="38">
                  <c:v>270.85635483870971</c:v>
                </c:pt>
                <c:pt idx="39">
                  <c:v>282.80599999999998</c:v>
                </c:pt>
                <c:pt idx="40">
                  <c:v>261.98022580645159</c:v>
                </c:pt>
                <c:pt idx="41">
                  <c:v>277.81393548387098</c:v>
                </c:pt>
                <c:pt idx="42">
                  <c:v>284.23519354838709</c:v>
                </c:pt>
                <c:pt idx="43">
                  <c:v>289.03225806451621</c:v>
                </c:pt>
                <c:pt idx="44">
                  <c:v>288.8435806451613</c:v>
                </c:pt>
                <c:pt idx="45">
                  <c:v>284.72874193548392</c:v>
                </c:pt>
                <c:pt idx="46">
                  <c:v>278.25035483870971</c:v>
                </c:pt>
                <c:pt idx="47">
                  <c:v>272.96325806451608</c:v>
                </c:pt>
                <c:pt idx="48">
                  <c:v>262.19851612903233</c:v>
                </c:pt>
                <c:pt idx="49">
                  <c:v>262.77119354838709</c:v>
                </c:pt>
                <c:pt idx="50">
                  <c:v>271.29938709677418</c:v>
                </c:pt>
                <c:pt idx="51">
                  <c:v>278.80632258064509</c:v>
                </c:pt>
                <c:pt idx="52">
                  <c:v>310.66666666666669</c:v>
                </c:pt>
                <c:pt idx="53">
                  <c:v>338.7</c:v>
                </c:pt>
                <c:pt idx="54">
                  <c:v>302.60000000000002</c:v>
                </c:pt>
                <c:pt idx="55">
                  <c:v>285.13333333333333</c:v>
                </c:pt>
                <c:pt idx="56">
                  <c:v>307.35383333333328</c:v>
                </c:pt>
                <c:pt idx="57">
                  <c:v>311.20753333333329</c:v>
                </c:pt>
                <c:pt idx="58">
                  <c:v>313.13260000000002</c:v>
                </c:pt>
                <c:pt idx="59">
                  <c:v>277.23333333333329</c:v>
                </c:pt>
                <c:pt idx="60">
                  <c:v>299.21923333333331</c:v>
                </c:pt>
                <c:pt idx="61">
                  <c:v>308.03933333333327</c:v>
                </c:pt>
                <c:pt idx="62">
                  <c:v>310.23793333333339</c:v>
                </c:pt>
                <c:pt idx="63">
                  <c:v>337.07473333333331</c:v>
                </c:pt>
                <c:pt idx="64">
                  <c:v>325.74293333333333</c:v>
                </c:pt>
                <c:pt idx="65">
                  <c:v>321.12349999999998</c:v>
                </c:pt>
                <c:pt idx="66">
                  <c:v>298.67106666666672</c:v>
                </c:pt>
                <c:pt idx="67">
                  <c:v>274.00436666666673</c:v>
                </c:pt>
                <c:pt idx="68">
                  <c:v>290.66666666666669</c:v>
                </c:pt>
                <c:pt idx="69">
                  <c:v>276.39999999999998</c:v>
                </c:pt>
                <c:pt idx="70">
                  <c:v>253.5145</c:v>
                </c:pt>
                <c:pt idx="71">
                  <c:v>237.43333333333331</c:v>
                </c:pt>
                <c:pt idx="72">
                  <c:v>227.0924666666667</c:v>
                </c:pt>
                <c:pt idx="73">
                  <c:v>219.90186666666659</c:v>
                </c:pt>
                <c:pt idx="74">
                  <c:v>224.96010000000001</c:v>
                </c:pt>
                <c:pt idx="75">
                  <c:v>214.76583333333329</c:v>
                </c:pt>
                <c:pt idx="76">
                  <c:v>179.232</c:v>
                </c:pt>
                <c:pt idx="77">
                  <c:v>207.65639999999999</c:v>
                </c:pt>
                <c:pt idx="78">
                  <c:v>209.5</c:v>
                </c:pt>
                <c:pt idx="79">
                  <c:v>219.61556666666669</c:v>
                </c:pt>
                <c:pt idx="80">
                  <c:v>182.82499999999999</c:v>
                </c:pt>
                <c:pt idx="81">
                  <c:v>200.44316666666671</c:v>
                </c:pt>
                <c:pt idx="82">
                  <c:v>179.0181</c:v>
                </c:pt>
                <c:pt idx="83">
                  <c:v>156.65263333333331</c:v>
                </c:pt>
                <c:pt idx="84">
                  <c:v>141.0092333333333</c:v>
                </c:pt>
                <c:pt idx="85">
                  <c:v>128.934</c:v>
                </c:pt>
                <c:pt idx="86">
                  <c:v>112.41963333333329</c:v>
                </c:pt>
                <c:pt idx="87">
                  <c:v>86.514733333333339</c:v>
                </c:pt>
                <c:pt idx="88">
                  <c:v>69.952033333333333</c:v>
                </c:pt>
                <c:pt idx="89">
                  <c:v>34.238199999999999</c:v>
                </c:pt>
                <c:pt idx="90">
                  <c:v>23.265133333333331</c:v>
                </c:pt>
                <c:pt idx="91">
                  <c:v>4.0781000000000009</c:v>
                </c:pt>
                <c:pt idx="92">
                  <c:v>20.440033333333339</c:v>
                </c:pt>
                <c:pt idx="93">
                  <c:v>14.76706666666667</c:v>
                </c:pt>
                <c:pt idx="94">
                  <c:v>4.3094333333333328</c:v>
                </c:pt>
                <c:pt idx="95">
                  <c:v>8.9470967741935485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C5B-4E04-9DC3-D780C4806E4A}"/>
            </c:ext>
          </c:extLst>
        </c:ser>
        <c:ser>
          <c:idx val="3"/>
          <c:order val="2"/>
          <c:tx>
            <c:strRef>
              <c:f>'1'!$D$115</c:f>
              <c:strCache>
                <c:ptCount val="1"/>
                <c:pt idx="0">
                  <c:v>3区</c:v>
                </c:pt>
              </c:strCache>
            </c:strRef>
          </c:tx>
          <c:spPr>
            <a:ln w="22000">
              <a:solidFill>
                <a:srgbClr val="FFC000"/>
              </a:solidFill>
              <a:prstDash val="solid"/>
            </a:ln>
          </c:spPr>
          <c:marker>
            <c:symbol val="none"/>
          </c:marker>
          <c:cat>
            <c:strRef>
              <c:f>'1'!$A$116:$A$211</c:f>
              <c:strCache>
                <c:ptCount val="96"/>
                <c:pt idx="0">
                  <c:v>11:00</c:v>
                </c:pt>
                <c:pt idx="1">
                  <c:v>11:15</c:v>
                </c:pt>
                <c:pt idx="2">
                  <c:v>11:30</c:v>
                </c:pt>
                <c:pt idx="3">
                  <c:v>11:45</c:v>
                </c:pt>
                <c:pt idx="4">
                  <c:v>12:00</c:v>
                </c:pt>
                <c:pt idx="5">
                  <c:v>12:15</c:v>
                </c:pt>
                <c:pt idx="6">
                  <c:v>12:30</c:v>
                </c:pt>
                <c:pt idx="7">
                  <c:v>12:45</c:v>
                </c:pt>
                <c:pt idx="8">
                  <c:v>13:00</c:v>
                </c:pt>
                <c:pt idx="9">
                  <c:v>13:15</c:v>
                </c:pt>
                <c:pt idx="10">
                  <c:v>13:30</c:v>
                </c:pt>
                <c:pt idx="11">
                  <c:v>13:45</c:v>
                </c:pt>
                <c:pt idx="12">
                  <c:v>14:00</c:v>
                </c:pt>
                <c:pt idx="13">
                  <c:v>14:15</c:v>
                </c:pt>
                <c:pt idx="14">
                  <c:v>14:30</c:v>
                </c:pt>
                <c:pt idx="15">
                  <c:v>14:45</c:v>
                </c:pt>
                <c:pt idx="16">
                  <c:v>15:00</c:v>
                </c:pt>
                <c:pt idx="17">
                  <c:v>15:15</c:v>
                </c:pt>
                <c:pt idx="18">
                  <c:v>15:30</c:v>
                </c:pt>
                <c:pt idx="19">
                  <c:v>15:45</c:v>
                </c:pt>
                <c:pt idx="20">
                  <c:v>16:00</c:v>
                </c:pt>
                <c:pt idx="21">
                  <c:v>16:15</c:v>
                </c:pt>
                <c:pt idx="22">
                  <c:v>16:30</c:v>
                </c:pt>
                <c:pt idx="23">
                  <c:v>16:45</c:v>
                </c:pt>
                <c:pt idx="24">
                  <c:v>17:00</c:v>
                </c:pt>
                <c:pt idx="25">
                  <c:v>17:15</c:v>
                </c:pt>
                <c:pt idx="26">
                  <c:v>17:30</c:v>
                </c:pt>
                <c:pt idx="27">
                  <c:v>17:45</c:v>
                </c:pt>
                <c:pt idx="28">
                  <c:v>18:00</c:v>
                </c:pt>
                <c:pt idx="29">
                  <c:v>18:15</c:v>
                </c:pt>
                <c:pt idx="30">
                  <c:v>18:30</c:v>
                </c:pt>
                <c:pt idx="31">
                  <c:v>18:45</c:v>
                </c:pt>
                <c:pt idx="32">
                  <c:v>19:00</c:v>
                </c:pt>
                <c:pt idx="33">
                  <c:v>19:15</c:v>
                </c:pt>
                <c:pt idx="34">
                  <c:v>19:30</c:v>
                </c:pt>
                <c:pt idx="35">
                  <c:v>19:45</c:v>
                </c:pt>
                <c:pt idx="36">
                  <c:v>20:00</c:v>
                </c:pt>
                <c:pt idx="37">
                  <c:v>20:15</c:v>
                </c:pt>
                <c:pt idx="38">
                  <c:v>20:30</c:v>
                </c:pt>
                <c:pt idx="39">
                  <c:v>20:45</c:v>
                </c:pt>
                <c:pt idx="40">
                  <c:v>21:00</c:v>
                </c:pt>
                <c:pt idx="41">
                  <c:v>21:15</c:v>
                </c:pt>
                <c:pt idx="42">
                  <c:v>21:30</c:v>
                </c:pt>
                <c:pt idx="43">
                  <c:v>21:45</c:v>
                </c:pt>
                <c:pt idx="44">
                  <c:v>22:00</c:v>
                </c:pt>
                <c:pt idx="45">
                  <c:v>22:15</c:v>
                </c:pt>
                <c:pt idx="46">
                  <c:v>22:30</c:v>
                </c:pt>
                <c:pt idx="47">
                  <c:v>22:45</c:v>
                </c:pt>
                <c:pt idx="48">
                  <c:v>23:00</c:v>
                </c:pt>
                <c:pt idx="49">
                  <c:v>23:15</c:v>
                </c:pt>
                <c:pt idx="50">
                  <c:v>23:30</c:v>
                </c:pt>
                <c:pt idx="51">
                  <c:v>23:45</c:v>
                </c:pt>
                <c:pt idx="52">
                  <c:v>00:00</c:v>
                </c:pt>
                <c:pt idx="53">
                  <c:v>00:15</c:v>
                </c:pt>
                <c:pt idx="54">
                  <c:v>00:30</c:v>
                </c:pt>
                <c:pt idx="55">
                  <c:v>00:45</c:v>
                </c:pt>
                <c:pt idx="56">
                  <c:v>01:00</c:v>
                </c:pt>
                <c:pt idx="57">
                  <c:v>01:15</c:v>
                </c:pt>
                <c:pt idx="58">
                  <c:v>01:30</c:v>
                </c:pt>
                <c:pt idx="59">
                  <c:v>01:45</c:v>
                </c:pt>
                <c:pt idx="60">
                  <c:v>02:00</c:v>
                </c:pt>
                <c:pt idx="61">
                  <c:v>02:15</c:v>
                </c:pt>
                <c:pt idx="62">
                  <c:v>02:30</c:v>
                </c:pt>
                <c:pt idx="63">
                  <c:v>02:45</c:v>
                </c:pt>
                <c:pt idx="64">
                  <c:v>03:00</c:v>
                </c:pt>
                <c:pt idx="65">
                  <c:v>03:15</c:v>
                </c:pt>
                <c:pt idx="66">
                  <c:v>03:30</c:v>
                </c:pt>
                <c:pt idx="67">
                  <c:v>03:45</c:v>
                </c:pt>
                <c:pt idx="68">
                  <c:v>04:00</c:v>
                </c:pt>
                <c:pt idx="69">
                  <c:v>04:15</c:v>
                </c:pt>
                <c:pt idx="70">
                  <c:v>04:30</c:v>
                </c:pt>
                <c:pt idx="71">
                  <c:v>04:45</c:v>
                </c:pt>
                <c:pt idx="72">
                  <c:v>05:00</c:v>
                </c:pt>
                <c:pt idx="73">
                  <c:v>05:15</c:v>
                </c:pt>
                <c:pt idx="74">
                  <c:v>05:30</c:v>
                </c:pt>
                <c:pt idx="75">
                  <c:v>05:45</c:v>
                </c:pt>
                <c:pt idx="76">
                  <c:v>06:00</c:v>
                </c:pt>
                <c:pt idx="77">
                  <c:v>06:15</c:v>
                </c:pt>
                <c:pt idx="78">
                  <c:v>06:30</c:v>
                </c:pt>
                <c:pt idx="79">
                  <c:v>06:45</c:v>
                </c:pt>
                <c:pt idx="80">
                  <c:v>07:00</c:v>
                </c:pt>
                <c:pt idx="81">
                  <c:v>07:15</c:v>
                </c:pt>
                <c:pt idx="82">
                  <c:v>07:30</c:v>
                </c:pt>
                <c:pt idx="83">
                  <c:v>07:45</c:v>
                </c:pt>
                <c:pt idx="84">
                  <c:v>08:00</c:v>
                </c:pt>
                <c:pt idx="85">
                  <c:v>08:15</c:v>
                </c:pt>
                <c:pt idx="86">
                  <c:v>08:30</c:v>
                </c:pt>
                <c:pt idx="87">
                  <c:v>08:45</c:v>
                </c:pt>
                <c:pt idx="88">
                  <c:v>09:00</c:v>
                </c:pt>
                <c:pt idx="89">
                  <c:v>09:15</c:v>
                </c:pt>
                <c:pt idx="90">
                  <c:v>09:30</c:v>
                </c:pt>
                <c:pt idx="91">
                  <c:v>09:45</c:v>
                </c:pt>
                <c:pt idx="92">
                  <c:v>10:00</c:v>
                </c:pt>
                <c:pt idx="93">
                  <c:v>10:15</c:v>
                </c:pt>
                <c:pt idx="94">
                  <c:v>10:30</c:v>
                </c:pt>
                <c:pt idx="95">
                  <c:v>10:45</c:v>
                </c:pt>
              </c:strCache>
            </c:strRef>
          </c:cat>
          <c:val>
            <c:numRef>
              <c:f>'1'!$D$116:$D$211</c:f>
              <c:numCache>
                <c:formatCode>0.000000</c:formatCode>
                <c:ptCount val="96"/>
                <c:pt idx="0">
                  <c:v>9.4945483870967742</c:v>
                </c:pt>
                <c:pt idx="1">
                  <c:v>42.695612903225808</c:v>
                </c:pt>
                <c:pt idx="2">
                  <c:v>57.515419354838713</c:v>
                </c:pt>
                <c:pt idx="3">
                  <c:v>67.224193548387106</c:v>
                </c:pt>
                <c:pt idx="4">
                  <c:v>44.456903225806457</c:v>
                </c:pt>
                <c:pt idx="5">
                  <c:v>59.984096774193553</c:v>
                </c:pt>
                <c:pt idx="6">
                  <c:v>40.843258064516128</c:v>
                </c:pt>
                <c:pt idx="7">
                  <c:v>23.53693548387097</c:v>
                </c:pt>
                <c:pt idx="8">
                  <c:v>15.32729032258065</c:v>
                </c:pt>
                <c:pt idx="9">
                  <c:v>25.399838709677422</c:v>
                </c:pt>
                <c:pt idx="10">
                  <c:v>36.535612903225797</c:v>
                </c:pt>
                <c:pt idx="11">
                  <c:v>14.98441935483871</c:v>
                </c:pt>
                <c:pt idx="12">
                  <c:v>26.176451612903229</c:v>
                </c:pt>
                <c:pt idx="13">
                  <c:v>43.295096774193553</c:v>
                </c:pt>
                <c:pt idx="14">
                  <c:v>41.640193548387103</c:v>
                </c:pt>
                <c:pt idx="15">
                  <c:v>29.692161290322581</c:v>
                </c:pt>
                <c:pt idx="16">
                  <c:v>27.553870967741929</c:v>
                </c:pt>
                <c:pt idx="17">
                  <c:v>28.111225806451611</c:v>
                </c:pt>
                <c:pt idx="18">
                  <c:v>37.673483870967743</c:v>
                </c:pt>
                <c:pt idx="19">
                  <c:v>6.6002903225806451</c:v>
                </c:pt>
                <c:pt idx="20">
                  <c:v>27.806000000000001</c:v>
                </c:pt>
                <c:pt idx="21">
                  <c:v>15.707903225806451</c:v>
                </c:pt>
                <c:pt idx="22">
                  <c:v>28.780935483870969</c:v>
                </c:pt>
                <c:pt idx="23">
                  <c:v>89.004580645161283</c:v>
                </c:pt>
                <c:pt idx="24">
                  <c:v>147.30638709677419</c:v>
                </c:pt>
                <c:pt idx="25">
                  <c:v>211.12903225806451</c:v>
                </c:pt>
                <c:pt idx="26">
                  <c:v>200.1440967741936</c:v>
                </c:pt>
                <c:pt idx="27">
                  <c:v>238.52445161290319</c:v>
                </c:pt>
                <c:pt idx="28">
                  <c:v>241.36374193548389</c:v>
                </c:pt>
                <c:pt idx="29">
                  <c:v>277.2711612903226</c:v>
                </c:pt>
                <c:pt idx="30">
                  <c:v>258.62116129032262</c:v>
                </c:pt>
                <c:pt idx="31">
                  <c:v>268.4387741935484</c:v>
                </c:pt>
                <c:pt idx="32">
                  <c:v>278.28658064516128</c:v>
                </c:pt>
                <c:pt idx="33">
                  <c:v>266.96409677419348</c:v>
                </c:pt>
                <c:pt idx="34">
                  <c:v>268.39216129032258</c:v>
                </c:pt>
                <c:pt idx="35">
                  <c:v>277.20293548387099</c:v>
                </c:pt>
                <c:pt idx="36">
                  <c:v>245.5144516129032</c:v>
                </c:pt>
                <c:pt idx="37">
                  <c:v>250.41606451612901</c:v>
                </c:pt>
                <c:pt idx="38">
                  <c:v>270.85635483870959</c:v>
                </c:pt>
                <c:pt idx="39">
                  <c:v>282.80599999999998</c:v>
                </c:pt>
                <c:pt idx="40">
                  <c:v>261.98022580645159</c:v>
                </c:pt>
                <c:pt idx="41">
                  <c:v>277.81393548387098</c:v>
                </c:pt>
                <c:pt idx="42">
                  <c:v>284.23519354838709</c:v>
                </c:pt>
                <c:pt idx="43">
                  <c:v>289.03225806451621</c:v>
                </c:pt>
                <c:pt idx="44">
                  <c:v>288.8435806451613</c:v>
                </c:pt>
                <c:pt idx="45">
                  <c:v>284.72874193548392</c:v>
                </c:pt>
                <c:pt idx="46">
                  <c:v>278.25035483870971</c:v>
                </c:pt>
                <c:pt idx="47">
                  <c:v>272.96325806451608</c:v>
                </c:pt>
                <c:pt idx="48">
                  <c:v>262.19851612903233</c:v>
                </c:pt>
                <c:pt idx="49">
                  <c:v>262.77119354838709</c:v>
                </c:pt>
                <c:pt idx="50">
                  <c:v>271.29938709677418</c:v>
                </c:pt>
                <c:pt idx="51">
                  <c:v>278.8063225806452</c:v>
                </c:pt>
                <c:pt idx="52">
                  <c:v>310.66666666666669</c:v>
                </c:pt>
                <c:pt idx="53">
                  <c:v>338.7</c:v>
                </c:pt>
                <c:pt idx="54">
                  <c:v>302.60000000000002</c:v>
                </c:pt>
                <c:pt idx="55">
                  <c:v>285.13333333333333</c:v>
                </c:pt>
                <c:pt idx="56">
                  <c:v>307.35383333333328</c:v>
                </c:pt>
                <c:pt idx="57">
                  <c:v>311.20753333333329</c:v>
                </c:pt>
                <c:pt idx="58">
                  <c:v>313.13260000000002</c:v>
                </c:pt>
                <c:pt idx="59">
                  <c:v>277.23333333333329</c:v>
                </c:pt>
                <c:pt idx="60">
                  <c:v>299.21923333333331</c:v>
                </c:pt>
                <c:pt idx="61">
                  <c:v>308.03933333333327</c:v>
                </c:pt>
                <c:pt idx="62">
                  <c:v>310.23793333333327</c:v>
                </c:pt>
                <c:pt idx="63">
                  <c:v>337.07473333333331</c:v>
                </c:pt>
                <c:pt idx="64">
                  <c:v>325.74293333333333</c:v>
                </c:pt>
                <c:pt idx="65">
                  <c:v>321.12349999999998</c:v>
                </c:pt>
                <c:pt idx="66">
                  <c:v>298.67106666666672</c:v>
                </c:pt>
                <c:pt idx="67">
                  <c:v>274.00436666666673</c:v>
                </c:pt>
                <c:pt idx="68">
                  <c:v>290.66666666666669</c:v>
                </c:pt>
                <c:pt idx="69">
                  <c:v>276.39999999999998</c:v>
                </c:pt>
                <c:pt idx="70">
                  <c:v>253.5145</c:v>
                </c:pt>
                <c:pt idx="71">
                  <c:v>237.43333333333331</c:v>
                </c:pt>
                <c:pt idx="72">
                  <c:v>227.0924666666667</c:v>
                </c:pt>
                <c:pt idx="73">
                  <c:v>219.90186666666671</c:v>
                </c:pt>
                <c:pt idx="74">
                  <c:v>224.96010000000001</c:v>
                </c:pt>
                <c:pt idx="75">
                  <c:v>214.76583333333329</c:v>
                </c:pt>
                <c:pt idx="76">
                  <c:v>179.232</c:v>
                </c:pt>
                <c:pt idx="77">
                  <c:v>207.65639999999999</c:v>
                </c:pt>
                <c:pt idx="78">
                  <c:v>209.5</c:v>
                </c:pt>
                <c:pt idx="79">
                  <c:v>219.61556666666669</c:v>
                </c:pt>
                <c:pt idx="80">
                  <c:v>182.82499999999999</c:v>
                </c:pt>
                <c:pt idx="81">
                  <c:v>200.44316666666671</c:v>
                </c:pt>
                <c:pt idx="82">
                  <c:v>179.0181</c:v>
                </c:pt>
                <c:pt idx="83">
                  <c:v>146.65263333333331</c:v>
                </c:pt>
                <c:pt idx="84">
                  <c:v>141.0092333333333</c:v>
                </c:pt>
                <c:pt idx="85">
                  <c:v>120.934</c:v>
                </c:pt>
                <c:pt idx="86">
                  <c:v>103.41963333333329</c:v>
                </c:pt>
                <c:pt idx="87">
                  <c:v>78.181399999999996</c:v>
                </c:pt>
                <c:pt idx="88">
                  <c:v>69.952033333333333</c:v>
                </c:pt>
                <c:pt idx="89">
                  <c:v>34.238199999999999</c:v>
                </c:pt>
                <c:pt idx="90">
                  <c:v>23.265133333333331</c:v>
                </c:pt>
                <c:pt idx="91">
                  <c:v>4.0781000000000009</c:v>
                </c:pt>
                <c:pt idx="92">
                  <c:v>20.440033333333339</c:v>
                </c:pt>
                <c:pt idx="93">
                  <c:v>14.76706666666667</c:v>
                </c:pt>
                <c:pt idx="94">
                  <c:v>9.4333333333326639E-3</c:v>
                </c:pt>
                <c:pt idx="95">
                  <c:v>22.785612903225811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C5B-4E04-9DC3-D780C4806E4A}"/>
            </c:ext>
          </c:extLst>
        </c:ser>
        <c:ser>
          <c:idx val="4"/>
          <c:order val="3"/>
          <c:tx>
            <c:strRef>
              <c:f>'1'!$E$115</c:f>
              <c:strCache>
                <c:ptCount val="1"/>
                <c:pt idx="0">
                  <c:v>4区</c:v>
                </c:pt>
              </c:strCache>
            </c:strRef>
          </c:tx>
          <c:spPr>
            <a:ln w="22000">
              <a:solidFill>
                <a:srgbClr val="5B9BD5"/>
              </a:solidFill>
              <a:prstDash val="solid"/>
            </a:ln>
          </c:spPr>
          <c:marker>
            <c:symbol val="none"/>
          </c:marker>
          <c:cat>
            <c:strRef>
              <c:f>'1'!$A$116:$A$211</c:f>
              <c:strCache>
                <c:ptCount val="96"/>
                <c:pt idx="0">
                  <c:v>11:00</c:v>
                </c:pt>
                <c:pt idx="1">
                  <c:v>11:15</c:v>
                </c:pt>
                <c:pt idx="2">
                  <c:v>11:30</c:v>
                </c:pt>
                <c:pt idx="3">
                  <c:v>11:45</c:v>
                </c:pt>
                <c:pt idx="4">
                  <c:v>12:00</c:v>
                </c:pt>
                <c:pt idx="5">
                  <c:v>12:15</c:v>
                </c:pt>
                <c:pt idx="6">
                  <c:v>12:30</c:v>
                </c:pt>
                <c:pt idx="7">
                  <c:v>12:45</c:v>
                </c:pt>
                <c:pt idx="8">
                  <c:v>13:00</c:v>
                </c:pt>
                <c:pt idx="9">
                  <c:v>13:15</c:v>
                </c:pt>
                <c:pt idx="10">
                  <c:v>13:30</c:v>
                </c:pt>
                <c:pt idx="11">
                  <c:v>13:45</c:v>
                </c:pt>
                <c:pt idx="12">
                  <c:v>14:00</c:v>
                </c:pt>
                <c:pt idx="13">
                  <c:v>14:15</c:v>
                </c:pt>
                <c:pt idx="14">
                  <c:v>14:30</c:v>
                </c:pt>
                <c:pt idx="15">
                  <c:v>14:45</c:v>
                </c:pt>
                <c:pt idx="16">
                  <c:v>15:00</c:v>
                </c:pt>
                <c:pt idx="17">
                  <c:v>15:15</c:v>
                </c:pt>
                <c:pt idx="18">
                  <c:v>15:30</c:v>
                </c:pt>
                <c:pt idx="19">
                  <c:v>15:45</c:v>
                </c:pt>
                <c:pt idx="20">
                  <c:v>16:00</c:v>
                </c:pt>
                <c:pt idx="21">
                  <c:v>16:15</c:v>
                </c:pt>
                <c:pt idx="22">
                  <c:v>16:30</c:v>
                </c:pt>
                <c:pt idx="23">
                  <c:v>16:45</c:v>
                </c:pt>
                <c:pt idx="24">
                  <c:v>17:00</c:v>
                </c:pt>
                <c:pt idx="25">
                  <c:v>17:15</c:v>
                </c:pt>
                <c:pt idx="26">
                  <c:v>17:30</c:v>
                </c:pt>
                <c:pt idx="27">
                  <c:v>17:45</c:v>
                </c:pt>
                <c:pt idx="28">
                  <c:v>18:00</c:v>
                </c:pt>
                <c:pt idx="29">
                  <c:v>18:15</c:v>
                </c:pt>
                <c:pt idx="30">
                  <c:v>18:30</c:v>
                </c:pt>
                <c:pt idx="31">
                  <c:v>18:45</c:v>
                </c:pt>
                <c:pt idx="32">
                  <c:v>19:00</c:v>
                </c:pt>
                <c:pt idx="33">
                  <c:v>19:15</c:v>
                </c:pt>
                <c:pt idx="34">
                  <c:v>19:30</c:v>
                </c:pt>
                <c:pt idx="35">
                  <c:v>19:45</c:v>
                </c:pt>
                <c:pt idx="36">
                  <c:v>20:00</c:v>
                </c:pt>
                <c:pt idx="37">
                  <c:v>20:15</c:v>
                </c:pt>
                <c:pt idx="38">
                  <c:v>20:30</c:v>
                </c:pt>
                <c:pt idx="39">
                  <c:v>20:45</c:v>
                </c:pt>
                <c:pt idx="40">
                  <c:v>21:00</c:v>
                </c:pt>
                <c:pt idx="41">
                  <c:v>21:15</c:v>
                </c:pt>
                <c:pt idx="42">
                  <c:v>21:30</c:v>
                </c:pt>
                <c:pt idx="43">
                  <c:v>21:45</c:v>
                </c:pt>
                <c:pt idx="44">
                  <c:v>22:00</c:v>
                </c:pt>
                <c:pt idx="45">
                  <c:v>22:15</c:v>
                </c:pt>
                <c:pt idx="46">
                  <c:v>22:30</c:v>
                </c:pt>
                <c:pt idx="47">
                  <c:v>22:45</c:v>
                </c:pt>
                <c:pt idx="48">
                  <c:v>23:00</c:v>
                </c:pt>
                <c:pt idx="49">
                  <c:v>23:15</c:v>
                </c:pt>
                <c:pt idx="50">
                  <c:v>23:30</c:v>
                </c:pt>
                <c:pt idx="51">
                  <c:v>23:45</c:v>
                </c:pt>
                <c:pt idx="52">
                  <c:v>00:00</c:v>
                </c:pt>
                <c:pt idx="53">
                  <c:v>00:15</c:v>
                </c:pt>
                <c:pt idx="54">
                  <c:v>00:30</c:v>
                </c:pt>
                <c:pt idx="55">
                  <c:v>00:45</c:v>
                </c:pt>
                <c:pt idx="56">
                  <c:v>01:00</c:v>
                </c:pt>
                <c:pt idx="57">
                  <c:v>01:15</c:v>
                </c:pt>
                <c:pt idx="58">
                  <c:v>01:30</c:v>
                </c:pt>
                <c:pt idx="59">
                  <c:v>01:45</c:v>
                </c:pt>
                <c:pt idx="60">
                  <c:v>02:00</c:v>
                </c:pt>
                <c:pt idx="61">
                  <c:v>02:15</c:v>
                </c:pt>
                <c:pt idx="62">
                  <c:v>02:30</c:v>
                </c:pt>
                <c:pt idx="63">
                  <c:v>02:45</c:v>
                </c:pt>
                <c:pt idx="64">
                  <c:v>03:00</c:v>
                </c:pt>
                <c:pt idx="65">
                  <c:v>03:15</c:v>
                </c:pt>
                <c:pt idx="66">
                  <c:v>03:30</c:v>
                </c:pt>
                <c:pt idx="67">
                  <c:v>03:45</c:v>
                </c:pt>
                <c:pt idx="68">
                  <c:v>04:00</c:v>
                </c:pt>
                <c:pt idx="69">
                  <c:v>04:15</c:v>
                </c:pt>
                <c:pt idx="70">
                  <c:v>04:30</c:v>
                </c:pt>
                <c:pt idx="71">
                  <c:v>04:45</c:v>
                </c:pt>
                <c:pt idx="72">
                  <c:v>05:00</c:v>
                </c:pt>
                <c:pt idx="73">
                  <c:v>05:15</c:v>
                </c:pt>
                <c:pt idx="74">
                  <c:v>05:30</c:v>
                </c:pt>
                <c:pt idx="75">
                  <c:v>05:45</c:v>
                </c:pt>
                <c:pt idx="76">
                  <c:v>06:00</c:v>
                </c:pt>
                <c:pt idx="77">
                  <c:v>06:15</c:v>
                </c:pt>
                <c:pt idx="78">
                  <c:v>06:30</c:v>
                </c:pt>
                <c:pt idx="79">
                  <c:v>06:45</c:v>
                </c:pt>
                <c:pt idx="80">
                  <c:v>07:00</c:v>
                </c:pt>
                <c:pt idx="81">
                  <c:v>07:15</c:v>
                </c:pt>
                <c:pt idx="82">
                  <c:v>07:30</c:v>
                </c:pt>
                <c:pt idx="83">
                  <c:v>07:45</c:v>
                </c:pt>
                <c:pt idx="84">
                  <c:v>08:00</c:v>
                </c:pt>
                <c:pt idx="85">
                  <c:v>08:15</c:v>
                </c:pt>
                <c:pt idx="86">
                  <c:v>08:30</c:v>
                </c:pt>
                <c:pt idx="87">
                  <c:v>08:45</c:v>
                </c:pt>
                <c:pt idx="88">
                  <c:v>09:00</c:v>
                </c:pt>
                <c:pt idx="89">
                  <c:v>09:15</c:v>
                </c:pt>
                <c:pt idx="90">
                  <c:v>09:30</c:v>
                </c:pt>
                <c:pt idx="91">
                  <c:v>09:45</c:v>
                </c:pt>
                <c:pt idx="92">
                  <c:v>10:00</c:v>
                </c:pt>
                <c:pt idx="93">
                  <c:v>10:15</c:v>
                </c:pt>
                <c:pt idx="94">
                  <c:v>10:30</c:v>
                </c:pt>
                <c:pt idx="95">
                  <c:v>10:45</c:v>
                </c:pt>
              </c:strCache>
            </c:strRef>
          </c:cat>
          <c:val>
            <c:numRef>
              <c:f>'1'!$E$116:$E$211</c:f>
              <c:numCache>
                <c:formatCode>0.000000</c:formatCode>
                <c:ptCount val="96"/>
                <c:pt idx="0">
                  <c:v>-0.70238709677419475</c:v>
                </c:pt>
                <c:pt idx="1">
                  <c:v>32.195258064516132</c:v>
                </c:pt>
                <c:pt idx="2">
                  <c:v>46.037225806451623</c:v>
                </c:pt>
                <c:pt idx="3">
                  <c:v>45.70967741935484</c:v>
                </c:pt>
                <c:pt idx="4">
                  <c:v>25.70967741935484</c:v>
                </c:pt>
                <c:pt idx="5">
                  <c:v>41.74535483870968</c:v>
                </c:pt>
                <c:pt idx="6">
                  <c:v>23.31383870967742</c:v>
                </c:pt>
                <c:pt idx="7">
                  <c:v>6.129032258064516</c:v>
                </c:pt>
                <c:pt idx="8">
                  <c:v>1.806451612903226</c:v>
                </c:pt>
                <c:pt idx="9">
                  <c:v>19.024483870967739</c:v>
                </c:pt>
                <c:pt idx="10">
                  <c:v>24.276870967741939</c:v>
                </c:pt>
                <c:pt idx="11">
                  <c:v>-2.580645161290323</c:v>
                </c:pt>
                <c:pt idx="12">
                  <c:v>16.807290322580641</c:v>
                </c:pt>
                <c:pt idx="13">
                  <c:v>23.87096774193548</c:v>
                </c:pt>
                <c:pt idx="14">
                  <c:v>21.834322580645161</c:v>
                </c:pt>
                <c:pt idx="15">
                  <c:v>11.93548387096774</c:v>
                </c:pt>
                <c:pt idx="16">
                  <c:v>12.90322580645161</c:v>
                </c:pt>
                <c:pt idx="17">
                  <c:v>7.9357096774193554</c:v>
                </c:pt>
                <c:pt idx="18">
                  <c:v>27.214806451612901</c:v>
                </c:pt>
                <c:pt idx="19">
                  <c:v>-3.0243548387096761</c:v>
                </c:pt>
                <c:pt idx="20">
                  <c:v>21.207677419354841</c:v>
                </c:pt>
                <c:pt idx="21">
                  <c:v>21.095161290322579</c:v>
                </c:pt>
                <c:pt idx="22">
                  <c:v>34.22332258064516</c:v>
                </c:pt>
                <c:pt idx="23">
                  <c:v>93.870709677419356</c:v>
                </c:pt>
                <c:pt idx="24">
                  <c:v>142.84380645161289</c:v>
                </c:pt>
                <c:pt idx="25">
                  <c:v>212.70967741935479</c:v>
                </c:pt>
                <c:pt idx="26">
                  <c:v>198.88980645161291</c:v>
                </c:pt>
                <c:pt idx="27">
                  <c:v>235.7969677419355</c:v>
                </c:pt>
                <c:pt idx="28">
                  <c:v>238.06787096774201</c:v>
                </c:pt>
                <c:pt idx="29">
                  <c:v>274.02022580645161</c:v>
                </c:pt>
                <c:pt idx="30">
                  <c:v>273.42664516129042</c:v>
                </c:pt>
                <c:pt idx="31">
                  <c:v>273.98483870967738</c:v>
                </c:pt>
                <c:pt idx="32">
                  <c:v>275.22112903225798</c:v>
                </c:pt>
                <c:pt idx="33">
                  <c:v>265.7615806451613</c:v>
                </c:pt>
                <c:pt idx="34">
                  <c:v>272.78945161290318</c:v>
                </c:pt>
                <c:pt idx="35">
                  <c:v>277.2798064516129</c:v>
                </c:pt>
                <c:pt idx="36">
                  <c:v>248.77251612903231</c:v>
                </c:pt>
                <c:pt idx="37">
                  <c:v>252.8789677419355</c:v>
                </c:pt>
                <c:pt idx="38">
                  <c:v>274.86803225806449</c:v>
                </c:pt>
                <c:pt idx="39">
                  <c:v>282.82858064516131</c:v>
                </c:pt>
                <c:pt idx="40">
                  <c:v>262.0480322580645</c:v>
                </c:pt>
                <c:pt idx="41">
                  <c:v>277.85732258064508</c:v>
                </c:pt>
                <c:pt idx="42">
                  <c:v>284.312064516129</c:v>
                </c:pt>
                <c:pt idx="43">
                  <c:v>289.03225806451621</c:v>
                </c:pt>
                <c:pt idx="44">
                  <c:v>289.07341935483868</c:v>
                </c:pt>
                <c:pt idx="45">
                  <c:v>284.62841935483868</c:v>
                </c:pt>
                <c:pt idx="46">
                  <c:v>277.95567741935491</c:v>
                </c:pt>
                <c:pt idx="47">
                  <c:v>272.6055483870968</c:v>
                </c:pt>
                <c:pt idx="48">
                  <c:v>261.77667741935483</c:v>
                </c:pt>
                <c:pt idx="49">
                  <c:v>262.91925806451621</c:v>
                </c:pt>
                <c:pt idx="50">
                  <c:v>271.44803225806447</c:v>
                </c:pt>
                <c:pt idx="51">
                  <c:v>278.93345161290318</c:v>
                </c:pt>
                <c:pt idx="52">
                  <c:v>311.46666666666658</c:v>
                </c:pt>
                <c:pt idx="53">
                  <c:v>340.3</c:v>
                </c:pt>
                <c:pt idx="54">
                  <c:v>304.2</c:v>
                </c:pt>
                <c:pt idx="55">
                  <c:v>285.93333333333328</c:v>
                </c:pt>
                <c:pt idx="56">
                  <c:v>307.50463333333329</c:v>
                </c:pt>
                <c:pt idx="57">
                  <c:v>311.64659999999998</c:v>
                </c:pt>
                <c:pt idx="58">
                  <c:v>313.88086666666658</c:v>
                </c:pt>
                <c:pt idx="59">
                  <c:v>277.23333333333329</c:v>
                </c:pt>
                <c:pt idx="60">
                  <c:v>299.65769999999998</c:v>
                </c:pt>
                <c:pt idx="61">
                  <c:v>309.63933333333341</c:v>
                </c:pt>
                <c:pt idx="62">
                  <c:v>311.83556666666658</c:v>
                </c:pt>
                <c:pt idx="63">
                  <c:v>337.83233333333328</c:v>
                </c:pt>
                <c:pt idx="64">
                  <c:v>326.21080000000001</c:v>
                </c:pt>
                <c:pt idx="65">
                  <c:v>322.17486666666662</c:v>
                </c:pt>
                <c:pt idx="66">
                  <c:v>299.01576666666671</c:v>
                </c:pt>
                <c:pt idx="67">
                  <c:v>274.91636666666659</c:v>
                </c:pt>
                <c:pt idx="68">
                  <c:v>292.23333333333329</c:v>
                </c:pt>
                <c:pt idx="69">
                  <c:v>277.96666666666658</c:v>
                </c:pt>
                <c:pt idx="70">
                  <c:v>254.47839999999999</c:v>
                </c:pt>
                <c:pt idx="71">
                  <c:v>238.23333333333329</c:v>
                </c:pt>
                <c:pt idx="72">
                  <c:v>227.65783333333329</c:v>
                </c:pt>
                <c:pt idx="73">
                  <c:v>220.3945333333333</c:v>
                </c:pt>
                <c:pt idx="74">
                  <c:v>225.81450000000001</c:v>
                </c:pt>
                <c:pt idx="75">
                  <c:v>215.78213333333329</c:v>
                </c:pt>
                <c:pt idx="76">
                  <c:v>180.57220000000001</c:v>
                </c:pt>
                <c:pt idx="77">
                  <c:v>200.36946666666671</c:v>
                </c:pt>
                <c:pt idx="78">
                  <c:v>201.16666666666671</c:v>
                </c:pt>
                <c:pt idx="79">
                  <c:v>215.92743333333331</c:v>
                </c:pt>
                <c:pt idx="80">
                  <c:v>177.4298666666667</c:v>
                </c:pt>
                <c:pt idx="81">
                  <c:v>193.66326666666669</c:v>
                </c:pt>
                <c:pt idx="82">
                  <c:v>177.82910000000001</c:v>
                </c:pt>
                <c:pt idx="83">
                  <c:v>145.34970000000001</c:v>
                </c:pt>
                <c:pt idx="84">
                  <c:v>119.9289333333333</c:v>
                </c:pt>
                <c:pt idx="85">
                  <c:v>115.20966666666671</c:v>
                </c:pt>
                <c:pt idx="86">
                  <c:v>94.424833333333325</c:v>
                </c:pt>
                <c:pt idx="87">
                  <c:v>73.136266666666671</c:v>
                </c:pt>
                <c:pt idx="88">
                  <c:v>56.464000000000013</c:v>
                </c:pt>
                <c:pt idx="89">
                  <c:v>14.335900000000001</c:v>
                </c:pt>
                <c:pt idx="90">
                  <c:v>0.87490000000000046</c:v>
                </c:pt>
                <c:pt idx="91">
                  <c:v>1.2624</c:v>
                </c:pt>
                <c:pt idx="92">
                  <c:v>17.773033333333331</c:v>
                </c:pt>
                <c:pt idx="93">
                  <c:v>1.505133333333333</c:v>
                </c:pt>
                <c:pt idx="94">
                  <c:v>-7.6647333333333334</c:v>
                </c:pt>
                <c:pt idx="95">
                  <c:v>1.0678387096774189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FC5B-4E04-9DC3-D780C4806E4A}"/>
            </c:ext>
          </c:extLst>
        </c:ser>
        <c:ser>
          <c:idx val="1"/>
          <c:order val="4"/>
          <c:tx>
            <c:strRef>
              <c:f>'1'!$F$115</c:f>
              <c:strCache>
                <c:ptCount val="1"/>
                <c:pt idx="0">
                  <c:v>5区</c:v>
                </c:pt>
              </c:strCache>
            </c:strRef>
          </c:tx>
          <c:spPr>
            <a:ln w="22000">
              <a:solidFill>
                <a:srgbClr val="C00000"/>
              </a:solidFill>
              <a:prstDash val="solid"/>
            </a:ln>
          </c:spPr>
          <c:marker>
            <c:symbol val="none"/>
          </c:marker>
          <c:cat>
            <c:strRef>
              <c:f>'1'!$A$116:$A$211</c:f>
              <c:strCache>
                <c:ptCount val="96"/>
                <c:pt idx="0">
                  <c:v>11:00</c:v>
                </c:pt>
                <c:pt idx="1">
                  <c:v>11:15</c:v>
                </c:pt>
                <c:pt idx="2">
                  <c:v>11:30</c:v>
                </c:pt>
                <c:pt idx="3">
                  <c:v>11:45</c:v>
                </c:pt>
                <c:pt idx="4">
                  <c:v>12:00</c:v>
                </c:pt>
                <c:pt idx="5">
                  <c:v>12:15</c:v>
                </c:pt>
                <c:pt idx="6">
                  <c:v>12:30</c:v>
                </c:pt>
                <c:pt idx="7">
                  <c:v>12:45</c:v>
                </c:pt>
                <c:pt idx="8">
                  <c:v>13:00</c:v>
                </c:pt>
                <c:pt idx="9">
                  <c:v>13:15</c:v>
                </c:pt>
                <c:pt idx="10">
                  <c:v>13:30</c:v>
                </c:pt>
                <c:pt idx="11">
                  <c:v>13:45</c:v>
                </c:pt>
                <c:pt idx="12">
                  <c:v>14:00</c:v>
                </c:pt>
                <c:pt idx="13">
                  <c:v>14:15</c:v>
                </c:pt>
                <c:pt idx="14">
                  <c:v>14:30</c:v>
                </c:pt>
                <c:pt idx="15">
                  <c:v>14:45</c:v>
                </c:pt>
                <c:pt idx="16">
                  <c:v>15:00</c:v>
                </c:pt>
                <c:pt idx="17">
                  <c:v>15:15</c:v>
                </c:pt>
                <c:pt idx="18">
                  <c:v>15:30</c:v>
                </c:pt>
                <c:pt idx="19">
                  <c:v>15:45</c:v>
                </c:pt>
                <c:pt idx="20">
                  <c:v>16:00</c:v>
                </c:pt>
                <c:pt idx="21">
                  <c:v>16:15</c:v>
                </c:pt>
                <c:pt idx="22">
                  <c:v>16:30</c:v>
                </c:pt>
                <c:pt idx="23">
                  <c:v>16:45</c:v>
                </c:pt>
                <c:pt idx="24">
                  <c:v>17:00</c:v>
                </c:pt>
                <c:pt idx="25">
                  <c:v>17:15</c:v>
                </c:pt>
                <c:pt idx="26">
                  <c:v>17:30</c:v>
                </c:pt>
                <c:pt idx="27">
                  <c:v>17:45</c:v>
                </c:pt>
                <c:pt idx="28">
                  <c:v>18:00</c:v>
                </c:pt>
                <c:pt idx="29">
                  <c:v>18:15</c:v>
                </c:pt>
                <c:pt idx="30">
                  <c:v>18:30</c:v>
                </c:pt>
                <c:pt idx="31">
                  <c:v>18:45</c:v>
                </c:pt>
                <c:pt idx="32">
                  <c:v>19:00</c:v>
                </c:pt>
                <c:pt idx="33">
                  <c:v>19:15</c:v>
                </c:pt>
                <c:pt idx="34">
                  <c:v>19:30</c:v>
                </c:pt>
                <c:pt idx="35">
                  <c:v>19:45</c:v>
                </c:pt>
                <c:pt idx="36">
                  <c:v>20:00</c:v>
                </c:pt>
                <c:pt idx="37">
                  <c:v>20:15</c:v>
                </c:pt>
                <c:pt idx="38">
                  <c:v>20:30</c:v>
                </c:pt>
                <c:pt idx="39">
                  <c:v>20:45</c:v>
                </c:pt>
                <c:pt idx="40">
                  <c:v>21:00</c:v>
                </c:pt>
                <c:pt idx="41">
                  <c:v>21:15</c:v>
                </c:pt>
                <c:pt idx="42">
                  <c:v>21:30</c:v>
                </c:pt>
                <c:pt idx="43">
                  <c:v>21:45</c:v>
                </c:pt>
                <c:pt idx="44">
                  <c:v>22:00</c:v>
                </c:pt>
                <c:pt idx="45">
                  <c:v>22:15</c:v>
                </c:pt>
                <c:pt idx="46">
                  <c:v>22:30</c:v>
                </c:pt>
                <c:pt idx="47">
                  <c:v>22:45</c:v>
                </c:pt>
                <c:pt idx="48">
                  <c:v>23:00</c:v>
                </c:pt>
                <c:pt idx="49">
                  <c:v>23:15</c:v>
                </c:pt>
                <c:pt idx="50">
                  <c:v>23:30</c:v>
                </c:pt>
                <c:pt idx="51">
                  <c:v>23:45</c:v>
                </c:pt>
                <c:pt idx="52">
                  <c:v>00:00</c:v>
                </c:pt>
                <c:pt idx="53">
                  <c:v>00:15</c:v>
                </c:pt>
                <c:pt idx="54">
                  <c:v>00:30</c:v>
                </c:pt>
                <c:pt idx="55">
                  <c:v>00:45</c:v>
                </c:pt>
                <c:pt idx="56">
                  <c:v>01:00</c:v>
                </c:pt>
                <c:pt idx="57">
                  <c:v>01:15</c:v>
                </c:pt>
                <c:pt idx="58">
                  <c:v>01:30</c:v>
                </c:pt>
                <c:pt idx="59">
                  <c:v>01:45</c:v>
                </c:pt>
                <c:pt idx="60">
                  <c:v>02:00</c:v>
                </c:pt>
                <c:pt idx="61">
                  <c:v>02:15</c:v>
                </c:pt>
                <c:pt idx="62">
                  <c:v>02:30</c:v>
                </c:pt>
                <c:pt idx="63">
                  <c:v>02:45</c:v>
                </c:pt>
                <c:pt idx="64">
                  <c:v>03:00</c:v>
                </c:pt>
                <c:pt idx="65">
                  <c:v>03:15</c:v>
                </c:pt>
                <c:pt idx="66">
                  <c:v>03:30</c:v>
                </c:pt>
                <c:pt idx="67">
                  <c:v>03:45</c:v>
                </c:pt>
                <c:pt idx="68">
                  <c:v>04:00</c:v>
                </c:pt>
                <c:pt idx="69">
                  <c:v>04:15</c:v>
                </c:pt>
                <c:pt idx="70">
                  <c:v>04:30</c:v>
                </c:pt>
                <c:pt idx="71">
                  <c:v>04:45</c:v>
                </c:pt>
                <c:pt idx="72">
                  <c:v>05:00</c:v>
                </c:pt>
                <c:pt idx="73">
                  <c:v>05:15</c:v>
                </c:pt>
                <c:pt idx="74">
                  <c:v>05:30</c:v>
                </c:pt>
                <c:pt idx="75">
                  <c:v>05:45</c:v>
                </c:pt>
                <c:pt idx="76">
                  <c:v>06:00</c:v>
                </c:pt>
                <c:pt idx="77">
                  <c:v>06:15</c:v>
                </c:pt>
                <c:pt idx="78">
                  <c:v>06:30</c:v>
                </c:pt>
                <c:pt idx="79">
                  <c:v>06:45</c:v>
                </c:pt>
                <c:pt idx="80">
                  <c:v>07:00</c:v>
                </c:pt>
                <c:pt idx="81">
                  <c:v>07:15</c:v>
                </c:pt>
                <c:pt idx="82">
                  <c:v>07:30</c:v>
                </c:pt>
                <c:pt idx="83">
                  <c:v>07:45</c:v>
                </c:pt>
                <c:pt idx="84">
                  <c:v>08:00</c:v>
                </c:pt>
                <c:pt idx="85">
                  <c:v>08:15</c:v>
                </c:pt>
                <c:pt idx="86">
                  <c:v>08:30</c:v>
                </c:pt>
                <c:pt idx="87">
                  <c:v>08:45</c:v>
                </c:pt>
                <c:pt idx="88">
                  <c:v>09:00</c:v>
                </c:pt>
                <c:pt idx="89">
                  <c:v>09:15</c:v>
                </c:pt>
                <c:pt idx="90">
                  <c:v>09:30</c:v>
                </c:pt>
                <c:pt idx="91">
                  <c:v>09:45</c:v>
                </c:pt>
                <c:pt idx="92">
                  <c:v>10:00</c:v>
                </c:pt>
                <c:pt idx="93">
                  <c:v>10:15</c:v>
                </c:pt>
                <c:pt idx="94">
                  <c:v>10:30</c:v>
                </c:pt>
                <c:pt idx="95">
                  <c:v>10:45</c:v>
                </c:pt>
              </c:strCache>
            </c:strRef>
          </c:cat>
          <c:val>
            <c:numRef>
              <c:f>'1'!$F$116:$F$211</c:f>
              <c:numCache>
                <c:formatCode>0.000000</c:formatCode>
                <c:ptCount val="96"/>
                <c:pt idx="0">
                  <c:v>87.189591397849455</c:v>
                </c:pt>
                <c:pt idx="1">
                  <c:v>107.87006451612901</c:v>
                </c:pt>
                <c:pt idx="2">
                  <c:v>133.81478494623661</c:v>
                </c:pt>
                <c:pt idx="3">
                  <c:v>132.07587096774191</c:v>
                </c:pt>
                <c:pt idx="4">
                  <c:v>116.46586021505379</c:v>
                </c:pt>
                <c:pt idx="5">
                  <c:v>124.4563010752688</c:v>
                </c:pt>
                <c:pt idx="6">
                  <c:v>107.9239569892473</c:v>
                </c:pt>
                <c:pt idx="7">
                  <c:v>104.5794408602151</c:v>
                </c:pt>
                <c:pt idx="8">
                  <c:v>99.936784946236557</c:v>
                </c:pt>
                <c:pt idx="9">
                  <c:v>93.461505376344093</c:v>
                </c:pt>
                <c:pt idx="10">
                  <c:v>106.485</c:v>
                </c:pt>
                <c:pt idx="11">
                  <c:v>83.042913978494624</c:v>
                </c:pt>
                <c:pt idx="12">
                  <c:v>84.265827956989241</c:v>
                </c:pt>
                <c:pt idx="13">
                  <c:v>103.9481612903226</c:v>
                </c:pt>
                <c:pt idx="14">
                  <c:v>93.469634408602147</c:v>
                </c:pt>
                <c:pt idx="15">
                  <c:v>106.5503978494624</c:v>
                </c:pt>
                <c:pt idx="16">
                  <c:v>120.66929032258069</c:v>
                </c:pt>
                <c:pt idx="17">
                  <c:v>97.102118279569879</c:v>
                </c:pt>
                <c:pt idx="18">
                  <c:v>95.3957311827957</c:v>
                </c:pt>
                <c:pt idx="19">
                  <c:v>71.237494623655905</c:v>
                </c:pt>
                <c:pt idx="20">
                  <c:v>100.26892473118281</c:v>
                </c:pt>
                <c:pt idx="21">
                  <c:v>102.2888817204301</c:v>
                </c:pt>
                <c:pt idx="22">
                  <c:v>120.0385161290323</c:v>
                </c:pt>
                <c:pt idx="23">
                  <c:v>159.39091397849461</c:v>
                </c:pt>
                <c:pt idx="24">
                  <c:v>207.15927956989239</c:v>
                </c:pt>
                <c:pt idx="25">
                  <c:v>254.47720430107529</c:v>
                </c:pt>
                <c:pt idx="26">
                  <c:v>230.1089569892473</c:v>
                </c:pt>
                <c:pt idx="27">
                  <c:v>243.34092473118281</c:v>
                </c:pt>
                <c:pt idx="28">
                  <c:v>224.09884946236559</c:v>
                </c:pt>
                <c:pt idx="29">
                  <c:v>247.97226881720431</c:v>
                </c:pt>
                <c:pt idx="30">
                  <c:v>245.77634408602151</c:v>
                </c:pt>
                <c:pt idx="31">
                  <c:v>252.28224731182789</c:v>
                </c:pt>
                <c:pt idx="32">
                  <c:v>254.1830107526882</c:v>
                </c:pt>
                <c:pt idx="33">
                  <c:v>237.86576344086021</c:v>
                </c:pt>
                <c:pt idx="34">
                  <c:v>251.50320430107519</c:v>
                </c:pt>
                <c:pt idx="35">
                  <c:v>250.71168817204301</c:v>
                </c:pt>
                <c:pt idx="36">
                  <c:v>217.29651612903231</c:v>
                </c:pt>
                <c:pt idx="37">
                  <c:v>228.05264516129029</c:v>
                </c:pt>
                <c:pt idx="38">
                  <c:v>245.72337634408601</c:v>
                </c:pt>
                <c:pt idx="39">
                  <c:v>254.14874193548391</c:v>
                </c:pt>
                <c:pt idx="40">
                  <c:v>237.5588064516129</c:v>
                </c:pt>
                <c:pt idx="41">
                  <c:v>248.2040322580645</c:v>
                </c:pt>
                <c:pt idx="42">
                  <c:v>291.22038709677418</c:v>
                </c:pt>
                <c:pt idx="43">
                  <c:v>297.28533333333331</c:v>
                </c:pt>
                <c:pt idx="44">
                  <c:v>264.79422580645161</c:v>
                </c:pt>
                <c:pt idx="45">
                  <c:v>265.1423870967742</c:v>
                </c:pt>
                <c:pt idx="46">
                  <c:v>253.5881935483871</c:v>
                </c:pt>
                <c:pt idx="47">
                  <c:v>257.7868064516129</c:v>
                </c:pt>
                <c:pt idx="48">
                  <c:v>247.2142688172043</c:v>
                </c:pt>
                <c:pt idx="49">
                  <c:v>247.8325376344086</c:v>
                </c:pt>
                <c:pt idx="50">
                  <c:v>253.79247311827959</c:v>
                </c:pt>
                <c:pt idx="51">
                  <c:v>258.37921505376352</c:v>
                </c:pt>
                <c:pt idx="52">
                  <c:v>303.59012222222219</c:v>
                </c:pt>
                <c:pt idx="53">
                  <c:v>347.02982222222221</c:v>
                </c:pt>
                <c:pt idx="54">
                  <c:v>320.37571111111112</c:v>
                </c:pt>
                <c:pt idx="55">
                  <c:v>293.24065555555558</c:v>
                </c:pt>
                <c:pt idx="56">
                  <c:v>300.09235555555563</c:v>
                </c:pt>
                <c:pt idx="57">
                  <c:v>309.10086666666672</c:v>
                </c:pt>
                <c:pt idx="58">
                  <c:v>307.78634444444452</c:v>
                </c:pt>
                <c:pt idx="59">
                  <c:v>268.57694444444451</c:v>
                </c:pt>
                <c:pt idx="60">
                  <c:v>295.4069777777778</c:v>
                </c:pt>
                <c:pt idx="61">
                  <c:v>310.8378222222222</c:v>
                </c:pt>
                <c:pt idx="62">
                  <c:v>312.97579999999999</c:v>
                </c:pt>
                <c:pt idx="63">
                  <c:v>336.62067777777781</c:v>
                </c:pt>
                <c:pt idx="64">
                  <c:v>324.66676666666672</c:v>
                </c:pt>
                <c:pt idx="65">
                  <c:v>327.44948888888888</c:v>
                </c:pt>
                <c:pt idx="66">
                  <c:v>305.71872222222231</c:v>
                </c:pt>
                <c:pt idx="67">
                  <c:v>289.08262222222231</c:v>
                </c:pt>
                <c:pt idx="68">
                  <c:v>313.87197777777777</c:v>
                </c:pt>
                <c:pt idx="69">
                  <c:v>290.82752222222223</c:v>
                </c:pt>
                <c:pt idx="70">
                  <c:v>255.47675555555551</c:v>
                </c:pt>
                <c:pt idx="71">
                  <c:v>243.59163333333331</c:v>
                </c:pt>
                <c:pt idx="72">
                  <c:v>221.1161222222222</c:v>
                </c:pt>
                <c:pt idx="73">
                  <c:v>218.0125888888889</c:v>
                </c:pt>
                <c:pt idx="74">
                  <c:v>227.43035555555559</c:v>
                </c:pt>
                <c:pt idx="75">
                  <c:v>217.78867777777779</c:v>
                </c:pt>
                <c:pt idx="76">
                  <c:v>186.3928888888889</c:v>
                </c:pt>
                <c:pt idx="77">
                  <c:v>223.6218111111111</c:v>
                </c:pt>
                <c:pt idx="78">
                  <c:v>220.48740000000001</c:v>
                </c:pt>
                <c:pt idx="79">
                  <c:v>226.5585111111111</c:v>
                </c:pt>
                <c:pt idx="80">
                  <c:v>167.26527777777781</c:v>
                </c:pt>
                <c:pt idx="81">
                  <c:v>188.7032111111111</c:v>
                </c:pt>
                <c:pt idx="82">
                  <c:v>163.93963333333329</c:v>
                </c:pt>
                <c:pt idx="83">
                  <c:v>139.94569999999999</c:v>
                </c:pt>
                <c:pt idx="84">
                  <c:v>137.10777777777781</c:v>
                </c:pt>
                <c:pt idx="85">
                  <c:v>130.53898888888889</c:v>
                </c:pt>
                <c:pt idx="86">
                  <c:v>128.73548888888891</c:v>
                </c:pt>
                <c:pt idx="87">
                  <c:v>103.9430222222222</c:v>
                </c:pt>
                <c:pt idx="88">
                  <c:v>105.6265666666667</c:v>
                </c:pt>
                <c:pt idx="89">
                  <c:v>132.01595555555559</c:v>
                </c:pt>
                <c:pt idx="90">
                  <c:v>88.057422222222215</c:v>
                </c:pt>
                <c:pt idx="91">
                  <c:v>74.410233333333338</c:v>
                </c:pt>
                <c:pt idx="92">
                  <c:v>95.220377777777784</c:v>
                </c:pt>
                <c:pt idx="93">
                  <c:v>98.33005555555556</c:v>
                </c:pt>
                <c:pt idx="94">
                  <c:v>89.862633333333335</c:v>
                </c:pt>
                <c:pt idx="95">
                  <c:v>88.957784946236558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FC5B-4E04-9DC3-D780C4806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zh-CN" altLang="en-US"/>
                  <a:t>价格（元</a:t>
                </a:r>
                <a:r>
                  <a:rPr lang="en-US" altLang="zh-CN"/>
                  <a:t>/MWh</a:t>
                </a:r>
                <a:r>
                  <a:rPr lang="zh-CN" altLang="en-US"/>
                  <a:t>）</a:t>
                </a:r>
                <a:endParaRPr lang="zh-CN"/>
              </a:p>
            </c:rich>
          </c:tx>
          <c:overlay val="1"/>
        </c:title>
        <c:numFmt formatCode="0.000" sourceLinked="0"/>
        <c:majorTickMark val="out"/>
        <c:minorTickMark val="none"/>
        <c:tickLblPos val="nextTo"/>
        <c:crossAx val="1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34352481043019639"/>
          <c:y val="0.48571562212951547"/>
          <c:w val="0.5190905787827047"/>
          <c:h val="0.23340895216174956"/>
        </c:manualLayout>
      </c:layout>
      <c:overlay val="0"/>
    </c:legend>
    <c:plotVisOnly val="1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24EDD-08E7-4802-9E3E-629F646AB6D8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EDD14-4813-44A5-894A-1090C6B240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C23980-F958-4A75-90E1-B886C2D599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267C-5D45-3FD7-BC69-6B12F886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38FAFB-6050-B95F-0B6D-3F718D17B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25C48D-B6B4-EE2D-745A-F6BD3B72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33C9EB-5DF1-C435-58E5-55CE939C4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371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4D3A-AC6E-9303-117D-52B75FF3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6627EF-C694-89B4-C0AF-485BD8DAF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754FDB-308C-039E-67E4-9E306F91D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b="0">
                <a:effectLst/>
              </a:rPr>
              <a:t>2026</a:t>
            </a:r>
            <a:r>
              <a:rPr lang="zh-CN" altLang="en-US" b="0">
                <a:effectLst/>
              </a:rPr>
              <a:t>年</a:t>
            </a:r>
            <a:r>
              <a:rPr lang="en-US" altLang="zh-CN" b="0">
                <a:effectLst/>
              </a:rPr>
              <a:t>3</a:t>
            </a:r>
            <a:r>
              <a:rPr lang="zh-CN" altLang="en-US" b="0">
                <a:effectLst/>
              </a:rPr>
              <a:t>月，虽然同比负荷几乎持平，但更高的竞价空间并没有</a:t>
            </a:r>
            <a:r>
              <a:rPr lang="en-US" altLang="zh-CN" b="0">
                <a:effectLst/>
              </a:rPr>
              <a:t>trigger</a:t>
            </a:r>
            <a:r>
              <a:rPr lang="zh-CN" altLang="en-US" b="0">
                <a:effectLst/>
              </a:rPr>
              <a:t>更强的电价，因此可以看出，除了竞价空间的绝对大小外，更关键的是竞价空间里的供给结构也会很大程度影响电价。</a:t>
            </a:r>
          </a:p>
          <a:p>
            <a:r>
              <a:rPr lang="en-US" altLang="zh-CN" b="0" i="0">
                <a:effectLst/>
                <a:latin typeface="Inter"/>
              </a:rPr>
              <a:t>3</a:t>
            </a:r>
            <a:r>
              <a:rPr lang="zh-CN" altLang="en-US" b="0" i="0">
                <a:effectLst/>
                <a:latin typeface="Inter"/>
              </a:rPr>
              <a:t>月现货价格环比提高，但同比仍偏弱，说明市场并非总量性紧张，而是结构性或时序性不匹配；尤其是东送增加、风光结构调整和区域供需分化，共同导致在竞价空间扩大的情况下，价格并未同步走强。</a:t>
            </a:r>
            <a:endParaRPr lang="en-US" altLang="zh-CN" b="0" i="0">
              <a:effectLst/>
              <a:latin typeface="Inter"/>
            </a:endParaRPr>
          </a:p>
          <a:p>
            <a:endParaRPr lang="en-US" b="0" i="0">
              <a:effectLst/>
              <a:latin typeface="Inter"/>
            </a:endParaRPr>
          </a:p>
          <a:p>
            <a:r>
              <a:rPr lang="zh-CN" altLang="en-US" b="0" i="0">
                <a:effectLst/>
                <a:latin typeface="Inter"/>
              </a:rPr>
              <a:t>结论</a:t>
            </a:r>
            <a:r>
              <a:rPr lang="en-US" altLang="zh-CN" b="0" i="0">
                <a:effectLst/>
                <a:latin typeface="Inter"/>
              </a:rPr>
              <a:t>123 </a:t>
            </a:r>
            <a:r>
              <a:rPr lang="zh-CN" altLang="en-US" b="0" i="0">
                <a:effectLst/>
                <a:latin typeface="Inter"/>
              </a:rPr>
              <a:t>储能的影响</a:t>
            </a:r>
            <a:endParaRPr lang="en-US" b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BFD9A8-5BEE-7D12-5293-744877B1B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049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8517-053E-8110-B3A7-FBACB0E9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B3F13E-AF00-346B-9A9B-9FB837944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E2D4BB-B003-217C-7BF8-5DB9DADA0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CDB8F5-7AF2-C08D-A000-4DDED05FF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007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ED39B-0046-1D2F-7B02-65EBAD1A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D6617D-AB15-34BA-6C47-D2CA2F357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1FC1EC-46E4-CE64-FD1B-22D9FA3CF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等线"/>
              </a:rPr>
              <a:t>前</a:t>
            </a:r>
            <a:r>
              <a:rPr lang="en-US" altLang="zh-CN">
                <a:ea typeface="等线"/>
              </a:rPr>
              <a:t>10，和自己排名，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A4758-BA9A-167A-1F24-8BABBB1B7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452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9C4D1-4D66-B6C4-0468-0C6ED6FF0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F9F886-75EA-3BC5-BA10-BE8191BCD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59AC3D-CEE5-DE33-C17F-4705B0EAB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月前预测上网</a:t>
            </a:r>
            <a:r>
              <a:rPr lang="en-US" altLang="zh-CN"/>
              <a:t>1</a:t>
            </a:r>
            <a:r>
              <a:rPr lang="zh-CN" altLang="en-US"/>
              <a:t>亿</a:t>
            </a:r>
            <a:r>
              <a:rPr lang="en-US" altLang="zh-CN" err="1"/>
              <a:t>KWh</a:t>
            </a:r>
            <a:r>
              <a:rPr lang="zh-CN" altLang="en-US"/>
              <a:t>，全月目标仓位</a:t>
            </a:r>
            <a:r>
              <a:rPr lang="en-US" altLang="zh-CN"/>
              <a:t>110%</a:t>
            </a:r>
            <a:r>
              <a:rPr lang="zh-CN" altLang="en-US"/>
              <a:t>，年度跨省合约</a:t>
            </a:r>
            <a:r>
              <a:rPr lang="en-US" altLang="zh-CN"/>
              <a:t>0.5</a:t>
            </a:r>
            <a:r>
              <a:rPr lang="zh-CN" altLang="en-US"/>
              <a:t>亿，月度挂牌成交</a:t>
            </a:r>
            <a:r>
              <a:rPr lang="en-US" altLang="zh-CN"/>
              <a:t>0.5</a:t>
            </a:r>
            <a:r>
              <a:rPr lang="zh-CN" altLang="en-US"/>
              <a:t>亿，月内计划加仓罗总渠道用户</a:t>
            </a:r>
            <a:r>
              <a:rPr lang="en-US" altLang="zh-CN"/>
              <a:t>0.15</a:t>
            </a:r>
            <a:r>
              <a:rPr lang="zh-CN" altLang="en-US"/>
              <a:t>亿；月底风速明显下降，目前预计上网</a:t>
            </a:r>
            <a:r>
              <a:rPr lang="en-US" altLang="zh-CN"/>
              <a:t>0.9</a:t>
            </a:r>
            <a:r>
              <a:rPr lang="zh-CN" altLang="en-US"/>
              <a:t>亿，预计全天仓位</a:t>
            </a:r>
            <a:r>
              <a:rPr lang="en-US" altLang="zh-CN"/>
              <a:t>120%</a:t>
            </a:r>
            <a:r>
              <a:rPr lang="zh-CN" altLang="en-US"/>
              <a:t>，谷段仓位</a:t>
            </a:r>
            <a:r>
              <a:rPr lang="en-US" altLang="zh-CN"/>
              <a:t>160%</a:t>
            </a:r>
            <a:r>
              <a:rPr lang="zh-CN" altLang="en-US"/>
              <a:t>，将触发超签考核，结算价降低</a:t>
            </a:r>
            <a:r>
              <a:rPr lang="en-US" altLang="zh-CN"/>
              <a:t>13</a:t>
            </a:r>
            <a:r>
              <a:rPr lang="zh-CN" altLang="en-US"/>
              <a:t>元</a:t>
            </a:r>
            <a:r>
              <a:rPr lang="en-US" altLang="zh-CN"/>
              <a:t>/MWh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3A2306-FC16-8F8A-6AEA-F1B4ED25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649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E2D2-0268-256F-2DA8-D47950AA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CA58EC-6DAF-8F89-C97E-095580284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B87CFD-13D6-C995-C144-759333FA3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EFE00-353C-658C-4306-B19F645E4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9531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E5FD-ACAC-5710-780B-E6D444E5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E197DF-268A-6E35-9EC1-FE04157D7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1A42D2-B9CB-BC16-2280-DC1DD36B0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6371C0-F3C3-DE12-B90E-AA8EEF0C4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912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1F29A-C8F8-1386-4E95-3EB92964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D58219-B6C2-552B-2F1F-8680799D5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7A122-3088-5AC0-4F0D-1681251F4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A2DC94-8349-A946-2A3E-E89F77703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8197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CB2F-223B-0C24-E6CA-F07DCA8E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9E7679-215D-631A-3853-7F23D13C2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525CD3-BD0A-96CC-66A4-A91202B1F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DD7B4-C2A0-6522-42C1-8F86B8B48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153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D2503-E6AE-8408-A4A4-F7F1C46B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B9DF18-613C-F173-E2BA-7FAEF0B54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68D484-4BDA-8573-99A9-CBC6338DC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月前预测上网</a:t>
            </a:r>
            <a:r>
              <a:rPr lang="en-US" altLang="zh-CN"/>
              <a:t>1</a:t>
            </a:r>
            <a:r>
              <a:rPr lang="zh-CN" altLang="en-US"/>
              <a:t>亿</a:t>
            </a:r>
            <a:r>
              <a:rPr lang="en-US" altLang="zh-CN" err="1"/>
              <a:t>KWh</a:t>
            </a:r>
            <a:r>
              <a:rPr lang="zh-CN" altLang="en-US"/>
              <a:t>，全月目标仓位</a:t>
            </a:r>
            <a:r>
              <a:rPr lang="en-US" altLang="zh-CN"/>
              <a:t>110%</a:t>
            </a:r>
            <a:r>
              <a:rPr lang="zh-CN" altLang="en-US"/>
              <a:t>，年度跨省合约</a:t>
            </a:r>
            <a:r>
              <a:rPr lang="en-US" altLang="zh-CN"/>
              <a:t>0.5</a:t>
            </a:r>
            <a:r>
              <a:rPr lang="zh-CN" altLang="en-US"/>
              <a:t>亿，月度挂牌成交</a:t>
            </a:r>
            <a:r>
              <a:rPr lang="en-US" altLang="zh-CN"/>
              <a:t>0.5</a:t>
            </a:r>
            <a:r>
              <a:rPr lang="zh-CN" altLang="en-US"/>
              <a:t>亿，月内计划加仓罗总渠道用户</a:t>
            </a:r>
            <a:r>
              <a:rPr lang="en-US" altLang="zh-CN"/>
              <a:t>0.15</a:t>
            </a:r>
            <a:r>
              <a:rPr lang="zh-CN" altLang="en-US"/>
              <a:t>亿；月底风速明显下降，目前预计上网</a:t>
            </a:r>
            <a:r>
              <a:rPr lang="en-US" altLang="zh-CN"/>
              <a:t>0.9</a:t>
            </a:r>
            <a:r>
              <a:rPr lang="zh-CN" altLang="en-US"/>
              <a:t>亿，预计全天仓位</a:t>
            </a:r>
            <a:r>
              <a:rPr lang="en-US" altLang="zh-CN"/>
              <a:t>120%</a:t>
            </a:r>
            <a:r>
              <a:rPr lang="zh-CN" altLang="en-US"/>
              <a:t>，谷段仓位</a:t>
            </a:r>
            <a:r>
              <a:rPr lang="en-US" altLang="zh-CN"/>
              <a:t>160%</a:t>
            </a:r>
            <a:r>
              <a:rPr lang="zh-CN" altLang="en-US"/>
              <a:t>，将触发超签考核，结算价降低</a:t>
            </a:r>
            <a:r>
              <a:rPr lang="en-US" altLang="zh-CN"/>
              <a:t>13</a:t>
            </a:r>
            <a:r>
              <a:rPr lang="zh-CN" altLang="en-US"/>
              <a:t>元</a:t>
            </a:r>
            <a:r>
              <a:rPr lang="en-US" altLang="zh-CN"/>
              <a:t>/MWh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5C645-9707-F342-4AD7-93CE665C0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261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D84B-6A45-2CDB-CBFC-B4A8F776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C69074-3445-E89A-E336-91C24E055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39EA86-202B-3E3B-DBB5-88A5E67C3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C00011-C0D5-AAFD-FE84-F1C24E5D6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258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27CA-D2F5-92E5-9BDC-3430512C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758DEE-907C-0CC5-09EE-BDF3F6CE9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C4E3A3-1EE8-F7F4-5F7E-906637E27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99AC61-79D7-72E7-1EC1-51B8B0548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070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2E2F-8575-7F49-8E44-4A0438A9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F9C8E7-E125-4357-5738-CE2AECA03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44FE66-F750-8242-90E5-E5235EBC9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A5D989-9B0F-14FC-6704-017D15F9C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445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79E1-1011-346B-FE45-17E85AF0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360478-B715-EA17-A8C6-429AC723F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754E04-175C-0E72-BAE9-927651EE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3EF37-5810-78D3-A056-10A24474D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0167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3B97-7403-0B47-3F9A-D27FD948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E0AE51-E2E0-1FC5-E755-4D0860346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9436F1-E00F-6206-93FE-BB4C1010C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SOC</a:t>
            </a:r>
            <a:r>
              <a:rPr lang="zh-CN" altLang="en-US"/>
              <a:t>管理、大小储协同策略管理、复盘、</a:t>
            </a:r>
            <a:r>
              <a:rPr lang="en-US" altLang="zh-CN"/>
              <a:t>AI</a:t>
            </a:r>
            <a:r>
              <a:rPr lang="zh-CN" altLang="en-US"/>
              <a:t>策略工具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D79884-2DEC-87C9-2EB8-343B1901E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CD543DC-5563-48F3-AC25-2F754CC3F2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8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A465-2EA1-453C-A84A-C9DE5BFB9D2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F96CE-D536-4AE0-8FEC-6B7DDB73F5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自定义版式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9739313" y="68263"/>
            <a:ext cx="2447925" cy="5222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文档密级：秘密</a:t>
            </a:r>
            <a:endParaRPr lang="en-US" altLang="zh-CN" sz="14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400">
                <a:cs typeface="Arial" panose="020B0604020202020204" pitchFamily="34" charset="0"/>
              </a:rPr>
              <a:t>Documentlevel:Confidential</a:t>
            </a:r>
            <a:endParaRPr lang="en-US" altLang="zh-CN" sz="1400"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9350"/>
            <a:ext cx="12192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0938"/>
            <a:ext cx="121920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75" y="6259513"/>
            <a:ext cx="432435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146300" y="6224588"/>
            <a:ext cx="10045700" cy="676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未经明确授权，本文档禁止拷贝.截屏.拍摄及其他扩散行为，如有发现按违反远景信息安全红线处理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en-US" altLang="zh-CN" sz="1200">
                <a:solidFill>
                  <a:schemeClr val="bg1"/>
                </a:solidFill>
              </a:rPr>
              <a:t>Withoutexplicitauthorization,thisdocumentprohibitscopying,screencapture,filmingandotherproliferationactions,iffound,itwillbehandledinaccordancewiththeEnvisioninformationsecurityredline.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8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Withoutexplicitauthorization,thisdocumentprohibitscopying,screencapture,filmingandotherproliferationactions,iffound,itwillbehandledinaccordancewiththeEnvisioninformationsecurityredline.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201400" y="5857875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371600" y="749300"/>
            <a:ext cx="7099300" cy="800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76611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3AFFC-B7CC-A6B8-1F4E-FE5DC74DC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D0E9B0-BBD9-1D13-91AB-CEF44CA84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793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230112"/>
            <a:ext cx="12192000" cy="627888"/>
          </a:xfrm>
          <a:prstGeom prst="rect">
            <a:avLst/>
          </a:prstGeom>
        </p:spPr>
      </p:pic>
      <p:pic>
        <p:nvPicPr>
          <p:cNvPr id="7" name="Picture 2" descr="C:\Users\vip\Desktop\DIGITAL PPT-06.jpg"/>
          <p:cNvPicPr>
            <a:picLocks noChangeAspect="1" noChangeArrowheads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0" y="6231731"/>
            <a:ext cx="12192000" cy="62626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30980" y="6259368"/>
            <a:ext cx="4324208" cy="47518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2145890" y="6224570"/>
            <a:ext cx="100461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未经明确授权，本文档禁止拷贝、截屏、拍摄及其他扩散行为，如有发现按违反远景信息安全红线处理</a:t>
            </a:r>
            <a:endParaRPr lang="en-US" altLang="zh-CN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Without explicit authorization, this document prohibits copying, screen capture, filming and other proliferation actions, if found, it will be handled in accordance with the Envision information security red line.</a:t>
            </a:r>
            <a:endParaRPr lang="zh-CN" altLang="en-US" sz="1200" b="0" i="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F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8374" y="1180800"/>
            <a:ext cx="11454525" cy="500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/>
              <a:t>Content Level 1</a:t>
            </a:r>
          </a:p>
          <a:p>
            <a:pPr lvl="1"/>
            <a:r>
              <a:rPr kumimoji="1" lang="en-US" altLang="zh-CN"/>
              <a:t>Content Level 2</a:t>
            </a:r>
          </a:p>
          <a:p>
            <a:pPr lvl="1"/>
            <a:r>
              <a:rPr kumimoji="1" lang="en-US" altLang="zh-CN"/>
              <a:t>	Content Level 3</a:t>
            </a:r>
            <a:endParaRPr kumimoji="1"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318374" y="215901"/>
            <a:ext cx="11454525" cy="604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/>
              <a:t>Page Title</a:t>
            </a:r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-4463" y="6414196"/>
            <a:ext cx="1804688" cy="443804"/>
          </a:xfrm>
          <a:prstGeom prst="rect">
            <a:avLst/>
          </a:prstGeom>
          <a:solidFill>
            <a:srgbClr val="FD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形 23"/>
          <p:cNvPicPr>
            <a:picLocks noChangeAspect="1"/>
          </p:cNvPicPr>
          <p:nvPr userDrawn="1"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512" y="6478985"/>
            <a:ext cx="990739" cy="314227"/>
          </a:xfrm>
          <a:prstGeom prst="rect">
            <a:avLst/>
          </a:prstGeom>
        </p:spPr>
      </p:pic>
      <p:sp>
        <p:nvSpPr>
          <p:cNvPr id="25" name="矩形 24"/>
          <p:cNvSpPr/>
          <p:nvPr userDrawn="1"/>
        </p:nvSpPr>
        <p:spPr>
          <a:xfrm>
            <a:off x="1800224" y="6414196"/>
            <a:ext cx="10391776" cy="443804"/>
          </a:xfrm>
          <a:prstGeom prst="rect">
            <a:avLst/>
          </a:prstGeom>
          <a:solidFill>
            <a:srgbClr val="3C3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r"/>
            <a:endParaRPr kumimoji="1" lang="zh-CN" altLang="en-US" sz="1000"/>
          </a:p>
        </p:txBody>
      </p:sp>
      <p:sp>
        <p:nvSpPr>
          <p:cNvPr id="26" name="灯片编号占位符 6"/>
          <p:cNvSpPr txBox="1"/>
          <p:nvPr userDrawn="1"/>
        </p:nvSpPr>
        <p:spPr>
          <a:xfrm>
            <a:off x="6954715" y="6465713"/>
            <a:ext cx="5155659" cy="3407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>
                <a:latin typeface="Calibri" panose="020F0502020204030204" pitchFamily="34" charset="0"/>
                <a:cs typeface="Calibri" panose="020F0502020204030204" pitchFamily="34" charset="0"/>
              </a:rPr>
              <a:t>© 2021 Envision Digital. All Rights Reserved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|Page</a:t>
            </a:r>
            <a:fld id="{CCD584DD-5604-4DED-B8D6-A28E3F71D8B2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矩形 56"/>
          <p:cNvSpPr/>
          <p:nvPr userDrawn="1"/>
        </p:nvSpPr>
        <p:spPr>
          <a:xfrm>
            <a:off x="12283768" y="0"/>
            <a:ext cx="10739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b="1">
                <a:solidFill>
                  <a:srgbClr val="A3A5B3"/>
                </a:solidFill>
                <a:latin typeface="+mj-lt"/>
              </a:rPr>
              <a:t>Dark Theme Palette</a:t>
            </a:r>
            <a:endParaRPr lang="zh-CN" altLang="en-US" sz="1200" b="1">
              <a:solidFill>
                <a:srgbClr val="A3A5B3"/>
              </a:solidFill>
              <a:latin typeface="+mj-lt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12368385" y="467912"/>
            <a:ext cx="432000" cy="432000"/>
          </a:xfrm>
          <a:prstGeom prst="rect">
            <a:avLst/>
          </a:prstGeom>
          <a:solidFill>
            <a:srgbClr val="199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2368385" y="972332"/>
            <a:ext cx="432000" cy="432000"/>
          </a:xfrm>
          <a:prstGeom prst="rect">
            <a:avLst/>
          </a:prstGeom>
          <a:solidFill>
            <a:srgbClr val="7F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2368385" y="1476752"/>
            <a:ext cx="432000" cy="432000"/>
          </a:xfrm>
          <a:prstGeom prst="rect">
            <a:avLst/>
          </a:prstGeom>
          <a:solidFill>
            <a:srgbClr val="09C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12377694" y="1981172"/>
            <a:ext cx="432000" cy="432000"/>
          </a:xfrm>
          <a:prstGeom prst="rect">
            <a:avLst/>
          </a:prstGeom>
          <a:solidFill>
            <a:srgbClr val="30C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12377694" y="2485592"/>
            <a:ext cx="432000" cy="432000"/>
          </a:xfrm>
          <a:prstGeom prst="rect">
            <a:avLst/>
          </a:prstGeom>
          <a:solidFill>
            <a:srgbClr val="F7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12377694" y="2990012"/>
            <a:ext cx="432000" cy="432000"/>
          </a:xfrm>
          <a:prstGeom prst="rect">
            <a:avLst/>
          </a:prstGeom>
          <a:solidFill>
            <a:srgbClr val="B86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12368385" y="3494432"/>
            <a:ext cx="432000" cy="432000"/>
          </a:xfrm>
          <a:prstGeom prst="rect">
            <a:avLst/>
          </a:prstGeom>
          <a:solidFill>
            <a:srgbClr val="9ED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12368385" y="3998852"/>
            <a:ext cx="432000" cy="432000"/>
          </a:xfrm>
          <a:prstGeom prst="rect">
            <a:avLst/>
          </a:prstGeom>
          <a:solidFill>
            <a:srgbClr val="FAA2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12368385" y="4503272"/>
            <a:ext cx="432000" cy="432000"/>
          </a:xfrm>
          <a:prstGeom prst="rect">
            <a:avLst/>
          </a:prstGeom>
          <a:solidFill>
            <a:srgbClr val="F5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12368385" y="5007690"/>
            <a:ext cx="432000" cy="432000"/>
          </a:xfrm>
          <a:prstGeom prst="rect">
            <a:avLst/>
          </a:prstGeom>
          <a:solidFill>
            <a:srgbClr val="F66E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12925695" y="467912"/>
            <a:ext cx="43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12925695" y="972332"/>
            <a:ext cx="432000" cy="432000"/>
          </a:xfrm>
          <a:prstGeom prst="rect">
            <a:avLst/>
          </a:prstGeom>
          <a:solidFill>
            <a:srgbClr val="F8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12925695" y="1476752"/>
            <a:ext cx="432000" cy="432000"/>
          </a:xfrm>
          <a:prstGeom prst="rect">
            <a:avLst/>
          </a:prstGeom>
          <a:solidFill>
            <a:srgbClr val="D6D9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12925695" y="1988160"/>
            <a:ext cx="432000" cy="432000"/>
          </a:xfrm>
          <a:prstGeom prst="rect">
            <a:avLst/>
          </a:prstGeom>
          <a:solidFill>
            <a:srgbClr val="A3A5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12925695" y="2485592"/>
            <a:ext cx="432000" cy="432000"/>
          </a:xfrm>
          <a:prstGeom prst="rect">
            <a:avLst/>
          </a:prstGeom>
          <a:solidFill>
            <a:srgbClr val="7676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12925695" y="2997000"/>
            <a:ext cx="432000" cy="432000"/>
          </a:xfrm>
          <a:prstGeom prst="rect">
            <a:avLst/>
          </a:prstGeom>
          <a:solidFill>
            <a:srgbClr val="3E3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613500" y="3788"/>
            <a:ext cx="8563234" cy="615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1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2000" b="1" kern="1200" baseline="0" dirty="0" smtClean="0">
          <a:solidFill>
            <a:srgbClr val="F8F6FB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rgbClr val="F8F5FB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D6D9D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CG41N1370099955拷贝.jpg" descr="VCG41N1370099955拷贝.jpg">
            <a:extLst>
              <a:ext uri="{FF2B5EF4-FFF2-40B4-BE49-F238E27FC236}">
                <a16:creationId xmlns:a16="http://schemas.microsoft.com/office/drawing/2014/main" id="{EE5885DC-8F27-C1E6-5D0C-1722E402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" r="247" b="11865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4063F7-E86C-6FCA-75E3-7CB1C5C3E09C}"/>
              </a:ext>
            </a:extLst>
          </p:cNvPr>
          <p:cNvSpPr txBox="1"/>
          <p:nvPr/>
        </p:nvSpPr>
        <p:spPr>
          <a:xfrm>
            <a:off x="1299028" y="2844225"/>
            <a:ext cx="9593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蒙西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储能场站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复盘（</a:t>
            </a:r>
            <a:r>
              <a:rPr kumimoji="0" lang="en-US" altLang="zh-CN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32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月）</a:t>
            </a:r>
            <a:endParaRPr kumimoji="0" lang="en-US" altLang="zh-CN" sz="32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BA996-9EB9-453D-8E5D-8DE83D9C36A1}"/>
              </a:ext>
            </a:extLst>
          </p:cNvPr>
          <p:cNvSpPr txBox="1"/>
          <p:nvPr/>
        </p:nvSpPr>
        <p:spPr>
          <a:xfrm>
            <a:off x="1299028" y="3994029"/>
            <a:ext cx="9593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2026.4.17</a:t>
            </a:r>
            <a:endParaRPr kumimoji="0" lang="zh-CN" altLang="en-US" sz="14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83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_MH_Others_1"/>
          <p:cNvSpPr txBox="1"/>
          <p:nvPr>
            <p:custDataLst>
              <p:tags r:id="rId1"/>
            </p:custDataLst>
          </p:nvPr>
        </p:nvSpPr>
        <p:spPr>
          <a:xfrm>
            <a:off x="1616485" y="2051050"/>
            <a:ext cx="1435100" cy="27559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</a:t>
            </a:r>
            <a:endParaRPr kumimoji="0" lang="en-US" altLang="zh-CN" sz="6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录</a:t>
            </a:r>
          </a:p>
        </p:txBody>
      </p:sp>
      <p:sp>
        <p:nvSpPr>
          <p:cNvPr id="10" name="PA_MH_Others_2"/>
          <p:cNvSpPr txBox="1"/>
          <p:nvPr>
            <p:custDataLst>
              <p:tags r:id="rId2"/>
            </p:custDataLst>
          </p:nvPr>
        </p:nvSpPr>
        <p:spPr>
          <a:xfrm rot="5400000">
            <a:off x="-172875" y="3167390"/>
            <a:ext cx="3693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40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rPr>
              <a:t>CONTENTS</a:t>
            </a:r>
            <a:endParaRPr kumimoji="0" lang="zh-CN" altLang="en-US" sz="2800" b="0" i="0" u="none" strike="noStrike" kern="1200" cap="none" spc="40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>
            <p:custDataLst>
              <p:tags r:id="rId3"/>
            </p:custDataLst>
          </p:nvPr>
        </p:nvGrpSpPr>
        <p:grpSpPr>
          <a:xfrm>
            <a:off x="4047916" y="1243589"/>
            <a:ext cx="6183086" cy="504000"/>
            <a:chOff x="4237474" y="563966"/>
            <a:chExt cx="6183086" cy="504000"/>
          </a:xfrm>
        </p:grpSpPr>
        <p:sp>
          <p:nvSpPr>
            <p:cNvPr id="11" name="MH_Entry_1"/>
            <p:cNvSpPr/>
            <p:nvPr>
              <p:custDataLst>
                <p:tags r:id="rId16"/>
              </p:custDataLst>
            </p:nvPr>
          </p:nvSpPr>
          <p:spPr>
            <a:xfrm>
              <a:off x="4237474" y="563966"/>
              <a:ext cx="6183086" cy="50400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252028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 cmpd="sng" algn="ctr">
              <a:solidFill>
                <a:schemeClr val="bg2">
                  <a:lumMod val="90000"/>
                </a:schemeClr>
              </a:solidFill>
              <a:prstDash val="solid"/>
              <a:bevel/>
            </a:ln>
            <a:effectLst/>
          </p:spPr>
          <p:txBody>
            <a:bodyPr wrap="square" lIns="576000" tIns="0" rIns="0" bIns="3600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收益概览</a:t>
              </a:r>
            </a:p>
          </p:txBody>
        </p:sp>
        <p:sp>
          <p:nvSpPr>
            <p:cNvPr id="12" name="矩形 11"/>
            <p:cNvSpPr/>
            <p:nvPr>
              <p:custDataLst>
                <p:tags r:id="rId17"/>
              </p:custDataLst>
            </p:nvPr>
          </p:nvSpPr>
          <p:spPr>
            <a:xfrm>
              <a:off x="4237474" y="599966"/>
              <a:ext cx="648000" cy="4320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4047916" y="2869769"/>
            <a:ext cx="6183086" cy="504000"/>
            <a:chOff x="4237474" y="563966"/>
            <a:chExt cx="6183086" cy="504000"/>
          </a:xfrm>
        </p:grpSpPr>
        <p:sp>
          <p:nvSpPr>
            <p:cNvPr id="14" name="MH_Entry_1"/>
            <p:cNvSpPr/>
            <p:nvPr>
              <p:custDataLst>
                <p:tags r:id="rId14"/>
              </p:custDataLst>
            </p:nvPr>
          </p:nvSpPr>
          <p:spPr>
            <a:xfrm>
              <a:off x="4237474" y="563966"/>
              <a:ext cx="6183086" cy="50400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252028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 cmpd="sng" algn="ctr">
              <a:solidFill>
                <a:schemeClr val="bg2">
                  <a:lumMod val="90000"/>
                </a:schemeClr>
              </a:solidFill>
              <a:prstDash val="solid"/>
              <a:bevel/>
            </a:ln>
            <a:effectLst/>
          </p:spPr>
          <p:txBody>
            <a:bodyPr wrap="square" lIns="576000" tIns="0" rIns="0" bIns="3600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市场竞争横评</a:t>
              </a:r>
            </a:p>
          </p:txBody>
        </p:sp>
        <p:sp>
          <p:nvSpPr>
            <p:cNvPr id="15" name="矩形 14"/>
            <p:cNvSpPr/>
            <p:nvPr>
              <p:custDataLst>
                <p:tags r:id="rId15"/>
              </p:custDataLst>
            </p:nvPr>
          </p:nvSpPr>
          <p:spPr>
            <a:xfrm>
              <a:off x="4237474" y="599966"/>
              <a:ext cx="648000" cy="4320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5"/>
            </p:custDataLst>
          </p:nvPr>
        </p:nvGrpSpPr>
        <p:grpSpPr>
          <a:xfrm>
            <a:off x="4047916" y="3682859"/>
            <a:ext cx="6183086" cy="504000"/>
            <a:chOff x="4237474" y="563966"/>
            <a:chExt cx="6183086" cy="504000"/>
          </a:xfrm>
        </p:grpSpPr>
        <p:sp>
          <p:nvSpPr>
            <p:cNvPr id="17" name="MH_Entry_1"/>
            <p:cNvSpPr/>
            <p:nvPr>
              <p:custDataLst>
                <p:tags r:id="rId12"/>
              </p:custDataLst>
            </p:nvPr>
          </p:nvSpPr>
          <p:spPr>
            <a:xfrm>
              <a:off x="4237474" y="563966"/>
              <a:ext cx="6183086" cy="50400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252028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 cmpd="sng" algn="ctr">
              <a:solidFill>
                <a:schemeClr val="bg2">
                  <a:lumMod val="90000"/>
                </a:schemeClr>
              </a:solidFill>
              <a:prstDash val="solid"/>
              <a:bevel/>
            </a:ln>
            <a:effectLst/>
          </p:spPr>
          <p:txBody>
            <a:bodyPr wrap="square" lIns="576000" tIns="0" rIns="0" bIns="3600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收益影响因素与提升方案</a:t>
              </a:r>
            </a:p>
          </p:txBody>
        </p:sp>
        <p:sp>
          <p:nvSpPr>
            <p:cNvPr id="18" name="矩形 17"/>
            <p:cNvSpPr/>
            <p:nvPr>
              <p:custDataLst>
                <p:tags r:id="rId13"/>
              </p:custDataLst>
            </p:nvPr>
          </p:nvSpPr>
          <p:spPr>
            <a:xfrm>
              <a:off x="4237474" y="599966"/>
              <a:ext cx="648000" cy="4320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4047916" y="4495948"/>
            <a:ext cx="6183086" cy="504000"/>
            <a:chOff x="4237474" y="563966"/>
            <a:chExt cx="6183086" cy="504000"/>
          </a:xfrm>
        </p:grpSpPr>
        <p:sp>
          <p:nvSpPr>
            <p:cNvPr id="20" name="MH_Entry_1"/>
            <p:cNvSpPr/>
            <p:nvPr>
              <p:custDataLst>
                <p:tags r:id="rId10"/>
              </p:custDataLst>
            </p:nvPr>
          </p:nvSpPr>
          <p:spPr>
            <a:xfrm>
              <a:off x="4237474" y="563966"/>
              <a:ext cx="6183086" cy="50400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252028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 cmpd="sng" algn="ctr">
              <a:solidFill>
                <a:schemeClr val="bg2">
                  <a:lumMod val="90000"/>
                </a:schemeClr>
              </a:solidFill>
              <a:prstDash val="solid"/>
              <a:bevel/>
            </a:ln>
            <a:effectLst/>
          </p:spPr>
          <p:txBody>
            <a:bodyPr wrap="square" lIns="576000" tIns="0" rIns="0" bIns="3600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下一步计划</a:t>
              </a:r>
            </a:p>
          </p:txBody>
        </p:sp>
        <p:sp>
          <p:nvSpPr>
            <p:cNvPr id="21" name="矩形 20"/>
            <p:cNvSpPr/>
            <p:nvPr>
              <p:custDataLst>
                <p:tags r:id="rId11"/>
              </p:custDataLst>
            </p:nvPr>
          </p:nvSpPr>
          <p:spPr>
            <a:xfrm>
              <a:off x="4237474" y="599966"/>
              <a:ext cx="648000" cy="4320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7"/>
            </p:custDataLst>
          </p:nvPr>
        </p:nvGrpSpPr>
        <p:grpSpPr>
          <a:xfrm>
            <a:off x="4047916" y="2056679"/>
            <a:ext cx="6183086" cy="504000"/>
            <a:chOff x="4237474" y="563966"/>
            <a:chExt cx="6183086" cy="504000"/>
          </a:xfrm>
        </p:grpSpPr>
        <p:sp>
          <p:nvSpPr>
            <p:cNvPr id="3" name="MH_Entry_1"/>
            <p:cNvSpPr/>
            <p:nvPr>
              <p:custDataLst>
                <p:tags r:id="rId8"/>
              </p:custDataLst>
            </p:nvPr>
          </p:nvSpPr>
          <p:spPr>
            <a:xfrm>
              <a:off x="4237474" y="563966"/>
              <a:ext cx="6183086" cy="504000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252028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 cmpd="sng" algn="ctr">
              <a:solidFill>
                <a:schemeClr val="bg2">
                  <a:lumMod val="90000"/>
                </a:schemeClr>
              </a:solidFill>
              <a:prstDash val="solid"/>
              <a:bevel/>
            </a:ln>
            <a:effectLst/>
          </p:spPr>
          <p:txBody>
            <a:bodyPr wrap="square" lIns="576000" tIns="0" rIns="0" bIns="36000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6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市场环境分析</a:t>
              </a:r>
            </a:p>
          </p:txBody>
        </p:sp>
        <p:sp>
          <p:nvSpPr>
            <p:cNvPr id="4" name="矩形 3"/>
            <p:cNvSpPr/>
            <p:nvPr>
              <p:custDataLst>
                <p:tags r:id="rId9"/>
              </p:custDataLst>
            </p:nvPr>
          </p:nvSpPr>
          <p:spPr>
            <a:xfrm>
              <a:off x="4237474" y="599966"/>
              <a:ext cx="648000" cy="43200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1A0F-F0FA-6FE7-DCE8-92FFF74C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408ECA02-B288-1B6D-DA67-BE071AAC274A}"/>
              </a:ext>
            </a:extLst>
          </p:cNvPr>
          <p:cNvSpPr txBox="1"/>
          <p:nvPr/>
        </p:nvSpPr>
        <p:spPr>
          <a:xfrm>
            <a:off x="75001" y="5737413"/>
            <a:ext cx="9439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总收益口径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现货收益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容量补偿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系统运行费</a:t>
            </a:r>
            <a:r>
              <a:rPr lang="en-US" altLang="zh-CN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线损费用</a:t>
            </a:r>
            <a:endParaRPr lang="en-US" altLang="zh-CN" sz="12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kumimoji="0" lang="zh-CN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苏右、杭锦旗、四子王旗和谷山梁数据来源为日报，乌海、乌拉特数据来源为</a:t>
            </a:r>
            <a:r>
              <a:rPr kumimoji="0" lang="en-US" altLang="zh-CN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TT</a:t>
            </a:r>
            <a:r>
              <a:rPr kumimoji="0" lang="zh-CN" alt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，巴盟数据来源为日出清数据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BA9953-F84E-7204-80D6-1BCC45B968B4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3540AA-68C1-8FB5-142F-06E4F0030D36}"/>
              </a:ext>
            </a:extLst>
          </p:cNvPr>
          <p:cNvSpPr txBox="1"/>
          <p:nvPr/>
        </p:nvSpPr>
        <p:spPr>
          <a:xfrm>
            <a:off x="126999" y="102938"/>
            <a:ext cx="525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收益概览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场蒙西储能站收益情况测算总览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6D6A49-B7D5-DC3A-9397-43E46320B2A0}"/>
              </a:ext>
            </a:extLst>
          </p:cNvPr>
          <p:cNvSpPr txBox="1"/>
          <p:nvPr/>
        </p:nvSpPr>
        <p:spPr>
          <a:xfrm>
            <a:off x="126998" y="813816"/>
            <a:ext cx="11668761" cy="4946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91A6B5-EC8D-3282-3822-184802BE4C11}"/>
              </a:ext>
            </a:extLst>
          </p:cNvPr>
          <p:cNvSpPr txBox="1"/>
          <p:nvPr/>
        </p:nvSpPr>
        <p:spPr>
          <a:xfrm>
            <a:off x="201168" y="889754"/>
            <a:ext cx="5031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月各场站实际收益情况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F6E2FAF-3BCE-5D30-542F-FF747FB20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632265"/>
              </p:ext>
            </p:extLst>
          </p:nvPr>
        </p:nvGraphicFramePr>
        <p:xfrm>
          <a:off x="201168" y="1443264"/>
          <a:ext cx="11384281" cy="421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33153">
                  <a:extLst>
                    <a:ext uri="{9D8B030D-6E8A-4147-A177-3AD203B41FA5}">
                      <a16:colId xmlns:a16="http://schemas.microsoft.com/office/drawing/2014/main" val="667949120"/>
                    </a:ext>
                  </a:extLst>
                </a:gridCol>
                <a:gridCol w="1261020">
                  <a:extLst>
                    <a:ext uri="{9D8B030D-6E8A-4147-A177-3AD203B41FA5}">
                      <a16:colId xmlns:a16="http://schemas.microsoft.com/office/drawing/2014/main" val="1261835547"/>
                    </a:ext>
                  </a:extLst>
                </a:gridCol>
                <a:gridCol w="1476713">
                  <a:extLst>
                    <a:ext uri="{9D8B030D-6E8A-4147-A177-3AD203B41FA5}">
                      <a16:colId xmlns:a16="http://schemas.microsoft.com/office/drawing/2014/main" val="2489073120"/>
                    </a:ext>
                  </a:extLst>
                </a:gridCol>
                <a:gridCol w="1192816">
                  <a:extLst>
                    <a:ext uri="{9D8B030D-6E8A-4147-A177-3AD203B41FA5}">
                      <a16:colId xmlns:a16="http://schemas.microsoft.com/office/drawing/2014/main" val="1402428963"/>
                    </a:ext>
                  </a:extLst>
                </a:gridCol>
                <a:gridCol w="1254442">
                  <a:extLst>
                    <a:ext uri="{9D8B030D-6E8A-4147-A177-3AD203B41FA5}">
                      <a16:colId xmlns:a16="http://schemas.microsoft.com/office/drawing/2014/main" val="2082754537"/>
                    </a:ext>
                  </a:extLst>
                </a:gridCol>
                <a:gridCol w="1254442">
                  <a:extLst>
                    <a:ext uri="{9D8B030D-6E8A-4147-A177-3AD203B41FA5}">
                      <a16:colId xmlns:a16="http://schemas.microsoft.com/office/drawing/2014/main" val="587217622"/>
                    </a:ext>
                  </a:extLst>
                </a:gridCol>
                <a:gridCol w="1254442">
                  <a:extLst>
                    <a:ext uri="{9D8B030D-6E8A-4147-A177-3AD203B41FA5}">
                      <a16:colId xmlns:a16="http://schemas.microsoft.com/office/drawing/2014/main" val="1877397273"/>
                    </a:ext>
                  </a:extLst>
                </a:gridCol>
                <a:gridCol w="1254442">
                  <a:extLst>
                    <a:ext uri="{9D8B030D-6E8A-4147-A177-3AD203B41FA5}">
                      <a16:colId xmlns:a16="http://schemas.microsoft.com/office/drawing/2014/main" val="701173972"/>
                    </a:ext>
                  </a:extLst>
                </a:gridCol>
                <a:gridCol w="1502811">
                  <a:extLst>
                    <a:ext uri="{9D8B030D-6E8A-4147-A177-3AD203B41FA5}">
                      <a16:colId xmlns:a16="http://schemas.microsoft.com/office/drawing/2014/main" val="2477311949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关键收益指标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市场情况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合同达成情况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662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月度总收益（万元）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度电收益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日均充电次数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现货价差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系统运行费单价（元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/kWh)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月收益排名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月份捕获率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（考核）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收益指标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实际达成</a:t>
                      </a:r>
                      <a:endParaRPr lang="en-US" altLang="zh-CN" sz="11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（收益分成）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34162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552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386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1.27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59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0.0287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116%</a:t>
                      </a:r>
                      <a:endParaRPr lang="zh-CN" altLang="en-US" sz="12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22.3%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599771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574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436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1.17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101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2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83%</a:t>
                      </a:r>
                      <a:endParaRPr lang="zh-CN" altLang="en-US" sz="12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23.3%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548684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543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399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1.21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68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14.4%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668750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2897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429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1.22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zh-CN" altLang="en-US" sz="12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29000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18.7%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062437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604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418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1.27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130</a:t>
                      </a:r>
                      <a:endParaRPr lang="zh-CN" altLang="en-US" sz="12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2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6000</a:t>
                      </a:r>
                    </a:p>
                    <a:p>
                      <a:pPr algn="ctr"/>
                      <a:r>
                        <a:rPr lang="en-US" altLang="zh-CN" sz="1200" b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24.3%</a:t>
                      </a:r>
                      <a:endParaRPr lang="zh-CN" altLang="en-US" sz="12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83223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427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393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1.15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12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</a:t>
                      </a: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1236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118225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6266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479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140</a:t>
                      </a:r>
                      <a:endParaRPr lang="zh-CN" altLang="en-US" sz="12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zh-CN" altLang="en-US" sz="12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</a:t>
                      </a: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1.36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79615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197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A72E-24EA-97F2-00C0-0E63E426D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8CB610-22EA-0403-EF1E-9A24AD200CD6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9A8ED7-C3B3-EA1E-7B14-44A492649488}"/>
              </a:ext>
            </a:extLst>
          </p:cNvPr>
          <p:cNvSpPr txBox="1"/>
          <p:nvPr/>
        </p:nvSpPr>
        <p:spPr>
          <a:xfrm>
            <a:off x="126999" y="102938"/>
            <a:ext cx="835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市场环境分析 </a:t>
            </a: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蒙西</a:t>
            </a:r>
            <a:r>
              <a:rPr lang="en-US" altLang="zh-CN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现货价格及峰谷价差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环比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月上升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同比去年同期下降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95F874-87DB-3D15-438E-DD50386444C4}"/>
              </a:ext>
            </a:extLst>
          </p:cNvPr>
          <p:cNvSpPr txBox="1"/>
          <p:nvPr/>
        </p:nvSpPr>
        <p:spPr>
          <a:xfrm>
            <a:off x="7804894" y="5059197"/>
            <a:ext cx="4395158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储能放电行为抑制高峰时段电价，是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年峰谷价差缩小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整体价格下行的主要原因。且呼包电价的下行影响比呼包东更大。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26F3616B-387A-C695-0E01-A1E500D57E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" y="813684"/>
            <a:ext cx="7625574" cy="50587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A7ED06E-66E9-7B26-FF34-00ADA62AAE90}"/>
              </a:ext>
            </a:extLst>
          </p:cNvPr>
          <p:cNvSpPr txBox="1"/>
          <p:nvPr/>
        </p:nvSpPr>
        <p:spPr>
          <a:xfrm>
            <a:off x="904240" y="1703968"/>
            <a:ext cx="4693920" cy="874407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年在相同竞价空间下价格较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年更低，且高竞价空间区间的价格上沿不如去年。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6CCA39-51C8-4ABB-8541-BE3170A0E4C4}"/>
              </a:ext>
            </a:extLst>
          </p:cNvPr>
          <p:cNvSpPr/>
          <p:nvPr/>
        </p:nvSpPr>
        <p:spPr>
          <a:xfrm>
            <a:off x="5791199" y="1418741"/>
            <a:ext cx="1021977" cy="4049730"/>
          </a:xfrm>
          <a:prstGeom prst="rect">
            <a:avLst/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B56886EB-7445-9D01-1FB1-F7A563DA51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299619"/>
              </p:ext>
            </p:extLst>
          </p:nvPr>
        </p:nvGraphicFramePr>
        <p:xfrm>
          <a:off x="7804893" y="2752520"/>
          <a:ext cx="4353299" cy="2204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58B94884-2F34-CCF4-7FE8-3A2EC8E0F987}"/>
              </a:ext>
            </a:extLst>
          </p:cNvPr>
          <p:cNvSpPr txBox="1"/>
          <p:nvPr/>
        </p:nvSpPr>
        <p:spPr>
          <a:xfrm>
            <a:off x="8788400" y="3137644"/>
            <a:ext cx="57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-20%</a:t>
            </a:r>
            <a:endParaRPr lang="zh-CN" altLang="en-US" sz="1200" b="1">
              <a:solidFill>
                <a:srgbClr val="8C5A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DE8381-B2CD-A55C-BD4C-CA2F5845C0F8}"/>
              </a:ext>
            </a:extLst>
          </p:cNvPr>
          <p:cNvSpPr txBox="1"/>
          <p:nvPr/>
        </p:nvSpPr>
        <p:spPr>
          <a:xfrm>
            <a:off x="10067910" y="3013501"/>
            <a:ext cx="57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-9%</a:t>
            </a:r>
            <a:endParaRPr lang="zh-CN" altLang="en-US" sz="1200" b="1">
              <a:solidFill>
                <a:srgbClr val="8C5A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151BE4-A65E-928D-7407-C36575B6D615}"/>
              </a:ext>
            </a:extLst>
          </p:cNvPr>
          <p:cNvSpPr txBox="1"/>
          <p:nvPr/>
        </p:nvSpPr>
        <p:spPr>
          <a:xfrm>
            <a:off x="11302940" y="3163788"/>
            <a:ext cx="57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rgbClr val="8C5A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-27%</a:t>
            </a:r>
            <a:endParaRPr lang="zh-CN" altLang="en-US" sz="1200" b="1">
              <a:solidFill>
                <a:srgbClr val="8C5A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4ACAC99-A0C7-6AC7-BF59-E59FB4434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94698"/>
              </p:ext>
            </p:extLst>
          </p:nvPr>
        </p:nvGraphicFramePr>
        <p:xfrm>
          <a:off x="7897733" y="846330"/>
          <a:ext cx="3984326" cy="1541268"/>
        </p:xfrm>
        <a:graphic>
          <a:graphicData uri="http://schemas.openxmlformats.org/drawingml/2006/table">
            <a:tbl>
              <a:tblPr/>
              <a:tblGrid>
                <a:gridCol w="1417020">
                  <a:extLst>
                    <a:ext uri="{9D8B030D-6E8A-4147-A177-3AD203B41FA5}">
                      <a16:colId xmlns:a16="http://schemas.microsoft.com/office/drawing/2014/main" val="1106657980"/>
                    </a:ext>
                  </a:extLst>
                </a:gridCol>
                <a:gridCol w="1442147">
                  <a:extLst>
                    <a:ext uri="{9D8B030D-6E8A-4147-A177-3AD203B41FA5}">
                      <a16:colId xmlns:a16="http://schemas.microsoft.com/office/drawing/2014/main" val="2651827806"/>
                    </a:ext>
                  </a:extLst>
                </a:gridCol>
                <a:gridCol w="1125159">
                  <a:extLst>
                    <a:ext uri="{9D8B030D-6E8A-4147-A177-3AD203B41FA5}">
                      <a16:colId xmlns:a16="http://schemas.microsoft.com/office/drawing/2014/main" val="2699174953"/>
                    </a:ext>
                  </a:extLst>
                </a:gridCol>
              </a:tblGrid>
              <a:tr h="38531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周期</a:t>
                      </a:r>
                      <a:endParaRPr lang="zh-CN" altLang="en-US" sz="14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统一结算点均价</a:t>
                      </a:r>
                      <a:endParaRPr lang="zh-CN" altLang="en-US" sz="14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4h</a:t>
                      </a:r>
                      <a:r>
                        <a:rPr lang="zh-CN" altLang="en-US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峰谷差</a:t>
                      </a:r>
                      <a:endParaRPr lang="zh-CN" altLang="en-US" sz="1400" b="1" i="0" u="none" strike="noStrike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83183446"/>
                  </a:ext>
                </a:extLst>
              </a:tr>
              <a:tr h="3853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2026-03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214.32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327.97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69321339"/>
                  </a:ext>
                </a:extLst>
              </a:tr>
              <a:tr h="38531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环比上月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14.0%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20.4%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76478243"/>
                  </a:ext>
                </a:extLst>
              </a:tr>
              <a:tr h="38531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同比去年同期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-9.4%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-20.5%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07138598"/>
                  </a:ext>
                </a:extLst>
              </a:tr>
            </a:tbl>
          </a:graphicData>
        </a:graphic>
      </p:graphicFrame>
      <p:sp>
        <p:nvSpPr>
          <p:cNvPr id="25" name="箭头: 上 24">
            <a:extLst>
              <a:ext uri="{FF2B5EF4-FFF2-40B4-BE49-F238E27FC236}">
                <a16:creationId xmlns:a16="http://schemas.microsoft.com/office/drawing/2014/main" id="{BF9474F1-6B99-9DB4-3B57-900D5E1CB8CB}"/>
              </a:ext>
            </a:extLst>
          </p:cNvPr>
          <p:cNvSpPr/>
          <p:nvPr/>
        </p:nvSpPr>
        <p:spPr>
          <a:xfrm>
            <a:off x="9572209" y="1691572"/>
            <a:ext cx="186450" cy="226737"/>
          </a:xfrm>
          <a:prstGeom prst="upArrow">
            <a:avLst/>
          </a:prstGeom>
          <a:solidFill>
            <a:srgbClr val="8C5A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上 27">
            <a:extLst>
              <a:ext uri="{FF2B5EF4-FFF2-40B4-BE49-F238E27FC236}">
                <a16:creationId xmlns:a16="http://schemas.microsoft.com/office/drawing/2014/main" id="{1F4C92A5-9CB7-178B-6C34-2BFE148AF74B}"/>
              </a:ext>
            </a:extLst>
          </p:cNvPr>
          <p:cNvSpPr/>
          <p:nvPr/>
        </p:nvSpPr>
        <p:spPr>
          <a:xfrm>
            <a:off x="10837129" y="1691572"/>
            <a:ext cx="186450" cy="226737"/>
          </a:xfrm>
          <a:prstGeom prst="upArrow">
            <a:avLst/>
          </a:prstGeom>
          <a:solidFill>
            <a:srgbClr val="8C5A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上 28">
            <a:extLst>
              <a:ext uri="{FF2B5EF4-FFF2-40B4-BE49-F238E27FC236}">
                <a16:creationId xmlns:a16="http://schemas.microsoft.com/office/drawing/2014/main" id="{5C1934B6-85B5-46B0-3FDE-AD54D8A2BF1C}"/>
              </a:ext>
            </a:extLst>
          </p:cNvPr>
          <p:cNvSpPr/>
          <p:nvPr/>
        </p:nvSpPr>
        <p:spPr>
          <a:xfrm rot="10800000">
            <a:off x="9568745" y="2100366"/>
            <a:ext cx="186450" cy="226737"/>
          </a:xfrm>
          <a:prstGeom prst="upArrow">
            <a:avLst/>
          </a:prstGeom>
          <a:solidFill>
            <a:srgbClr val="7B97AD"/>
          </a:solidFill>
          <a:ln>
            <a:noFill/>
          </a:ln>
          <a:scene3d>
            <a:camera prst="orthographicFront">
              <a:rot lat="0" lon="20999997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上 29">
            <a:extLst>
              <a:ext uri="{FF2B5EF4-FFF2-40B4-BE49-F238E27FC236}">
                <a16:creationId xmlns:a16="http://schemas.microsoft.com/office/drawing/2014/main" id="{C0F648FC-B3BF-B17C-DB0D-808A98D54AA3}"/>
              </a:ext>
            </a:extLst>
          </p:cNvPr>
          <p:cNvSpPr/>
          <p:nvPr/>
        </p:nvSpPr>
        <p:spPr>
          <a:xfrm rot="10800000">
            <a:off x="10833665" y="2100366"/>
            <a:ext cx="186450" cy="226737"/>
          </a:xfrm>
          <a:prstGeom prst="upArrow">
            <a:avLst/>
          </a:prstGeom>
          <a:solidFill>
            <a:srgbClr val="7B97AD"/>
          </a:solidFill>
          <a:ln>
            <a:noFill/>
          </a:ln>
          <a:scene3d>
            <a:camera prst="orthographicFront">
              <a:rot lat="0" lon="20999997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982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0B8CB-25D4-AE55-D50A-C759BE5B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9F2C22EF-D018-888B-F7DA-CE6BF2CEE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952" y="1002890"/>
            <a:ext cx="5852265" cy="27348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FC047DB-D128-8861-CAF5-9FF3168D126A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7EC522-0760-0CC0-373D-101701E6B52A}"/>
              </a:ext>
            </a:extLst>
          </p:cNvPr>
          <p:cNvSpPr txBox="1"/>
          <p:nvPr/>
        </p:nvSpPr>
        <p:spPr>
          <a:xfrm>
            <a:off x="126999" y="102938"/>
            <a:ext cx="516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市场环境分析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整个市场的允许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充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</a:t>
            </a: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次数减少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8C2903-9AD8-4E9B-E4CA-6E9BD5E0F308}"/>
              </a:ext>
            </a:extLst>
          </p:cNvPr>
          <p:cNvSpPr txBox="1"/>
          <p:nvPr/>
        </p:nvSpPr>
        <p:spPr>
          <a:xfrm>
            <a:off x="283884" y="715082"/>
            <a:ext cx="710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蒙西储能参与市场的约束较上一年有所收紧，可充放电量受影响减少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BFF85F-032B-737E-8B6C-2C13E7B1E55E}"/>
              </a:ext>
            </a:extLst>
          </p:cNvPr>
          <p:cNvSpPr txBox="1"/>
          <p:nvPr/>
        </p:nvSpPr>
        <p:spPr>
          <a:xfrm>
            <a:off x="283884" y="1643531"/>
            <a:ext cx="4533922" cy="22303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lvl="0">
              <a:lnSpc>
                <a:spcPct val="130000"/>
              </a:lnSpc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1.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充电约束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--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严格校核申报充电量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总充电量量＜额定容量</a:t>
            </a:r>
            <a:r>
              <a:rPr lang="en-US" altLang="zh-CN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1.5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次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lvl="0" indent="-285750">
              <a:lnSpc>
                <a:spcPct val="130000"/>
              </a:lnSpc>
              <a:buFont typeface="Wingdings" panose="05000000000000000000" pitchFamily="2" charset="2"/>
              <a:buChar char="p"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隐藏约束：按照充电效率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95%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soc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严格控制在申报区间内（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5%-95%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zh-CN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平衡约束</a:t>
            </a:r>
            <a:r>
              <a:rPr lang="en-US" altLang="zh-CN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消纳困难不能放，用电困难不能充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平衡颜色区限制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日前、实时出清校核</a:t>
            </a:r>
            <a:endParaRPr lang="en-US" altLang="zh-CN" sz="14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>
              <a:lnSpc>
                <a:spcPct val="130000"/>
              </a:lnSpc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B041F6-7E74-82BF-B2CF-8EFE6C2EBF8A}"/>
              </a:ext>
            </a:extLst>
          </p:cNvPr>
          <p:cNvSpPr txBox="1"/>
          <p:nvPr/>
        </p:nvSpPr>
        <p:spPr>
          <a:xfrm>
            <a:off x="283884" y="1274199"/>
            <a:ext cx="169616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政策变化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E455B76F-4B7F-0B16-8FB2-5417710BFE84}"/>
              </a:ext>
            </a:extLst>
          </p:cNvPr>
          <p:cNvGraphicFramePr>
            <a:graphicFrameLocks/>
          </p:cNvGraphicFramePr>
          <p:nvPr/>
        </p:nvGraphicFramePr>
        <p:xfrm>
          <a:off x="6201951" y="3429000"/>
          <a:ext cx="5852265" cy="2713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37E4F07B-F927-0358-7C7A-2498516AC988}"/>
              </a:ext>
            </a:extLst>
          </p:cNvPr>
          <p:cNvSpPr txBox="1"/>
          <p:nvPr/>
        </p:nvSpPr>
        <p:spPr>
          <a:xfrm>
            <a:off x="283884" y="4251359"/>
            <a:ext cx="4533922" cy="19932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实际有效充电电量必然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低于</a:t>
            </a:r>
            <a:r>
              <a:rPr lang="en-US" altLang="zh-CN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月蒙西</a:t>
            </a:r>
            <a:r>
              <a:rPr lang="en-US" altLang="zh-CN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小时系统场站的平均日充电次数只有</a:t>
            </a:r>
            <a:r>
              <a:rPr lang="en-US" altLang="zh-CN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1.21</a:t>
            </a:r>
            <a:r>
              <a:rPr lang="zh-CN" altLang="en-US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次，较</a:t>
            </a:r>
            <a:r>
              <a:rPr lang="zh-CN" altLang="en-US" sz="14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去年日均</a:t>
            </a:r>
            <a:r>
              <a:rPr lang="en-US" altLang="zh-CN" sz="14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400" b="1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14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有较大幅度下降</a:t>
            </a:r>
            <a:endParaRPr lang="en-US" altLang="zh-CN" sz="1400" b="1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为了在重重限制中拉满充放电量，大部分主体明知可能倒挂仍然会选择进行充放，代价是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拉低现货捕获价差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519AB9-14B4-EE3D-2038-9188B8E93507}"/>
              </a:ext>
            </a:extLst>
          </p:cNvPr>
          <p:cNvSpPr txBox="1"/>
          <p:nvPr/>
        </p:nvSpPr>
        <p:spPr>
          <a:xfrm>
            <a:off x="3121640" y="3873910"/>
            <a:ext cx="169616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导致结果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FF74FF5C-60E5-77C3-D27B-F5154A0ADFC5}"/>
              </a:ext>
            </a:extLst>
          </p:cNvPr>
          <p:cNvSpPr/>
          <p:nvPr/>
        </p:nvSpPr>
        <p:spPr>
          <a:xfrm>
            <a:off x="363794" y="3737691"/>
            <a:ext cx="973393" cy="505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DAFA3F-D629-0717-3B60-9AA35DA72452}"/>
              </a:ext>
            </a:extLst>
          </p:cNvPr>
          <p:cNvSpPr/>
          <p:nvPr/>
        </p:nvSpPr>
        <p:spPr>
          <a:xfrm>
            <a:off x="7747819" y="1455174"/>
            <a:ext cx="668594" cy="1268361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32EF87-5602-7DB4-B3A4-1A1B99AB47C0}"/>
              </a:ext>
            </a:extLst>
          </p:cNvPr>
          <p:cNvSpPr txBox="1"/>
          <p:nvPr/>
        </p:nvSpPr>
        <p:spPr>
          <a:xfrm>
            <a:off x="4984956" y="1225319"/>
            <a:ext cx="1005094" cy="244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倒挂区充放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A2C23D9-A4E6-E4EA-568F-442C9E9D1D27}"/>
              </a:ext>
            </a:extLst>
          </p:cNvPr>
          <p:cNvCxnSpPr>
            <a:stCxn id="23" idx="3"/>
          </p:cNvCxnSpPr>
          <p:nvPr/>
        </p:nvCxnSpPr>
        <p:spPr>
          <a:xfrm>
            <a:off x="5990050" y="1347669"/>
            <a:ext cx="1757769" cy="2958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B113A3ED-571D-D3B9-46E8-EAF8662E6B8D}"/>
              </a:ext>
            </a:extLst>
          </p:cNvPr>
          <p:cNvSpPr/>
          <p:nvPr/>
        </p:nvSpPr>
        <p:spPr>
          <a:xfrm>
            <a:off x="10294375" y="4776126"/>
            <a:ext cx="255638" cy="854382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BA92AC-94BB-581D-5C8C-DE686DE6B6C9}"/>
              </a:ext>
            </a:extLst>
          </p:cNvPr>
          <p:cNvSpPr/>
          <p:nvPr/>
        </p:nvSpPr>
        <p:spPr>
          <a:xfrm>
            <a:off x="7924801" y="5009535"/>
            <a:ext cx="255638" cy="854382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5A3D681-39CD-E84E-F6D2-62398AEA4BE3}"/>
              </a:ext>
            </a:extLst>
          </p:cNvPr>
          <p:cNvSpPr txBox="1"/>
          <p:nvPr/>
        </p:nvSpPr>
        <p:spPr>
          <a:xfrm>
            <a:off x="5005724" y="4663609"/>
            <a:ext cx="883799" cy="244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日前出清校核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059613F-CBD6-F879-85A6-8F84F6A60A1E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5889523" y="4785959"/>
            <a:ext cx="2138515" cy="4005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DEA2BF8-E870-5236-752B-4AE82393E691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5889523" y="4785959"/>
            <a:ext cx="4404851" cy="511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27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C918-891C-C689-0336-6D4B8710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E5CEBC0-8DF4-FE63-6BC5-41819095E81F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9411B4-F5B0-74C8-4660-D52C5C64EAD3}"/>
              </a:ext>
            </a:extLst>
          </p:cNvPr>
          <p:cNvSpPr txBox="1"/>
          <p:nvPr/>
        </p:nvSpPr>
        <p:spPr>
          <a:xfrm>
            <a:off x="126999" y="102938"/>
            <a:ext cx="7188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月蒙西储能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场站横向对比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DOD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下排名</a:t>
            </a:r>
            <a:r>
              <a:rPr lang="zh-CN" altLang="en-US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约在前</a:t>
            </a:r>
            <a:r>
              <a:rPr lang="en-US" altLang="zh-CN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12286D-CBE6-3C16-68A7-76F6DE3ED18A}"/>
              </a:ext>
            </a:extLst>
          </p:cNvPr>
          <p:cNvSpPr txBox="1"/>
          <p:nvPr/>
        </p:nvSpPr>
        <p:spPr>
          <a:xfrm>
            <a:off x="126999" y="620079"/>
            <a:ext cx="11866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当前蒙西参与市场出清的独立场站共有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个，总功率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1.07GW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，总容量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41916.7MWh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。统计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日橙色时段起，至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日橙色时段止，每日实时出清量价情况，按照场站披露补贴进行收益计算，结果如下：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FFCBF81-23CD-B947-8EE9-C014B5E0C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54006"/>
              </p:ext>
            </p:extLst>
          </p:nvPr>
        </p:nvGraphicFramePr>
        <p:xfrm>
          <a:off x="229972" y="1266410"/>
          <a:ext cx="11624233" cy="209097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24818">
                  <a:extLst>
                    <a:ext uri="{9D8B030D-6E8A-4147-A177-3AD203B41FA5}">
                      <a16:colId xmlns:a16="http://schemas.microsoft.com/office/drawing/2014/main" val="1140007328"/>
                    </a:ext>
                  </a:extLst>
                </a:gridCol>
                <a:gridCol w="1483945">
                  <a:extLst>
                    <a:ext uri="{9D8B030D-6E8A-4147-A177-3AD203B41FA5}">
                      <a16:colId xmlns:a16="http://schemas.microsoft.com/office/drawing/2014/main" val="2631886761"/>
                    </a:ext>
                  </a:extLst>
                </a:gridCol>
                <a:gridCol w="1132484">
                  <a:extLst>
                    <a:ext uri="{9D8B030D-6E8A-4147-A177-3AD203B41FA5}">
                      <a16:colId xmlns:a16="http://schemas.microsoft.com/office/drawing/2014/main" val="1953083322"/>
                    </a:ext>
                  </a:extLst>
                </a:gridCol>
                <a:gridCol w="1002313">
                  <a:extLst>
                    <a:ext uri="{9D8B030D-6E8A-4147-A177-3AD203B41FA5}">
                      <a16:colId xmlns:a16="http://schemas.microsoft.com/office/drawing/2014/main" val="3027683964"/>
                    </a:ext>
                  </a:extLst>
                </a:gridCol>
                <a:gridCol w="898568">
                  <a:extLst>
                    <a:ext uri="{9D8B030D-6E8A-4147-A177-3AD203B41FA5}">
                      <a16:colId xmlns:a16="http://schemas.microsoft.com/office/drawing/2014/main" val="1197644121"/>
                    </a:ext>
                  </a:extLst>
                </a:gridCol>
                <a:gridCol w="1373831">
                  <a:extLst>
                    <a:ext uri="{9D8B030D-6E8A-4147-A177-3AD203B41FA5}">
                      <a16:colId xmlns:a16="http://schemas.microsoft.com/office/drawing/2014/main" val="2259994048"/>
                    </a:ext>
                  </a:extLst>
                </a:gridCol>
                <a:gridCol w="682235">
                  <a:extLst>
                    <a:ext uri="{9D8B030D-6E8A-4147-A177-3AD203B41FA5}">
                      <a16:colId xmlns:a16="http://schemas.microsoft.com/office/drawing/2014/main" val="1051342985"/>
                    </a:ext>
                  </a:extLst>
                </a:gridCol>
                <a:gridCol w="1115759">
                  <a:extLst>
                    <a:ext uri="{9D8B030D-6E8A-4147-A177-3AD203B41FA5}">
                      <a16:colId xmlns:a16="http://schemas.microsoft.com/office/drawing/2014/main" val="336218314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613788638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1968367591"/>
                    </a:ext>
                  </a:extLst>
                </a:gridCol>
                <a:gridCol w="872074">
                  <a:extLst>
                    <a:ext uri="{9D8B030D-6E8A-4147-A177-3AD203B41FA5}">
                      <a16:colId xmlns:a16="http://schemas.microsoft.com/office/drawing/2014/main" val="4148877182"/>
                    </a:ext>
                  </a:extLst>
                </a:gridCol>
                <a:gridCol w="647506">
                  <a:extLst>
                    <a:ext uri="{9D8B030D-6E8A-4147-A177-3AD203B41FA5}">
                      <a16:colId xmlns:a16="http://schemas.microsoft.com/office/drawing/2014/main" val="310742576"/>
                    </a:ext>
                  </a:extLst>
                </a:gridCol>
              </a:tblGrid>
              <a:tr h="347773">
                <a:tc rowSpan="2">
                  <a:txBody>
                    <a:bodyPr/>
                    <a:lstStyle/>
                    <a:p>
                      <a:pPr algn="ctr" fontAlgn="t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修正前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gridSpan="5">
                  <a:txBody>
                    <a:bodyPr/>
                    <a:lstStyle/>
                    <a:p>
                      <a:pPr algn="ctr" fontAlgn="t"/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修正后</a:t>
                      </a:r>
                    </a:p>
                  </a:txBody>
                  <a:tcPr marL="5888" marR="5888" marT="58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hMerge="1">
                  <a:txBody>
                    <a:bodyPr/>
                    <a:lstStyle/>
                    <a:p>
                      <a:pPr algn="ctr" fontAlgn="t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hMerge="1">
                  <a:txBody>
                    <a:bodyPr/>
                    <a:lstStyle/>
                    <a:p>
                      <a:pPr algn="ctr" fontAlgn="t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 hMerge="1">
                  <a:txBody>
                    <a:bodyPr/>
                    <a:lstStyle/>
                    <a:p>
                      <a:pPr algn="ctr" fontAlgn="t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extLst>
                  <a:ext uri="{0D108BD9-81ED-4DB2-BD59-A6C34878D82A}">
                    <a16:rowId xmlns:a16="http://schemas.microsoft.com/office/drawing/2014/main" val="2247857841"/>
                  </a:ext>
                </a:extLst>
              </a:tr>
              <a:tr h="3477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总收益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日均循环次数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等效价差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单位容量收益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DOD(%)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总收益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日均循环次数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等效价差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MWh)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单位容量收益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extLst>
                  <a:ext uri="{0D108BD9-81ED-4DB2-BD59-A6C34878D82A}">
                    <a16:rowId xmlns:a16="http://schemas.microsoft.com/office/drawing/2014/main" val="4098444528"/>
                  </a:ext>
                </a:extLst>
              </a:tr>
              <a:tr h="23329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泰垚鑫储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4143.2046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174.76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20716.02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泰垚鑫储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3759.8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169.63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18799.03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extLst>
                  <a:ext uri="{0D108BD9-81ED-4DB2-BD59-A6C34878D82A}">
                    <a16:rowId xmlns:a16="http://schemas.microsoft.com/office/drawing/2014/main" val="4022547412"/>
                  </a:ext>
                </a:extLst>
              </a:tr>
              <a:tr h="23329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博梁海纳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3917.8463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1.359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178.91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19589.23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博梁海纳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3532.1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166.27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17660.74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extLst>
                  <a:ext uri="{0D108BD9-81ED-4DB2-BD59-A6C34878D82A}">
                    <a16:rowId xmlns:a16="http://schemas.microsoft.com/office/drawing/2014/main" val="695405276"/>
                  </a:ext>
                </a:extLst>
              </a:tr>
              <a:tr h="34777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星能乌勒吉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774.2666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1.382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107.48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19356.66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中电科技板定营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2087.5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1.315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134.27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17396.02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extLst>
                  <a:ext uri="{0D108BD9-81ED-4DB2-BD59-A6C34878D82A}">
                    <a16:rowId xmlns:a16="http://schemas.microsoft.com/office/drawing/2014/main" val="2091452807"/>
                  </a:ext>
                </a:extLst>
              </a:tr>
              <a:tr h="23329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星钒海窝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1525.0639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1.345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139.58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19063.3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98.44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熠能沙壕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3461.8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1.289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133.37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17309.09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extLst>
                  <a:ext uri="{0D108BD9-81ED-4DB2-BD59-A6C34878D82A}">
                    <a16:rowId xmlns:a16="http://schemas.microsoft.com/office/drawing/2014/main" val="3093074958"/>
                  </a:ext>
                </a:extLst>
              </a:tr>
              <a:tr h="34777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星辰科创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2248.9093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1.355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153.74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18740.91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中绿电东兴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1381.6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1.246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150.78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17270.1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888" marR="5888" marT="5888" marB="0" anchor="ctr"/>
                </a:tc>
                <a:extLst>
                  <a:ext uri="{0D108BD9-81ED-4DB2-BD59-A6C34878D82A}">
                    <a16:rowId xmlns:a16="http://schemas.microsoft.com/office/drawing/2014/main" val="4178399071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84C8EBD-178F-23FB-1067-E803B8B5E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891696"/>
              </p:ext>
            </p:extLst>
          </p:nvPr>
        </p:nvGraphicFramePr>
        <p:xfrm>
          <a:off x="229971" y="3776484"/>
          <a:ext cx="11624233" cy="211386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24818">
                  <a:extLst>
                    <a:ext uri="{9D8B030D-6E8A-4147-A177-3AD203B41FA5}">
                      <a16:colId xmlns:a16="http://schemas.microsoft.com/office/drawing/2014/main" val="1140007328"/>
                    </a:ext>
                  </a:extLst>
                </a:gridCol>
                <a:gridCol w="1483945">
                  <a:extLst>
                    <a:ext uri="{9D8B030D-6E8A-4147-A177-3AD203B41FA5}">
                      <a16:colId xmlns:a16="http://schemas.microsoft.com/office/drawing/2014/main" val="2631886761"/>
                    </a:ext>
                  </a:extLst>
                </a:gridCol>
                <a:gridCol w="1132484">
                  <a:extLst>
                    <a:ext uri="{9D8B030D-6E8A-4147-A177-3AD203B41FA5}">
                      <a16:colId xmlns:a16="http://schemas.microsoft.com/office/drawing/2014/main" val="1953083322"/>
                    </a:ext>
                  </a:extLst>
                </a:gridCol>
                <a:gridCol w="1002313">
                  <a:extLst>
                    <a:ext uri="{9D8B030D-6E8A-4147-A177-3AD203B41FA5}">
                      <a16:colId xmlns:a16="http://schemas.microsoft.com/office/drawing/2014/main" val="3027683964"/>
                    </a:ext>
                  </a:extLst>
                </a:gridCol>
                <a:gridCol w="869994">
                  <a:extLst>
                    <a:ext uri="{9D8B030D-6E8A-4147-A177-3AD203B41FA5}">
                      <a16:colId xmlns:a16="http://schemas.microsoft.com/office/drawing/2014/main" val="1197644121"/>
                    </a:ext>
                  </a:extLst>
                </a:gridCol>
                <a:gridCol w="1402405">
                  <a:extLst>
                    <a:ext uri="{9D8B030D-6E8A-4147-A177-3AD203B41FA5}">
                      <a16:colId xmlns:a16="http://schemas.microsoft.com/office/drawing/2014/main" val="2259994048"/>
                    </a:ext>
                  </a:extLst>
                </a:gridCol>
                <a:gridCol w="682235">
                  <a:extLst>
                    <a:ext uri="{9D8B030D-6E8A-4147-A177-3AD203B41FA5}">
                      <a16:colId xmlns:a16="http://schemas.microsoft.com/office/drawing/2014/main" val="1051342985"/>
                    </a:ext>
                  </a:extLst>
                </a:gridCol>
                <a:gridCol w="1134810">
                  <a:extLst>
                    <a:ext uri="{9D8B030D-6E8A-4147-A177-3AD203B41FA5}">
                      <a16:colId xmlns:a16="http://schemas.microsoft.com/office/drawing/2014/main" val="336218314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613788638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968367591"/>
                    </a:ext>
                  </a:extLst>
                </a:gridCol>
                <a:gridCol w="881598">
                  <a:extLst>
                    <a:ext uri="{9D8B030D-6E8A-4147-A177-3AD203B41FA5}">
                      <a16:colId xmlns:a16="http://schemas.microsoft.com/office/drawing/2014/main" val="4148877182"/>
                    </a:ext>
                  </a:extLst>
                </a:gridCol>
                <a:gridCol w="647506">
                  <a:extLst>
                    <a:ext uri="{9D8B030D-6E8A-4147-A177-3AD203B41FA5}">
                      <a16:colId xmlns:a16="http://schemas.microsoft.com/office/drawing/2014/main" val="310742576"/>
                    </a:ext>
                  </a:extLst>
                </a:gridCol>
              </a:tblGrid>
              <a:tr h="31294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乌海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693.215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1.381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117.69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17330.38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682.854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115.12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17071.35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22547412"/>
                  </a:ext>
                </a:extLst>
              </a:tr>
              <a:tr h="213704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杭锦旗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692.9322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126.47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17323.3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669.0049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1.299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123.93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16725.12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95405276"/>
                  </a:ext>
                </a:extLst>
              </a:tr>
              <a:tr h="31856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663.2478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136.92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16581.19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3247.3717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125.15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16236.86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91452807"/>
                  </a:ext>
                </a:extLst>
              </a:tr>
              <a:tr h="312942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6624.5416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123.17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16561.35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91.26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647.6175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136.28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16190.44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93074958"/>
                  </a:ext>
                </a:extLst>
              </a:tr>
              <a:tr h="31856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3308.0643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1.287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130.11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16540.32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6425.255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125.23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16063.14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78399071"/>
                  </a:ext>
                </a:extLst>
              </a:tr>
              <a:tr h="31856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611.6065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88.63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15290.16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90.29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613.958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15348.95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43406854"/>
                  </a:ext>
                </a:extLst>
              </a:tr>
              <a:tr h="31856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604.4004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15110.01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5888" marR="5888" marT="588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588.1994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96.07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14704.98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71255832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663BF350-B004-1B99-5FE3-EE9ED915C1ED}"/>
              </a:ext>
            </a:extLst>
          </p:cNvPr>
          <p:cNvSpPr txBox="1"/>
          <p:nvPr/>
        </p:nvSpPr>
        <p:spPr>
          <a:xfrm>
            <a:off x="346281" y="3457596"/>
            <a:ext cx="396669" cy="244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…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A9A175-5472-C3B5-8633-2B34B27840BF}"/>
              </a:ext>
            </a:extLst>
          </p:cNvPr>
          <p:cNvSpPr txBox="1"/>
          <p:nvPr/>
        </p:nvSpPr>
        <p:spPr>
          <a:xfrm>
            <a:off x="8842581" y="3457596"/>
            <a:ext cx="396669" cy="244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…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A5FCE5B-7570-3269-A9F4-32A1A4C927A9}"/>
              </a:ext>
            </a:extLst>
          </p:cNvPr>
          <p:cNvSpPr txBox="1"/>
          <p:nvPr/>
        </p:nvSpPr>
        <p:spPr>
          <a:xfrm>
            <a:off x="7505701" y="3457596"/>
            <a:ext cx="876300" cy="2447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排名变化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588B9EB-7C15-6BAF-2B14-FD4A86E71D41}"/>
              </a:ext>
            </a:extLst>
          </p:cNvPr>
          <p:cNvCxnSpPr>
            <a:cxnSpLocks/>
          </p:cNvCxnSpPr>
          <p:nvPr/>
        </p:nvCxnSpPr>
        <p:spPr>
          <a:xfrm flipV="1">
            <a:off x="8159728" y="3736945"/>
            <a:ext cx="0" cy="18339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26A3913-6E68-25FD-AB34-557DFED8B428}"/>
              </a:ext>
            </a:extLst>
          </p:cNvPr>
          <p:cNvSpPr txBox="1"/>
          <p:nvPr/>
        </p:nvSpPr>
        <p:spPr>
          <a:xfrm>
            <a:off x="8117597" y="3726716"/>
            <a:ext cx="264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214E1E-1F9C-4843-99D4-F8312E3A31AB}"/>
              </a:ext>
            </a:extLst>
          </p:cNvPr>
          <p:cNvSpPr txBox="1"/>
          <p:nvPr/>
        </p:nvSpPr>
        <p:spPr>
          <a:xfrm>
            <a:off x="8115660" y="3990331"/>
            <a:ext cx="264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BBEEBB-457A-0F66-B208-AEA1353B01B0}"/>
              </a:ext>
            </a:extLst>
          </p:cNvPr>
          <p:cNvSpPr txBox="1"/>
          <p:nvPr/>
        </p:nvSpPr>
        <p:spPr>
          <a:xfrm>
            <a:off x="8115660" y="4307367"/>
            <a:ext cx="264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AEAFD4-8347-7BCE-18BA-C2B3BA234CA6}"/>
              </a:ext>
            </a:extLst>
          </p:cNvPr>
          <p:cNvSpPr txBox="1"/>
          <p:nvPr/>
        </p:nvSpPr>
        <p:spPr>
          <a:xfrm>
            <a:off x="8056594" y="5656617"/>
            <a:ext cx="36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sz="1200" b="1" dirty="0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D91E1C5-405D-4A23-DA1B-D44E2F7030B2}"/>
              </a:ext>
            </a:extLst>
          </p:cNvPr>
          <p:cNvSpPr txBox="1"/>
          <p:nvPr/>
        </p:nvSpPr>
        <p:spPr>
          <a:xfrm>
            <a:off x="8108624" y="4645117"/>
            <a:ext cx="264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D34367-BB22-B398-01D0-0227A52D5769}"/>
              </a:ext>
            </a:extLst>
          </p:cNvPr>
          <p:cNvSpPr txBox="1"/>
          <p:nvPr/>
        </p:nvSpPr>
        <p:spPr>
          <a:xfrm>
            <a:off x="8108624" y="4941783"/>
            <a:ext cx="264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1F3548B-789B-61E2-201A-4ECCA4AC5561}"/>
              </a:ext>
            </a:extLst>
          </p:cNvPr>
          <p:cNvSpPr txBox="1"/>
          <p:nvPr/>
        </p:nvSpPr>
        <p:spPr>
          <a:xfrm>
            <a:off x="8103514" y="5293848"/>
            <a:ext cx="264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585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A011-1585-23CA-3257-2E1D185F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EDD0DC-3E29-5AAE-3DF4-66ABE343DEFE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4765E7-DBBC-8842-0559-8F2ABE469E3E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3. 3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场站横向对比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9AAFF6-10CE-F245-405C-A89C104B1851}"/>
              </a:ext>
            </a:extLst>
          </p:cNvPr>
          <p:cNvSpPr txBox="1"/>
          <p:nvPr/>
        </p:nvSpPr>
        <p:spPr>
          <a:xfrm>
            <a:off x="283884" y="715082"/>
            <a:ext cx="11624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按照场站所在不同节点、不同出清价格进行聚类设置价区，不同价区的统计结果如下：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78A95E-28CA-8C9E-8B2E-125CD8CAE71C}"/>
              </a:ext>
            </a:extLst>
          </p:cNvPr>
          <p:cNvSpPr txBox="1"/>
          <p:nvPr/>
        </p:nvSpPr>
        <p:spPr>
          <a:xfrm>
            <a:off x="127000" y="1399853"/>
            <a:ext cx="2099444" cy="23547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CA8057-E1A1-6063-B10D-958A1A200134}"/>
              </a:ext>
            </a:extLst>
          </p:cNvPr>
          <p:cNvSpPr txBox="1"/>
          <p:nvPr/>
        </p:nvSpPr>
        <p:spPr>
          <a:xfrm>
            <a:off x="9965556" y="1395116"/>
            <a:ext cx="2099444" cy="22919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10F858-F42C-A050-4FC0-086608B4A81F}"/>
              </a:ext>
            </a:extLst>
          </p:cNvPr>
          <p:cNvSpPr txBox="1"/>
          <p:nvPr/>
        </p:nvSpPr>
        <p:spPr>
          <a:xfrm>
            <a:off x="2640614" y="1399853"/>
            <a:ext cx="2099444" cy="22872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29DABB-BAD7-A9F1-0C69-D4AEC01A0DC8}"/>
              </a:ext>
            </a:extLst>
          </p:cNvPr>
          <p:cNvSpPr txBox="1"/>
          <p:nvPr/>
        </p:nvSpPr>
        <p:spPr>
          <a:xfrm>
            <a:off x="7577493" y="1395116"/>
            <a:ext cx="2099444" cy="23547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A41654-D570-18CD-5C41-B9C781027611}"/>
              </a:ext>
            </a:extLst>
          </p:cNvPr>
          <p:cNvSpPr txBox="1"/>
          <p:nvPr/>
        </p:nvSpPr>
        <p:spPr>
          <a:xfrm>
            <a:off x="4669703" y="3812534"/>
            <a:ext cx="7395297" cy="23547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369571-5E28-B3B3-2C94-52845D81855A}"/>
              </a:ext>
            </a:extLst>
          </p:cNvPr>
          <p:cNvSpPr txBox="1"/>
          <p:nvPr/>
        </p:nvSpPr>
        <p:spPr>
          <a:xfrm>
            <a:off x="126998" y="3848288"/>
            <a:ext cx="4459857" cy="23547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863FECE-8386-67BE-2359-125BFD2ACA2B}"/>
              </a:ext>
            </a:extLst>
          </p:cNvPr>
          <p:cNvGraphicFramePr>
            <a:graphicFrameLocks noGrp="1"/>
          </p:cNvGraphicFramePr>
          <p:nvPr/>
        </p:nvGraphicFramePr>
        <p:xfrm>
          <a:off x="126999" y="1832799"/>
          <a:ext cx="2099444" cy="1934219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1489856">
                  <a:extLst>
                    <a:ext uri="{9D8B030D-6E8A-4147-A177-3AD203B41FA5}">
                      <a16:colId xmlns:a16="http://schemas.microsoft.com/office/drawing/2014/main" val="3127981793"/>
                    </a:ext>
                  </a:extLst>
                </a:gridCol>
                <a:gridCol w="609588">
                  <a:extLst>
                    <a:ext uri="{9D8B030D-6E8A-4147-A177-3AD203B41FA5}">
                      <a16:colId xmlns:a16="http://schemas.microsoft.com/office/drawing/2014/main" val="408560269"/>
                    </a:ext>
                  </a:extLst>
                </a:gridCol>
              </a:tblGrid>
              <a:tr h="276317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34911963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泰垚鑫储储能电站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76549301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中绿电东兴储能电站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76837728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富景五虎山储能电站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72170505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景怡查干哈达储能电站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03715318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蒙能敖仑储能电站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11698787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蒙能奈伦储能电站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8176873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B43D429-3761-07CD-DA93-A2342E670F3B}"/>
              </a:ext>
            </a:extLst>
          </p:cNvPr>
          <p:cNvGraphicFramePr>
            <a:graphicFrameLocks noGrp="1"/>
          </p:cNvGraphicFramePr>
          <p:nvPr/>
        </p:nvGraphicFramePr>
        <p:xfrm>
          <a:off x="9965556" y="1792888"/>
          <a:ext cx="2099444" cy="1952195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1307380">
                  <a:extLst>
                    <a:ext uri="{9D8B030D-6E8A-4147-A177-3AD203B41FA5}">
                      <a16:colId xmlns:a16="http://schemas.microsoft.com/office/drawing/2014/main" val="4264346524"/>
                    </a:ext>
                  </a:extLst>
                </a:gridCol>
                <a:gridCol w="792064">
                  <a:extLst>
                    <a:ext uri="{9D8B030D-6E8A-4147-A177-3AD203B41FA5}">
                      <a16:colId xmlns:a16="http://schemas.microsoft.com/office/drawing/2014/main" val="1813518623"/>
                    </a:ext>
                  </a:extLst>
                </a:gridCol>
              </a:tblGrid>
              <a:tr h="278885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80996306"/>
                  </a:ext>
                </a:extLst>
              </a:tr>
              <a:tr h="27888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星能乌勒吉储能电站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45086808"/>
                  </a:ext>
                </a:extLst>
              </a:tr>
              <a:tr h="27888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景蓝乌尔图储能电站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3867848"/>
                  </a:ext>
                </a:extLst>
              </a:tr>
              <a:tr h="27888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景通四益堂储能电站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8112558"/>
                  </a:ext>
                </a:extLst>
              </a:tr>
              <a:tr h="27888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综能可镇储能电站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65007163"/>
                  </a:ext>
                </a:extLst>
              </a:tr>
              <a:tr h="27888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蒙能百利格储能电站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70808664"/>
                  </a:ext>
                </a:extLst>
              </a:tr>
              <a:tr h="27888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大航都林储能电站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6262652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F4321EF-99A4-F3E3-77BF-B1D99E03A5B3}"/>
              </a:ext>
            </a:extLst>
          </p:cNvPr>
          <p:cNvGraphicFramePr>
            <a:graphicFrameLocks noGrp="1"/>
          </p:cNvGraphicFramePr>
          <p:nvPr/>
        </p:nvGraphicFramePr>
        <p:xfrm>
          <a:off x="2653917" y="1858276"/>
          <a:ext cx="2086144" cy="1896272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1299098">
                  <a:extLst>
                    <a:ext uri="{9D8B030D-6E8A-4147-A177-3AD203B41FA5}">
                      <a16:colId xmlns:a16="http://schemas.microsoft.com/office/drawing/2014/main" val="4078937057"/>
                    </a:ext>
                  </a:extLst>
                </a:gridCol>
                <a:gridCol w="787046">
                  <a:extLst>
                    <a:ext uri="{9D8B030D-6E8A-4147-A177-3AD203B41FA5}">
                      <a16:colId xmlns:a16="http://schemas.microsoft.com/office/drawing/2014/main" val="1787272096"/>
                    </a:ext>
                  </a:extLst>
                </a:gridCol>
              </a:tblGrid>
              <a:tr h="270896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01446635"/>
                  </a:ext>
                </a:extLst>
              </a:tr>
              <a:tr h="270896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博梁海纳储能电站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10491578"/>
                  </a:ext>
                </a:extLst>
              </a:tr>
              <a:tr h="270896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星辰科创储能电站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75125212"/>
                  </a:ext>
                </a:extLst>
              </a:tr>
              <a:tr h="270896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悦杭独贵储能电站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1511731"/>
                  </a:ext>
                </a:extLst>
              </a:tr>
              <a:tr h="270896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明阳亚什图储能电站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50446549"/>
                  </a:ext>
                </a:extLst>
              </a:tr>
              <a:tr h="270896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79647775"/>
                  </a:ext>
                </a:extLst>
              </a:tr>
              <a:tr h="270896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2223492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5EC1331-5714-1617-29E1-D88411BD8DD6}"/>
              </a:ext>
            </a:extLst>
          </p:cNvPr>
          <p:cNvSpPr txBox="1"/>
          <p:nvPr/>
        </p:nvSpPr>
        <p:spPr>
          <a:xfrm>
            <a:off x="5167534" y="1399853"/>
            <a:ext cx="2099444" cy="23547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43F24638-ABE7-9D45-A56B-B6476BE9D8D2}"/>
              </a:ext>
            </a:extLst>
          </p:cNvPr>
          <p:cNvGraphicFramePr>
            <a:graphicFrameLocks noGrp="1"/>
          </p:cNvGraphicFramePr>
          <p:nvPr/>
        </p:nvGraphicFramePr>
        <p:xfrm>
          <a:off x="5167531" y="1820331"/>
          <a:ext cx="2086144" cy="1934219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1299098">
                  <a:extLst>
                    <a:ext uri="{9D8B030D-6E8A-4147-A177-3AD203B41FA5}">
                      <a16:colId xmlns:a16="http://schemas.microsoft.com/office/drawing/2014/main" val="241983301"/>
                    </a:ext>
                  </a:extLst>
                </a:gridCol>
                <a:gridCol w="787046">
                  <a:extLst>
                    <a:ext uri="{9D8B030D-6E8A-4147-A177-3AD203B41FA5}">
                      <a16:colId xmlns:a16="http://schemas.microsoft.com/office/drawing/2014/main" val="2846135791"/>
                    </a:ext>
                  </a:extLst>
                </a:gridCol>
              </a:tblGrid>
              <a:tr h="276317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5292116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熠能沙壕储能电站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30827789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裕昭沙子坝储能电站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43073899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熠储新荣储能电站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45805901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00908854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64731395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702187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DE33FD5-DDB8-AB4C-44B9-7BE0EB0F5050}"/>
              </a:ext>
            </a:extLst>
          </p:cNvPr>
          <p:cNvGraphicFramePr>
            <a:graphicFrameLocks noGrp="1"/>
          </p:cNvGraphicFramePr>
          <p:nvPr/>
        </p:nvGraphicFramePr>
        <p:xfrm>
          <a:off x="7577493" y="1815596"/>
          <a:ext cx="2099444" cy="1934219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1307382">
                  <a:extLst>
                    <a:ext uri="{9D8B030D-6E8A-4147-A177-3AD203B41FA5}">
                      <a16:colId xmlns:a16="http://schemas.microsoft.com/office/drawing/2014/main" val="3052048313"/>
                    </a:ext>
                  </a:extLst>
                </a:gridCol>
                <a:gridCol w="792062">
                  <a:extLst>
                    <a:ext uri="{9D8B030D-6E8A-4147-A177-3AD203B41FA5}">
                      <a16:colId xmlns:a16="http://schemas.microsoft.com/office/drawing/2014/main" val="358405820"/>
                    </a:ext>
                  </a:extLst>
                </a:gridCol>
              </a:tblGrid>
              <a:tr h="276317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92697395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巴能峰塔储能电站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3277841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远景乌拉特储能电站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1706209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3574943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25009405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5104162"/>
                  </a:ext>
                </a:extLst>
              </a:tr>
              <a:tr h="27631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0961654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4ECBC375-084D-FF0E-AF74-508578DC2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95771"/>
              </p:ext>
            </p:extLst>
          </p:nvPr>
        </p:nvGraphicFramePr>
        <p:xfrm>
          <a:off x="179304" y="3897635"/>
          <a:ext cx="4418433" cy="222718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31205">
                  <a:extLst>
                    <a:ext uri="{9D8B030D-6E8A-4147-A177-3AD203B41FA5}">
                      <a16:colId xmlns:a16="http://schemas.microsoft.com/office/drawing/2014/main" val="3416949578"/>
                    </a:ext>
                  </a:extLst>
                </a:gridCol>
                <a:gridCol w="1009927">
                  <a:extLst>
                    <a:ext uri="{9D8B030D-6E8A-4147-A177-3AD203B41FA5}">
                      <a16:colId xmlns:a16="http://schemas.microsoft.com/office/drawing/2014/main" val="2780107828"/>
                    </a:ext>
                  </a:extLst>
                </a:gridCol>
                <a:gridCol w="757447">
                  <a:extLst>
                    <a:ext uri="{9D8B030D-6E8A-4147-A177-3AD203B41FA5}">
                      <a16:colId xmlns:a16="http://schemas.microsoft.com/office/drawing/2014/main" val="3513298462"/>
                    </a:ext>
                  </a:extLst>
                </a:gridCol>
                <a:gridCol w="883686">
                  <a:extLst>
                    <a:ext uri="{9D8B030D-6E8A-4147-A177-3AD203B41FA5}">
                      <a16:colId xmlns:a16="http://schemas.microsoft.com/office/drawing/2014/main" val="1404071656"/>
                    </a:ext>
                  </a:extLst>
                </a:gridCol>
                <a:gridCol w="1136168">
                  <a:extLst>
                    <a:ext uri="{9D8B030D-6E8A-4147-A177-3AD203B41FA5}">
                      <a16:colId xmlns:a16="http://schemas.microsoft.com/office/drawing/2014/main" val="97906143"/>
                    </a:ext>
                  </a:extLst>
                </a:gridCol>
              </a:tblGrid>
              <a:tr h="37119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价区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平均值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最大值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最小值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价差（峰值</a:t>
                      </a:r>
                      <a:r>
                        <a:rPr lang="en-US" altLang="zh-CN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中午）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78384730"/>
                  </a:ext>
                </a:extLst>
              </a:tr>
              <a:tr h="37119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146835"/>
                  </a:ext>
                </a:extLst>
              </a:tr>
              <a:tr h="37119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94386974"/>
                  </a:ext>
                </a:extLst>
              </a:tr>
              <a:tr h="37119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68719227"/>
                  </a:ext>
                </a:extLst>
              </a:tr>
              <a:tr h="37119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 dirty="0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263</a:t>
                      </a:r>
                      <a:endParaRPr lang="en-US" altLang="zh-CN" sz="1100" b="1" i="0" u="none" strike="noStrike" dirty="0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3950841"/>
                  </a:ext>
                </a:extLst>
              </a:tr>
              <a:tr h="37119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</a:t>
                      </a:r>
                    </a:p>
                  </a:txBody>
                  <a:tcPr marL="6350" marR="6350" marT="6350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198</a:t>
                      </a:r>
                      <a:endParaRPr lang="en-US" altLang="zh-CN" sz="1100" b="1" i="0" u="none" strike="noStrike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1703</a:t>
                      </a:r>
                      <a:endParaRPr lang="en-US" altLang="zh-CN" sz="1100" b="1" i="0" u="none" strike="noStrike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-54</a:t>
                      </a:r>
                      <a:endParaRPr lang="en-US" altLang="zh-CN" sz="1100" b="1" i="0" u="none" strike="noStrike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3427952"/>
                  </a:ext>
                </a:extLst>
              </a:tr>
            </a:tbl>
          </a:graphicData>
        </a:graphic>
      </p:graphicFrame>
      <p:graphicFrame>
        <p:nvGraphicFramePr>
          <p:cNvPr id="20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/>
        </p:nvGraphicFramePr>
        <p:xfrm>
          <a:off x="4669703" y="3812534"/>
          <a:ext cx="7465651" cy="2390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9808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282E-9A65-D9E8-AD69-05321755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5B943D3-E38D-B636-ACDA-A9ED746E4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23" y="1601671"/>
            <a:ext cx="8777018" cy="43023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8F0B50A-9F74-273F-6A89-75532C490278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5A7DCE-7CA8-7B31-ADC9-A784DF5B7C39}"/>
              </a:ext>
            </a:extLst>
          </p:cNvPr>
          <p:cNvSpPr txBox="1"/>
          <p:nvPr/>
        </p:nvSpPr>
        <p:spPr>
          <a:xfrm>
            <a:off x="126997" y="102938"/>
            <a:ext cx="7026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4. 3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场站横向对比情况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四子王、苏右地区价格畸变、校核严重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CBC83F-0B6B-0F9B-54D4-3DAFA900A848}"/>
              </a:ext>
            </a:extLst>
          </p:cNvPr>
          <p:cNvSpPr txBox="1"/>
          <p:nvPr/>
        </p:nvSpPr>
        <p:spPr>
          <a:xfrm>
            <a:off x="283884" y="715082"/>
            <a:ext cx="11624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四子王、苏右所在节点价区对应呼包东地区，三月份除价差较小外，还会有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非常严重的出清校核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。以苏右场站为例，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月实际出清放电量约为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14619MWh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，而日前、实时校核放电量约为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152MWh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占比超过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。这一比例在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月份进一步提高。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E1A6BF-CBD0-F1B4-9D61-46AFF25682F8}"/>
              </a:ext>
            </a:extLst>
          </p:cNvPr>
          <p:cNvSpPr/>
          <p:nvPr/>
        </p:nvSpPr>
        <p:spPr>
          <a:xfrm>
            <a:off x="6372225" y="3086100"/>
            <a:ext cx="885825" cy="1457325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2D4EAC-5218-9961-9383-B2B13B3F35BD}"/>
              </a:ext>
            </a:extLst>
          </p:cNvPr>
          <p:cNvSpPr txBox="1"/>
          <p:nvPr/>
        </p:nvSpPr>
        <p:spPr>
          <a:xfrm>
            <a:off x="9479780" y="1638412"/>
            <a:ext cx="2578870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中午全网低价时段，价区出现高价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晚高峰红色（只允许放电区间），几乎全部放电量被校核，高价放电时段无法捕捉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E94BCC5-927C-4CBD-4EFE-58386D708818}"/>
              </a:ext>
            </a:extLst>
          </p:cNvPr>
          <p:cNvCxnSpPr>
            <a:cxnSpLocks/>
          </p:cNvCxnSpPr>
          <p:nvPr/>
        </p:nvCxnSpPr>
        <p:spPr>
          <a:xfrm flipV="1">
            <a:off x="3743325" y="2286000"/>
            <a:ext cx="5736455" cy="146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6CC103-53A7-FCCC-D420-21ED7A7ED53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7258050" y="3789591"/>
            <a:ext cx="2109836" cy="2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2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0E221-7E06-9E6C-B594-71977DBE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D340AD-238A-1016-417A-2277A29ACDB3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9BCBA3-F198-675F-5B1D-A52DA5E535F9}"/>
              </a:ext>
            </a:extLst>
          </p:cNvPr>
          <p:cNvSpPr txBox="1"/>
          <p:nvPr/>
        </p:nvSpPr>
        <p:spPr>
          <a:xfrm>
            <a:off x="126999" y="102938"/>
            <a:ext cx="8502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影响收益的主要因素分析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在保障充电次数不变的条件下，优化捕捉价差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2BAC6A-FF9F-558D-B2D9-1DF9A9D3BB8C}"/>
              </a:ext>
            </a:extLst>
          </p:cNvPr>
          <p:cNvSpPr txBox="1"/>
          <p:nvPr/>
        </p:nvSpPr>
        <p:spPr>
          <a:xfrm>
            <a:off x="257482" y="679626"/>
            <a:ext cx="3676343" cy="54925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关键数据对比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93C42F3-54AF-6A92-1241-E1E9A6AB9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245680"/>
              </p:ext>
            </p:extLst>
          </p:nvPr>
        </p:nvGraphicFramePr>
        <p:xfrm>
          <a:off x="490141" y="1154216"/>
          <a:ext cx="3211023" cy="493597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70341">
                  <a:extLst>
                    <a:ext uri="{9D8B030D-6E8A-4147-A177-3AD203B41FA5}">
                      <a16:colId xmlns:a16="http://schemas.microsoft.com/office/drawing/2014/main" val="1801994726"/>
                    </a:ext>
                  </a:extLst>
                </a:gridCol>
                <a:gridCol w="1081796">
                  <a:extLst>
                    <a:ext uri="{9D8B030D-6E8A-4147-A177-3AD203B41FA5}">
                      <a16:colId xmlns:a16="http://schemas.microsoft.com/office/drawing/2014/main" val="3904071957"/>
                    </a:ext>
                  </a:extLst>
                </a:gridCol>
                <a:gridCol w="1058886">
                  <a:extLst>
                    <a:ext uri="{9D8B030D-6E8A-4147-A177-3AD203B41FA5}">
                      <a16:colId xmlns:a16="http://schemas.microsoft.com/office/drawing/2014/main" val="2457971073"/>
                    </a:ext>
                  </a:extLst>
                </a:gridCol>
              </a:tblGrid>
              <a:tr h="430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日均充电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捕获价差（元</a:t>
                      </a: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/MWh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365612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第一名</a:t>
                      </a:r>
                      <a:endParaRPr lang="en-US" altLang="zh-CN" sz="1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（泰垚鑫）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1.31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169.63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573425"/>
                  </a:ext>
                </a:extLst>
              </a:tr>
              <a:tr h="5172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前五平均值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1.28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150.86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738716"/>
                  </a:ext>
                </a:extLst>
              </a:tr>
              <a:tr h="5172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小时系统项目平均值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endParaRPr lang="zh-CN" altLang="en-US" sz="1200" b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129.91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196228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乌海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1.35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115.12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813301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zh-CN" altLang="en-US" sz="1100" b="1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杭锦旗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1.29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123.93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7871851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谷山梁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1.26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125.15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206194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125.23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352756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乌拉特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1.22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136.28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22351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苏右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1.31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88.7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317611"/>
                  </a:ext>
                </a:extLst>
              </a:tr>
              <a:tr h="430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四子王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b="1" kern="120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1.24</a:t>
                      </a:r>
                      <a:endParaRPr lang="zh-CN" altLang="en-US" sz="1200" b="1" kern="120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96.07</a:t>
                      </a:r>
                      <a:endParaRPr lang="zh-CN" altLang="en-US" sz="1200" b="1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27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24508FB-7C9B-44DD-529D-BCDD3B9A628E}"/>
              </a:ext>
            </a:extLst>
          </p:cNvPr>
          <p:cNvSpPr txBox="1"/>
          <p:nvPr/>
        </p:nvSpPr>
        <p:spPr>
          <a:xfrm>
            <a:off x="9178039" y="1238623"/>
            <a:ext cx="3004436" cy="3609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日均充电次数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与最终总收益排名的相关性更高，获得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高收益的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基本盘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捕获价差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与整体总收益排名的相关性不够明显，但提高捕获价差是进入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top5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”的前提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我们蒙西场站因为保障了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良好的充电次数，所以排名靠前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；然而，想进一步提高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必须提高捕获价差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在保障充电次数不变的条件下，优化捕捉价差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6D56BF3-C163-1B3D-1A1E-0E53EA2253E7}"/>
              </a:ext>
            </a:extLst>
          </p:cNvPr>
          <p:cNvGrpSpPr/>
          <p:nvPr/>
        </p:nvGrpSpPr>
        <p:grpSpPr>
          <a:xfrm>
            <a:off x="4590162" y="1246184"/>
            <a:ext cx="4587877" cy="3448274"/>
            <a:chOff x="5795126" y="672161"/>
            <a:chExt cx="5177673" cy="3448274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593801A8-0759-CBF4-CE83-1AEE9A719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5126" y="672161"/>
              <a:ext cx="5177673" cy="1819442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9EA2E3F-77AF-A9BF-18F8-952422744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95126" y="2181225"/>
              <a:ext cx="5177673" cy="1939210"/>
            </a:xfrm>
            <a:prstGeom prst="rect">
              <a:avLst/>
            </a:prstGeom>
          </p:spPr>
        </p:pic>
      </p:grpSp>
      <p:sp>
        <p:nvSpPr>
          <p:cNvPr id="19" name="箭头: 右 18">
            <a:extLst>
              <a:ext uri="{FF2B5EF4-FFF2-40B4-BE49-F238E27FC236}">
                <a16:creationId xmlns:a16="http://schemas.microsoft.com/office/drawing/2014/main" id="{4A2205F7-89E7-58A0-4A46-A9E3F0CD3CDF}"/>
              </a:ext>
            </a:extLst>
          </p:cNvPr>
          <p:cNvSpPr/>
          <p:nvPr/>
        </p:nvSpPr>
        <p:spPr>
          <a:xfrm>
            <a:off x="3964053" y="2181225"/>
            <a:ext cx="626109" cy="78909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DACD19-952F-9CFC-F702-0A45DEF5F407}"/>
              </a:ext>
            </a:extLst>
          </p:cNvPr>
          <p:cNvSpPr txBox="1"/>
          <p:nvPr/>
        </p:nvSpPr>
        <p:spPr>
          <a:xfrm>
            <a:off x="5498212" y="4847688"/>
            <a:ext cx="2771775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影响因素相关性对比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3952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EA702-80B1-A119-84FC-CA241080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27F353-D8C5-4A1E-E39B-C85D7E65522A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ABD5C1-4EEC-D16D-B0D4-7B3702DA2748}"/>
              </a:ext>
            </a:extLst>
          </p:cNvPr>
          <p:cNvSpPr txBox="1"/>
          <p:nvPr/>
        </p:nvSpPr>
        <p:spPr>
          <a:xfrm>
            <a:off x="126999" y="102938"/>
            <a:ext cx="5302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影响收益的主要因素分析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当前存在的主要困难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538CF1-5DEA-4FD8-F842-62608698C6EC}"/>
              </a:ext>
            </a:extLst>
          </p:cNvPr>
          <p:cNvSpPr txBox="1"/>
          <p:nvPr/>
        </p:nvSpPr>
        <p:spPr>
          <a:xfrm>
            <a:off x="7708446" y="1536779"/>
            <a:ext cx="4133851" cy="3476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提高充电量难点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管理缺乏支撑，申报初始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基于预估，是策略的起点，但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设备损耗参数无法精确获取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电网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校核规则不透明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，需要逐渐摸索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提高价差捕捉难点：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当前策略制定基于</a:t>
            </a: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D-2</a:t>
            </a: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竞价空间预测，存在偏差。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储能规模增大后，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充放本身改变出清边界</a:t>
            </a:r>
            <a:r>
              <a:rPr lang="zh-CN" altLang="en-US" sz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减小价差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；这一现象对于大储更为明显。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次充放要在早晚阶段完成，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价格趋势与充放顺序相反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，叠加充放影响后，极易出现价格倒挂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9AB890-F8FD-7A4D-6F34-BDD146B6E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8" y="1231979"/>
            <a:ext cx="7429500" cy="395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9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4244-24D8-7350-F6E3-A8C2A44B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F0FABB-AB19-F0FF-D18A-A123BC63B740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DC1EB4-3D23-E781-E7BF-819DB5E59507}"/>
              </a:ext>
            </a:extLst>
          </p:cNvPr>
          <p:cNvSpPr txBox="1"/>
          <p:nvPr/>
        </p:nvSpPr>
        <p:spPr>
          <a:xfrm>
            <a:off x="126999" y="102938"/>
            <a:ext cx="724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影响收益的主要因素分析 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充电次数</a:t>
            </a:r>
            <a:r>
              <a: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措施和目前发现的案例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5996825-65A7-E32C-C77F-FB9DD7036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00937"/>
              </p:ext>
            </p:extLst>
          </p:nvPr>
        </p:nvGraphicFramePr>
        <p:xfrm>
          <a:off x="612774" y="2423923"/>
          <a:ext cx="5095873" cy="2592000"/>
        </p:xfrm>
        <a:graphic>
          <a:graphicData uri="http://schemas.openxmlformats.org/drawingml/2006/table">
            <a:tbl>
              <a:tblPr/>
              <a:tblGrid>
                <a:gridCol w="1287433">
                  <a:extLst>
                    <a:ext uri="{9D8B030D-6E8A-4147-A177-3AD203B41FA5}">
                      <a16:colId xmlns:a16="http://schemas.microsoft.com/office/drawing/2014/main" val="2323283143"/>
                    </a:ext>
                  </a:extLst>
                </a:gridCol>
                <a:gridCol w="761688">
                  <a:extLst>
                    <a:ext uri="{9D8B030D-6E8A-4147-A177-3AD203B41FA5}">
                      <a16:colId xmlns:a16="http://schemas.microsoft.com/office/drawing/2014/main" val="483915304"/>
                    </a:ext>
                  </a:extLst>
                </a:gridCol>
                <a:gridCol w="761688">
                  <a:extLst>
                    <a:ext uri="{9D8B030D-6E8A-4147-A177-3AD203B41FA5}">
                      <a16:colId xmlns:a16="http://schemas.microsoft.com/office/drawing/2014/main" val="4095489913"/>
                    </a:ext>
                  </a:extLst>
                </a:gridCol>
                <a:gridCol w="761688">
                  <a:extLst>
                    <a:ext uri="{9D8B030D-6E8A-4147-A177-3AD203B41FA5}">
                      <a16:colId xmlns:a16="http://schemas.microsoft.com/office/drawing/2014/main" val="2561663660"/>
                    </a:ext>
                  </a:extLst>
                </a:gridCol>
                <a:gridCol w="761688">
                  <a:extLst>
                    <a:ext uri="{9D8B030D-6E8A-4147-A177-3AD203B41FA5}">
                      <a16:colId xmlns:a16="http://schemas.microsoft.com/office/drawing/2014/main" val="1356671900"/>
                    </a:ext>
                  </a:extLst>
                </a:gridCol>
                <a:gridCol w="761688">
                  <a:extLst>
                    <a:ext uri="{9D8B030D-6E8A-4147-A177-3AD203B41FA5}">
                      <a16:colId xmlns:a16="http://schemas.microsoft.com/office/drawing/2014/main" val="21621762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时段</a:t>
                      </a:r>
                      <a:endParaRPr lang="zh-CN" altLang="en-US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9:45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10:00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10:15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10:30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10:45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39417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交易申报计划 </a:t>
                      </a:r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-47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47049473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</a:t>
                      </a:r>
                      <a:r>
                        <a:rPr 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13.84%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88054802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日前出清计划 </a:t>
                      </a:r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1330832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</a:t>
                      </a:r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SOC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6.86%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13.84%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17.32%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60716552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交易申报计划 </a:t>
                      </a:r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-47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11781034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</a:t>
                      </a:r>
                      <a:r>
                        <a:rPr 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13.84%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17.32%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41906137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日前出清计划 </a:t>
                      </a:r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MW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-15.68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209588644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</a:t>
                      </a:r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SOC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9.40%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12.89%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16.37%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19.86%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3134715114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FC86016-BC8F-1F8D-879B-19F48683E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413391"/>
              </p:ext>
            </p:extLst>
          </p:nvPr>
        </p:nvGraphicFramePr>
        <p:xfrm>
          <a:off x="6646489" y="2423923"/>
          <a:ext cx="4210241" cy="2592000"/>
        </p:xfrm>
        <a:graphic>
          <a:graphicData uri="http://schemas.openxmlformats.org/drawingml/2006/table">
            <a:tbl>
              <a:tblPr/>
              <a:tblGrid>
                <a:gridCol w="601463">
                  <a:extLst>
                    <a:ext uri="{9D8B030D-6E8A-4147-A177-3AD203B41FA5}">
                      <a16:colId xmlns:a16="http://schemas.microsoft.com/office/drawing/2014/main" val="2812345221"/>
                    </a:ext>
                  </a:extLst>
                </a:gridCol>
                <a:gridCol w="601463">
                  <a:extLst>
                    <a:ext uri="{9D8B030D-6E8A-4147-A177-3AD203B41FA5}">
                      <a16:colId xmlns:a16="http://schemas.microsoft.com/office/drawing/2014/main" val="6056566"/>
                    </a:ext>
                  </a:extLst>
                </a:gridCol>
                <a:gridCol w="601463">
                  <a:extLst>
                    <a:ext uri="{9D8B030D-6E8A-4147-A177-3AD203B41FA5}">
                      <a16:colId xmlns:a16="http://schemas.microsoft.com/office/drawing/2014/main" val="2499671247"/>
                    </a:ext>
                  </a:extLst>
                </a:gridCol>
                <a:gridCol w="601463">
                  <a:extLst>
                    <a:ext uri="{9D8B030D-6E8A-4147-A177-3AD203B41FA5}">
                      <a16:colId xmlns:a16="http://schemas.microsoft.com/office/drawing/2014/main" val="183826882"/>
                    </a:ext>
                  </a:extLst>
                </a:gridCol>
                <a:gridCol w="601463">
                  <a:extLst>
                    <a:ext uri="{9D8B030D-6E8A-4147-A177-3AD203B41FA5}">
                      <a16:colId xmlns:a16="http://schemas.microsoft.com/office/drawing/2014/main" val="2958515304"/>
                    </a:ext>
                  </a:extLst>
                </a:gridCol>
                <a:gridCol w="601463">
                  <a:extLst>
                    <a:ext uri="{9D8B030D-6E8A-4147-A177-3AD203B41FA5}">
                      <a16:colId xmlns:a16="http://schemas.microsoft.com/office/drawing/2014/main" val="891882820"/>
                    </a:ext>
                  </a:extLst>
                </a:gridCol>
                <a:gridCol w="601463">
                  <a:extLst>
                    <a:ext uri="{9D8B030D-6E8A-4147-A177-3AD203B41FA5}">
                      <a16:colId xmlns:a16="http://schemas.microsoft.com/office/drawing/2014/main" val="380944567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15:30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15:45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16:00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16:15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16:30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16:45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17:00</a:t>
                      </a:r>
                      <a:endParaRPr lang="en-US" altLang="zh-CN" sz="105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56592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-16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50" b="1" i="0" u="none" strike="noStrike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29447219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74.28%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78.06%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81.84%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85.62%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89.40%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95.35%</a:t>
                      </a:r>
                      <a:endParaRPr lang="en-US" altLang="zh-CN" sz="1050" b="1" i="0" u="none" strike="noStrike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37723035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-56.64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-7.14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15130521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78.06%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81.84%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85.62%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89.40%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92.69%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u="none" strike="noStrike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93.10%</a:t>
                      </a:r>
                      <a:endParaRPr lang="en-US" altLang="zh-CN" sz="1050" b="1" i="0" u="none" strike="noStrike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31289213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-58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-16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50" b="1" i="0" u="none" strike="noStrike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19835668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78.06%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81.84%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85.62%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89.40%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93.00%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94.84%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u="none" strike="noStrike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95.94%</a:t>
                      </a:r>
                      <a:endParaRPr lang="en-US" altLang="zh-CN" sz="1050" b="1" i="0" u="none" strike="noStrike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4731736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-63.02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-59.05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-39.17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5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17472186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79.95%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83.62%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87.05%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90.83%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93.10%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u="none" strike="noStrike"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93.10%</a:t>
                      </a:r>
                      <a:endParaRPr lang="en-US" altLang="zh-CN" sz="1050" b="1" i="0" u="none" strike="noStrike"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89" marR="2989" marT="2989" marB="0" anchor="ctr"/>
                </a:tc>
                <a:extLst>
                  <a:ext uri="{0D108BD9-81ED-4DB2-BD59-A6C34878D82A}">
                    <a16:rowId xmlns:a16="http://schemas.microsoft.com/office/drawing/2014/main" val="3528990092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59FBFB32-48A9-8534-D916-A796EB039B6D}"/>
              </a:ext>
            </a:extLst>
          </p:cNvPr>
          <p:cNvSpPr txBox="1"/>
          <p:nvPr/>
        </p:nvSpPr>
        <p:spPr>
          <a:xfrm>
            <a:off x="5741986" y="2948482"/>
            <a:ext cx="904878" cy="4589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313148-868E-B061-97BC-A77C95C2D6D7}"/>
              </a:ext>
            </a:extLst>
          </p:cNvPr>
          <p:cNvSpPr/>
          <p:nvPr/>
        </p:nvSpPr>
        <p:spPr>
          <a:xfrm>
            <a:off x="536574" y="2658665"/>
            <a:ext cx="10391775" cy="1236909"/>
          </a:xfrm>
          <a:prstGeom prst="rect">
            <a:avLst/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77C1BD0-B4B6-BEAB-2989-BD57F7B36FF4}"/>
              </a:ext>
            </a:extLst>
          </p:cNvPr>
          <p:cNvSpPr/>
          <p:nvPr/>
        </p:nvSpPr>
        <p:spPr>
          <a:xfrm>
            <a:off x="546099" y="3895574"/>
            <a:ext cx="10391775" cy="1236909"/>
          </a:xfrm>
          <a:prstGeom prst="rect">
            <a:avLst/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3E76D3-3BA9-747B-4880-F5C86E544820}"/>
              </a:ext>
            </a:extLst>
          </p:cNvPr>
          <p:cNvSpPr txBox="1"/>
          <p:nvPr/>
        </p:nvSpPr>
        <p:spPr>
          <a:xfrm>
            <a:off x="10914432" y="3177936"/>
            <a:ext cx="93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场站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4CA1A1-061D-7BE8-8375-0BF6AC7E960E}"/>
              </a:ext>
            </a:extLst>
          </p:cNvPr>
          <p:cNvSpPr txBox="1"/>
          <p:nvPr/>
        </p:nvSpPr>
        <p:spPr>
          <a:xfrm>
            <a:off x="10914432" y="4414845"/>
            <a:ext cx="93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场站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CCEEE6-508E-7BD3-5B92-6A73D0983A4C}"/>
              </a:ext>
            </a:extLst>
          </p:cNvPr>
          <p:cNvSpPr txBox="1"/>
          <p:nvPr/>
        </p:nvSpPr>
        <p:spPr>
          <a:xfrm>
            <a:off x="5732083" y="4150559"/>
            <a:ext cx="904878" cy="4589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EEA01A-7BB8-2D74-4E86-858D3A005F28}"/>
              </a:ext>
            </a:extLst>
          </p:cNvPr>
          <p:cNvSpPr txBox="1"/>
          <p:nvPr/>
        </p:nvSpPr>
        <p:spPr>
          <a:xfrm>
            <a:off x="274633" y="5163606"/>
            <a:ext cx="11777293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：多日、多场站验证后，推测调度以固定充放电效率值（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）、申报场站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上限（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）校核充电曲线，中午时段</a:t>
            </a:r>
            <a:r>
              <a:rPr lang="en-US" altLang="zh-CN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无法到达上限。</a:t>
            </a:r>
            <a:endParaRPr lang="en-US" altLang="zh-CN" sz="14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但申报计划仍保持充电功率，出现“充满还在充”的情况。</a:t>
            </a:r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4E0CB8-DDC1-D158-14C3-63B6326E13A3}"/>
              </a:ext>
            </a:extLst>
          </p:cNvPr>
          <p:cNvSpPr txBox="1"/>
          <p:nvPr/>
        </p:nvSpPr>
        <p:spPr>
          <a:xfrm>
            <a:off x="274633" y="5918320"/>
            <a:ext cx="11777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影响</a:t>
            </a:r>
            <a:r>
              <a:rPr lang="zh-CN" altLang="en-US"/>
              <a:t>：</a:t>
            </a:r>
            <a:r>
              <a:rPr lang="zh-CN" altLang="en-US" b="0"/>
              <a:t>充电次数被占用，无法用满</a:t>
            </a:r>
            <a:r>
              <a:rPr lang="en-US" altLang="zh-CN" b="0"/>
              <a:t>1.5</a:t>
            </a:r>
            <a:r>
              <a:rPr lang="zh-CN" altLang="en-US" b="0"/>
              <a:t>次</a:t>
            </a:r>
            <a:r>
              <a:rPr lang="en-US" altLang="zh-CN" b="0"/>
              <a:t>/</a:t>
            </a:r>
            <a:r>
              <a:rPr lang="zh-CN" altLang="en-US" b="0"/>
              <a:t>天的充电机会，且日内放电量减少。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2329E2C-ECAA-9A98-EA82-6A64E4D97689}"/>
              </a:ext>
            </a:extLst>
          </p:cNvPr>
          <p:cNvCxnSpPr/>
          <p:nvPr/>
        </p:nvCxnSpPr>
        <p:spPr>
          <a:xfrm>
            <a:off x="276219" y="2190903"/>
            <a:ext cx="1150620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A939E90-F256-4573-48AD-D57E4A26B467}"/>
              </a:ext>
            </a:extLst>
          </p:cNvPr>
          <p:cNvSpPr txBox="1"/>
          <p:nvPr/>
        </p:nvSpPr>
        <p:spPr>
          <a:xfrm rot="5400000">
            <a:off x="-308556" y="1200686"/>
            <a:ext cx="1477328" cy="30777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次数受限根因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410843-B6D4-43D0-ADB5-44F35AA80FB5}"/>
              </a:ext>
            </a:extLst>
          </p:cNvPr>
          <p:cNvSpPr txBox="1"/>
          <p:nvPr/>
        </p:nvSpPr>
        <p:spPr>
          <a:xfrm>
            <a:off x="536373" y="765138"/>
            <a:ext cx="4352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设备静置时间：乌拉特充放电需静置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1h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，策略受限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9F2347-4045-9C4A-C41B-C55CF4258079}"/>
              </a:ext>
            </a:extLst>
          </p:cNvPr>
          <p:cNvSpPr txBox="1"/>
          <p:nvPr/>
        </p:nvSpPr>
        <p:spPr>
          <a:xfrm>
            <a:off x="536373" y="1068135"/>
            <a:ext cx="4632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电网约束：调令或节点功率限制（谷山梁）导致策略受限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3D75A7-1052-A6BC-81F0-1AEEB63AD5CA}"/>
              </a:ext>
            </a:extLst>
          </p:cNvPr>
          <p:cNvSpPr txBox="1"/>
          <p:nvPr/>
        </p:nvSpPr>
        <p:spPr>
          <a:xfrm>
            <a:off x="536373" y="1371132"/>
            <a:ext cx="526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预测与校核不准：目前设备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存在不准确情况，误差导致计算值偏离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1E82A5-6C9C-20A8-C7E2-FE57664ACAC5}"/>
              </a:ext>
            </a:extLst>
          </p:cNvPr>
          <p:cNvSpPr txBox="1"/>
          <p:nvPr/>
        </p:nvSpPr>
        <p:spPr>
          <a:xfrm>
            <a:off x="536372" y="1674129"/>
            <a:ext cx="526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设备参数未标准化：未及时对齐申报边界与调度计算边界，策略受限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847395-DE75-8774-F44C-22243A5E34F7}"/>
              </a:ext>
            </a:extLst>
          </p:cNvPr>
          <p:cNvSpPr txBox="1"/>
          <p:nvPr/>
        </p:nvSpPr>
        <p:spPr>
          <a:xfrm rot="5400000">
            <a:off x="4978045" y="1214812"/>
            <a:ext cx="1692771" cy="30777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</a:t>
            </a:r>
            <a:r>
              <a:rPr lang="en-US" altLang="zh-CN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待执行对策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968848-C8A6-BC7B-F328-ED9B530BEC1C}"/>
              </a:ext>
            </a:extLst>
          </p:cNvPr>
          <p:cNvSpPr txBox="1"/>
          <p:nvPr/>
        </p:nvSpPr>
        <p:spPr>
          <a:xfrm>
            <a:off x="5978321" y="765138"/>
            <a:ext cx="6569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边界对齐：明确各场站实际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上下限和功率闭环点（不明：杭锦旗、四子王、谷山梁）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56DB80-0C9F-D9B0-D8AE-B7817CA42C71}"/>
              </a:ext>
            </a:extLst>
          </p:cNvPr>
          <p:cNvSpPr txBox="1"/>
          <p:nvPr/>
        </p:nvSpPr>
        <p:spPr>
          <a:xfrm>
            <a:off x="5978321" y="1064514"/>
            <a:ext cx="6133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邻居互通：与周边邻居在策略上协同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8C212B0-FFBE-D2BC-6948-4F18FBA77DDA}"/>
              </a:ext>
            </a:extLst>
          </p:cNvPr>
          <p:cNvSpPr txBox="1"/>
          <p:nvPr/>
        </p:nvSpPr>
        <p:spPr>
          <a:xfrm>
            <a:off x="5978320" y="1354574"/>
            <a:ext cx="6429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交易、运维和产品团队配合：场站需提供设备每日充放电损耗电量和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实时值供复核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872EAF-AE6C-2CAA-F109-EDC6D71711BD}"/>
              </a:ext>
            </a:extLst>
          </p:cNvPr>
          <p:cNvSpPr txBox="1"/>
          <p:nvPr/>
        </p:nvSpPr>
        <p:spPr>
          <a:xfrm>
            <a:off x="5978320" y="1674129"/>
            <a:ext cx="5267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及时同步参数：出清值和实际执行值的校核情况复盘与参数拆解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6D9D2DE-0173-F6FF-CBC6-930EA3E25748}"/>
              </a:ext>
            </a:extLst>
          </p:cNvPr>
          <p:cNvSpPr txBox="1"/>
          <p:nvPr/>
        </p:nvSpPr>
        <p:spPr>
          <a:xfrm rot="5400000">
            <a:off x="-894918" y="3597090"/>
            <a:ext cx="2339102" cy="30777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设备参数未标准化案例</a:t>
            </a:r>
          </a:p>
        </p:txBody>
      </p:sp>
    </p:spTree>
    <p:extLst>
      <p:ext uri="{BB962C8B-B14F-4D97-AF65-F5344CB8AC3E}">
        <p14:creationId xmlns:p14="http://schemas.microsoft.com/office/powerpoint/2010/main" val="3773771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9F321-AE56-2961-07E5-23F34B41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154EAE-5F46-EF20-1463-C87D2453161F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F6C1BC-02DD-FCF6-6974-98941403D791}"/>
              </a:ext>
            </a:extLst>
          </p:cNvPr>
          <p:cNvSpPr txBox="1"/>
          <p:nvPr/>
        </p:nvSpPr>
        <p:spPr>
          <a:xfrm>
            <a:off x="3977195" y="5591484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日留电收益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256A7DB-5C8F-899A-A4B7-A00A5C34D5B3}"/>
              </a:ext>
            </a:extLst>
          </p:cNvPr>
          <p:cNvGraphicFramePr>
            <a:graphicFrameLocks noGrp="1"/>
          </p:cNvGraphicFramePr>
          <p:nvPr/>
        </p:nvGraphicFramePr>
        <p:xfrm>
          <a:off x="3609473" y="1310776"/>
          <a:ext cx="4976262" cy="121946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995252">
                  <a:extLst>
                    <a:ext uri="{9D8B030D-6E8A-4147-A177-3AD203B41FA5}">
                      <a16:colId xmlns:a16="http://schemas.microsoft.com/office/drawing/2014/main" val="4252563308"/>
                    </a:ext>
                  </a:extLst>
                </a:gridCol>
                <a:gridCol w="1815692">
                  <a:extLst>
                    <a:ext uri="{9D8B030D-6E8A-4147-A177-3AD203B41FA5}">
                      <a16:colId xmlns:a16="http://schemas.microsoft.com/office/drawing/2014/main" val="4072271618"/>
                    </a:ext>
                  </a:extLst>
                </a:gridCol>
                <a:gridCol w="864141">
                  <a:extLst>
                    <a:ext uri="{9D8B030D-6E8A-4147-A177-3AD203B41FA5}">
                      <a16:colId xmlns:a16="http://schemas.microsoft.com/office/drawing/2014/main" val="1243879961"/>
                    </a:ext>
                  </a:extLst>
                </a:gridCol>
                <a:gridCol w="1301177">
                  <a:extLst>
                    <a:ext uri="{9D8B030D-6E8A-4147-A177-3AD203B41FA5}">
                      <a16:colId xmlns:a16="http://schemas.microsoft.com/office/drawing/2014/main" val="2640188870"/>
                    </a:ext>
                  </a:extLst>
                </a:gridCol>
              </a:tblGrid>
              <a:tr h="304867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SOC</a:t>
                      </a:r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所属区间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电站数量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占比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06179499"/>
                  </a:ext>
                </a:extLst>
              </a:tr>
              <a:tr h="3048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低区间 </a:t>
                      </a:r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[5,35)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&lt;= x &lt; 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47.37%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99992489"/>
                  </a:ext>
                </a:extLst>
              </a:tr>
              <a:tr h="3048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中区间 </a:t>
                      </a:r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[35,65)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&lt;= x &lt; 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21.05%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65301169"/>
                  </a:ext>
                </a:extLst>
              </a:tr>
              <a:tr h="30486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高区间 </a:t>
                      </a:r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[65,95]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 &lt;= x &lt;= 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31.58%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3574596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6346AF35-EDCC-F03B-58D1-5F4AE1340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347095"/>
              </p:ext>
            </p:extLst>
          </p:nvPr>
        </p:nvGraphicFramePr>
        <p:xfrm>
          <a:off x="209550" y="660931"/>
          <a:ext cx="2863850" cy="552811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93417">
                  <a:extLst>
                    <a:ext uri="{9D8B030D-6E8A-4147-A177-3AD203B41FA5}">
                      <a16:colId xmlns:a16="http://schemas.microsoft.com/office/drawing/2014/main" val="591484034"/>
                    </a:ext>
                  </a:extLst>
                </a:gridCol>
                <a:gridCol w="1287783">
                  <a:extLst>
                    <a:ext uri="{9D8B030D-6E8A-4147-A177-3AD203B41FA5}">
                      <a16:colId xmlns:a16="http://schemas.microsoft.com/office/drawing/2014/main" val="2507008898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3103887565"/>
                    </a:ext>
                  </a:extLst>
                </a:gridCol>
              </a:tblGrid>
              <a:tr h="165164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收益排名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场站名称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soc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/>
                </a:tc>
                <a:extLst>
                  <a:ext uri="{0D108BD9-81ED-4DB2-BD59-A6C34878D82A}">
                    <a16:rowId xmlns:a16="http://schemas.microsoft.com/office/drawing/2014/main" val="3053910014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中绿电东兴储能电站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18.51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1710462667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星能乌勒吉储能电站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76.58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1555432798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星钒海窝储能电站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151312459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明阳亚什图储能电站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36.54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644391044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协鑫石拐储能电站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22.63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503963767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博梁海纳储能电站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43.42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407135804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蒙能奈伦储能电站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26.58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663972378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综能百灵储能电站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19.34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130598401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星辰科创储能电站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49889013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蒙能敖仑储能电站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35.79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1121969707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景通四益堂储能电站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35.79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126630516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泰垚鑫储储能电站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4080462456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景怡查干哈达储能电站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81.75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231926536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裕昭沙子坝储能电站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4274201409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综能万成功储能电站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6378223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悦杭独贵储能电站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44.67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506066163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创启杜四营储能电站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10.88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124338586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博思苗六营储能电站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278766417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博汉星光储能电站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96049812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蒙能百利格储能电站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67.37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513223956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巴能峰塔储能电站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83.58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27708047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综能可镇储能电站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80.7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456460207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富景五虎山储能电站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78.36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94614317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远景乌拉特储能电站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35.09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179868577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宇动头泉储能电站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53.74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177363267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中节能芦子庙储能电站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953959841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熠能沙壕储能电站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34.55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228508351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中电科技板定营储能电站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92.79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840575909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蒙能利民储能电站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752662354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景蓝乌尔图储能电站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662953931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熠储新荣储能电站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680957739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国众哈日木格台储能电站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675968021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大航都林储能电站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389638115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星远欣荣储能电站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39347721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融储辉图霍勃储能电站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694833764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蒙能苏木哈储能电站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755259181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景通红丰储能电站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3806674604"/>
                  </a:ext>
                </a:extLst>
              </a:tr>
              <a:tr h="1380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大航额日和图储能电站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82.27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805" marR="3805" marT="3805" marB="0" anchor="b"/>
                </a:tc>
                <a:extLst>
                  <a:ext uri="{0D108BD9-81ED-4DB2-BD59-A6C34878D82A}">
                    <a16:rowId xmlns:a16="http://schemas.microsoft.com/office/drawing/2014/main" val="296281114"/>
                  </a:ext>
                </a:extLst>
              </a:tr>
            </a:tbl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6ADFA433-A717-B79B-D5B3-1A7B95E9E356}"/>
              </a:ext>
            </a:extLst>
          </p:cNvPr>
          <p:cNvSpPr txBox="1"/>
          <p:nvPr/>
        </p:nvSpPr>
        <p:spPr>
          <a:xfrm>
            <a:off x="3397717" y="898216"/>
            <a:ext cx="5948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最小值 </a:t>
            </a:r>
            <a:r>
              <a:rPr lang="en-US" altLang="zh-CN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、最大值 </a:t>
            </a:r>
            <a:r>
              <a:rPr lang="en-US" altLang="zh-CN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95</a:t>
            </a:r>
            <a:r>
              <a:rPr lang="zh-CN" altLang="en-US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等宽三分，区间宽度为 </a:t>
            </a:r>
            <a:r>
              <a:rPr lang="en-US" altLang="zh-CN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30E2D0-9F2C-544A-E0B5-6179C3A45DC3}"/>
              </a:ext>
            </a:extLst>
          </p:cNvPr>
          <p:cNvSpPr txBox="1"/>
          <p:nvPr/>
        </p:nvSpPr>
        <p:spPr>
          <a:xfrm>
            <a:off x="126999" y="102938"/>
            <a:ext cx="8991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影响收益的主要因素分析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捕获价差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提高策略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Case1: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典型留电场景策略分析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DAF00E-1AAA-564B-B292-07BADA722552}"/>
              </a:ext>
            </a:extLst>
          </p:cNvPr>
          <p:cNvSpPr txBox="1"/>
          <p:nvPr/>
        </p:nvSpPr>
        <p:spPr>
          <a:xfrm>
            <a:off x="9041578" y="1229962"/>
            <a:ext cx="3004436" cy="425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D-2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竞价空间预测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日凌晨价格将高于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策略执行：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超过一半以上的主体，初始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SOC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显示留电，但留电多少与排名相关性较差（未排除校核影响）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执行结果：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日凌晨确实存在价格高于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日晚的价格区间，但同时也存在价格较低区间；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执行留电策略后，需要精准捕捉高价时段，否则可能策略无法生效。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24B0A5-D80A-0998-13AB-682B0CEAE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954" y="2748009"/>
            <a:ext cx="5731070" cy="273734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96C7143-667C-A58D-9893-9B9CEDEEB59A}"/>
              </a:ext>
            </a:extLst>
          </p:cNvPr>
          <p:cNvSpPr/>
          <p:nvPr/>
        </p:nvSpPr>
        <p:spPr>
          <a:xfrm>
            <a:off x="6562724" y="3267075"/>
            <a:ext cx="390525" cy="99060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39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D3B1-FBB7-54D4-B681-4AD16883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FB97F8-6232-BFCB-C3A4-D6E45801B073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EED6DE-9FA2-16D9-9B3F-03652E59F6A2}"/>
              </a:ext>
            </a:extLst>
          </p:cNvPr>
          <p:cNvSpPr txBox="1"/>
          <p:nvPr/>
        </p:nvSpPr>
        <p:spPr>
          <a:xfrm>
            <a:off x="126998" y="102938"/>
            <a:ext cx="8860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影响收益的主要因素分析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捕获价差提高策略</a:t>
            </a: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Case2: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留电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极端价格捕捉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1179803-1AD0-9573-3936-03749DB986EA}"/>
              </a:ext>
            </a:extLst>
          </p:cNvPr>
          <p:cNvGrpSpPr/>
          <p:nvPr/>
        </p:nvGrpSpPr>
        <p:grpSpPr>
          <a:xfrm>
            <a:off x="200026" y="1366048"/>
            <a:ext cx="8667750" cy="3797894"/>
            <a:chOff x="1198671" y="1394623"/>
            <a:chExt cx="10061357" cy="3797894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0E13F7EA-4B8B-7925-0739-581E23CA0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8671" y="1394623"/>
              <a:ext cx="10061357" cy="3797894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D933A8-A80A-8BB1-4B02-FF0D31101120}"/>
                </a:ext>
              </a:extLst>
            </p:cNvPr>
            <p:cNvSpPr/>
            <p:nvPr/>
          </p:nvSpPr>
          <p:spPr>
            <a:xfrm>
              <a:off x="8229600" y="1876425"/>
              <a:ext cx="1076325" cy="2638425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B324CFA1-5864-4E22-3F0D-C0876E43378E}"/>
              </a:ext>
            </a:extLst>
          </p:cNvPr>
          <p:cNvSpPr txBox="1"/>
          <p:nvPr/>
        </p:nvSpPr>
        <p:spPr>
          <a:xfrm>
            <a:off x="8987538" y="1366048"/>
            <a:ext cx="3004436" cy="425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0:00-2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为红色区，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2:45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为绿色区；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日晚间价格预期良好，接近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点为红色区。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常规策略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号放完电，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号绿色区开始充电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策略执行：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留电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精准捕捉“红切绿”价格畸变高峰区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，获得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1.5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元高价放电收益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执行结果：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当日全网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家执行该策略，最终收益排名为当日的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762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8C9A-C8CB-F15A-C1AD-69A728A9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BFEF40-15B1-CBBB-8704-23C364C9A631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47AA3C-AE4F-1878-AA38-1C1F82D2BFF8}"/>
              </a:ext>
            </a:extLst>
          </p:cNvPr>
          <p:cNvSpPr txBox="1"/>
          <p:nvPr/>
        </p:nvSpPr>
        <p:spPr>
          <a:xfrm>
            <a:off x="126998" y="102938"/>
            <a:ext cx="7931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影响收益的主要因素分析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捕获价差提高策略</a:t>
            </a: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Case3: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短充短放策略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E5AB5BF-60EE-C98D-40E6-C0B2FFEE5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9" y="1270033"/>
            <a:ext cx="8369301" cy="410918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7F79F11-0454-EA07-551D-AE33727408D1}"/>
              </a:ext>
            </a:extLst>
          </p:cNvPr>
          <p:cNvSpPr txBox="1"/>
          <p:nvPr/>
        </p:nvSpPr>
        <p:spPr>
          <a:xfrm>
            <a:off x="8582025" y="1366048"/>
            <a:ext cx="3067050" cy="32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日的早上，采用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小时充放的短充、短放策略，尽量避免价格阶梯性下降带来的充放价格倒挂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执行结果：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当天收益排名巴盟和泰垚鑫均列前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泰垚鑫大量在三月采用此策略，三月收益排名全网第一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958D55-DAFC-0A8C-6E6A-7F51FDF5DA50}"/>
              </a:ext>
            </a:extLst>
          </p:cNvPr>
          <p:cNvSpPr/>
          <p:nvPr/>
        </p:nvSpPr>
        <p:spPr>
          <a:xfrm>
            <a:off x="6191250" y="1781176"/>
            <a:ext cx="2133600" cy="3381374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612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7E5A-CABB-F018-EA62-0FD127F9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8AB547-A090-842F-88D2-8617F7BFB53D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71FC7D-92CD-897C-AA94-C9AD6C67257C}"/>
              </a:ext>
            </a:extLst>
          </p:cNvPr>
          <p:cNvSpPr txBox="1"/>
          <p:nvPr/>
        </p:nvSpPr>
        <p:spPr>
          <a:xfrm>
            <a:off x="126998" y="102938"/>
            <a:ext cx="10896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影响收益的主要因素分析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捕获价差提高策略</a:t>
            </a:r>
            <a:r>
              <a:rPr lang="en-US" altLang="zh-CN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Case4: 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多场站配合策略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6F1B7D-1E3E-A5EA-D991-583CB3A7B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1157779"/>
            <a:ext cx="8315325" cy="39857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287C666-94D9-E975-4B62-19207B1BCD80}"/>
              </a:ext>
            </a:extLst>
          </p:cNvPr>
          <p:cNvSpPr txBox="1"/>
          <p:nvPr/>
        </p:nvSpPr>
        <p:spPr>
          <a:xfrm>
            <a:off x="8582025" y="1366048"/>
            <a:ext cx="3067050" cy="3609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日小储留电约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日早上配合大储放电，基本实现大储充、小储放的策略。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执行结果：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该策略还在论证调整中，当前问题：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小储充电时段缩小，为了拉满充电量不得已将在倒挂区充放。</a:t>
            </a:r>
            <a:endParaRPr lang="en-US" altLang="zh-CN" sz="1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D91BE5-2B75-B57B-3F7F-30EA3DA650A9}"/>
              </a:ext>
            </a:extLst>
          </p:cNvPr>
          <p:cNvSpPr/>
          <p:nvPr/>
        </p:nvSpPr>
        <p:spPr>
          <a:xfrm>
            <a:off x="5610224" y="1459952"/>
            <a:ext cx="2562225" cy="3381374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871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B857-AFBC-6614-BBFB-AB579566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5BE7D1-5CC3-47BF-1AA5-1A70F06CAA84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D485F6-B354-FD87-A311-20CF50446E7F}"/>
              </a:ext>
            </a:extLst>
          </p:cNvPr>
          <p:cNvSpPr txBox="1"/>
          <p:nvPr/>
        </p:nvSpPr>
        <p:spPr>
          <a:xfrm>
            <a:off x="126999" y="102938"/>
            <a:ext cx="44598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下一步计划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月整体策略及展望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413857-58EA-7C6C-3418-DDC2E8CD98F0}"/>
              </a:ext>
            </a:extLst>
          </p:cNvPr>
          <p:cNvSpPr txBox="1"/>
          <p:nvPr/>
        </p:nvSpPr>
        <p:spPr>
          <a:xfrm>
            <a:off x="273049" y="908459"/>
            <a:ext cx="6628092" cy="4198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月策略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及执行方向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精细化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soc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管理，减少中午时段校核浪费，全力拉高循环次数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电网校核数据收集整理，分析规律及参数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继续测试组合策略，大小储配合充放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关注短充短放、留电过夜、跨颜色区极端价格捕捉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总结竞价空间、全网储能充放和实际价格的关系，搭建价格预测的模型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推动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工具应用提高申报效率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需配合：</a:t>
            </a:r>
            <a:b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现场数据收集及记录完善，主要围绕执行功率和实际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2FFEEC-5BFC-8A75-C4DD-7FAB8C5E7E93}"/>
              </a:ext>
            </a:extLst>
          </p:cNvPr>
          <p:cNvSpPr txBox="1"/>
          <p:nvPr/>
        </p:nvSpPr>
        <p:spPr>
          <a:xfrm>
            <a:off x="273049" y="5441134"/>
            <a:ext cx="11645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月预期：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整体收益排名情况可能较三月进一步提高，但随着大风季逐渐来临，近几日放电窗口进一步收窄，月底具体收益数值可能会较三月有所下降；四子王旗、苏右场站的校核量还在进一步扩大。</a:t>
            </a:r>
          </a:p>
        </p:txBody>
      </p:sp>
    </p:spTree>
    <p:extLst>
      <p:ext uri="{BB962C8B-B14F-4D97-AF65-F5344CB8AC3E}">
        <p14:creationId xmlns:p14="http://schemas.microsoft.com/office/powerpoint/2010/main" val="1364072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00683-198A-0BDC-4281-815F2D3E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C886BC84-EA3D-15AA-C902-75DD184FF049}"/>
              </a:ext>
            </a:extLst>
          </p:cNvPr>
          <p:cNvSpPr txBox="1"/>
          <p:nvPr/>
        </p:nvSpPr>
        <p:spPr>
          <a:xfrm>
            <a:off x="6304628" y="3549008"/>
            <a:ext cx="5534388" cy="254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E00411-303D-668E-ED64-BE3085741580}"/>
              </a:ext>
            </a:extLst>
          </p:cNvPr>
          <p:cNvSpPr txBox="1"/>
          <p:nvPr/>
        </p:nvSpPr>
        <p:spPr>
          <a:xfrm>
            <a:off x="6304628" y="879339"/>
            <a:ext cx="5534388" cy="254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A3E0A0-19EC-2203-47CD-F0305AFE6924}"/>
              </a:ext>
            </a:extLst>
          </p:cNvPr>
          <p:cNvSpPr txBox="1"/>
          <p:nvPr/>
        </p:nvSpPr>
        <p:spPr>
          <a:xfrm>
            <a:off x="337023" y="3557713"/>
            <a:ext cx="5534388" cy="254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E2DD0A-25E6-AF0A-3F11-651BC695BBAE}"/>
              </a:ext>
            </a:extLst>
          </p:cNvPr>
          <p:cNvSpPr txBox="1"/>
          <p:nvPr/>
        </p:nvSpPr>
        <p:spPr>
          <a:xfrm>
            <a:off x="337023" y="888044"/>
            <a:ext cx="5534388" cy="2549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E3DA3B-FBDA-B06D-C190-66C786141DE7}"/>
              </a:ext>
            </a:extLst>
          </p:cNvPr>
          <p:cNvSpPr/>
          <p:nvPr/>
        </p:nvSpPr>
        <p:spPr>
          <a:xfrm>
            <a:off x="0" y="0"/>
            <a:ext cx="12192000" cy="574177"/>
          </a:xfrm>
          <a:prstGeom prst="rect">
            <a:avLst/>
          </a:prstGeom>
          <a:solidFill>
            <a:srgbClr val="3B3B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D6C027-90E8-37DF-87E0-3851C78F57C9}"/>
              </a:ext>
            </a:extLst>
          </p:cNvPr>
          <p:cNvSpPr txBox="1"/>
          <p:nvPr/>
        </p:nvSpPr>
        <p:spPr>
          <a:xfrm>
            <a:off x="126999" y="102938"/>
            <a:ext cx="445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储能交易遇到的问题和未来</a:t>
            </a: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DCF155-3F42-C4B9-F785-97310E917D23}"/>
              </a:ext>
            </a:extLst>
          </p:cNvPr>
          <p:cNvSpPr txBox="1"/>
          <p:nvPr/>
        </p:nvSpPr>
        <p:spPr>
          <a:xfrm>
            <a:off x="468841" y="988201"/>
            <a:ext cx="5534387" cy="241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团队致胜</a:t>
            </a:r>
            <a:endParaRPr lang="en-US" altLang="zh-CN" sz="2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集体决策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考虑多场站、大储和小储对充的交易策略优化</a:t>
            </a:r>
            <a:endParaRPr lang="en-US" altLang="zh-CN" sz="16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完善交易流程制度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D5C9DE-20A6-F54C-D489-436F1309EE16}"/>
              </a:ext>
            </a:extLst>
          </p:cNvPr>
          <p:cNvSpPr txBox="1"/>
          <p:nvPr/>
        </p:nvSpPr>
        <p:spPr>
          <a:xfrm>
            <a:off x="468841" y="3751572"/>
            <a:ext cx="5210064" cy="2049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精益管理</a:t>
            </a:r>
            <a:endParaRPr lang="en-US" altLang="zh-CN" sz="2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抓紧每一度电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管控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交易与运维团队紧密配合</a:t>
            </a:r>
            <a:endParaRPr lang="en-US" altLang="zh-CN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258810-4408-4D7E-D9C5-D3F840041FE0}"/>
              </a:ext>
            </a:extLst>
          </p:cNvPr>
          <p:cNvSpPr txBox="1"/>
          <p:nvPr/>
        </p:nvSpPr>
        <p:spPr>
          <a:xfrm>
            <a:off x="6436445" y="3751572"/>
            <a:ext cx="5200498" cy="1957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技术赋能</a:t>
            </a:r>
            <a:endParaRPr lang="en-US" altLang="zh-CN" sz="2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目标：提高效率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行动：搭建数据平台和申报工具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待办：完善蒙西价格预测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96DC35-56DB-21DE-8B2C-73C6A9BFE1EB}"/>
              </a:ext>
            </a:extLst>
          </p:cNvPr>
          <p:cNvSpPr txBox="1"/>
          <p:nvPr/>
        </p:nvSpPr>
        <p:spPr>
          <a:xfrm>
            <a:off x="6436445" y="1065595"/>
            <a:ext cx="5286714" cy="217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</a:t>
            </a:r>
            <a:r>
              <a:rPr lang="en-US" altLang="zh-CN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PDCA</a:t>
            </a:r>
            <a:r>
              <a:rPr lang="zh-CN" altLang="en-US" sz="2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流程，执行多维复盘</a:t>
            </a:r>
            <a:endParaRPr lang="en-US" altLang="zh-CN" sz="2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日复盘：抓动态（已执行）</a:t>
            </a:r>
            <a:endParaRPr lang="en-US" altLang="zh-CN" sz="1600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周复盘：方向调整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（待执行）</a:t>
            </a:r>
            <a:endParaRPr lang="en-US" altLang="zh-CN"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月复盘：评价与交付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887482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30164240"/>
  <p:tag name="MH_LIBRARY" val="CONTENTS"/>
  <p:tag name="MH_TYPE" val="OTHERS"/>
  <p:tag name="ID" val="553518"/>
  <p:tag name="PA" val="v3.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30164240"/>
  <p:tag name="MH_LIBRARY" val="CONTENTS"/>
  <p:tag name="MH_TYPE" val="OTHERS"/>
  <p:tag name="ID" val="553518"/>
  <p:tag name="PA" val="v3.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30164240"/>
  <p:tag name="MH_LIBRARY" val="CONTENTS"/>
  <p:tag name="MH_TYPE" val="ENTRY"/>
  <p:tag name="ID" val="553518"/>
  <p:tag name="MH_ORDER" val="1"/>
  <p:tag name="KSO_WM_DIAGRAM_VIRTUALLY_FRAME" val="{&quot;height&quot;:357.15086614173237,&quot;left&quot;:330.05937007874013,&quot;top&quot;:76.77433070866142,&quot;width&quot;:490.757165354330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30164240"/>
  <p:tag name="MH_LIBRARY" val="CONTENTS"/>
  <p:tag name="MH_TYPE" val="ENTRY"/>
  <p:tag name="ID" val="553518"/>
  <p:tag name="MH_ORDER" val="1"/>
  <p:tag name="KSO_WM_DIAGRAM_VIRTUALLY_FRAME" val="{&quot;height&quot;:357.15086614173237,&quot;left&quot;:330.05937007874013,&quot;top&quot;:76.77433070866142,&quot;width&quot;:490.757165354330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30164240"/>
  <p:tag name="MH_LIBRARY" val="CONTENTS"/>
  <p:tag name="MH_TYPE" val="ENTRY"/>
  <p:tag name="ID" val="553518"/>
  <p:tag name="MH_ORDER" val="1"/>
  <p:tag name="KSO_WM_DIAGRAM_VIRTUALLY_FRAME" val="{&quot;height&quot;:357.15086614173237,&quot;left&quot;:330.05937007874013,&quot;top&quot;:76.77433070866142,&quot;width&quot;:490.757165354330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30164240"/>
  <p:tag name="MH_LIBRARY" val="CONTENTS"/>
  <p:tag name="MH_TYPE" val="ENTRY"/>
  <p:tag name="ID" val="553518"/>
  <p:tag name="MH_ORDER" val="1"/>
  <p:tag name="KSO_WM_DIAGRAM_VIRTUALLY_FRAME" val="{&quot;height&quot;:357.15086614173237,&quot;left&quot;:330.05937007874013,&quot;top&quot;:76.77433070866142,&quot;width&quot;:490.757165354330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30164240"/>
  <p:tag name="MH_LIBRARY" val="CONTENTS"/>
  <p:tag name="MH_TYPE" val="ENTRY"/>
  <p:tag name="ID" val="553518"/>
  <p:tag name="MH_ORDER" val="1"/>
  <p:tag name="KSO_WM_DIAGRAM_VIRTUALLY_FRAME" val="{&quot;height&quot;:357.15086614173237,&quot;left&quot;:330.05937007874013,&quot;top&quot;:76.77433070866142,&quot;width&quot;:490.757165354330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7.15086614173237,&quot;left&quot;:330.05937007874013,&quot;top&quot;:76.77433070866142,&quot;width&quot;:490.7571653543306}"/>
</p:tagLst>
</file>

<file path=ppt/theme/theme1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vision Digital - Dark">
  <a:themeElements>
    <a:clrScheme name="EnOS">
      <a:dk1>
        <a:sysClr val="windowText" lastClr="000000"/>
      </a:dk1>
      <a:lt1>
        <a:sysClr val="window" lastClr="FFFFFF"/>
      </a:lt1>
      <a:dk2>
        <a:srgbClr val="00293A"/>
      </a:dk2>
      <a:lt2>
        <a:srgbClr val="E7E6E6"/>
      </a:lt2>
      <a:accent1>
        <a:srgbClr val="4CA8FF"/>
      </a:accent1>
      <a:accent2>
        <a:srgbClr val="01CB90"/>
      </a:accent2>
      <a:accent3>
        <a:srgbClr val="DE5145"/>
      </a:accent3>
      <a:accent4>
        <a:srgbClr val="FFC000"/>
      </a:accent4>
      <a:accent5>
        <a:srgbClr val="964FFF"/>
      </a:accent5>
      <a:accent6>
        <a:srgbClr val="DF397F"/>
      </a:accent6>
      <a:hlink>
        <a:srgbClr val="4CA8FF"/>
      </a:hlink>
      <a:folHlink>
        <a:srgbClr val="A5A5A5"/>
      </a:folHlink>
    </a:clrScheme>
    <a:fontScheme name="n5nw3kzm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3476</Words>
  <Application>Microsoft Office PowerPoint</Application>
  <PresentationFormat>宽屏</PresentationFormat>
  <Paragraphs>807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Inter</vt:lpstr>
      <vt:lpstr>DengXian</vt:lpstr>
      <vt:lpstr>DengXian</vt:lpstr>
      <vt:lpstr>微软雅黑</vt:lpstr>
      <vt:lpstr>微软雅黑 Light</vt:lpstr>
      <vt:lpstr>Aptos</vt:lpstr>
      <vt:lpstr>Arial</vt:lpstr>
      <vt:lpstr>Calibri</vt:lpstr>
      <vt:lpstr>Wingdings</vt:lpstr>
      <vt:lpstr>3_Office 主题</vt:lpstr>
      <vt:lpstr>Envision Digital - Dark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Song</dc:creator>
  <cp:lastModifiedBy>Yang You</cp:lastModifiedBy>
  <cp:revision>2</cp:revision>
  <dcterms:created xsi:type="dcterms:W3CDTF">2025-05-13T07:57:00Z</dcterms:created>
  <dcterms:modified xsi:type="dcterms:W3CDTF">2026-04-17T05:50:17Z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52D698BB38E341ABAC45084D687B7123_13</vt:lpwstr>
  </property>
  <property fmtid="{D5CDD505-2E9C-101B-9397-08002B2CF9AE}" pid="3" name="KSOProductBuildVer">
    <vt:lpwstr>2052-12.1.0.20305</vt:lpwstr>
  </property>
</Properties>
</file>