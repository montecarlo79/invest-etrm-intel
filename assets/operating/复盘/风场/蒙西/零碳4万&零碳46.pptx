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4"/>
  </p:sldMasterIdLst>
  <p:notesMasterIdLst>
    <p:notesMasterId r:id="rId11"/>
  </p:notesMasterIdLst>
  <p:sldIdLst>
    <p:sldId id="2383" r:id="rId5"/>
    <p:sldId id="2076138661" r:id="rId6"/>
    <p:sldId id="2076138666" r:id="rId7"/>
    <p:sldId id="2076138667" r:id="rId8"/>
    <p:sldId id="2076138668" r:id="rId9"/>
    <p:sldId id="16772690" r:id="rId10"/>
  </p:sldIdLst>
  <p:sldSz cx="12192000" cy="6858000"/>
  <p:notesSz cx="6797675" cy="99266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52" autoAdjust="0"/>
    <p:restoredTop sz="89796" autoAdjust="0"/>
  </p:normalViewPr>
  <p:slideViewPr>
    <p:cSldViewPr snapToGrid="0" showGuides="1">
      <p:cViewPr varScale="1">
        <p:scale>
          <a:sx n="66" d="100"/>
          <a:sy n="66" d="100"/>
        </p:scale>
        <p:origin x="904" y="3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qifang.bai\Documents\WXWork\1688856755701670\Cache\File\2026-05\&#38646;&#30899;&#39118;&#30005;&#36164;&#26009;-&#20132;&#26131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qifang.bai\Documents\WXWork\1688856755701670\Cache\File\2026-05\&#38646;&#30899;&#39118;&#30005;&#36164;&#26009;-&#20132;&#26131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qifang.bai\Documents\WXWork\1688856755701670\Cache\File\2026-05\&#38646;&#30899;&#39118;&#30005;&#36164;&#26009;-&#20132;&#26131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零碳</a:t>
            </a:r>
            <a:r>
              <a:rPr lang="en-US" altLang="zh-CN"/>
              <a:t>4</a:t>
            </a:r>
            <a:r>
              <a:rPr lang="zh-CN" altLang="en-US"/>
              <a:t>万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发电量 (万kWh)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Sheet1!$A$2:$A$17</c:f>
              <c:strCache>
                <c:ptCount val="16"/>
                <c:pt idx="0">
                  <c:v>25年1月</c:v>
                </c:pt>
                <c:pt idx="1">
                  <c:v>25年2月</c:v>
                </c:pt>
                <c:pt idx="2">
                  <c:v>25年3月</c:v>
                </c:pt>
                <c:pt idx="3">
                  <c:v>25年4月</c:v>
                </c:pt>
                <c:pt idx="4">
                  <c:v>25年5月</c:v>
                </c:pt>
                <c:pt idx="5">
                  <c:v>25年6月</c:v>
                </c:pt>
                <c:pt idx="6">
                  <c:v>25年7月</c:v>
                </c:pt>
                <c:pt idx="7">
                  <c:v>25年8月</c:v>
                </c:pt>
                <c:pt idx="8">
                  <c:v>25年9月</c:v>
                </c:pt>
                <c:pt idx="9">
                  <c:v>25年10月</c:v>
                </c:pt>
                <c:pt idx="10">
                  <c:v>25年11月</c:v>
                </c:pt>
                <c:pt idx="11">
                  <c:v>25年12月</c:v>
                </c:pt>
                <c:pt idx="12">
                  <c:v>26年1月</c:v>
                </c:pt>
                <c:pt idx="13">
                  <c:v>26年2月</c:v>
                </c:pt>
                <c:pt idx="14">
                  <c:v>26年3月</c:v>
                </c:pt>
                <c:pt idx="15">
                  <c:v>26年4月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448.04</c:v>
                </c:pt>
                <c:pt idx="1">
                  <c:v>524.78</c:v>
                </c:pt>
                <c:pt idx="2">
                  <c:v>767.26</c:v>
                </c:pt>
                <c:pt idx="3">
                  <c:v>793.62</c:v>
                </c:pt>
                <c:pt idx="4">
                  <c:v>842.1</c:v>
                </c:pt>
                <c:pt idx="5">
                  <c:v>502.73</c:v>
                </c:pt>
                <c:pt idx="6">
                  <c:v>525.82000000000005</c:v>
                </c:pt>
                <c:pt idx="7">
                  <c:v>507.48</c:v>
                </c:pt>
                <c:pt idx="8">
                  <c:v>529.57000000000005</c:v>
                </c:pt>
                <c:pt idx="9">
                  <c:v>409.67</c:v>
                </c:pt>
                <c:pt idx="10">
                  <c:v>977.6</c:v>
                </c:pt>
                <c:pt idx="11">
                  <c:v>833.83</c:v>
                </c:pt>
                <c:pt idx="12">
                  <c:v>810.43280000000004</c:v>
                </c:pt>
                <c:pt idx="13">
                  <c:v>738.7586</c:v>
                </c:pt>
                <c:pt idx="14">
                  <c:v>547.77750000000003</c:v>
                </c:pt>
                <c:pt idx="15">
                  <c:v>646.09159999999997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3F-4D18-9AE3-09FAE82BE49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限电量 (万kWh)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Sheet1!$A$2:$A$17</c:f>
              <c:strCache>
                <c:ptCount val="16"/>
                <c:pt idx="0">
                  <c:v>25年1月</c:v>
                </c:pt>
                <c:pt idx="1">
                  <c:v>25年2月</c:v>
                </c:pt>
                <c:pt idx="2">
                  <c:v>25年3月</c:v>
                </c:pt>
                <c:pt idx="3">
                  <c:v>25年4月</c:v>
                </c:pt>
                <c:pt idx="4">
                  <c:v>25年5月</c:v>
                </c:pt>
                <c:pt idx="5">
                  <c:v>25年6月</c:v>
                </c:pt>
                <c:pt idx="6">
                  <c:v>25年7月</c:v>
                </c:pt>
                <c:pt idx="7">
                  <c:v>25年8月</c:v>
                </c:pt>
                <c:pt idx="8">
                  <c:v>25年9月</c:v>
                </c:pt>
                <c:pt idx="9">
                  <c:v>25年10月</c:v>
                </c:pt>
                <c:pt idx="10">
                  <c:v>25年11月</c:v>
                </c:pt>
                <c:pt idx="11">
                  <c:v>25年12月</c:v>
                </c:pt>
                <c:pt idx="12">
                  <c:v>26年1月</c:v>
                </c:pt>
                <c:pt idx="13">
                  <c:v>26年2月</c:v>
                </c:pt>
                <c:pt idx="14">
                  <c:v>26年3月</c:v>
                </c:pt>
                <c:pt idx="15">
                  <c:v>26年4月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201.44</c:v>
                </c:pt>
                <c:pt idx="1">
                  <c:v>149.09</c:v>
                </c:pt>
                <c:pt idx="2">
                  <c:v>281.97000000000003</c:v>
                </c:pt>
                <c:pt idx="3">
                  <c:v>194.11</c:v>
                </c:pt>
                <c:pt idx="4">
                  <c:v>125.47</c:v>
                </c:pt>
                <c:pt idx="5">
                  <c:v>36.590000000000003</c:v>
                </c:pt>
                <c:pt idx="6">
                  <c:v>4.55</c:v>
                </c:pt>
                <c:pt idx="7">
                  <c:v>6.45</c:v>
                </c:pt>
                <c:pt idx="8">
                  <c:v>19.329999999999998</c:v>
                </c:pt>
                <c:pt idx="9">
                  <c:v>17.09</c:v>
                </c:pt>
                <c:pt idx="10">
                  <c:v>81.58</c:v>
                </c:pt>
                <c:pt idx="11">
                  <c:v>32.94</c:v>
                </c:pt>
                <c:pt idx="12">
                  <c:v>44.231999999999999</c:v>
                </c:pt>
                <c:pt idx="13">
                  <c:v>31.2546</c:v>
                </c:pt>
                <c:pt idx="14">
                  <c:v>74.5749</c:v>
                </c:pt>
                <c:pt idx="15">
                  <c:v>83.091200000000001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83F-4D18-9AE3-09FAE82BE4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68709984"/>
        <c:axId val="1768712384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限电率 (%)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25年1月</c:v>
                </c:pt>
                <c:pt idx="1">
                  <c:v>25年2月</c:v>
                </c:pt>
                <c:pt idx="2">
                  <c:v>25年3月</c:v>
                </c:pt>
                <c:pt idx="3">
                  <c:v>25年4月</c:v>
                </c:pt>
                <c:pt idx="4">
                  <c:v>25年5月</c:v>
                </c:pt>
                <c:pt idx="5">
                  <c:v>25年6月</c:v>
                </c:pt>
                <c:pt idx="6">
                  <c:v>25年7月</c:v>
                </c:pt>
                <c:pt idx="7">
                  <c:v>25年8月</c:v>
                </c:pt>
                <c:pt idx="8">
                  <c:v>25年9月</c:v>
                </c:pt>
                <c:pt idx="9">
                  <c:v>25年10月</c:v>
                </c:pt>
                <c:pt idx="10">
                  <c:v>25年11月</c:v>
                </c:pt>
                <c:pt idx="11">
                  <c:v>25年12月</c:v>
                </c:pt>
                <c:pt idx="12">
                  <c:v>26年1月</c:v>
                </c:pt>
                <c:pt idx="13">
                  <c:v>26年2月</c:v>
                </c:pt>
                <c:pt idx="14">
                  <c:v>26年3月</c:v>
                </c:pt>
                <c:pt idx="15">
                  <c:v>26年4月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31.01</c:v>
                </c:pt>
                <c:pt idx="1">
                  <c:v>22.19</c:v>
                </c:pt>
                <c:pt idx="2">
                  <c:v>26.87</c:v>
                </c:pt>
                <c:pt idx="3">
                  <c:v>19.649999999999999</c:v>
                </c:pt>
                <c:pt idx="4">
                  <c:v>12.96</c:v>
                </c:pt>
                <c:pt idx="5">
                  <c:v>6.78</c:v>
                </c:pt>
                <c:pt idx="6">
                  <c:v>0.86</c:v>
                </c:pt>
                <c:pt idx="7">
                  <c:v>1.26</c:v>
                </c:pt>
                <c:pt idx="8">
                  <c:v>3.52</c:v>
                </c:pt>
                <c:pt idx="9">
                  <c:v>4</c:v>
                </c:pt>
                <c:pt idx="10">
                  <c:v>7.7</c:v>
                </c:pt>
                <c:pt idx="11">
                  <c:v>3.8</c:v>
                </c:pt>
                <c:pt idx="12">
                  <c:v>5.17</c:v>
                </c:pt>
                <c:pt idx="13">
                  <c:v>4.05</c:v>
                </c:pt>
                <c:pt idx="14">
                  <c:v>11.98</c:v>
                </c:pt>
                <c:pt idx="15">
                  <c:v>11.39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83F-4D18-9AE3-09FAE82BE4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52799551"/>
        <c:axId val="1752789951"/>
      </c:lineChart>
      <c:catAx>
        <c:axId val="17687099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68712384"/>
        <c:crosses val="autoZero"/>
        <c:auto val="1"/>
        <c:lblAlgn val="ctr"/>
        <c:lblOffset val="100"/>
        <c:noMultiLvlLbl val="0"/>
      </c:catAx>
      <c:valAx>
        <c:axId val="17687123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68709984"/>
        <c:crosses val="autoZero"/>
        <c:crossBetween val="between"/>
      </c:valAx>
      <c:valAx>
        <c:axId val="175278995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52799551"/>
        <c:crosses val="max"/>
        <c:crossBetween val="between"/>
      </c:valAx>
      <c:catAx>
        <c:axId val="175279955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752789951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0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零碳</a:t>
            </a:r>
            <a:r>
              <a:rPr lang="en-US" altLang="zh-CN"/>
              <a:t>46</a:t>
            </a:r>
            <a:endParaRPr lang="zh-CN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 alt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Sheet1!$I$1</c:f>
              <c:strCache>
                <c:ptCount val="1"/>
                <c:pt idx="0">
                  <c:v>发电量 (万kWh)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Sheet1!$H$2:$H$17</c:f>
              <c:strCache>
                <c:ptCount val="16"/>
                <c:pt idx="0">
                  <c:v>25年1月</c:v>
                </c:pt>
                <c:pt idx="1">
                  <c:v>25年2月</c:v>
                </c:pt>
                <c:pt idx="2">
                  <c:v>25年3月</c:v>
                </c:pt>
                <c:pt idx="3">
                  <c:v>25年4月</c:v>
                </c:pt>
                <c:pt idx="4">
                  <c:v>25年5月</c:v>
                </c:pt>
                <c:pt idx="5">
                  <c:v>25年6月</c:v>
                </c:pt>
                <c:pt idx="6">
                  <c:v>25年7月</c:v>
                </c:pt>
                <c:pt idx="7">
                  <c:v>25年8月</c:v>
                </c:pt>
                <c:pt idx="8">
                  <c:v>25年9月</c:v>
                </c:pt>
                <c:pt idx="9">
                  <c:v>25年10月</c:v>
                </c:pt>
                <c:pt idx="10">
                  <c:v>25年11月</c:v>
                </c:pt>
                <c:pt idx="11">
                  <c:v>25年12月</c:v>
                </c:pt>
                <c:pt idx="12">
                  <c:v>26年1月</c:v>
                </c:pt>
                <c:pt idx="13">
                  <c:v>26年2月</c:v>
                </c:pt>
                <c:pt idx="14">
                  <c:v>26年3月</c:v>
                </c:pt>
                <c:pt idx="15">
                  <c:v>26年4月</c:v>
                </c:pt>
              </c:strCache>
            </c:strRef>
          </c:cat>
          <c:val>
            <c:numRef>
              <c:f>Sheet1!$I$2:$I$17</c:f>
              <c:numCache>
                <c:formatCode>General</c:formatCode>
                <c:ptCount val="16"/>
                <c:pt idx="0">
                  <c:v>10207.075500000001</c:v>
                </c:pt>
                <c:pt idx="1">
                  <c:v>8419.0854999999992</c:v>
                </c:pt>
                <c:pt idx="2">
                  <c:v>9334.4359999999997</c:v>
                </c:pt>
                <c:pt idx="3">
                  <c:v>5183.1284999999998</c:v>
                </c:pt>
                <c:pt idx="4">
                  <c:v>7917.1806999999999</c:v>
                </c:pt>
                <c:pt idx="5">
                  <c:v>5684.7318999999998</c:v>
                </c:pt>
                <c:pt idx="6">
                  <c:v>5274.8959999999997</c:v>
                </c:pt>
                <c:pt idx="7">
                  <c:v>2892.6758</c:v>
                </c:pt>
                <c:pt idx="8">
                  <c:v>5803.3914000000004</c:v>
                </c:pt>
                <c:pt idx="9">
                  <c:v>4583.7132000000001</c:v>
                </c:pt>
                <c:pt idx="10">
                  <c:v>12469.7708</c:v>
                </c:pt>
                <c:pt idx="11">
                  <c:v>10243.0785</c:v>
                </c:pt>
                <c:pt idx="12">
                  <c:v>10007.265600000001</c:v>
                </c:pt>
                <c:pt idx="13">
                  <c:v>8046.0445</c:v>
                </c:pt>
                <c:pt idx="14">
                  <c:v>7459.7893999999997</c:v>
                </c:pt>
                <c:pt idx="15">
                  <c:v>7821.9696999999996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FD-487D-85A9-2CD675403F4D}"/>
            </c:ext>
          </c:extLst>
        </c:ser>
        <c:ser>
          <c:idx val="1"/>
          <c:order val="1"/>
          <c:tx>
            <c:strRef>
              <c:f>Sheet1!$J$1</c:f>
              <c:strCache>
                <c:ptCount val="1"/>
                <c:pt idx="0">
                  <c:v>限电量 (万kWh)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Sheet1!$H$2:$H$17</c:f>
              <c:strCache>
                <c:ptCount val="16"/>
                <c:pt idx="0">
                  <c:v>25年1月</c:v>
                </c:pt>
                <c:pt idx="1">
                  <c:v>25年2月</c:v>
                </c:pt>
                <c:pt idx="2">
                  <c:v>25年3月</c:v>
                </c:pt>
                <c:pt idx="3">
                  <c:v>25年4月</c:v>
                </c:pt>
                <c:pt idx="4">
                  <c:v>25年5月</c:v>
                </c:pt>
                <c:pt idx="5">
                  <c:v>25年6月</c:v>
                </c:pt>
                <c:pt idx="6">
                  <c:v>25年7月</c:v>
                </c:pt>
                <c:pt idx="7">
                  <c:v>25年8月</c:v>
                </c:pt>
                <c:pt idx="8">
                  <c:v>25年9月</c:v>
                </c:pt>
                <c:pt idx="9">
                  <c:v>25年10月</c:v>
                </c:pt>
                <c:pt idx="10">
                  <c:v>25年11月</c:v>
                </c:pt>
                <c:pt idx="11">
                  <c:v>25年12月</c:v>
                </c:pt>
                <c:pt idx="12">
                  <c:v>26年1月</c:v>
                </c:pt>
                <c:pt idx="13">
                  <c:v>26年2月</c:v>
                </c:pt>
                <c:pt idx="14">
                  <c:v>26年3月</c:v>
                </c:pt>
                <c:pt idx="15">
                  <c:v>26年4月</c:v>
                </c:pt>
              </c:strCache>
            </c:strRef>
          </c:cat>
          <c:val>
            <c:numRef>
              <c:f>Sheet1!$J$2:$J$17</c:f>
              <c:numCache>
                <c:formatCode>General</c:formatCode>
                <c:ptCount val="16"/>
                <c:pt idx="0">
                  <c:v>189.6011</c:v>
                </c:pt>
                <c:pt idx="1">
                  <c:v>61.888199999999998</c:v>
                </c:pt>
                <c:pt idx="2">
                  <c:v>301.61930000000001</c:v>
                </c:pt>
                <c:pt idx="3">
                  <c:v>6834.951</c:v>
                </c:pt>
                <c:pt idx="4">
                  <c:v>2408.7869999999998</c:v>
                </c:pt>
                <c:pt idx="5">
                  <c:v>494.11450000000002</c:v>
                </c:pt>
                <c:pt idx="6">
                  <c:v>11.6821</c:v>
                </c:pt>
                <c:pt idx="7">
                  <c:v>7.4702000000000002</c:v>
                </c:pt>
                <c:pt idx="8">
                  <c:v>41.976100000000002</c:v>
                </c:pt>
                <c:pt idx="9">
                  <c:v>17.6433</c:v>
                </c:pt>
                <c:pt idx="10">
                  <c:v>567.00599999999997</c:v>
                </c:pt>
                <c:pt idx="11">
                  <c:v>283.89460000000003</c:v>
                </c:pt>
                <c:pt idx="12">
                  <c:v>607.22</c:v>
                </c:pt>
                <c:pt idx="13">
                  <c:v>1439.2342000000001</c:v>
                </c:pt>
                <c:pt idx="14">
                  <c:v>517.6241</c:v>
                </c:pt>
                <c:pt idx="15">
                  <c:v>963.51639999999998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2FD-487D-85A9-2CD675403F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95845999"/>
        <c:axId val="295825839"/>
      </c:barChart>
      <c:lineChart>
        <c:grouping val="standard"/>
        <c:varyColors val="0"/>
        <c:ser>
          <c:idx val="2"/>
          <c:order val="2"/>
          <c:tx>
            <c:strRef>
              <c:f>Sheet1!$K$1</c:f>
              <c:strCache>
                <c:ptCount val="1"/>
                <c:pt idx="0">
                  <c:v>限电率 (%)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Sheet1!$H$2:$H$17</c:f>
              <c:strCache>
                <c:ptCount val="16"/>
                <c:pt idx="0">
                  <c:v>25年1月</c:v>
                </c:pt>
                <c:pt idx="1">
                  <c:v>25年2月</c:v>
                </c:pt>
                <c:pt idx="2">
                  <c:v>25年3月</c:v>
                </c:pt>
                <c:pt idx="3">
                  <c:v>25年4月</c:v>
                </c:pt>
                <c:pt idx="4">
                  <c:v>25年5月</c:v>
                </c:pt>
                <c:pt idx="5">
                  <c:v>25年6月</c:v>
                </c:pt>
                <c:pt idx="6">
                  <c:v>25年7月</c:v>
                </c:pt>
                <c:pt idx="7">
                  <c:v>25年8月</c:v>
                </c:pt>
                <c:pt idx="8">
                  <c:v>25年9月</c:v>
                </c:pt>
                <c:pt idx="9">
                  <c:v>25年10月</c:v>
                </c:pt>
                <c:pt idx="10">
                  <c:v>25年11月</c:v>
                </c:pt>
                <c:pt idx="11">
                  <c:v>25年12月</c:v>
                </c:pt>
                <c:pt idx="12">
                  <c:v>26年1月</c:v>
                </c:pt>
                <c:pt idx="13">
                  <c:v>26年2月</c:v>
                </c:pt>
                <c:pt idx="14">
                  <c:v>26年3月</c:v>
                </c:pt>
                <c:pt idx="15">
                  <c:v>26年4月</c:v>
                </c:pt>
              </c:strCache>
            </c:strRef>
          </c:cat>
          <c:val>
            <c:numRef>
              <c:f>Sheet1!$K$2:$K$17</c:f>
              <c:numCache>
                <c:formatCode>General</c:formatCode>
                <c:ptCount val="16"/>
                <c:pt idx="0">
                  <c:v>1.82</c:v>
                </c:pt>
                <c:pt idx="1">
                  <c:v>0.73</c:v>
                </c:pt>
                <c:pt idx="2">
                  <c:v>3.13</c:v>
                </c:pt>
                <c:pt idx="3">
                  <c:v>58.16</c:v>
                </c:pt>
                <c:pt idx="4">
                  <c:v>23.33</c:v>
                </c:pt>
                <c:pt idx="5">
                  <c:v>8</c:v>
                </c:pt>
                <c:pt idx="6">
                  <c:v>0.22</c:v>
                </c:pt>
                <c:pt idx="7">
                  <c:v>0.26</c:v>
                </c:pt>
                <c:pt idx="8">
                  <c:v>0.72</c:v>
                </c:pt>
                <c:pt idx="9">
                  <c:v>0.38</c:v>
                </c:pt>
                <c:pt idx="10">
                  <c:v>4.3499999999999996</c:v>
                </c:pt>
                <c:pt idx="11">
                  <c:v>2.7</c:v>
                </c:pt>
                <c:pt idx="12">
                  <c:v>5.72</c:v>
                </c:pt>
                <c:pt idx="13">
                  <c:v>15.17</c:v>
                </c:pt>
                <c:pt idx="14">
                  <c:v>6.49</c:v>
                </c:pt>
                <c:pt idx="15">
                  <c:v>10.97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2FD-487D-85A9-2CD675403F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34430272"/>
        <c:axId val="1534429792"/>
      </c:lineChart>
      <c:catAx>
        <c:axId val="295845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95825839"/>
        <c:crosses val="autoZero"/>
        <c:auto val="1"/>
        <c:lblAlgn val="ctr"/>
        <c:lblOffset val="100"/>
        <c:noMultiLvlLbl val="0"/>
      </c:catAx>
      <c:valAx>
        <c:axId val="2958258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95845999"/>
        <c:crosses val="autoZero"/>
        <c:crossBetween val="between"/>
      </c:valAx>
      <c:valAx>
        <c:axId val="153442979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34430272"/>
        <c:crosses val="max"/>
        <c:crossBetween val="between"/>
      </c:valAx>
      <c:catAx>
        <c:axId val="153443027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34429792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0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零碳</a:t>
            </a:r>
            <a:r>
              <a:rPr lang="en-US" altLang="zh-CN"/>
              <a:t>46</a:t>
            </a:r>
            <a:r>
              <a:rPr lang="zh-CN" altLang="en-US"/>
              <a:t>万  </a:t>
            </a:r>
            <a:r>
              <a:rPr lang="en-US" altLang="zh-CN"/>
              <a:t>-</a:t>
            </a:r>
            <a:r>
              <a:rPr lang="zh-CN" altLang="en-US"/>
              <a:t>元</a:t>
            </a:r>
            <a:r>
              <a:rPr lang="en-US" altLang="zh-CN"/>
              <a:t>/MWh</a:t>
            </a:r>
            <a:r>
              <a:rPr lang="zh-CN" altLang="en-US"/>
              <a:t> </a:t>
            </a:r>
            <a:endParaRPr lang="en-US" altLang="zh-C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7420058291595919"/>
          <c:y val="0.15122181621762945"/>
          <c:w val="0.79430552638737018"/>
          <c:h val="0.46572761193453532"/>
        </c:manualLayout>
      </c:layout>
      <c:lineChart>
        <c:grouping val="standard"/>
        <c:varyColors val="0"/>
        <c:ser>
          <c:idx val="2"/>
          <c:order val="1"/>
          <c:tx>
            <c:strRef>
              <c:f>'结算&amp;市场'!$A$5</c:f>
              <c:strCache>
                <c:ptCount val="1"/>
                <c:pt idx="0">
                  <c:v>现货加权均价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'结算&amp;市场'!$B$2:$N$2</c:f>
              <c:strCache>
                <c:ptCount val="13"/>
                <c:pt idx="0">
                  <c:v>25年4月</c:v>
                </c:pt>
                <c:pt idx="1">
                  <c:v>25年5月</c:v>
                </c:pt>
                <c:pt idx="2">
                  <c:v>25年6月</c:v>
                </c:pt>
                <c:pt idx="3">
                  <c:v>25年7月</c:v>
                </c:pt>
                <c:pt idx="4">
                  <c:v>25年8月</c:v>
                </c:pt>
                <c:pt idx="5">
                  <c:v>25年9月</c:v>
                </c:pt>
                <c:pt idx="6">
                  <c:v>25年10月</c:v>
                </c:pt>
                <c:pt idx="7">
                  <c:v>25年11月</c:v>
                </c:pt>
                <c:pt idx="8">
                  <c:v>25年12月</c:v>
                </c:pt>
                <c:pt idx="9">
                  <c:v>26年1月</c:v>
                </c:pt>
                <c:pt idx="10">
                  <c:v>26年2月</c:v>
                </c:pt>
                <c:pt idx="11">
                  <c:v>26年3月</c:v>
                </c:pt>
                <c:pt idx="12">
                  <c:v>26年4月</c:v>
                </c:pt>
              </c:strCache>
            </c:strRef>
          </c:cat>
          <c:val>
            <c:numRef>
              <c:f>'结算&amp;市场'!$B$5:$N$5</c:f>
              <c:numCache>
                <c:formatCode>_(* #,##0.00_);_(* \(#,##0.00\);_(* "-"??_);_(@_)</c:formatCode>
                <c:ptCount val="13"/>
                <c:pt idx="0">
                  <c:v>147.76</c:v>
                </c:pt>
                <c:pt idx="1">
                  <c:v>146.71</c:v>
                </c:pt>
                <c:pt idx="2">
                  <c:v>278.44</c:v>
                </c:pt>
                <c:pt idx="3">
                  <c:v>241.52</c:v>
                </c:pt>
                <c:pt idx="4">
                  <c:v>285.64</c:v>
                </c:pt>
                <c:pt idx="5">
                  <c:v>191.46</c:v>
                </c:pt>
                <c:pt idx="6">
                  <c:v>384.19299999999998</c:v>
                </c:pt>
                <c:pt idx="7">
                  <c:v>105.955</c:v>
                </c:pt>
                <c:pt idx="8">
                  <c:v>177.44300000000001</c:v>
                </c:pt>
                <c:pt idx="9">
                  <c:v>231.48099999999999</c:v>
                </c:pt>
                <c:pt idx="10">
                  <c:v>52.563000000000002</c:v>
                </c:pt>
                <c:pt idx="11">
                  <c:v>169.23400000000001</c:v>
                </c:pt>
                <c:pt idx="12">
                  <c:v>77.287000000000006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DA5-4567-A23C-553CCAE8892C}"/>
            </c:ext>
          </c:extLst>
        </c:ser>
        <c:ser>
          <c:idx val="4"/>
          <c:order val="3"/>
          <c:tx>
            <c:strRef>
              <c:f>'结算&amp;市场'!$A$7</c:f>
              <c:strCache>
                <c:ptCount val="1"/>
                <c:pt idx="0">
                  <c:v>实际交易结算电价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'结算&amp;市场'!$B$2:$N$2</c:f>
              <c:strCache>
                <c:ptCount val="13"/>
                <c:pt idx="0">
                  <c:v>25年4月</c:v>
                </c:pt>
                <c:pt idx="1">
                  <c:v>25年5月</c:v>
                </c:pt>
                <c:pt idx="2">
                  <c:v>25年6月</c:v>
                </c:pt>
                <c:pt idx="3">
                  <c:v>25年7月</c:v>
                </c:pt>
                <c:pt idx="4">
                  <c:v>25年8月</c:v>
                </c:pt>
                <c:pt idx="5">
                  <c:v>25年9月</c:v>
                </c:pt>
                <c:pt idx="6">
                  <c:v>25年10月</c:v>
                </c:pt>
                <c:pt idx="7">
                  <c:v>25年11月</c:v>
                </c:pt>
                <c:pt idx="8">
                  <c:v>25年12月</c:v>
                </c:pt>
                <c:pt idx="9">
                  <c:v>26年1月</c:v>
                </c:pt>
                <c:pt idx="10">
                  <c:v>26年2月</c:v>
                </c:pt>
                <c:pt idx="11">
                  <c:v>26年3月</c:v>
                </c:pt>
                <c:pt idx="12">
                  <c:v>26年4月</c:v>
                </c:pt>
              </c:strCache>
            </c:strRef>
          </c:cat>
          <c:val>
            <c:numRef>
              <c:f>'结算&amp;市场'!$B$7:$N$7</c:f>
              <c:numCache>
                <c:formatCode>_(* #,##0.00_);_(* \(#,##0.00\);_(* "-"??_);_(@_)</c:formatCode>
                <c:ptCount val="13"/>
                <c:pt idx="0">
                  <c:v>197.14</c:v>
                </c:pt>
                <c:pt idx="1">
                  <c:v>175.22</c:v>
                </c:pt>
                <c:pt idx="2">
                  <c:v>151.91</c:v>
                </c:pt>
                <c:pt idx="3">
                  <c:v>247.68</c:v>
                </c:pt>
                <c:pt idx="4">
                  <c:v>237.06</c:v>
                </c:pt>
                <c:pt idx="5">
                  <c:v>171.07</c:v>
                </c:pt>
                <c:pt idx="6">
                  <c:v>155.626</c:v>
                </c:pt>
                <c:pt idx="7">
                  <c:v>251.1</c:v>
                </c:pt>
                <c:pt idx="8">
                  <c:v>270.94</c:v>
                </c:pt>
                <c:pt idx="9">
                  <c:v>166.57</c:v>
                </c:pt>
                <c:pt idx="10">
                  <c:v>204.55</c:v>
                </c:pt>
                <c:pt idx="11">
                  <c:v>186.71</c:v>
                </c:pt>
                <c:pt idx="12">
                  <c:v>217.08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DA5-4567-A23C-553CCAE8892C}"/>
            </c:ext>
          </c:extLst>
        </c:ser>
        <c:ser>
          <c:idx val="5"/>
          <c:order val="4"/>
          <c:tx>
            <c:strRef>
              <c:f>'结算&amp;市场'!$A$8</c:f>
              <c:strCache>
                <c:ptCount val="1"/>
                <c:pt idx="0">
                  <c:v>全市场风电结算均价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'结算&amp;市场'!$B$2:$N$2</c:f>
              <c:strCache>
                <c:ptCount val="13"/>
                <c:pt idx="0">
                  <c:v>25年4月</c:v>
                </c:pt>
                <c:pt idx="1">
                  <c:v>25年5月</c:v>
                </c:pt>
                <c:pt idx="2">
                  <c:v>25年6月</c:v>
                </c:pt>
                <c:pt idx="3">
                  <c:v>25年7月</c:v>
                </c:pt>
                <c:pt idx="4">
                  <c:v>25年8月</c:v>
                </c:pt>
                <c:pt idx="5">
                  <c:v>25年9月</c:v>
                </c:pt>
                <c:pt idx="6">
                  <c:v>25年10月</c:v>
                </c:pt>
                <c:pt idx="7">
                  <c:v>25年11月</c:v>
                </c:pt>
                <c:pt idx="8">
                  <c:v>25年12月</c:v>
                </c:pt>
                <c:pt idx="9">
                  <c:v>26年1月</c:v>
                </c:pt>
                <c:pt idx="10">
                  <c:v>26年2月</c:v>
                </c:pt>
                <c:pt idx="11">
                  <c:v>26年3月</c:v>
                </c:pt>
                <c:pt idx="12">
                  <c:v>26年4月</c:v>
                </c:pt>
              </c:strCache>
            </c:strRef>
          </c:cat>
          <c:val>
            <c:numRef>
              <c:f>'结算&amp;市场'!$B$8:$N$8</c:f>
              <c:numCache>
                <c:formatCode>0.00</c:formatCode>
                <c:ptCount val="13"/>
                <c:pt idx="0">
                  <c:v>153.4</c:v>
                </c:pt>
                <c:pt idx="1">
                  <c:v>149.5</c:v>
                </c:pt>
                <c:pt idx="2">
                  <c:v>156.9</c:v>
                </c:pt>
                <c:pt idx="3">
                  <c:v>182</c:v>
                </c:pt>
                <c:pt idx="4">
                  <c:v>165.8</c:v>
                </c:pt>
                <c:pt idx="5">
                  <c:v>159</c:v>
                </c:pt>
                <c:pt idx="6">
                  <c:v>168.1</c:v>
                </c:pt>
                <c:pt idx="7">
                  <c:v>158</c:v>
                </c:pt>
                <c:pt idx="8">
                  <c:v>174.2</c:v>
                </c:pt>
                <c:pt idx="9">
                  <c:v>159.4</c:v>
                </c:pt>
                <c:pt idx="10">
                  <c:v>182.6</c:v>
                </c:pt>
                <c:pt idx="11">
                  <c:v>170.4</c:v>
                </c:pt>
                <c:pt idx="12" formatCode="General">
                  <c:v>174.5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DA5-4567-A23C-553CCAE889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47183216"/>
        <c:axId val="747185136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'结算&amp;市场'!$A$3</c15:sqref>
                        </c15:formulaRef>
                      </c:ext>
                    </c:extLst>
                    <c:strCache>
                      <c:ptCount val="1"/>
                      <c:pt idx="0">
                        <c:v>中长期合约电量（MWh）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'结算&amp;市场'!$B$2:$N$2</c15:sqref>
                        </c15:formulaRef>
                      </c:ext>
                    </c:extLst>
                    <c:strCache>
                      <c:ptCount val="13"/>
                      <c:pt idx="0">
                        <c:v>25年4月</c:v>
                      </c:pt>
                      <c:pt idx="1">
                        <c:v>25年5月</c:v>
                      </c:pt>
                      <c:pt idx="2">
                        <c:v>25年6月</c:v>
                      </c:pt>
                      <c:pt idx="3">
                        <c:v>25年7月</c:v>
                      </c:pt>
                      <c:pt idx="4">
                        <c:v>25年8月</c:v>
                      </c:pt>
                      <c:pt idx="5">
                        <c:v>25年9月</c:v>
                      </c:pt>
                      <c:pt idx="6">
                        <c:v>25年10月</c:v>
                      </c:pt>
                      <c:pt idx="7">
                        <c:v>25年11月</c:v>
                      </c:pt>
                      <c:pt idx="8">
                        <c:v>25年12月</c:v>
                      </c:pt>
                      <c:pt idx="9">
                        <c:v>26年1月</c:v>
                      </c:pt>
                      <c:pt idx="10">
                        <c:v>26年2月</c:v>
                      </c:pt>
                      <c:pt idx="11">
                        <c:v>26年3月</c:v>
                      </c:pt>
                      <c:pt idx="12">
                        <c:v>26年4月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'结算&amp;市场'!$B$3:$N$3</c15:sqref>
                        </c15:formulaRef>
                      </c:ext>
                    </c:extLst>
                    <c:numCache>
                      <c:formatCode>_(* #,##0.00_);_(* \(#,##0.00\);_(* "-"??_);_(@_)</c:formatCode>
                      <c:ptCount val="13"/>
                      <c:pt idx="0">
                        <c:v>102346.71</c:v>
                      </c:pt>
                      <c:pt idx="1">
                        <c:v>114020.504</c:v>
                      </c:pt>
                      <c:pt idx="2">
                        <c:v>47171.644999999997</c:v>
                      </c:pt>
                      <c:pt idx="3">
                        <c:v>48842.203999999998</c:v>
                      </c:pt>
                      <c:pt idx="4">
                        <c:v>27427.194</c:v>
                      </c:pt>
                      <c:pt idx="5">
                        <c:v>52355.061999999998</c:v>
                      </c:pt>
                      <c:pt idx="6">
                        <c:v>70025.270999999993</c:v>
                      </c:pt>
                      <c:pt idx="7">
                        <c:v>91148.804000000004</c:v>
                      </c:pt>
                      <c:pt idx="8">
                        <c:v>106166.524</c:v>
                      </c:pt>
                      <c:pt idx="9">
                        <c:v>100895.11900000001</c:v>
                      </c:pt>
                      <c:pt idx="10">
                        <c:v>62445.207999999999</c:v>
                      </c:pt>
                      <c:pt idx="11">
                        <c:v>118427.94</c:v>
                      </c:pt>
                      <c:pt idx="12">
                        <c:v>86144.510999999999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4-6DA5-4567-A23C-553CCAE8892C}"/>
                  </c:ext>
                </c:extLst>
              </c15:ser>
            </c15:filteredLineSeries>
            <c15:filteredLineSeries>
              <c15:ser>
                <c:idx val="3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'结算&amp;市场'!$A$6</c15:sqref>
                        </c15:formulaRef>
                      </c:ext>
                    </c:extLst>
                    <c:strCache>
                      <c:ptCount val="1"/>
                      <c:pt idx="0">
                        <c:v>实际上网电量（MWh）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'结算&amp;市场'!$B$2:$N$2</c15:sqref>
                        </c15:formulaRef>
                      </c:ext>
                    </c:extLst>
                    <c:strCache>
                      <c:ptCount val="13"/>
                      <c:pt idx="0">
                        <c:v>25年4月</c:v>
                      </c:pt>
                      <c:pt idx="1">
                        <c:v>25年5月</c:v>
                      </c:pt>
                      <c:pt idx="2">
                        <c:v>25年6月</c:v>
                      </c:pt>
                      <c:pt idx="3">
                        <c:v>25年7月</c:v>
                      </c:pt>
                      <c:pt idx="4">
                        <c:v>25年8月</c:v>
                      </c:pt>
                      <c:pt idx="5">
                        <c:v>25年9月</c:v>
                      </c:pt>
                      <c:pt idx="6">
                        <c:v>25年10月</c:v>
                      </c:pt>
                      <c:pt idx="7">
                        <c:v>25年11月</c:v>
                      </c:pt>
                      <c:pt idx="8">
                        <c:v>25年12月</c:v>
                      </c:pt>
                      <c:pt idx="9">
                        <c:v>26年1月</c:v>
                      </c:pt>
                      <c:pt idx="10">
                        <c:v>26年2月</c:v>
                      </c:pt>
                      <c:pt idx="11">
                        <c:v>26年3月</c:v>
                      </c:pt>
                      <c:pt idx="12">
                        <c:v>26年4月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'结算&amp;市场'!$B$6:$N$6</c15:sqref>
                        </c15:formulaRef>
                      </c:ext>
                    </c:extLst>
                    <c:numCache>
                      <c:formatCode>_(* #,##0.00_);_(* \(#,##0.00\);_(* "-"??_);_(@_)</c:formatCode>
                      <c:ptCount val="13"/>
                      <c:pt idx="0">
                        <c:v>49167.03</c:v>
                      </c:pt>
                      <c:pt idx="1">
                        <c:v>76284.12</c:v>
                      </c:pt>
                      <c:pt idx="2">
                        <c:v>52125.48</c:v>
                      </c:pt>
                      <c:pt idx="3">
                        <c:v>49426.080000000002</c:v>
                      </c:pt>
                      <c:pt idx="4">
                        <c:v>26644.86</c:v>
                      </c:pt>
                      <c:pt idx="5">
                        <c:v>54367.17</c:v>
                      </c:pt>
                      <c:pt idx="6">
                        <c:v>42563.73</c:v>
                      </c:pt>
                      <c:pt idx="7">
                        <c:v>118664.7</c:v>
                      </c:pt>
                      <c:pt idx="8">
                        <c:v>97263.21</c:v>
                      </c:pt>
                      <c:pt idx="9">
                        <c:v>94712.97</c:v>
                      </c:pt>
                      <c:pt idx="10">
                        <c:v>75831.69</c:v>
                      </c:pt>
                      <c:pt idx="11">
                        <c:v>69240.929999999993</c:v>
                      </c:pt>
                      <c:pt idx="12">
                        <c:v>72529.710000000006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6DA5-4567-A23C-553CCAE8892C}"/>
                  </c:ext>
                </c:extLst>
              </c15:ser>
            </c15:filteredLineSeries>
          </c:ext>
        </c:extLst>
      </c:lineChart>
      <c:catAx>
        <c:axId val="74718321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47185136"/>
        <c:crossesAt val="0"/>
        <c:auto val="1"/>
        <c:lblAlgn val="ctr"/>
        <c:lblOffset val="100"/>
        <c:noMultiLvlLbl val="0"/>
      </c:catAx>
      <c:valAx>
        <c:axId val="7471851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47183216"/>
        <c:crosses val="autoZero"/>
        <c:crossBetween val="between"/>
        <c:majorUnit val="50"/>
      </c:valAx>
      <c:dTable>
        <c:showHorzBorder val="1"/>
        <c:showVertBorder val="1"/>
        <c:showOutline val="1"/>
        <c:showKeys val="0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2FA5F8-106D-4FE8-86D3-D2D8AEF3BE61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A12832-48D8-4D20-888D-01DC1C6998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828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康富的各位领导，下午好。</a:t>
            </a:r>
            <a:endParaRPr lang="en-US" altLang="zh-CN" dirty="0"/>
          </a:p>
          <a:p>
            <a:r>
              <a:rPr lang="zh-CN" altLang="en-US" dirty="0"/>
              <a:t>距离乌海金湖独立储能项目全容量并网已过去</a:t>
            </a:r>
            <a:r>
              <a:rPr lang="en-US" altLang="zh-CN" dirty="0"/>
              <a:t>4</a:t>
            </a:r>
            <a:r>
              <a:rPr lang="zh-CN" altLang="en-US" dirty="0"/>
              <a:t>个月，距离顺利转商入市已过去半个多月。我们，远景后市场运营团队，满怀诚意，将向各位详细汇报储能电站的设备运行数据、运营情况与收益展望。</a:t>
            </a:r>
            <a:endParaRPr lang="en-US" altLang="zh-CN" dirty="0"/>
          </a:p>
          <a:p>
            <a:r>
              <a:rPr lang="zh-CN" altLang="en-US" dirty="0"/>
              <a:t>今天的汇报主要有如下几块内容。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A12832-48D8-4D20-888D-01DC1C69989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2772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54ABE-BF85-32DE-0537-91DE8D459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68B42E2-9A94-09B0-6A88-D928AD5996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4694E0D-49E6-D7EA-DD38-401D63606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8ED388-88F2-EE67-B8B5-FD9680B23A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A12832-48D8-4D20-888D-01DC1C69989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9597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000" dirty="0"/>
              <a:t>痛点：</a:t>
            </a:r>
            <a:endParaRPr lang="en-US" altLang="zh-CN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/>
              <a:t>现货价格：</a:t>
            </a:r>
            <a:r>
              <a:rPr lang="en-US" altLang="zh-CN" sz="1000" dirty="0"/>
              <a:t>2026</a:t>
            </a:r>
            <a:r>
              <a:rPr lang="zh-CN" altLang="en-US" sz="1000" dirty="0"/>
              <a:t>年现货价格相比</a:t>
            </a:r>
            <a:r>
              <a:rPr lang="en-US" altLang="zh-CN" sz="1000" dirty="0"/>
              <a:t>2025</a:t>
            </a:r>
            <a:r>
              <a:rPr lang="zh-CN" altLang="en-US" sz="1000" dirty="0"/>
              <a:t>年明显下降；预计今年新能源装机增长</a:t>
            </a:r>
            <a:r>
              <a:rPr lang="en-US" altLang="zh-CN" sz="1000" dirty="0"/>
              <a:t>30GW</a:t>
            </a:r>
            <a:r>
              <a:rPr lang="zh-CN" altLang="en-US" sz="1000" dirty="0"/>
              <a:t>，风电现货捕获价格将进一步下降</a:t>
            </a:r>
            <a:endParaRPr lang="en-US" altLang="zh-CN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/>
              <a:t>节点素质：节点现货均价低于全网统一结算点电价，现货收益低于全网平均水平</a:t>
            </a:r>
            <a:endParaRPr lang="en-US" altLang="zh-CN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/>
              <a:t>中长期调仓配合：发电集团多电站、用户互相配合，利用风险防范等规则，实现整体最优。应对风电出力的不确定性，通过合约相互置换灵活调节仓位。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/>
              <a:t>集团唯一的风电资产参与中长期市场，无法内部配合。</a:t>
            </a:r>
          </a:p>
          <a:p>
            <a:r>
              <a:rPr lang="zh-CN" altLang="en-US" sz="1200" dirty="0"/>
              <a:t>行动：</a:t>
            </a:r>
            <a:endParaRPr lang="en-US" altLang="zh-C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/>
              <a:t>多年期交易：</a:t>
            </a:r>
            <a:r>
              <a:rPr lang="en-US" altLang="zh-CN" sz="1200" dirty="0"/>
              <a:t>2026</a:t>
            </a:r>
            <a:r>
              <a:rPr lang="zh-CN" altLang="en-US" sz="1200" dirty="0"/>
              <a:t>年签署</a:t>
            </a:r>
            <a:r>
              <a:rPr lang="en-US" altLang="zh-CN" sz="1200" dirty="0"/>
              <a:t>PPA</a:t>
            </a:r>
            <a:r>
              <a:rPr lang="zh-CN" altLang="en-US" sz="1200" dirty="0"/>
              <a:t>协议，锁定全年中长期合约量价</a:t>
            </a:r>
            <a:endParaRPr lang="en-US" altLang="zh-C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/>
              <a:t>月度交易：与外部售电公司合作，签约高价值时段中长期合约</a:t>
            </a:r>
            <a:endParaRPr lang="en-US" altLang="zh-C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/>
              <a:t>月内交易：逐日调整仓位，蹲守高价值标的</a:t>
            </a:r>
            <a:endParaRPr lang="en-US" altLang="zh-C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/>
              <a:t>工具开发：协同</a:t>
            </a:r>
            <a:r>
              <a:rPr lang="en-US" altLang="zh-CN" sz="1200" dirty="0"/>
              <a:t>Robert</a:t>
            </a:r>
            <a:r>
              <a:rPr lang="zh-CN" altLang="en-US" sz="1200" dirty="0"/>
              <a:t>团队开发交易辅助工具，</a:t>
            </a:r>
            <a:r>
              <a:rPr lang="en-US" altLang="zh-CN" sz="1200" dirty="0"/>
              <a:t>AI</a:t>
            </a:r>
            <a:r>
              <a:rPr lang="zh-CN" altLang="en-US" sz="1200" dirty="0"/>
              <a:t>赋能电价预测、自动化交易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A12832-48D8-4D20-888D-01DC1C69989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77669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E1065-CFD3-9FF2-FB26-DDAB5E6FC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49C4EE0-87E4-0158-BFBF-5DF4F6412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FB666AA-8647-EA5A-D919-18424FA9C1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F3F713-9564-E5CC-4DF8-A54643FF02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A12832-48D8-4D20-888D-01DC1C69989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2747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125BF-DA48-4E6D-BA2A-DBC75DC84AD7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E77A2-947C-4D57-ADFE-E782C52286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3920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125BF-DA48-4E6D-BA2A-DBC75DC84AD7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E77A2-947C-4D57-ADFE-E782C52286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855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125BF-DA48-4E6D-BA2A-DBC75DC84AD7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E77A2-947C-4D57-ADFE-E782C52286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056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125BF-DA48-4E6D-BA2A-DBC75DC84AD7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E77A2-947C-4D57-ADFE-E782C52286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938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125BF-DA48-4E6D-BA2A-DBC75DC84AD7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E77A2-947C-4D57-ADFE-E782C52286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4130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125BF-DA48-4E6D-BA2A-DBC75DC84AD7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E77A2-947C-4D57-ADFE-E782C52286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780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125BF-DA48-4E6D-BA2A-DBC75DC84AD7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E77A2-947C-4D57-ADFE-E782C52286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645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125BF-DA48-4E6D-BA2A-DBC75DC84AD7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E77A2-947C-4D57-ADFE-E782C52286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5018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125BF-DA48-4E6D-BA2A-DBC75DC84AD7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E77A2-947C-4D57-ADFE-E782C52286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214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125BF-DA48-4E6D-BA2A-DBC75DC84AD7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E77A2-947C-4D57-ADFE-E782C52286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523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125BF-DA48-4E6D-BA2A-DBC75DC84AD7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E77A2-947C-4D57-ADFE-E782C52286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935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230112"/>
            <a:ext cx="12192000" cy="627888"/>
          </a:xfrm>
          <a:prstGeom prst="rect">
            <a:avLst/>
          </a:prstGeom>
        </p:spPr>
      </p:pic>
      <p:pic>
        <p:nvPicPr>
          <p:cNvPr id="8" name="Picture 2" descr="C:\Users\vip\Desktop\DIGITAL PPT-06.jpg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231731"/>
            <a:ext cx="12192000" cy="626269"/>
          </a:xfrm>
          <a:prstGeom prst="rect">
            <a:avLst/>
          </a:prstGeom>
          <a:noFill/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330980" y="6259368"/>
            <a:ext cx="4324208" cy="475188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2145890" y="6224570"/>
            <a:ext cx="1004611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未经明确授权，本文档禁止拷贝、截屏、拍摄及其他扩散行为，如有发现按违反远景信息安全红线处理</a:t>
            </a:r>
            <a:endParaRPr lang="en-US" altLang="zh-CN" sz="1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b="0" i="0" kern="12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Without explicit authorization, this document prohibits copying, screen capture, filming and other proliferation actions, if found, it will be handled in accordance with the Envision information security red line.</a:t>
            </a:r>
            <a:endParaRPr lang="zh-CN" altLang="en-US" sz="1200" b="0" i="0" kern="12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11201400" y="5857875"/>
            <a:ext cx="552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1371600" y="749300"/>
            <a:ext cx="7099300" cy="8001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0793212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311046" y="284344"/>
            <a:ext cx="1034321" cy="282003"/>
          </a:xfrm>
          <a:prstGeom prst="rect">
            <a:avLst/>
          </a:prstGeom>
          <a:solidFill>
            <a:srgbClr val="0078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311046" y="284345"/>
            <a:ext cx="966865" cy="28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7162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582002" y="87780"/>
            <a:ext cx="609998" cy="158205"/>
          </a:xfrm>
          <a:prstGeom prst="rect">
            <a:avLst/>
          </a:prstGeom>
        </p:spPr>
        <p:txBody>
          <a:bodyPr wrap="square" lIns="71437" tIns="71437" rIns="71437" bIns="71437"/>
          <a:lstStyle>
            <a:lvl1pPr>
              <a:defRPr spc="18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221842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3125BF-DA48-4E6D-BA2A-DBC75DC84AD7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CE77A2-947C-4D57-ADFE-E782C52286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017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VCG41N1370099955拷贝.jpg" descr="VCG41N1370099955拷贝.jpg"/>
          <p:cNvPicPr>
            <a:picLocks noChangeAspect="1"/>
          </p:cNvPicPr>
          <p:nvPr/>
        </p:nvPicPr>
        <p:blipFill>
          <a:blip r:embed="rId3" cstate="hqprint"/>
          <a:srcRect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8" name="Solving the challenges for a sustainable future"/>
          <p:cNvSpPr txBox="1"/>
          <p:nvPr/>
        </p:nvSpPr>
        <p:spPr>
          <a:xfrm>
            <a:off x="527180" y="2041360"/>
            <a:ext cx="11575681" cy="138764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>
              <a:lnSpc>
                <a:spcPct val="110000"/>
              </a:lnSpc>
              <a:defRPr sz="7500">
                <a:solidFill>
                  <a:srgbClr val="FFFFFF"/>
                </a:solidFill>
              </a:defRPr>
            </a:lvl1pPr>
          </a:lstStyle>
          <a:p>
            <a:endParaRPr lang="en-US" sz="1800" dirty="0"/>
          </a:p>
        </p:txBody>
      </p:sp>
      <p:pic>
        <p:nvPicPr>
          <p:cNvPr id="139" name="图像" descr="图像"/>
          <p:cNvPicPr>
            <a:picLocks noChangeAspect="1"/>
          </p:cNvPicPr>
          <p:nvPr/>
        </p:nvPicPr>
        <p:blipFill>
          <a:blip r:embed="rId4" cstate="hqprint"/>
          <a:srcRect/>
          <a:stretch>
            <a:fillRect/>
          </a:stretch>
        </p:blipFill>
        <p:spPr>
          <a:xfrm>
            <a:off x="406410" y="385629"/>
            <a:ext cx="1371237" cy="33766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1C93713-F413-9002-32C1-504322D46B9D}"/>
              </a:ext>
            </a:extLst>
          </p:cNvPr>
          <p:cNvSpPr txBox="1"/>
          <p:nvPr/>
        </p:nvSpPr>
        <p:spPr>
          <a:xfrm>
            <a:off x="1299028" y="2844225"/>
            <a:ext cx="9593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25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3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-26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年经营情况复盘</a:t>
            </a:r>
            <a:r>
              <a:rPr kumimoji="0" lang="en-US" altLang="zh-CN" sz="3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零碳</a:t>
            </a:r>
            <a:r>
              <a:rPr kumimoji="0" lang="en-US" altLang="zh-CN" sz="3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万</a:t>
            </a:r>
            <a:r>
              <a:rPr kumimoji="0" lang="en-US" altLang="zh-CN" sz="3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&amp;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零碳</a:t>
            </a:r>
            <a:r>
              <a:rPr kumimoji="0" lang="en-US" altLang="zh-CN" sz="3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46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B175A3A-0AD9-9D70-2812-09046EB6C9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620196"/>
              </p:ext>
            </p:extLst>
          </p:nvPr>
        </p:nvGraphicFramePr>
        <p:xfrm>
          <a:off x="967980" y="1017631"/>
          <a:ext cx="10114544" cy="3981121"/>
        </p:xfrm>
        <a:graphic>
          <a:graphicData uri="http://schemas.openxmlformats.org/drawingml/2006/table">
            <a:tbl>
              <a:tblPr/>
              <a:tblGrid>
                <a:gridCol w="613970">
                  <a:extLst>
                    <a:ext uri="{9D8B030D-6E8A-4147-A177-3AD203B41FA5}">
                      <a16:colId xmlns:a16="http://schemas.microsoft.com/office/drawing/2014/main" val="4176077885"/>
                    </a:ext>
                  </a:extLst>
                </a:gridCol>
                <a:gridCol w="925679">
                  <a:extLst>
                    <a:ext uri="{9D8B030D-6E8A-4147-A177-3AD203B41FA5}">
                      <a16:colId xmlns:a16="http://schemas.microsoft.com/office/drawing/2014/main" val="3069034352"/>
                    </a:ext>
                  </a:extLst>
                </a:gridCol>
                <a:gridCol w="103902">
                  <a:extLst>
                    <a:ext uri="{9D8B030D-6E8A-4147-A177-3AD203B41FA5}">
                      <a16:colId xmlns:a16="http://schemas.microsoft.com/office/drawing/2014/main" val="1856689957"/>
                    </a:ext>
                  </a:extLst>
                </a:gridCol>
                <a:gridCol w="585632">
                  <a:extLst>
                    <a:ext uri="{9D8B030D-6E8A-4147-A177-3AD203B41FA5}">
                      <a16:colId xmlns:a16="http://schemas.microsoft.com/office/drawing/2014/main" val="1355860226"/>
                    </a:ext>
                  </a:extLst>
                </a:gridCol>
                <a:gridCol w="585632">
                  <a:extLst>
                    <a:ext uri="{9D8B030D-6E8A-4147-A177-3AD203B41FA5}">
                      <a16:colId xmlns:a16="http://schemas.microsoft.com/office/drawing/2014/main" val="3431857294"/>
                    </a:ext>
                  </a:extLst>
                </a:gridCol>
                <a:gridCol w="727318">
                  <a:extLst>
                    <a:ext uri="{9D8B030D-6E8A-4147-A177-3AD203B41FA5}">
                      <a16:colId xmlns:a16="http://schemas.microsoft.com/office/drawing/2014/main" val="3323137505"/>
                    </a:ext>
                  </a:extLst>
                </a:gridCol>
                <a:gridCol w="103902">
                  <a:extLst>
                    <a:ext uri="{9D8B030D-6E8A-4147-A177-3AD203B41FA5}">
                      <a16:colId xmlns:a16="http://schemas.microsoft.com/office/drawing/2014/main" val="274089655"/>
                    </a:ext>
                  </a:extLst>
                </a:gridCol>
                <a:gridCol w="755655">
                  <a:extLst>
                    <a:ext uri="{9D8B030D-6E8A-4147-A177-3AD203B41FA5}">
                      <a16:colId xmlns:a16="http://schemas.microsoft.com/office/drawing/2014/main" val="1463788062"/>
                    </a:ext>
                  </a:extLst>
                </a:gridCol>
                <a:gridCol w="755655">
                  <a:extLst>
                    <a:ext uri="{9D8B030D-6E8A-4147-A177-3AD203B41FA5}">
                      <a16:colId xmlns:a16="http://schemas.microsoft.com/office/drawing/2014/main" val="989492789"/>
                    </a:ext>
                  </a:extLst>
                </a:gridCol>
                <a:gridCol w="755655">
                  <a:extLst>
                    <a:ext uri="{9D8B030D-6E8A-4147-A177-3AD203B41FA5}">
                      <a16:colId xmlns:a16="http://schemas.microsoft.com/office/drawing/2014/main" val="4058093381"/>
                    </a:ext>
                  </a:extLst>
                </a:gridCol>
                <a:gridCol w="134885">
                  <a:extLst>
                    <a:ext uri="{9D8B030D-6E8A-4147-A177-3AD203B41FA5}">
                      <a16:colId xmlns:a16="http://schemas.microsoft.com/office/drawing/2014/main" val="2552805554"/>
                    </a:ext>
                  </a:extLst>
                </a:gridCol>
                <a:gridCol w="733907">
                  <a:extLst>
                    <a:ext uri="{9D8B030D-6E8A-4147-A177-3AD203B41FA5}">
                      <a16:colId xmlns:a16="http://schemas.microsoft.com/office/drawing/2014/main" val="1316294280"/>
                    </a:ext>
                  </a:extLst>
                </a:gridCol>
                <a:gridCol w="662113">
                  <a:extLst>
                    <a:ext uri="{9D8B030D-6E8A-4147-A177-3AD203B41FA5}">
                      <a16:colId xmlns:a16="http://schemas.microsoft.com/office/drawing/2014/main" val="1083896869"/>
                    </a:ext>
                  </a:extLst>
                </a:gridCol>
                <a:gridCol w="646158">
                  <a:extLst>
                    <a:ext uri="{9D8B030D-6E8A-4147-A177-3AD203B41FA5}">
                      <a16:colId xmlns:a16="http://schemas.microsoft.com/office/drawing/2014/main" val="2222549803"/>
                    </a:ext>
                  </a:extLst>
                </a:gridCol>
                <a:gridCol w="674827">
                  <a:extLst>
                    <a:ext uri="{9D8B030D-6E8A-4147-A177-3AD203B41FA5}">
                      <a16:colId xmlns:a16="http://schemas.microsoft.com/office/drawing/2014/main" val="3098661571"/>
                    </a:ext>
                  </a:extLst>
                </a:gridCol>
                <a:gridCol w="674827">
                  <a:extLst>
                    <a:ext uri="{9D8B030D-6E8A-4147-A177-3AD203B41FA5}">
                      <a16:colId xmlns:a16="http://schemas.microsoft.com/office/drawing/2014/main" val="535421414"/>
                    </a:ext>
                  </a:extLst>
                </a:gridCol>
                <a:gridCol w="674827">
                  <a:extLst>
                    <a:ext uri="{9D8B030D-6E8A-4147-A177-3AD203B41FA5}">
                      <a16:colId xmlns:a16="http://schemas.microsoft.com/office/drawing/2014/main" val="2607863247"/>
                    </a:ext>
                  </a:extLst>
                </a:gridCol>
              </a:tblGrid>
              <a:tr h="304819">
                <a:tc gridSpan="10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26</a:t>
                      </a:r>
                      <a:r>
                        <a:rPr lang="zh-CN" alt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年零碳</a:t>
                      </a:r>
                      <a:r>
                        <a:rPr lang="en-US" altLang="zh-C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  <a:r>
                        <a:rPr lang="zh-CN" alt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万</a:t>
                      </a:r>
                      <a:r>
                        <a:rPr lang="en-US" altLang="zh-C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+</a:t>
                      </a:r>
                      <a:r>
                        <a:rPr lang="zh-CN" alt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零碳</a:t>
                      </a:r>
                      <a:r>
                        <a:rPr lang="en-US" altLang="zh-C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46</a:t>
                      </a:r>
                      <a:endParaRPr lang="zh-CN" altLang="en-US" sz="1000" b="1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zh-CN" altLang="en-US" sz="1000" b="1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6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2025</a:t>
                      </a:r>
                      <a:r>
                        <a:rPr lang="zh-CN" alt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年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zh-CN" altLang="en-US" sz="1000" b="1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zh-CN" altLang="en-US" sz="1000" b="1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zh-CN" altLang="en-US" sz="1000" b="1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zh-CN" altLang="en-US" sz="1000" b="1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0585412"/>
                  </a:ext>
                </a:extLst>
              </a:tr>
              <a:tr h="314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YTD</a:t>
                      </a: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时间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2F75B5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YTD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2F75B5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全年预测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T w="12700" cmpd="sng">
                      <a:noFill/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1" i="0" u="none" strike="noStrike" dirty="0">
                        <a:solidFill>
                          <a:srgbClr val="2F75B5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2F75B5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零碳</a:t>
                      </a:r>
                      <a:r>
                        <a:rPr lang="en-US" altLang="zh-CN" sz="1000" b="1" i="0" u="none" strike="noStrike" dirty="0">
                          <a:solidFill>
                            <a:srgbClr val="2F75B5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000" b="1" i="0" u="none" strike="noStrike" dirty="0">
                          <a:solidFill>
                            <a:srgbClr val="2F75B5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1000" b="1" i="0" u="none" strike="noStrike" dirty="0">
                        <a:solidFill>
                          <a:srgbClr val="2F75B5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2F75B5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零碳</a:t>
                      </a:r>
                      <a:r>
                        <a:rPr lang="en-US" altLang="zh-CN" sz="1000" b="1" i="0" u="none" strike="noStrike" dirty="0">
                          <a:solidFill>
                            <a:srgbClr val="2F75B5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46</a:t>
                      </a:r>
                      <a:endParaRPr lang="zh-CN" altLang="en-US" sz="1000" b="1" i="0" u="none" strike="noStrike" dirty="0">
                        <a:solidFill>
                          <a:srgbClr val="2F75B5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1000" b="1" i="0" u="none" strike="noStrike" dirty="0">
                        <a:solidFill>
                          <a:srgbClr val="2F75B5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2F75B5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1000" b="1" i="0" u="none" strike="noStrike" dirty="0">
                        <a:solidFill>
                          <a:srgbClr val="2F75B5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884633"/>
                  </a:ext>
                </a:extLst>
              </a:tr>
              <a:tr h="304819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1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单位：</a:t>
                      </a:r>
                      <a:r>
                        <a:rPr lang="en-US" altLang="zh-CN" sz="1000" b="1" i="1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000" b="1" i="1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万元</a:t>
                      </a:r>
                      <a:r>
                        <a:rPr lang="en-US" altLang="zh-CN" sz="1000" b="1" i="1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'</a:t>
                      </a:r>
                      <a:r>
                        <a:rPr lang="en-US" sz="1000" b="1" i="1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RMB)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15C9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44546A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actual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44546A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预算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完成率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44546A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最新预测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44546A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预算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完成率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1" i="0" u="none" strike="noStrike" dirty="0">
                        <a:solidFill>
                          <a:srgbClr val="44546A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25</a:t>
                      </a:r>
                      <a:r>
                        <a:rPr lang="zh-CN" altLang="en-US" sz="1000" b="1" i="0" u="none" strike="noStrike" kern="1200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年实际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25</a:t>
                      </a:r>
                      <a:r>
                        <a:rPr lang="zh-CN" altLang="en-US" sz="1000" b="1" i="0" u="none" strike="noStrike" kern="1200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年预算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25</a:t>
                      </a:r>
                      <a:r>
                        <a:rPr lang="zh-CN" altLang="en-US" sz="1000" b="1" i="0" u="none" strike="noStrike" kern="1200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年实际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25</a:t>
                      </a:r>
                      <a:r>
                        <a:rPr lang="zh-CN" altLang="en-US" sz="1000" b="1" i="0" u="none" strike="noStrike" kern="1200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年预算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25</a:t>
                      </a:r>
                      <a:r>
                        <a:rPr lang="zh-CN" altLang="en-US" sz="1000" b="1" i="0" u="none" strike="noStrike" kern="1200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年实际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25</a:t>
                      </a:r>
                      <a:r>
                        <a:rPr lang="zh-CN" altLang="en-US" sz="1000" b="1" i="0" u="none" strike="noStrike" kern="1200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年预算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558909"/>
                  </a:ext>
                </a:extLst>
              </a:tr>
              <a:tr h="30481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电量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上网电量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340,472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F5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320,698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F5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106.2%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F5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zh-CN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915,320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F5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1,006,794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F5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90.9%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F5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zh-C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79,549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70,319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822,332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853,452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901,881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923,770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666523"/>
                  </a:ext>
                </a:extLst>
              </a:tr>
              <a:tr h="30481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折合小时数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1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2,242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2,466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1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1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2,266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2,003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2,570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2,434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4,836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4,437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2805402"/>
                  </a:ext>
                </a:extLst>
              </a:tr>
              <a:tr h="30481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电价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综合电价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含税）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0.199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0.217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91.9%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0.203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0.217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93.7%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1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0.2183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0.2390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0.2253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0.2253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0.2246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0.2264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969529"/>
                  </a:ext>
                </a:extLst>
              </a:tr>
              <a:tr h="30481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收入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发电收入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6,011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6,159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97.6%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16,473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19,334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85.2%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1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1,537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1,487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</a:t>
                      </a:r>
                      <a:r>
                        <a:rPr lang="en-US" altLang="zh-C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392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17,019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17,929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18,506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967553"/>
                  </a:ext>
                </a:extLst>
              </a:tr>
              <a:tr h="30481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成本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成本小计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3,021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2,704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1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9,675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7,922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1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1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741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778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5,562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5,996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6,303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6,774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708077"/>
                  </a:ext>
                </a:extLst>
              </a:tr>
              <a:tr h="304819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毛利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2,989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3,455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86.5%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6,798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11,411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59.6%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1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796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709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12,258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11,023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13,054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11,732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889659"/>
                  </a:ext>
                </a:extLst>
              </a:tr>
              <a:tr h="304819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毛利率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56%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1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41%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59%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1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1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52%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47%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69%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66%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73%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63%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430127"/>
                  </a:ext>
                </a:extLst>
              </a:tr>
              <a:tr h="304819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税前利润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1,375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1,842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1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1,957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6,573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1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1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6,819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5,436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7,078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5,623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359458"/>
                  </a:ext>
                </a:extLst>
              </a:tr>
              <a:tr h="31405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净利润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1,356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1,837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1,957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6,555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1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-71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6,819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5,436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6,748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5,623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567849"/>
                  </a:ext>
                </a:extLst>
              </a:tr>
              <a:tr h="304819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EBITDA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5,824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5,683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1" u="none" strike="noStrike" dirty="0">
                          <a:solidFill>
                            <a:srgbClr val="548235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102.5%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15,172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18,000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1" u="none" strike="noStrike" dirty="0">
                          <a:solidFill>
                            <a:srgbClr val="548235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84.3%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1" i="1" u="none" strike="noStrike" dirty="0">
                        <a:solidFill>
                          <a:srgbClr val="548235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1,236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1,218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15,803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16,101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17,039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17,319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396539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568FFE21-30F0-C3E4-2864-6F73326D8C54}"/>
              </a:ext>
            </a:extLst>
          </p:cNvPr>
          <p:cNvSpPr/>
          <p:nvPr/>
        </p:nvSpPr>
        <p:spPr>
          <a:xfrm>
            <a:off x="0" y="0"/>
            <a:ext cx="12192000" cy="41406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engXian"/>
                <a:ea typeface="DengXian" panose="02010600030101010101" pitchFamily="2" charset="-122"/>
                <a:cs typeface="+mn-cs"/>
              </a:rPr>
              <a:t>1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engXian"/>
                <a:ea typeface="DengXian" panose="02010600030101010101" pitchFamily="2" charset="-122"/>
                <a:cs typeface="+mn-cs"/>
              </a:rPr>
              <a:t>、财务情况复盘</a:t>
            </a:r>
          </a:p>
        </p:txBody>
      </p:sp>
    </p:spTree>
    <p:extLst>
      <p:ext uri="{BB962C8B-B14F-4D97-AF65-F5344CB8AC3E}">
        <p14:creationId xmlns:p14="http://schemas.microsoft.com/office/powerpoint/2010/main" val="3190649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F3FC1-16ED-23F4-BBC1-D23ED8CAC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BDFE8220-EB8B-1DED-CA9D-BCDE633D9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0" y="14747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337CE9-D4D8-46F8-0829-A71B0FBD3D01}"/>
              </a:ext>
            </a:extLst>
          </p:cNvPr>
          <p:cNvSpPr/>
          <p:nvPr/>
        </p:nvSpPr>
        <p:spPr>
          <a:xfrm>
            <a:off x="0" y="0"/>
            <a:ext cx="12192000" cy="41406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solidFill>
                  <a:prstClr val="white"/>
                </a:solidFill>
                <a:latin typeface="DengXian"/>
                <a:ea typeface="DengXian" panose="02010600030101010101" pitchFamily="2" charset="-122"/>
              </a:rPr>
              <a:t>2</a:t>
            </a:r>
            <a:r>
              <a:rPr lang="zh-CN" altLang="en-US" b="1" dirty="0">
                <a:solidFill>
                  <a:prstClr val="white"/>
                </a:solidFill>
                <a:latin typeface="DengXian"/>
                <a:ea typeface="DengXian" panose="02010600030101010101" pitchFamily="2" charset="-122"/>
              </a:rPr>
              <a:t>、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engXian"/>
                <a:ea typeface="DengXian" panose="02010600030101010101" pitchFamily="2" charset="-122"/>
                <a:cs typeface="+mn-cs"/>
              </a:rPr>
              <a:t>限电率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engXian"/>
                <a:ea typeface="DengXian" panose="02010600030101010101" pitchFamily="2" charset="-122"/>
                <a:cs typeface="+mn-cs"/>
              </a:rPr>
              <a:t>&amp;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engXian"/>
                <a:ea typeface="DengXian" panose="02010600030101010101" pitchFamily="2" charset="-122"/>
                <a:cs typeface="+mn-cs"/>
              </a:rPr>
              <a:t>电价</a:t>
            </a:r>
          </a:p>
        </p:txBody>
      </p:sp>
      <p:graphicFrame>
        <p:nvGraphicFramePr>
          <p:cNvPr id="20" name="图表 19">
            <a:extLst>
              <a:ext uri="{FF2B5EF4-FFF2-40B4-BE49-F238E27FC236}">
                <a16:creationId xmlns:a16="http://schemas.microsoft.com/office/drawing/2014/main" id="{0F26038B-AA81-54F1-E8B3-E54B3ED718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6434014"/>
              </p:ext>
            </p:extLst>
          </p:nvPr>
        </p:nvGraphicFramePr>
        <p:xfrm>
          <a:off x="100940" y="699998"/>
          <a:ext cx="5995059" cy="35571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图表 20">
            <a:extLst>
              <a:ext uri="{FF2B5EF4-FFF2-40B4-BE49-F238E27FC236}">
                <a16:creationId xmlns:a16="http://schemas.microsoft.com/office/drawing/2014/main" id="{05970D8E-F2E4-12C4-77F4-88C08DB1F6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4955316"/>
              </p:ext>
            </p:extLst>
          </p:nvPr>
        </p:nvGraphicFramePr>
        <p:xfrm>
          <a:off x="5893075" y="657290"/>
          <a:ext cx="5995058" cy="35312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ED01A65E-B0FD-D98C-8C5B-637E7B957A85}"/>
              </a:ext>
            </a:extLst>
          </p:cNvPr>
          <p:cNvSpPr txBox="1"/>
          <p:nvPr/>
        </p:nvSpPr>
        <p:spPr>
          <a:xfrm>
            <a:off x="5765629" y="4321312"/>
            <a:ext cx="61225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altLang="zh-CN" sz="1200" dirty="0"/>
              <a:t>26</a:t>
            </a:r>
            <a:r>
              <a:rPr lang="zh-CN" altLang="en-US" sz="1200" dirty="0"/>
              <a:t>年</a:t>
            </a:r>
            <a:r>
              <a:rPr lang="en-US" altLang="zh-CN" sz="1200" dirty="0"/>
              <a:t>1-4</a:t>
            </a:r>
            <a:r>
              <a:rPr lang="zh-CN" altLang="en-US" sz="1200" dirty="0"/>
              <a:t>月发电量</a:t>
            </a:r>
            <a:r>
              <a:rPr lang="en-US" altLang="zh-CN" sz="1200" dirty="0"/>
              <a:t>33335</a:t>
            </a:r>
            <a:r>
              <a:rPr lang="zh-CN" altLang="en-US" sz="1200" dirty="0"/>
              <a:t>万</a:t>
            </a:r>
            <a:r>
              <a:rPr lang="en-US" altLang="zh-CN" sz="1200" dirty="0" err="1"/>
              <a:t>Kwh</a:t>
            </a:r>
            <a:r>
              <a:rPr lang="zh-CN" altLang="en-US" sz="1200" dirty="0"/>
              <a:t>，限电量</a:t>
            </a:r>
            <a:r>
              <a:rPr lang="en-US" altLang="zh-CN" sz="1200" dirty="0"/>
              <a:t>3527</a:t>
            </a:r>
            <a:r>
              <a:rPr lang="zh-CN" altLang="en-US" sz="1200" dirty="0"/>
              <a:t>万</a:t>
            </a:r>
            <a:r>
              <a:rPr lang="en-US" altLang="zh-CN" sz="1200" dirty="0" err="1"/>
              <a:t>Kwh</a:t>
            </a:r>
            <a:r>
              <a:rPr lang="zh-CN" altLang="en-US" sz="1200" dirty="0"/>
              <a:t>，限电率</a:t>
            </a:r>
            <a:r>
              <a:rPr lang="en-US" altLang="zh-CN" sz="1200" dirty="0"/>
              <a:t>1.05%</a:t>
            </a:r>
            <a:r>
              <a:rPr lang="zh-CN" altLang="en-US" sz="1200" dirty="0"/>
              <a:t>，对比</a:t>
            </a:r>
            <a:r>
              <a:rPr lang="en-US" altLang="zh-CN" sz="1200" dirty="0"/>
              <a:t>25</a:t>
            </a:r>
            <a:r>
              <a:rPr lang="zh-CN" altLang="en-US" sz="1200" dirty="0"/>
              <a:t>年同期发电量提高</a:t>
            </a:r>
            <a:r>
              <a:rPr lang="en-US" altLang="zh-CN" sz="1200" dirty="0"/>
              <a:t>0.05%</a:t>
            </a:r>
            <a:r>
              <a:rPr lang="zh-CN" altLang="en-US" sz="1200" dirty="0"/>
              <a:t>，限电量降低</a:t>
            </a:r>
            <a:r>
              <a:rPr lang="en-US" altLang="zh-CN" sz="1200" dirty="0"/>
              <a:t>52.25%</a:t>
            </a:r>
            <a:r>
              <a:rPr lang="zh-CN" altLang="en-US" sz="1200" dirty="0"/>
              <a:t>，限电率降低</a:t>
            </a:r>
            <a:r>
              <a:rPr lang="en-US" altLang="zh-CN" sz="1200" dirty="0"/>
              <a:t>52.52%</a:t>
            </a:r>
            <a:r>
              <a:rPr lang="zh-CN" altLang="en-US" sz="1200" dirty="0"/>
              <a:t>。主要原因为</a:t>
            </a:r>
            <a:r>
              <a:rPr lang="en-US" altLang="zh-CN" sz="1200" dirty="0"/>
              <a:t>26</a:t>
            </a:r>
            <a:r>
              <a:rPr lang="zh-CN" altLang="en-US" sz="1200" dirty="0"/>
              <a:t>年</a:t>
            </a:r>
            <a:r>
              <a:rPr lang="en-US" altLang="zh-CN" sz="1200" dirty="0"/>
              <a:t>4</a:t>
            </a:r>
            <a:r>
              <a:rPr lang="zh-CN" altLang="en-US" sz="1200" dirty="0"/>
              <a:t>月限电量对比同期减少约</a:t>
            </a:r>
            <a:r>
              <a:rPr lang="en-US" altLang="zh-CN" sz="1200" dirty="0"/>
              <a:t>5700</a:t>
            </a:r>
            <a:r>
              <a:rPr lang="zh-CN" altLang="en-US" sz="1200" dirty="0"/>
              <a:t>万</a:t>
            </a:r>
            <a:r>
              <a:rPr lang="en-US" altLang="zh-CN" sz="1200" dirty="0" err="1"/>
              <a:t>Kwh</a:t>
            </a:r>
            <a:r>
              <a:rPr lang="en-US" altLang="zh-CN" sz="1200" dirty="0"/>
              <a:t>.</a:t>
            </a:r>
            <a:endParaRPr lang="zh-CN" altLang="en-US" sz="12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2EEAB7E-8467-9A0A-B4EB-42931F4F0D65}"/>
              </a:ext>
            </a:extLst>
          </p:cNvPr>
          <p:cNvSpPr txBox="1"/>
          <p:nvPr/>
        </p:nvSpPr>
        <p:spPr>
          <a:xfrm>
            <a:off x="595746" y="4532152"/>
            <a:ext cx="40224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/>
              <a:t>26</a:t>
            </a:r>
            <a:r>
              <a:rPr lang="zh-CN" altLang="en-US" sz="1200" dirty="0"/>
              <a:t>年</a:t>
            </a:r>
            <a:r>
              <a:rPr lang="en-US" altLang="zh-CN" sz="1200" dirty="0"/>
              <a:t>1-4</a:t>
            </a:r>
            <a:r>
              <a:rPr lang="zh-CN" altLang="en-US" sz="1200" dirty="0"/>
              <a:t>月发电量</a:t>
            </a:r>
            <a:r>
              <a:rPr lang="en-US" altLang="zh-CN" sz="1200" dirty="0"/>
              <a:t>2743</a:t>
            </a:r>
            <a:r>
              <a:rPr lang="zh-CN" altLang="en-US" sz="1200" dirty="0"/>
              <a:t>万</a:t>
            </a:r>
            <a:r>
              <a:rPr lang="en-US" altLang="zh-CN" sz="1200" dirty="0" err="1"/>
              <a:t>Kwh</a:t>
            </a:r>
            <a:r>
              <a:rPr lang="zh-CN" altLang="en-US" sz="1200" dirty="0"/>
              <a:t>，限电量</a:t>
            </a:r>
            <a:r>
              <a:rPr lang="en-US" altLang="zh-CN" sz="1200" dirty="0"/>
              <a:t>233</a:t>
            </a:r>
            <a:r>
              <a:rPr lang="zh-CN" altLang="en-US" sz="1200" dirty="0"/>
              <a:t>万</a:t>
            </a:r>
            <a:r>
              <a:rPr lang="en-US" altLang="zh-CN" sz="1200" dirty="0" err="1"/>
              <a:t>Kwh</a:t>
            </a:r>
            <a:r>
              <a:rPr lang="zh-CN" altLang="en-US" sz="1200" dirty="0"/>
              <a:t>，限电率</a:t>
            </a:r>
            <a:r>
              <a:rPr lang="en-US" altLang="zh-CN" sz="1200" dirty="0"/>
              <a:t>8.49%</a:t>
            </a:r>
            <a:r>
              <a:rPr lang="zh-CN" altLang="en-US" sz="1200" dirty="0"/>
              <a:t>。对比</a:t>
            </a:r>
            <a:r>
              <a:rPr lang="en-US" altLang="zh-CN" sz="1200" dirty="0"/>
              <a:t>25</a:t>
            </a:r>
            <a:r>
              <a:rPr lang="zh-CN" altLang="en-US" sz="1200" dirty="0"/>
              <a:t>年同期，发电量提高</a:t>
            </a:r>
            <a:r>
              <a:rPr lang="en-US" altLang="zh-CN" sz="1200" dirty="0"/>
              <a:t>8.26%</a:t>
            </a:r>
            <a:r>
              <a:rPr lang="zh-CN" altLang="en-US" sz="1200" dirty="0"/>
              <a:t>，限电量下降</a:t>
            </a:r>
            <a:r>
              <a:rPr lang="en-US" altLang="zh-CN" sz="1200" dirty="0"/>
              <a:t>71.8%,,</a:t>
            </a:r>
            <a:r>
              <a:rPr lang="zh-CN" altLang="en-US" sz="1200" dirty="0"/>
              <a:t>限电率下降</a:t>
            </a:r>
            <a:r>
              <a:rPr lang="en-US" altLang="zh-CN" sz="1200" dirty="0"/>
              <a:t>73.9%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118730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2C4CCE2F-7DB9-1578-7CB8-9B1CEF8C65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0944611"/>
              </p:ext>
            </p:extLst>
          </p:nvPr>
        </p:nvGraphicFramePr>
        <p:xfrm>
          <a:off x="846063" y="586291"/>
          <a:ext cx="8640837" cy="3904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17C5A622-D84E-1137-D468-50FDBFDE35BB}"/>
              </a:ext>
            </a:extLst>
          </p:cNvPr>
          <p:cNvSpPr/>
          <p:nvPr/>
        </p:nvSpPr>
        <p:spPr>
          <a:xfrm>
            <a:off x="0" y="0"/>
            <a:ext cx="12192000" cy="41406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solidFill>
                  <a:prstClr val="white"/>
                </a:solidFill>
                <a:latin typeface="DengXian"/>
                <a:ea typeface="DengXian" panose="02010600030101010101" pitchFamily="2" charset="-122"/>
              </a:rPr>
              <a:t>2</a:t>
            </a:r>
            <a:r>
              <a:rPr lang="zh-CN" altLang="en-US" b="1" dirty="0">
                <a:solidFill>
                  <a:prstClr val="white"/>
                </a:solidFill>
                <a:latin typeface="DengXian"/>
                <a:ea typeface="DengXian" panose="02010600030101010101" pitchFamily="2" charset="-122"/>
              </a:rPr>
              <a:t>、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engXian"/>
                <a:ea typeface="DengXian" panose="02010600030101010101" pitchFamily="2" charset="-122"/>
                <a:cs typeface="+mn-cs"/>
              </a:rPr>
              <a:t>限电率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engXian"/>
                <a:ea typeface="DengXian" panose="02010600030101010101" pitchFamily="2" charset="-122"/>
                <a:cs typeface="+mn-cs"/>
              </a:rPr>
              <a:t>&amp;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engXian"/>
                <a:ea typeface="DengXian" panose="02010600030101010101" pitchFamily="2" charset="-122"/>
                <a:cs typeface="+mn-cs"/>
              </a:rPr>
              <a:t>电价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C639590-FE68-8787-2EBD-D3C68A659BE3}"/>
              </a:ext>
            </a:extLst>
          </p:cNvPr>
          <p:cNvSpPr txBox="1"/>
          <p:nvPr/>
        </p:nvSpPr>
        <p:spPr>
          <a:xfrm>
            <a:off x="369812" y="4614947"/>
            <a:ext cx="33068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/>
              <a:t>零碳</a:t>
            </a:r>
            <a:r>
              <a:rPr lang="en-US" altLang="zh-CN" sz="1200" dirty="0"/>
              <a:t>4</a:t>
            </a:r>
            <a:r>
              <a:rPr lang="zh-CN" altLang="en-US" sz="1200" dirty="0"/>
              <a:t>万电价由能源和动力签订一口价协议</a:t>
            </a:r>
            <a:r>
              <a:rPr lang="en-US" altLang="zh-CN" sz="1200" dirty="0"/>
              <a:t>(Pay-as-produced)</a:t>
            </a:r>
            <a:r>
              <a:rPr lang="zh-CN" altLang="en-US" sz="1200" dirty="0"/>
              <a:t>，即</a:t>
            </a:r>
            <a:r>
              <a:rPr lang="en-US" altLang="zh-CN" sz="1200" dirty="0"/>
              <a:t>0.259</a:t>
            </a:r>
            <a:r>
              <a:rPr lang="zh-CN" altLang="en-US" sz="1200" dirty="0"/>
              <a:t>元</a:t>
            </a:r>
            <a:r>
              <a:rPr lang="en-US" altLang="zh-CN" sz="1200" dirty="0"/>
              <a:t>/MWh</a:t>
            </a:r>
            <a:r>
              <a:rPr lang="zh-CN" altLang="en-US" sz="1200" dirty="0"/>
              <a:t>。动力优先使用零碳四万的电量，由于一口价协议高于网购电价，给动力增加额外用电成本。动力需要与能源签订保价协议。</a:t>
            </a: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0BAB0186-4ED1-E3C9-AAC6-330510C3E0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919124"/>
              </p:ext>
            </p:extLst>
          </p:nvPr>
        </p:nvGraphicFramePr>
        <p:xfrm>
          <a:off x="9647104" y="2250971"/>
          <a:ext cx="1981200" cy="711200"/>
        </p:xfrm>
        <a:graphic>
          <a:graphicData uri="http://schemas.openxmlformats.org/drawingml/2006/table">
            <a:tbl>
              <a:tblPr/>
              <a:tblGrid>
                <a:gridCol w="660400">
                  <a:extLst>
                    <a:ext uri="{9D8B030D-6E8A-4147-A177-3AD203B41FA5}">
                      <a16:colId xmlns:a16="http://schemas.microsoft.com/office/drawing/2014/main" val="2923193071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7519871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79276219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年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年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91676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现货加权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217.68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132.64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887196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实际结算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206.42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193.73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521213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结算均价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162.99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171.73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9793819"/>
                  </a:ext>
                </a:extLst>
              </a:tr>
            </a:tbl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638FD332-1600-AA0B-AD6F-D0D2E5075C5E}"/>
              </a:ext>
            </a:extLst>
          </p:cNvPr>
          <p:cNvSpPr txBox="1"/>
          <p:nvPr/>
        </p:nvSpPr>
        <p:spPr>
          <a:xfrm>
            <a:off x="5768737" y="4649177"/>
            <a:ext cx="38783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/>
              <a:t>对比</a:t>
            </a:r>
            <a:r>
              <a:rPr lang="en-US" altLang="zh-CN" sz="1200" dirty="0"/>
              <a:t>25</a:t>
            </a:r>
            <a:r>
              <a:rPr lang="zh-CN" altLang="en-US" sz="1200" dirty="0"/>
              <a:t>年，</a:t>
            </a:r>
            <a:r>
              <a:rPr lang="en-US" altLang="zh-CN" sz="1200" dirty="0"/>
              <a:t>26</a:t>
            </a:r>
            <a:r>
              <a:rPr lang="zh-CN" altLang="en-US" sz="1200" dirty="0"/>
              <a:t>年现货价格明显，</a:t>
            </a:r>
            <a:r>
              <a:rPr lang="en-US" altLang="zh-CN" sz="1200" dirty="0"/>
              <a:t>26</a:t>
            </a:r>
            <a:r>
              <a:rPr lang="zh-CN" altLang="en-US" sz="1200" dirty="0"/>
              <a:t>年实际结算均价</a:t>
            </a:r>
            <a:r>
              <a:rPr lang="en-US" altLang="zh-CN" sz="1200" dirty="0"/>
              <a:t>193.73</a:t>
            </a:r>
            <a:r>
              <a:rPr lang="zh-CN" altLang="en-US" sz="1200" dirty="0"/>
              <a:t>元</a:t>
            </a:r>
            <a:r>
              <a:rPr lang="en-US" altLang="zh-CN" sz="1200" dirty="0"/>
              <a:t>/MWh</a:t>
            </a:r>
            <a:r>
              <a:rPr lang="zh-CN" altLang="en-US" sz="1200" dirty="0"/>
              <a:t>，高于全市风电结算均价</a:t>
            </a:r>
            <a:r>
              <a:rPr lang="en-US" altLang="zh-CN" sz="1200" dirty="0"/>
              <a:t>22</a:t>
            </a:r>
            <a:r>
              <a:rPr lang="zh-CN" altLang="en-US" sz="1200" dirty="0"/>
              <a:t>元</a:t>
            </a:r>
            <a:r>
              <a:rPr lang="en-US" altLang="zh-CN" sz="1200" dirty="0"/>
              <a:t>/MWh</a:t>
            </a:r>
            <a:r>
              <a:rPr lang="zh-CN" altLang="en-US" sz="1200" dirty="0"/>
              <a:t>，现货加权均价</a:t>
            </a:r>
            <a:r>
              <a:rPr lang="en-US" altLang="zh-CN" sz="1200" dirty="0"/>
              <a:t>61.09%</a:t>
            </a:r>
          </a:p>
        </p:txBody>
      </p:sp>
    </p:spTree>
    <p:extLst>
      <p:ext uri="{BB962C8B-B14F-4D97-AF65-F5344CB8AC3E}">
        <p14:creationId xmlns:p14="http://schemas.microsoft.com/office/powerpoint/2010/main" val="2391014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12D39-94DA-D6D9-498D-99EDB50D5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1208F08-9D4A-E408-9673-198147CB54CF}"/>
              </a:ext>
            </a:extLst>
          </p:cNvPr>
          <p:cNvSpPr/>
          <p:nvPr/>
        </p:nvSpPr>
        <p:spPr>
          <a:xfrm>
            <a:off x="0" y="0"/>
            <a:ext cx="12192000" cy="41406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solidFill>
                  <a:prstClr val="white"/>
                </a:solidFill>
                <a:latin typeface="DengXian"/>
                <a:ea typeface="DengXian" panose="02010600030101010101" pitchFamily="2" charset="-122"/>
              </a:rPr>
              <a:t>3</a:t>
            </a:r>
            <a:r>
              <a:rPr lang="zh-CN" altLang="en-US" b="1" dirty="0">
                <a:solidFill>
                  <a:prstClr val="white"/>
                </a:solidFill>
                <a:latin typeface="DengXian"/>
                <a:ea typeface="DengXian" panose="02010600030101010101" pitchFamily="2" charset="-122"/>
              </a:rPr>
              <a:t>、</a:t>
            </a:r>
            <a:r>
              <a:rPr lang="en-US" altLang="zh-CN" b="1" dirty="0">
                <a:solidFill>
                  <a:prstClr val="white"/>
                </a:solidFill>
                <a:latin typeface="DengXian"/>
                <a:ea typeface="DengXian" panose="02010600030101010101" pitchFamily="2" charset="-122"/>
              </a:rPr>
              <a:t>Back Up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/>
              <a:ea typeface="DengXian" panose="02010600030101010101" pitchFamily="2" charset="-122"/>
              <a:cs typeface="+mn-cs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3811C516-AEF8-67D1-7C7D-8BFB203894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438624"/>
              </p:ext>
            </p:extLst>
          </p:nvPr>
        </p:nvGraphicFramePr>
        <p:xfrm>
          <a:off x="241301" y="560244"/>
          <a:ext cx="5574000" cy="5471114"/>
        </p:xfrm>
        <a:graphic>
          <a:graphicData uri="http://schemas.openxmlformats.org/drawingml/2006/table">
            <a:tbl>
              <a:tblPr/>
              <a:tblGrid>
                <a:gridCol w="754812">
                  <a:extLst>
                    <a:ext uri="{9D8B030D-6E8A-4147-A177-3AD203B41FA5}">
                      <a16:colId xmlns:a16="http://schemas.microsoft.com/office/drawing/2014/main" val="3048694051"/>
                    </a:ext>
                  </a:extLst>
                </a:gridCol>
                <a:gridCol w="1138025">
                  <a:extLst>
                    <a:ext uri="{9D8B030D-6E8A-4147-A177-3AD203B41FA5}">
                      <a16:colId xmlns:a16="http://schemas.microsoft.com/office/drawing/2014/main" val="1148928476"/>
                    </a:ext>
                  </a:extLst>
                </a:gridCol>
                <a:gridCol w="127737">
                  <a:extLst>
                    <a:ext uri="{9D8B030D-6E8A-4147-A177-3AD203B41FA5}">
                      <a16:colId xmlns:a16="http://schemas.microsoft.com/office/drawing/2014/main" val="2914288707"/>
                    </a:ext>
                  </a:extLst>
                </a:gridCol>
                <a:gridCol w="481919">
                  <a:extLst>
                    <a:ext uri="{9D8B030D-6E8A-4147-A177-3AD203B41FA5}">
                      <a16:colId xmlns:a16="http://schemas.microsoft.com/office/drawing/2014/main" val="3905450539"/>
                    </a:ext>
                  </a:extLst>
                </a:gridCol>
                <a:gridCol w="481919">
                  <a:extLst>
                    <a:ext uri="{9D8B030D-6E8A-4147-A177-3AD203B41FA5}">
                      <a16:colId xmlns:a16="http://schemas.microsoft.com/office/drawing/2014/main" val="1598756891"/>
                    </a:ext>
                  </a:extLst>
                </a:gridCol>
                <a:gridCol w="598044">
                  <a:extLst>
                    <a:ext uri="{9D8B030D-6E8A-4147-A177-3AD203B41FA5}">
                      <a16:colId xmlns:a16="http://schemas.microsoft.com/office/drawing/2014/main" val="1951451766"/>
                    </a:ext>
                  </a:extLst>
                </a:gridCol>
                <a:gridCol w="127737">
                  <a:extLst>
                    <a:ext uri="{9D8B030D-6E8A-4147-A177-3AD203B41FA5}">
                      <a16:colId xmlns:a16="http://schemas.microsoft.com/office/drawing/2014/main" val="1739307159"/>
                    </a:ext>
                  </a:extLst>
                </a:gridCol>
                <a:gridCol w="621269">
                  <a:extLst>
                    <a:ext uri="{9D8B030D-6E8A-4147-A177-3AD203B41FA5}">
                      <a16:colId xmlns:a16="http://schemas.microsoft.com/office/drawing/2014/main" val="2714956072"/>
                    </a:ext>
                  </a:extLst>
                </a:gridCol>
                <a:gridCol w="621269">
                  <a:extLst>
                    <a:ext uri="{9D8B030D-6E8A-4147-A177-3AD203B41FA5}">
                      <a16:colId xmlns:a16="http://schemas.microsoft.com/office/drawing/2014/main" val="1122481825"/>
                    </a:ext>
                  </a:extLst>
                </a:gridCol>
                <a:gridCol w="621269">
                  <a:extLst>
                    <a:ext uri="{9D8B030D-6E8A-4147-A177-3AD203B41FA5}">
                      <a16:colId xmlns:a16="http://schemas.microsoft.com/office/drawing/2014/main" val="1788237822"/>
                    </a:ext>
                  </a:extLst>
                </a:gridCol>
              </a:tblGrid>
              <a:tr h="175654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YTD</a:t>
                      </a:r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时间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2F75B5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YTD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>
                          <a:solidFill>
                            <a:srgbClr val="2F75B5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全年预测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5951933"/>
                  </a:ext>
                </a:extLst>
              </a:tr>
              <a:tr h="17048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1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单位：</a:t>
                      </a:r>
                      <a:r>
                        <a:rPr lang="en-US" altLang="zh-CN" sz="900" b="1" i="1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900" b="1" i="1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万元</a:t>
                      </a:r>
                      <a:r>
                        <a:rPr lang="en-US" altLang="zh-CN" sz="900" b="1" i="1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'</a:t>
                      </a:r>
                      <a:r>
                        <a:rPr lang="en-US" sz="900" b="1" i="1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RMB)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5C9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44546A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actual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>
                          <a:solidFill>
                            <a:srgbClr val="44546A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预算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完成率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>
                          <a:solidFill>
                            <a:srgbClr val="44546A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最新预测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>
                          <a:solidFill>
                            <a:srgbClr val="44546A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预算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完成率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795525"/>
                  </a:ext>
                </a:extLst>
              </a:tr>
              <a:tr h="170488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电量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核准容量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100.0%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100.0%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8258402"/>
                  </a:ext>
                </a:extLst>
              </a:tr>
              <a:tr h="1704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平均容量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100.0%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100.0%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381387"/>
                  </a:ext>
                </a:extLst>
              </a:tr>
              <a:tr h="1704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上网电量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340,472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320,698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106.2%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915,320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1,006,794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90.9%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2512575"/>
                  </a:ext>
                </a:extLst>
              </a:tr>
              <a:tr h="1704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折合小时数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2,242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2,466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1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2972775"/>
                  </a:ext>
                </a:extLst>
              </a:tr>
              <a:tr h="17048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电价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综合电价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含税）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0.199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0.217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91.9%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0.203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0.217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93.7%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871821"/>
                  </a:ext>
                </a:extLst>
              </a:tr>
              <a:tr h="170488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收入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考核前收入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6,010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6,159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97.6%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16,472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19,334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85.2%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7646779"/>
                  </a:ext>
                </a:extLst>
              </a:tr>
              <a:tr h="1704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考核扣款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1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1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067026"/>
                  </a:ext>
                </a:extLst>
              </a:tr>
              <a:tr h="1704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发电收入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6,011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6,159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97.6%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16,473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19,334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85.2%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394030"/>
                  </a:ext>
                </a:extLst>
              </a:tr>
              <a:tr h="170488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成本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折旧摊销费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2,847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2,257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8,541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6,772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1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103637"/>
                  </a:ext>
                </a:extLst>
              </a:tr>
              <a:tr h="1704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场站运维费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421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1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1,058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1,074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1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1924519"/>
                  </a:ext>
                </a:extLst>
              </a:tr>
              <a:tr h="1704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风机运维费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1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1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078501"/>
                  </a:ext>
                </a:extLst>
              </a:tr>
              <a:tr h="1704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绿电服务费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1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1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114095"/>
                  </a:ext>
                </a:extLst>
              </a:tr>
              <a:tr h="1704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成本小计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3,021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2,704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111.7%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9,675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7,922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122.1%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6239664"/>
                  </a:ext>
                </a:extLst>
              </a:tr>
              <a:tr h="17048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毛利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2,989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3,455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86.5%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6,798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11,411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59.6%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899733"/>
                  </a:ext>
                </a:extLst>
              </a:tr>
              <a:tr h="17048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毛利率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56%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1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41%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1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59%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1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6592943"/>
                  </a:ext>
                </a:extLst>
              </a:tr>
              <a:tr h="170488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税费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管理费用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1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1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352832"/>
                  </a:ext>
                </a:extLst>
              </a:tr>
              <a:tr h="1704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财务费用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1,598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1,583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1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4,670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4,656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1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914477"/>
                  </a:ext>
                </a:extLst>
              </a:tr>
              <a:tr h="1704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营业税金及附加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1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1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631746"/>
                  </a:ext>
                </a:extLst>
              </a:tr>
              <a:tr h="1704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税费小计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1,610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1,612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1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4,836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4,839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1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003606"/>
                  </a:ext>
                </a:extLst>
              </a:tr>
              <a:tr h="17048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其他收益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1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690409"/>
                  </a:ext>
                </a:extLst>
              </a:tr>
              <a:tr h="17048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营业利润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1,379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1,842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74.9%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1,962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6,573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1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222993"/>
                  </a:ext>
                </a:extLst>
              </a:tr>
              <a:tr h="170488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营业外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营业外收入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1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312085"/>
                  </a:ext>
                </a:extLst>
              </a:tr>
              <a:tr h="1704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营业外支出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1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1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7116742"/>
                  </a:ext>
                </a:extLst>
              </a:tr>
              <a:tr h="1704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营业外小计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1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1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7539930"/>
                  </a:ext>
                </a:extLst>
              </a:tr>
              <a:tr h="17048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税前利润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1,375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1,842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1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1,957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6,573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810486"/>
                  </a:ext>
                </a:extLst>
              </a:tr>
              <a:tr h="17048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所得税费用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1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50626"/>
                  </a:ext>
                </a:extLst>
              </a:tr>
              <a:tr h="17565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净利润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1,356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1,837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1,957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6,555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16782"/>
                  </a:ext>
                </a:extLst>
              </a:tr>
              <a:tr h="17565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净利率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75.7%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1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35.0%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510529"/>
                  </a:ext>
                </a:extLst>
              </a:tr>
              <a:tr h="17048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EBITDA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5,824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5,683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1" u="none" strike="noStrike">
                          <a:solidFill>
                            <a:srgbClr val="548235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102.5%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15,172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18,000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1" u="none" strike="noStrike" dirty="0">
                          <a:solidFill>
                            <a:srgbClr val="548235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84.3%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594137"/>
                  </a:ext>
                </a:extLst>
              </a:tr>
              <a:tr h="170488">
                <a:tc>
                  <a:txBody>
                    <a:bodyPr/>
                    <a:lstStyle/>
                    <a:p>
                      <a:pPr algn="l" fontAlgn="ctr"/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391090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9C7A34E7-643E-BDC1-F88D-A6E50E0613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23712"/>
              </p:ext>
            </p:extLst>
          </p:nvPr>
        </p:nvGraphicFramePr>
        <p:xfrm>
          <a:off x="6096000" y="710550"/>
          <a:ext cx="5854699" cy="4528953"/>
        </p:xfrm>
        <a:graphic>
          <a:graphicData uri="http://schemas.openxmlformats.org/drawingml/2006/table">
            <a:tbl>
              <a:tblPr/>
              <a:tblGrid>
                <a:gridCol w="668563">
                  <a:extLst>
                    <a:ext uri="{9D8B030D-6E8A-4147-A177-3AD203B41FA5}">
                      <a16:colId xmlns:a16="http://schemas.microsoft.com/office/drawing/2014/main" val="1051051397"/>
                    </a:ext>
                  </a:extLst>
                </a:gridCol>
                <a:gridCol w="1356227">
                  <a:extLst>
                    <a:ext uri="{9D8B030D-6E8A-4147-A177-3AD203B41FA5}">
                      <a16:colId xmlns:a16="http://schemas.microsoft.com/office/drawing/2014/main" val="4158106321"/>
                    </a:ext>
                  </a:extLst>
                </a:gridCol>
                <a:gridCol w="1117455">
                  <a:extLst>
                    <a:ext uri="{9D8B030D-6E8A-4147-A177-3AD203B41FA5}">
                      <a16:colId xmlns:a16="http://schemas.microsoft.com/office/drawing/2014/main" val="2470876605"/>
                    </a:ext>
                  </a:extLst>
                </a:gridCol>
                <a:gridCol w="1107904">
                  <a:extLst>
                    <a:ext uri="{9D8B030D-6E8A-4147-A177-3AD203B41FA5}">
                      <a16:colId xmlns:a16="http://schemas.microsoft.com/office/drawing/2014/main" val="332927701"/>
                    </a:ext>
                  </a:extLst>
                </a:gridCol>
                <a:gridCol w="802275">
                  <a:extLst>
                    <a:ext uri="{9D8B030D-6E8A-4147-A177-3AD203B41FA5}">
                      <a16:colId xmlns:a16="http://schemas.microsoft.com/office/drawing/2014/main" val="3524551237"/>
                    </a:ext>
                  </a:extLst>
                </a:gridCol>
                <a:gridCol w="802275">
                  <a:extLst>
                    <a:ext uri="{9D8B030D-6E8A-4147-A177-3AD203B41FA5}">
                      <a16:colId xmlns:a16="http://schemas.microsoft.com/office/drawing/2014/main" val="50446034"/>
                    </a:ext>
                  </a:extLst>
                </a:gridCol>
              </a:tblGrid>
              <a:tr h="19691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</a:t>
                      </a:r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YTD</a:t>
                      </a:r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风场发电利润比较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7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零碳</a:t>
                      </a:r>
                      <a:r>
                        <a:rPr lang="en-US" altLang="zh-C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7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零碳</a:t>
                      </a:r>
                      <a:r>
                        <a:rPr lang="en-US" altLang="zh-CN" sz="10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46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7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285791"/>
                  </a:ext>
                </a:extLst>
              </a:tr>
              <a:tr h="19691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单位：万元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7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1-12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月实际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1-12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月预算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1-12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月实际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1-12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月预算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7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274904"/>
                  </a:ext>
                </a:extLst>
              </a:tr>
              <a:tr h="196911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电量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容量（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8133212"/>
                  </a:ext>
                </a:extLst>
              </a:tr>
              <a:tr h="19691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发电量（万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KWh</a:t>
                      </a: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7,955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7,032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82,233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85,345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203926"/>
                  </a:ext>
                </a:extLst>
              </a:tr>
              <a:tr h="19691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折合小时数（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</a:t>
                      </a: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2,266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2,003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2,570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2,434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7347109"/>
                  </a:ext>
                </a:extLst>
              </a:tr>
              <a:tr h="19691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电价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综合电价（含税）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0.2183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0.2390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0.2253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0.2253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497579"/>
                  </a:ext>
                </a:extLst>
              </a:tr>
              <a:tr h="196911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考核前收入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1,537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1,487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17,820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17,019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017000"/>
                  </a:ext>
                </a:extLst>
              </a:tr>
              <a:tr h="19691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考核扣款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782382"/>
                  </a:ext>
                </a:extLst>
              </a:tr>
              <a:tr h="19691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sng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发电收入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sng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1,537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sng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1,487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</a:t>
                      </a:r>
                      <a:r>
                        <a:rPr lang="en-US" altLang="zh-C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392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sng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17,019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240249"/>
                  </a:ext>
                </a:extLst>
              </a:tr>
              <a:tr h="196911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折旧摊销费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5,077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5,122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239611"/>
                  </a:ext>
                </a:extLst>
              </a:tr>
              <a:tr h="19691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场站运维费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874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407378"/>
                  </a:ext>
                </a:extLst>
              </a:tr>
              <a:tr h="19691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风机运维费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083334"/>
                  </a:ext>
                </a:extLst>
              </a:tr>
              <a:tr h="19691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绿电交易费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796462"/>
                  </a:ext>
                </a:extLst>
              </a:tr>
              <a:tr h="19691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成本小计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741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778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5,562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5,996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859858"/>
                  </a:ext>
                </a:extLst>
              </a:tr>
              <a:tr h="19691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毛利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6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796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709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12,258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11,023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073723"/>
                  </a:ext>
                </a:extLst>
              </a:tr>
              <a:tr h="196911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费用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管理费用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7094934"/>
                  </a:ext>
                </a:extLst>
              </a:tr>
              <a:tr h="19691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财务费用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4,706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5,543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8307281"/>
                  </a:ext>
                </a:extLst>
              </a:tr>
              <a:tr h="19691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营业税金及附加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2994062"/>
                  </a:ext>
                </a:extLst>
              </a:tr>
              <a:tr h="19691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费用小计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536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522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4,811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5,586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715068"/>
                  </a:ext>
                </a:extLst>
              </a:tr>
              <a:tr h="19691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其他收益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其他收益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-628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619524"/>
                  </a:ext>
                </a:extLst>
              </a:tr>
              <a:tr h="19691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税前利润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6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6,819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5,436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291888"/>
                  </a:ext>
                </a:extLst>
              </a:tr>
              <a:tr h="19691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所得税费用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331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642537"/>
                  </a:ext>
                </a:extLst>
              </a:tr>
              <a:tr h="19691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净利润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-71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6,819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5,436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945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0481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VCG41N1370099955拷贝.jpg" descr="VCG41N1370099955拷贝.jpg">
            <a:extLst>
              <a:ext uri="{FF2B5EF4-FFF2-40B4-BE49-F238E27FC236}">
                <a16:creationId xmlns:a16="http://schemas.microsoft.com/office/drawing/2014/main" id="{EE5885DC-8F27-C1E6-5D0C-1722E4028C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9" r="247" b="11865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50833527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F7F13ED71D259C48A7BACAB414774E87" ma:contentTypeVersion="11" ma:contentTypeDescription="新建文档。" ma:contentTypeScope="" ma:versionID="ab5933d32303d6e3f3cab7bbdd5065d6">
  <xsd:schema xmlns:xsd="http://www.w3.org/2001/XMLSchema" xmlns:xs="http://www.w3.org/2001/XMLSchema" xmlns:p="http://schemas.microsoft.com/office/2006/metadata/properties" xmlns:ns2="de0a9116-9a10-449b-91e5-80ae821da3d9" xmlns:ns3="deefa2ec-1c52-497f-ab51-03e63b072cc1" targetNamespace="http://schemas.microsoft.com/office/2006/metadata/properties" ma:root="true" ma:fieldsID="a9f2943d7990d265a4efcbc154ca9c6d" ns2:_="" ns3:_="">
    <xsd:import namespace="de0a9116-9a10-449b-91e5-80ae821da3d9"/>
    <xsd:import namespace="deefa2ec-1c52-497f-ab51-03e63b072cc1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0a9116-9a10-449b-91e5-80ae821da3d9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图像标记" ma:readOnly="false" ma:fieldId="{5cf76f15-5ced-4ddc-b409-7134ff3c332f}" ma:taxonomyMulti="true" ma:sspId="c1edd845-7f0e-45a5-a31e-296826f11e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efa2ec-1c52-497f-ab51-03e63b072cc1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b2bd14a9-c3cb-4038-a99f-54cd850d5371}" ma:internalName="TaxCatchAll" ma:showField="CatchAllData" ma:web="deefa2ec-1c52-497f-ab51-03e63b072cc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eefa2ec-1c52-497f-ab51-03e63b072cc1" xsi:nil="true"/>
    <lcf76f155ced4ddcb4097134ff3c332f xmlns="de0a9116-9a10-449b-91e5-80ae821da3d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372C373-022A-43AC-A699-94BD05C5650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BDDBD79-787B-4264-A656-F86B7341FF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e0a9116-9a10-449b-91e5-80ae821da3d9"/>
    <ds:schemaRef ds:uri="deefa2ec-1c52-497f-ab51-03e63b072c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7ED17CB-36AA-4125-984A-2F90B163F844}">
  <ds:schemaRefs>
    <ds:schemaRef ds:uri="http://schemas.microsoft.com/office/2006/documentManagement/types"/>
    <ds:schemaRef ds:uri="de0a9116-9a10-449b-91e5-80ae821da3d9"/>
    <ds:schemaRef ds:uri="deefa2ec-1c52-497f-ab51-03e63b072cc1"/>
    <ds:schemaRef ds:uri="http://schemas.openxmlformats.org/package/2006/metadata/core-properties"/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29470</TotalTime>
  <Words>1204</Words>
  <Application>Microsoft Office PowerPoint</Application>
  <PresentationFormat>宽屏</PresentationFormat>
  <Paragraphs>489</Paragraphs>
  <Slides>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Noto Sans SC</vt:lpstr>
      <vt:lpstr>DengXian</vt:lpstr>
      <vt:lpstr>DengXian</vt:lpstr>
      <vt:lpstr>等线 Light</vt:lpstr>
      <vt:lpstr>微软雅黑</vt:lpstr>
      <vt:lpstr>Arial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Sharon Zhao</dc:creator>
  <cp:lastModifiedBy>Dipeng Chen</cp:lastModifiedBy>
  <cp:revision>437</cp:revision>
  <cp:lastPrinted>2025-04-18T02:21:58Z</cp:lastPrinted>
  <dcterms:created xsi:type="dcterms:W3CDTF">2024-10-17T01:53:48Z</dcterms:created>
  <dcterms:modified xsi:type="dcterms:W3CDTF">2026-05-23T10:32:44Z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0x010100F7F13ED71D259C48A7BACAB414774E87</vt:lpwstr>
  </property>
  <property fmtid="{D5CDD505-2E9C-101B-9397-08002B2CF9AE}" pid="3" name="MediaServiceImageTags">
    <vt:lpwstr/>
  </property>
</Properties>
</file>