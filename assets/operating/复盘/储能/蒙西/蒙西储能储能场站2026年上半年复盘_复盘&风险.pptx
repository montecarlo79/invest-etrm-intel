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1"/>
  </p:notesMasterIdLst>
  <p:sldIdLst>
    <p:sldId id="16772690" r:id="rId3"/>
    <p:sldId id="16772746" r:id="rId4"/>
    <p:sldId id="16775893" r:id="rId5"/>
    <p:sldId id="16775964" r:id="rId6"/>
    <p:sldId id="16775913" r:id="rId7"/>
    <p:sldId id="16775961" r:id="rId8"/>
    <p:sldId id="16775962" r:id="rId9"/>
    <p:sldId id="167759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7AD"/>
    <a:srgbClr val="8C5A3C"/>
    <a:srgbClr val="9B9EA2"/>
    <a:srgbClr val="BF6F8E"/>
    <a:srgbClr val="EAE1DB"/>
    <a:srgbClr val="C77620"/>
    <a:srgbClr val="1178C5"/>
    <a:srgbClr val="5B9BD5"/>
    <a:srgbClr val="5F5F5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CDD00-AD7B-4C5C-83C4-E4C430FE0B93}" v="2" dt="2026-07-06T10:03:16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58" autoAdjust="0"/>
  </p:normalViewPr>
  <p:slideViewPr>
    <p:cSldViewPr snapToGrid="0">
      <p:cViewPr varScale="1">
        <p:scale>
          <a:sx n="97" d="100"/>
          <a:sy n="97" d="100"/>
        </p:scale>
        <p:origin x="1074" y="7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eng Chen" userId="d8a16d2bbd887531" providerId="LiveId" clId="{6B6CDD00-AD7B-4C5C-83C4-E4C430FE0B93}"/>
    <pc:docChg chg="modSld">
      <pc:chgData name="Dipeng Chen" userId="d8a16d2bbd887531" providerId="LiveId" clId="{6B6CDD00-AD7B-4C5C-83C4-E4C430FE0B93}" dt="2026-07-06T10:03:16.067" v="3"/>
      <pc:docMkLst>
        <pc:docMk/>
      </pc:docMkLst>
      <pc:sldChg chg="modSp mod">
        <pc:chgData name="Dipeng Chen" userId="d8a16d2bbd887531" providerId="LiveId" clId="{6B6CDD00-AD7B-4C5C-83C4-E4C430FE0B93}" dt="2026-07-06T10:03:16.067" v="3"/>
        <pc:sldMkLst>
          <pc:docMk/>
          <pc:sldMk cId="1816583681" sldId="16775913"/>
        </pc:sldMkLst>
        <pc:spChg chg="mod">
          <ac:chgData name="Dipeng Chen" userId="d8a16d2bbd887531" providerId="LiveId" clId="{6B6CDD00-AD7B-4C5C-83C4-E4C430FE0B93}" dt="2026-07-06T10:03:16.067" v="3"/>
          <ac:spMkLst>
            <pc:docMk/>
            <pc:sldMk cId="1816583681" sldId="16775913"/>
            <ac:spMk id="4" creationId="{C2213748-7F7F-92B8-2C90-BEFFC4BED3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4EDD-08E7-4802-9E3E-629F646AB6D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EDD14-4813-44A5-894A-1090C6B240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267C-5D45-3FD7-BC69-6B12F886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38FAFB-6050-B95F-0B6D-3F718D17B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25C48D-B6B4-EE2D-745A-F6BD3B72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33C9EB-5DF1-C435-58E5-55CE939C4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37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D39B-0046-1D2F-7B02-65EBAD1A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6617D-AB15-34BA-6C47-D2CA2F35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1FC1EC-46E4-CE64-FD1B-22D9FA3CF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/>
              </a:rPr>
              <a:t>前</a:t>
            </a:r>
            <a:r>
              <a:rPr lang="en-US" altLang="zh-CN">
                <a:ea typeface="等线"/>
              </a:rPr>
              <a:t>10，和自己排名，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A4758-BA9A-167A-1F24-8BABBB1B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452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FD1A-982A-1DDF-77F8-FB803F9C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AF107E-A962-0F78-B83C-EE9788561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330683-1C21-D127-609A-5AEAB8F93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/>
              </a:rPr>
              <a:t>前</a:t>
            </a:r>
            <a:r>
              <a:rPr lang="en-US" altLang="zh-CN">
                <a:ea typeface="等线"/>
              </a:rPr>
              <a:t>10，和自己排名，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4DF8F-47DD-5EFB-FCB9-D60A404A3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096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5585-3FDA-5800-0B15-26360571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F39911-6BB6-18DA-AF8E-149F69B92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E6280F-5119-683F-A795-EBDDB445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AC45F-1B97-8464-3179-8E738398C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321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8B418-1003-586F-B1BC-F0CCE671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E55E3E-64BF-756D-99D8-F27DEDDDF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706090-F783-7C9D-7A63-B9B68EE6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3D4442-BCA4-4EA1-4B66-BF6611BE6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634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A2B3B-3640-4CCF-F6A4-5FF9ACA73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04C2A5-5D0D-368A-6425-8EE305788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5D3C48-B15B-1C3B-D6F4-9D6A9218F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9E177-C9CF-F3F9-8F4C-8A7903CAE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371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6DC9-6B5C-B5AE-34B8-6E9B4A03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F2E32D-1EDA-6BD8-FA76-1BCE48DFD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68657A-49C3-A582-D0FD-2D92B2D79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A0E6F-8FF9-3DBA-DF92-E62090F00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13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96CE-D536-4AE0-8FEC-6B7DDB73F5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739313" y="68263"/>
            <a:ext cx="2447925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文档密级：秘密</a:t>
            </a:r>
            <a:endParaRPr lang="en-US" altLang="zh-CN" sz="1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400">
                <a:cs typeface="Arial" panose="020B0604020202020204" pitchFamily="34" charset="0"/>
              </a:rPr>
              <a:t>Documentlevel:Confidential</a:t>
            </a:r>
            <a:endParaRPr lang="en-US" altLang="zh-CN" sz="1400"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12192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0938"/>
            <a:ext cx="12192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6259513"/>
            <a:ext cx="432435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146300" y="6224588"/>
            <a:ext cx="10045700" cy="67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未经明确授权，本文档禁止拷贝.截屏.拍摄及其他扩散行为，如有发现按违反远景信息安全红线处理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3AFFC-B7CC-A6B8-1F4E-FE5DC74DC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D0E9B0-BBD9-1D13-91AB-CEF44CA84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793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7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8374" y="1180800"/>
            <a:ext cx="11454525" cy="50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Content Level 1</a:t>
            </a:r>
          </a:p>
          <a:p>
            <a:pPr lvl="1"/>
            <a:r>
              <a:rPr kumimoji="1" lang="en-US" altLang="zh-CN"/>
              <a:t>Content Level 2</a:t>
            </a:r>
          </a:p>
          <a:p>
            <a:pPr lvl="1"/>
            <a:r>
              <a:rPr kumimoji="1" lang="en-US" altLang="zh-CN"/>
              <a:t>	Content Level 3</a:t>
            </a:r>
            <a:endParaRPr kumimoji="1"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318374" y="215901"/>
            <a:ext cx="11454525" cy="60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Page Title</a:t>
            </a:r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-4463" y="6414196"/>
            <a:ext cx="1804688" cy="443804"/>
          </a:xfrm>
          <a:prstGeom prst="rect">
            <a:avLst/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512" y="6478985"/>
            <a:ext cx="990739" cy="314227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1800224" y="6414196"/>
            <a:ext cx="10391776" cy="443804"/>
          </a:xfrm>
          <a:prstGeom prst="rect">
            <a:avLst/>
          </a:prstGeom>
          <a:solidFill>
            <a:srgbClr val="3C3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r"/>
            <a:endParaRPr kumimoji="1" lang="zh-CN" altLang="en-US" sz="1000"/>
          </a:p>
        </p:txBody>
      </p:sp>
      <p:sp>
        <p:nvSpPr>
          <p:cNvPr id="26" name="灯片编号占位符 6"/>
          <p:cNvSpPr txBox="1"/>
          <p:nvPr userDrawn="1"/>
        </p:nvSpPr>
        <p:spPr>
          <a:xfrm>
            <a:off x="6954715" y="6465713"/>
            <a:ext cx="5155659" cy="340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>
                <a:latin typeface="Calibri" panose="020F0502020204030204" pitchFamily="34" charset="0"/>
                <a:cs typeface="Calibri" panose="020F0502020204030204" pitchFamily="34" charset="0"/>
              </a:rPr>
              <a:t>© 2021 Envision Digital. All Rights Reserved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|Page</a:t>
            </a:r>
            <a:fld id="{CCD584DD-5604-4DED-B8D6-A28E3F71D8B2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283768" y="0"/>
            <a:ext cx="1073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1">
                <a:solidFill>
                  <a:srgbClr val="A3A5B3"/>
                </a:solidFill>
                <a:latin typeface="+mj-lt"/>
              </a:rPr>
              <a:t>Dark Theme Palette</a:t>
            </a:r>
            <a:endParaRPr lang="zh-CN" altLang="en-US" sz="1200" b="1">
              <a:solidFill>
                <a:srgbClr val="A3A5B3"/>
              </a:solidFill>
              <a:latin typeface="+mj-lt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368385" y="467912"/>
            <a:ext cx="432000" cy="432000"/>
          </a:xfrm>
          <a:prstGeom prst="rect">
            <a:avLst/>
          </a:prstGeom>
          <a:solidFill>
            <a:srgbClr val="19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2368385" y="972332"/>
            <a:ext cx="432000" cy="432000"/>
          </a:xfrm>
          <a:prstGeom prst="rect">
            <a:avLst/>
          </a:prstGeom>
          <a:solidFill>
            <a:srgbClr val="7F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2368385" y="1476752"/>
            <a:ext cx="432000" cy="432000"/>
          </a:xfrm>
          <a:prstGeom prst="rect">
            <a:avLst/>
          </a:prstGeom>
          <a:solidFill>
            <a:srgbClr val="09C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2377694" y="1981172"/>
            <a:ext cx="432000" cy="432000"/>
          </a:xfrm>
          <a:prstGeom prst="rect">
            <a:avLst/>
          </a:prstGeom>
          <a:solidFill>
            <a:srgbClr val="30C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12377694" y="2485592"/>
            <a:ext cx="432000" cy="432000"/>
          </a:xfrm>
          <a:prstGeom prst="rect">
            <a:avLst/>
          </a:prstGeom>
          <a:solidFill>
            <a:srgbClr val="F7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12377694" y="2990012"/>
            <a:ext cx="432000" cy="432000"/>
          </a:xfrm>
          <a:prstGeom prst="rect">
            <a:avLst/>
          </a:prstGeom>
          <a:solidFill>
            <a:srgbClr val="B86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2368385" y="3494432"/>
            <a:ext cx="432000" cy="432000"/>
          </a:xfrm>
          <a:prstGeom prst="rect">
            <a:avLst/>
          </a:prstGeom>
          <a:solidFill>
            <a:srgbClr val="9ED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12368385" y="3998852"/>
            <a:ext cx="432000" cy="432000"/>
          </a:xfrm>
          <a:prstGeom prst="rect">
            <a:avLst/>
          </a:prstGeom>
          <a:solidFill>
            <a:srgbClr val="FAA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12368385" y="4503272"/>
            <a:ext cx="432000" cy="432000"/>
          </a:xfrm>
          <a:prstGeom prst="rect">
            <a:avLst/>
          </a:prstGeom>
          <a:solidFill>
            <a:srgbClr val="F5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12368385" y="5007690"/>
            <a:ext cx="432000" cy="432000"/>
          </a:xfrm>
          <a:prstGeom prst="rect">
            <a:avLst/>
          </a:prstGeom>
          <a:solidFill>
            <a:srgbClr val="F66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12925695" y="467912"/>
            <a:ext cx="43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12925695" y="972332"/>
            <a:ext cx="432000" cy="432000"/>
          </a:xfrm>
          <a:prstGeom prst="rect">
            <a:avLst/>
          </a:prstGeom>
          <a:solidFill>
            <a:srgbClr val="F8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12925695" y="1476752"/>
            <a:ext cx="432000" cy="432000"/>
          </a:xfrm>
          <a:prstGeom prst="rect">
            <a:avLst/>
          </a:prstGeom>
          <a:solidFill>
            <a:srgbClr val="D6D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2925695" y="1988160"/>
            <a:ext cx="432000" cy="432000"/>
          </a:xfrm>
          <a:prstGeom prst="rect">
            <a:avLst/>
          </a:prstGeom>
          <a:solidFill>
            <a:srgbClr val="A3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12925695" y="2485592"/>
            <a:ext cx="432000" cy="432000"/>
          </a:xfrm>
          <a:prstGeom prst="rect">
            <a:avLst/>
          </a:prstGeom>
          <a:solidFill>
            <a:srgbClr val="767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12925695" y="2997000"/>
            <a:ext cx="432000" cy="432000"/>
          </a:xfrm>
          <a:prstGeom prst="rect">
            <a:avLst/>
          </a:prstGeom>
          <a:solidFill>
            <a:srgbClr val="3E3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13500" y="3788"/>
            <a:ext cx="8563234" cy="61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1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2000" b="1" kern="1200" baseline="0" dirty="0" smtClean="0">
          <a:solidFill>
            <a:srgbClr val="F8F6FB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rgbClr val="F8F5FB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D6D9D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>
            <a:extLst>
              <a:ext uri="{FF2B5EF4-FFF2-40B4-BE49-F238E27FC236}">
                <a16:creationId xmlns:a16="http://schemas.microsoft.com/office/drawing/2014/main" id="{EE5885DC-8F27-C1E6-5D0C-1722E402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4063F7-E86C-6FCA-75E3-7CB1C5C3E09C}"/>
              </a:ext>
            </a:extLst>
          </p:cNvPr>
          <p:cNvSpPr txBox="1"/>
          <p:nvPr/>
        </p:nvSpPr>
        <p:spPr>
          <a:xfrm>
            <a:off x="1299028" y="2844225"/>
            <a:ext cx="9593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年上半年蒙西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储能场站运营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复盘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BA996-9EB9-453D-8E5D-8DE83D9C36A1}"/>
              </a:ext>
            </a:extLst>
          </p:cNvPr>
          <p:cNvSpPr txBox="1"/>
          <p:nvPr/>
        </p:nvSpPr>
        <p:spPr>
          <a:xfrm>
            <a:off x="1299028" y="3994029"/>
            <a:ext cx="959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2026.7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83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1A0F-F0FA-6FE7-DCE8-92FFF74C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408ECA02-B288-1B6D-DA67-BE071AAC274A}"/>
              </a:ext>
            </a:extLst>
          </p:cNvPr>
          <p:cNvSpPr txBox="1"/>
          <p:nvPr/>
        </p:nvSpPr>
        <p:spPr>
          <a:xfrm>
            <a:off x="75001" y="5737413"/>
            <a:ext cx="9439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</a:t>
            </a:r>
            <a:r>
              <a:rPr kumimoji="0" lang="zh-CN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数据来源皆为每月月度电网结算单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BA9953-F84E-7204-80D6-1BCC45B968B4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3540AA-68C1-8FB5-142F-06E4F0030D36}"/>
              </a:ext>
            </a:extLst>
          </p:cNvPr>
          <p:cNvSpPr txBox="1"/>
          <p:nvPr/>
        </p:nvSpPr>
        <p:spPr>
          <a:xfrm>
            <a:off x="126998" y="102938"/>
            <a:ext cx="938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蒙西储能运营半年收益总览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6D6A49-B7D5-DC3A-9397-43E46320B2A0}"/>
              </a:ext>
            </a:extLst>
          </p:cNvPr>
          <p:cNvSpPr txBox="1"/>
          <p:nvPr/>
        </p:nvSpPr>
        <p:spPr>
          <a:xfrm>
            <a:off x="126998" y="813816"/>
            <a:ext cx="11668761" cy="4946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1A6B5-EC8D-3282-3822-184802BE4C11}"/>
              </a:ext>
            </a:extLst>
          </p:cNvPr>
          <p:cNvSpPr txBox="1"/>
          <p:nvPr/>
        </p:nvSpPr>
        <p:spPr>
          <a:xfrm>
            <a:off x="201168" y="889754"/>
            <a:ext cx="503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1-5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月各场站实际收益情况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F6E2FAF-3BCE-5D30-542F-FF747FB20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99281"/>
              </p:ext>
            </p:extLst>
          </p:nvPr>
        </p:nvGraphicFramePr>
        <p:xfrm>
          <a:off x="268941" y="1299083"/>
          <a:ext cx="10393545" cy="413189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82588">
                  <a:extLst>
                    <a:ext uri="{9D8B030D-6E8A-4147-A177-3AD203B41FA5}">
                      <a16:colId xmlns:a16="http://schemas.microsoft.com/office/drawing/2014/main" val="3449352912"/>
                    </a:ext>
                  </a:extLst>
                </a:gridCol>
                <a:gridCol w="905436">
                  <a:extLst>
                    <a:ext uri="{9D8B030D-6E8A-4147-A177-3AD203B41FA5}">
                      <a16:colId xmlns:a16="http://schemas.microsoft.com/office/drawing/2014/main" val="667949120"/>
                    </a:ext>
                  </a:extLst>
                </a:gridCol>
                <a:gridCol w="1479176">
                  <a:extLst>
                    <a:ext uri="{9D8B030D-6E8A-4147-A177-3AD203B41FA5}">
                      <a16:colId xmlns:a16="http://schemas.microsoft.com/office/drawing/2014/main" val="1643557065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3696247848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2489073120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1402428963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2082754537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587217622"/>
                    </a:ext>
                  </a:extLst>
                </a:gridCol>
              </a:tblGrid>
              <a:tr h="452696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储能资产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收益与预期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收益明细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6239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实际收益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全年预期</a:t>
                      </a:r>
                      <a:endParaRPr lang="en-US" altLang="zh-CN" sz="11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现货市场收益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容量补贴收益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日均充电次数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度电成本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341620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1GW/4GWh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24333</a:t>
                      </a:r>
                      <a:r>
                        <a:rPr lang="zh-CN" altLang="en-US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6281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116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5997713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100MW/400MWh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2483/6000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41.4%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610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117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360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1.19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868411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0.5GW/2GWh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康富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长沙橙电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11246/29000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38.8%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2718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110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1.11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6875092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100MW/400MWh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2543/6000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42.4%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679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122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349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1.20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6243707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100MW/400MWh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2404/6000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40.1%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434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88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361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1.23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8322354"/>
                  </a:ext>
                </a:extLst>
              </a:tr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100MW/400MWh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1859/6000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kumimoji="0" lang="en-US" altLang="zh-C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31.0%</a:t>
                      </a:r>
                      <a:endParaRPr kumimoji="0" lang="zh-CN" alt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378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1.15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11822517"/>
                  </a:ext>
                </a:extLst>
              </a:tr>
              <a:tr h="452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100MW/400MWh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康富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（上海富鸿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2751/6000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kumimoji="0" lang="en-US" altLang="zh-C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45.9%</a:t>
                      </a:r>
                      <a:endParaRPr kumimoji="0" lang="zh-CN" alt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668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359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1.32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0.044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961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19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C918-891C-C689-0336-6D4B8710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5CEBC0-8DF4-FE63-6BC5-41819095E81F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5EA343-3544-9BD5-DDB6-2A6689421E88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蒙西储能运营半年收益排名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B868FA-F2DE-5F26-409A-719D8686DB4A}"/>
              </a:ext>
            </a:extLst>
          </p:cNvPr>
          <p:cNvSpPr txBox="1"/>
          <p:nvPr/>
        </p:nvSpPr>
        <p:spPr>
          <a:xfrm>
            <a:off x="6603509" y="714795"/>
            <a:ext cx="3607470" cy="54284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洗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DOD-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日出清收益排名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F65592-6DE9-26F1-B8E4-D01EC62D3B48}"/>
              </a:ext>
            </a:extLst>
          </p:cNvPr>
          <p:cNvSpPr txBox="1"/>
          <p:nvPr/>
        </p:nvSpPr>
        <p:spPr>
          <a:xfrm>
            <a:off x="1837944" y="714796"/>
            <a:ext cx="3607470" cy="5560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日均出清收益排名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E2FA861-B1F4-5A7D-EFCF-C7B01B6EA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19916"/>
              </p:ext>
            </p:extLst>
          </p:nvPr>
        </p:nvGraphicFramePr>
        <p:xfrm>
          <a:off x="2240400" y="1287360"/>
          <a:ext cx="2615064" cy="43373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42880">
                  <a:extLst>
                    <a:ext uri="{9D8B030D-6E8A-4147-A177-3AD203B41FA5}">
                      <a16:colId xmlns:a16="http://schemas.microsoft.com/office/drawing/2014/main" val="1974018757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801994726"/>
                    </a:ext>
                  </a:extLst>
                </a:gridCol>
              </a:tblGrid>
              <a:tr h="686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365612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1330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718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06194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52756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223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1761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27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8D9B129-7270-5369-ABF7-C7C53F843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13383"/>
              </p:ext>
            </p:extLst>
          </p:nvPr>
        </p:nvGraphicFramePr>
        <p:xfrm>
          <a:off x="7099712" y="1298029"/>
          <a:ext cx="2615064" cy="43373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42880">
                  <a:extLst>
                    <a:ext uri="{9D8B030D-6E8A-4147-A177-3AD203B41FA5}">
                      <a16:colId xmlns:a16="http://schemas.microsoft.com/office/drawing/2014/main" val="1974018757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801994726"/>
                    </a:ext>
                  </a:extLst>
                </a:gridCol>
              </a:tblGrid>
              <a:tr h="686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365612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1330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718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06194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52756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223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1761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85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3DA0-3043-FBF2-8BDA-6BF7AB92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E1EF0B-C99B-7C00-CAC0-CD16C6DEEC6E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F21AF4-3668-9963-7017-A765890E0277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蒙西储能运营最佳收益月份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149D27-4DA4-66D5-1C95-8DCFA10A4ECC}"/>
              </a:ext>
            </a:extLst>
          </p:cNvPr>
          <p:cNvSpPr txBox="1"/>
          <p:nvPr/>
        </p:nvSpPr>
        <p:spPr>
          <a:xfrm>
            <a:off x="6603509" y="714795"/>
            <a:ext cx="3607470" cy="54284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洗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DOD-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出清收益排名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89FFCB-17C5-850F-7D9D-EC5B866E08D9}"/>
              </a:ext>
            </a:extLst>
          </p:cNvPr>
          <p:cNvSpPr txBox="1"/>
          <p:nvPr/>
        </p:nvSpPr>
        <p:spPr>
          <a:xfrm>
            <a:off x="1837944" y="714796"/>
            <a:ext cx="3607470" cy="5560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均出清收益排名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9161CA0-56B5-584A-BFE2-ABB0D3A35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53024"/>
              </p:ext>
            </p:extLst>
          </p:nvPr>
        </p:nvGraphicFramePr>
        <p:xfrm>
          <a:off x="2240400" y="1287360"/>
          <a:ext cx="2615064" cy="43373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42880">
                  <a:extLst>
                    <a:ext uri="{9D8B030D-6E8A-4147-A177-3AD203B41FA5}">
                      <a16:colId xmlns:a16="http://schemas.microsoft.com/office/drawing/2014/main" val="1974018757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801994726"/>
                    </a:ext>
                  </a:extLst>
                </a:gridCol>
              </a:tblGrid>
              <a:tr h="686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365612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1330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718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06194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52756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223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1761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27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9AA233-5856-76D0-1160-2D87894A2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59904"/>
              </p:ext>
            </p:extLst>
          </p:nvPr>
        </p:nvGraphicFramePr>
        <p:xfrm>
          <a:off x="7099712" y="1298029"/>
          <a:ext cx="2615064" cy="43373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42880">
                  <a:extLst>
                    <a:ext uri="{9D8B030D-6E8A-4147-A177-3AD203B41FA5}">
                      <a16:colId xmlns:a16="http://schemas.microsoft.com/office/drawing/2014/main" val="1974018757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801994726"/>
                    </a:ext>
                  </a:extLst>
                </a:gridCol>
              </a:tblGrid>
              <a:tr h="686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en-US" alt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365612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1330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718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06194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52756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2235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17611"/>
                  </a:ext>
                </a:extLst>
              </a:tr>
              <a:tr h="521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26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FF1A-0DF5-8CAA-C3E7-72C7C9A2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515BECB-E828-6272-1A26-E0024329146D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5ED87C-EAEF-6290-DE06-B6FDB9146474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储能交易风险及挑战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213748-7F7F-92B8-2C90-BEFFC4BED353}"/>
              </a:ext>
            </a:extLst>
          </p:cNvPr>
          <p:cNvSpPr txBox="1"/>
          <p:nvPr/>
        </p:nvSpPr>
        <p:spPr>
          <a:xfrm>
            <a:off x="126998" y="574177"/>
            <a:ext cx="11624232" cy="535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容量补贴政策的延续性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当前蒙西容量补贴政策与国家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114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号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容量补贴政策指导方向不符，包括补贴方式和资金来源。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存在政策转向或变化的风险，例如与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号文补贴方式并轨、进一步降低补贴充放循环次数等（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次）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若储能装机容量进一步扩大，将拉低用电高峰时段价格，降低现货市场峰谷价差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年较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年现货峰谷差大幅下降，随着储能并网规模进一步扩大，现货价差将被进一步缩小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断面阻塞影响呼包东区域地区，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价差较小，晚间放电校核严重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苏右、四子王旗场站，受阻塞影响中午橙色区间充电价格较高，晚高峰受旗下营变电站送出越限影响，频繁被调度校核无法放电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交易规则的变化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由“报量不报价” 的自调度模式，改为“报量报价” 的模式，可能造成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价差、负价差无法充放，降低循环此时，影响补贴的获取，影响储能收益获取</a:t>
            </a:r>
            <a:r>
              <a:rPr lang="en-US" altLang="zh-CN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58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906C-EE20-6072-9B03-1C9B37CD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49A43D-BE2F-26E3-C92C-889DB573CFC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52E73-AB34-4E4C-6D9A-ED5B79FD623D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储能交易风险及挑战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E22632-CA9D-05F5-3BEE-23832F8F5437}"/>
              </a:ext>
            </a:extLst>
          </p:cNvPr>
          <p:cNvSpPr txBox="1"/>
          <p:nvPr/>
        </p:nvSpPr>
        <p:spPr>
          <a:xfrm>
            <a:off x="126998" y="593865"/>
            <a:ext cx="11624232" cy="535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巴盟等大功率储能充放行为将扭曲价格。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表现为其充电价格上升、放电价格下降，在早上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次充放中极易出现充放价格倒挂。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传统价格预测失真。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蒙西当前储能充放功率达到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10GW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，对应约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10-30GW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的竞价空间（供需关系）将产生非常大的影响，只有考虑储能充放行为才能进行准确预判价格趋势，即数值预测变成行为预测。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断面阻塞影响呼包东区域地区收益。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表现为捕获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价差较小（小风季中午橙区、晚间红区价格倒挂）；调度校核严重，晚间由于区域某节点（旗下营）变电站送出受限，放电校核严重，苏右、四子王单月放电校核比例能达到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15-20%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场站接入节点物理受限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谷山梁变电站放电送出受限，目前放电功率降为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400MW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，超额放电有出发惩罚价格风险（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-50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/MWh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）；降功率后，可能造成放电时长不足影响补贴获取、捕获价差减低等情况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259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05D6-2539-746D-3662-7D505AC5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DF6049-11E5-1174-1ABC-424B35820C0D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DE9941-4622-35F5-EF0A-9496BCAA20FB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储能交易风险及挑战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C38F51-0A4C-1B1C-DE2E-FC32616F0F1D}"/>
              </a:ext>
            </a:extLst>
          </p:cNvPr>
          <p:cNvSpPr txBox="1"/>
          <p:nvPr/>
        </p:nvSpPr>
        <p:spPr>
          <a:xfrm>
            <a:off x="126998" y="593865"/>
            <a:ext cx="11624232" cy="2721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申报时间紧张。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电网每天“红绿灯”约束在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8:30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分发布，但要求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9:30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分完成申报。场站在调度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OMS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系统的填报时间小储约为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10-15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分钟，巴盟、谷山梁在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分钟以上（逐母线申报，巴盟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条、谷山梁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条）。因此，交易员从获取边界到完成策略的时间仅有不到半小时的时间，需完成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个场站的策略编制</a:t>
            </a:r>
          </a:p>
          <a:p>
            <a:pPr>
              <a:lnSpc>
                <a:spcPct val="150000"/>
              </a:lnSpc>
              <a:defRPr/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68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AB83-697E-24D7-B95B-CA9836AC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915770-4AA8-4CC9-DCA9-9F6F996F708C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331EEE-273E-E010-54C1-B723F590EB96}"/>
              </a:ext>
            </a:extLst>
          </p:cNvPr>
          <p:cNvSpPr txBox="1"/>
          <p:nvPr/>
        </p:nvSpPr>
        <p:spPr>
          <a:xfrm>
            <a:off x="126998" y="102938"/>
            <a:ext cx="105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储能交易风险及挑战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702AE-4348-E6A3-76BB-B0246105CEE3}"/>
              </a:ext>
            </a:extLst>
          </p:cNvPr>
          <p:cNvSpPr txBox="1"/>
          <p:nvPr/>
        </p:nvSpPr>
        <p:spPr>
          <a:xfrm>
            <a:off x="126998" y="542426"/>
            <a:ext cx="11624232" cy="567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应对措施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流程及工作机制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组建专职储能交易团队，通过统一策略会提高申报效率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开展日、周、月多维度复盘，监控每日现货价格，总结全网储能充放行为，监控运行状态和收益，通过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PDCA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循环提升交易水平，实现风险管控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交易策略上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降低大功率储能实际充放功率，寻求与小储配合或措峰充放，以降低对竞价空间及价格影响。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采用留电策略，降低与其他项目集中放电造成的价格畸变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技术算法能力提升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能力，建立考虑全网储能充放行为的价格预测能力，以及储能策略自动化生成工具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加强与属地电网、交易中心及相关管理部门交流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积极了解电网规则、政策动向，常态化沟通策略和校核规律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37138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vision Digital - Dark">
  <a:themeElements>
    <a:clrScheme name="EnOS">
      <a:dk1>
        <a:sysClr val="windowText" lastClr="000000"/>
      </a:dk1>
      <a:lt1>
        <a:sysClr val="window" lastClr="FFFFFF"/>
      </a:lt1>
      <a:dk2>
        <a:srgbClr val="00293A"/>
      </a:dk2>
      <a:lt2>
        <a:srgbClr val="E7E6E6"/>
      </a:lt2>
      <a:accent1>
        <a:srgbClr val="4CA8FF"/>
      </a:accent1>
      <a:accent2>
        <a:srgbClr val="01CB90"/>
      </a:accent2>
      <a:accent3>
        <a:srgbClr val="DE5145"/>
      </a:accent3>
      <a:accent4>
        <a:srgbClr val="FFC000"/>
      </a:accent4>
      <a:accent5>
        <a:srgbClr val="964FFF"/>
      </a:accent5>
      <a:accent6>
        <a:srgbClr val="DF397F"/>
      </a:accent6>
      <a:hlink>
        <a:srgbClr val="4CA8FF"/>
      </a:hlink>
      <a:folHlink>
        <a:srgbClr val="A5A5A5"/>
      </a:folHlink>
    </a:clrScheme>
    <a:fontScheme name="n5nw3kz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1132</Words>
  <Application>Microsoft Office PowerPoint</Application>
  <PresentationFormat>宽屏</PresentationFormat>
  <Paragraphs>205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等线</vt:lpstr>
      <vt:lpstr>等线</vt:lpstr>
      <vt:lpstr>微软雅黑</vt:lpstr>
      <vt:lpstr>微软雅黑 Light</vt:lpstr>
      <vt:lpstr>Aptos</vt:lpstr>
      <vt:lpstr>Arial</vt:lpstr>
      <vt:lpstr>Calibri</vt:lpstr>
      <vt:lpstr>Wingdings</vt:lpstr>
      <vt:lpstr>3_Office 主题</vt:lpstr>
      <vt:lpstr>Envision Digital - Dark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Song</dc:creator>
  <cp:lastModifiedBy>Dipeng Chen</cp:lastModifiedBy>
  <cp:revision>6</cp:revision>
  <dcterms:created xsi:type="dcterms:W3CDTF">2025-05-13T07:57:00Z</dcterms:created>
  <dcterms:modified xsi:type="dcterms:W3CDTF">2026-07-06T10:03:25Z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52D698BB38E341ABAC45084D687B7123_13</vt:lpwstr>
  </property>
  <property fmtid="{D5CDD505-2E9C-101B-9397-08002B2CF9AE}" pid="3" name="KSOProductBuildVer">
    <vt:lpwstr>2052-12.1.0.20305</vt:lpwstr>
  </property>
</Properties>
</file>