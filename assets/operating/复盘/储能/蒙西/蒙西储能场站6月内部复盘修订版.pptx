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23"/>
  </p:notesMasterIdLst>
  <p:sldIdLst>
    <p:sldId id="16772690" r:id="rId3"/>
    <p:sldId id="16775952" r:id="rId4"/>
    <p:sldId id="16775953" r:id="rId5"/>
    <p:sldId id="16775963" r:id="rId6"/>
    <p:sldId id="16775964" r:id="rId7"/>
    <p:sldId id="16775970" r:id="rId8"/>
    <p:sldId id="16775960" r:id="rId9"/>
    <p:sldId id="16775968" r:id="rId10"/>
    <p:sldId id="16775961" r:id="rId11"/>
    <p:sldId id="16775965" r:id="rId12"/>
    <p:sldId id="16775962" r:id="rId13"/>
    <p:sldId id="16775966" r:id="rId14"/>
    <p:sldId id="16775972" r:id="rId15"/>
    <p:sldId id="16775973" r:id="rId16"/>
    <p:sldId id="16775959" r:id="rId17"/>
    <p:sldId id="16775974" r:id="rId18"/>
    <p:sldId id="16772752" r:id="rId19"/>
    <p:sldId id="16775975" r:id="rId20"/>
    <p:sldId id="16772731" r:id="rId21"/>
    <p:sldId id="1677590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106510E-A83A-4C65-9D54-E34780A9DDB5}">
          <p14:sldIdLst>
            <p14:sldId id="16772690"/>
            <p14:sldId id="16775952"/>
            <p14:sldId id="16775953"/>
            <p14:sldId id="16775963"/>
            <p14:sldId id="16775964"/>
            <p14:sldId id="16775970"/>
          </p14:sldIdLst>
        </p14:section>
        <p14:section name="市场环境" id="{48A1BE95-3CEE-4304-A741-546A7AA94F97}">
          <p14:sldIdLst>
            <p14:sldId id="16775960"/>
            <p14:sldId id="16775968"/>
            <p14:sldId id="16775961"/>
            <p14:sldId id="16775965"/>
          </p14:sldIdLst>
        </p14:section>
        <p14:section name="策略与竞争" id="{5588AE6D-4643-4601-9425-B52CBA002C99}">
          <p14:sldIdLst>
            <p14:sldId id="16775962"/>
            <p14:sldId id="16775966"/>
            <p14:sldId id="16775972"/>
            <p14:sldId id="16775973"/>
            <p14:sldId id="16775959"/>
            <p14:sldId id="16775974"/>
          </p14:sldIdLst>
        </p14:section>
        <p14:section name="优化及应对措施" id="{B7EA5D60-EFC9-49C2-82FF-07D582D74D04}">
          <p14:sldIdLst>
            <p14:sldId id="16772752"/>
            <p14:sldId id="16775975"/>
          </p14:sldIdLst>
        </p14:section>
        <p14:section name="backup" id="{ADA1A3B3-49D6-4874-A7CB-02635A2E191B}">
          <p14:sldIdLst>
            <p14:sldId id="16772731"/>
            <p14:sldId id="167759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6F8E"/>
    <a:srgbClr val="D99694"/>
    <a:srgbClr val="8064A2"/>
    <a:srgbClr val="9BBB59"/>
    <a:srgbClr val="7B97AD"/>
    <a:srgbClr val="8C5A3C"/>
    <a:srgbClr val="9B9EA2"/>
    <a:srgbClr val="EAE1DB"/>
    <a:srgbClr val="C77620"/>
    <a:srgbClr val="117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72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You" userId="81ee67ff-e6ba-436d-99fd-0a8de86a4bf9" providerId="ADAL" clId="{ECE8191B-FCDA-47B3-ABAC-3E8255FF6FCF}"/>
    <pc:docChg chg="modSld">
      <pc:chgData name="Yang You" userId="81ee67ff-e6ba-436d-99fd-0a8de86a4bf9" providerId="ADAL" clId="{ECE8191B-FCDA-47B3-ABAC-3E8255FF6FCF}" dt="2026-09-02T02:33:53.613" v="0" actId="207"/>
      <pc:docMkLst>
        <pc:docMk/>
      </pc:docMkLst>
      <pc:sldChg chg="modSp mod">
        <pc:chgData name="Yang You" userId="81ee67ff-e6ba-436d-99fd-0a8de86a4bf9" providerId="ADAL" clId="{ECE8191B-FCDA-47B3-ABAC-3E8255FF6FCF}" dt="2026-09-02T02:33:53.613" v="0" actId="207"/>
        <pc:sldMkLst>
          <pc:docMk/>
          <pc:sldMk cId="0" sldId="16775962"/>
        </pc:sldMkLst>
        <pc:spChg chg="mod">
          <ac:chgData name="Yang You" userId="81ee67ff-e6ba-436d-99fd-0a8de86a4bf9" providerId="ADAL" clId="{ECE8191B-FCDA-47B3-ABAC-3E8255FF6FCF}" dt="2026-09-02T02:33:53.613" v="0" actId="207"/>
          <ac:spMkLst>
            <pc:docMk/>
            <pc:sldMk cId="0" sldId="16775962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ng.you1\PyCharmMiscProject\&#33945;&#35199;&#20132;&#26131;\&#22797;&#30424;&#24037;&#20855;\&#20986;&#28165;&#24773;&#20917;&#25968;&#25454;&#25972;&#29702;\&#20986;&#28165;&#26085;&#25253;\2026-06-29&#20986;&#28165;&#32467;&#26524;&#20998;&#26512;&#26085;&#25253;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arlotte.qi\Desktop\5&#26376;&#22797;&#30424;\05.01-06.01&#21333;&#27425;&#24490;&#29615;&#25910;&#30410;&#20998;&#26512;&#34920;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6</a:t>
            </a:r>
            <a:r>
              <a:rPr lang="zh-CN" altLang="en-US"/>
              <a:t>月分时均价</a:t>
            </a:r>
            <a:endParaRPr 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Sheet2!$A$2</c:f>
              <c:strCache>
                <c:ptCount val="1"/>
                <c:pt idx="0">
                  <c:v>富景五虎山储能电站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Sheet2!$B$1:$CS$1</c:f>
              <c:numCache>
                <c:formatCode>h:mm</c:formatCode>
                <c:ptCount val="96"/>
                <c:pt idx="0">
                  <c:v>1.0416666666666666E-2</c:v>
                </c:pt>
                <c:pt idx="1">
                  <c:v>2.0833333333333332E-2</c:v>
                </c:pt>
                <c:pt idx="2">
                  <c:v>3.125E-2</c:v>
                </c:pt>
                <c:pt idx="3">
                  <c:v>4.1666666666666699E-2</c:v>
                </c:pt>
                <c:pt idx="4">
                  <c:v>5.2083333333333398E-2</c:v>
                </c:pt>
                <c:pt idx="5">
                  <c:v>6.25E-2</c:v>
                </c:pt>
                <c:pt idx="6">
                  <c:v>7.2916666666666699E-2</c:v>
                </c:pt>
                <c:pt idx="7">
                  <c:v>8.3333333333333398E-2</c:v>
                </c:pt>
                <c:pt idx="8">
                  <c:v>9.375E-2</c:v>
                </c:pt>
                <c:pt idx="9">
                  <c:v>0.104166666666667</c:v>
                </c:pt>
                <c:pt idx="10">
                  <c:v>0.11458333333333399</c:v>
                </c:pt>
                <c:pt idx="11">
                  <c:v>0.125</c:v>
                </c:pt>
                <c:pt idx="12">
                  <c:v>0.13541666666666699</c:v>
                </c:pt>
                <c:pt idx="13">
                  <c:v>0.14583333333333401</c:v>
                </c:pt>
                <c:pt idx="14">
                  <c:v>0.15625</c:v>
                </c:pt>
                <c:pt idx="15">
                  <c:v>0.16666666666666699</c:v>
                </c:pt>
                <c:pt idx="16">
                  <c:v>0.17708333333333401</c:v>
                </c:pt>
                <c:pt idx="17">
                  <c:v>0.1875</c:v>
                </c:pt>
                <c:pt idx="18">
                  <c:v>0.19791666666666699</c:v>
                </c:pt>
                <c:pt idx="19">
                  <c:v>0.20833333333333401</c:v>
                </c:pt>
                <c:pt idx="20">
                  <c:v>0.21875</c:v>
                </c:pt>
                <c:pt idx="21">
                  <c:v>0.22916666666666699</c:v>
                </c:pt>
                <c:pt idx="22">
                  <c:v>0.23958333333333401</c:v>
                </c:pt>
                <c:pt idx="23">
                  <c:v>0.25</c:v>
                </c:pt>
                <c:pt idx="24">
                  <c:v>0.26041666666666702</c:v>
                </c:pt>
                <c:pt idx="25">
                  <c:v>0.27083333333333398</c:v>
                </c:pt>
                <c:pt idx="26">
                  <c:v>0.28125</c:v>
                </c:pt>
                <c:pt idx="27">
                  <c:v>0.29166666666666702</c:v>
                </c:pt>
                <c:pt idx="28">
                  <c:v>0.30208333333333398</c:v>
                </c:pt>
                <c:pt idx="29">
                  <c:v>0.3125</c:v>
                </c:pt>
                <c:pt idx="30">
                  <c:v>0.32291666666666702</c:v>
                </c:pt>
                <c:pt idx="31">
                  <c:v>0.33333333333333398</c:v>
                </c:pt>
                <c:pt idx="32">
                  <c:v>0.34375</c:v>
                </c:pt>
                <c:pt idx="33">
                  <c:v>0.35416666666666702</c:v>
                </c:pt>
                <c:pt idx="34">
                  <c:v>0.36458333333333398</c:v>
                </c:pt>
                <c:pt idx="35">
                  <c:v>0.375</c:v>
                </c:pt>
                <c:pt idx="36">
                  <c:v>0.38541666666666702</c:v>
                </c:pt>
                <c:pt idx="37">
                  <c:v>0.39583333333333398</c:v>
                </c:pt>
                <c:pt idx="38">
                  <c:v>0.40625</c:v>
                </c:pt>
                <c:pt idx="39">
                  <c:v>0.41666666666666702</c:v>
                </c:pt>
                <c:pt idx="40">
                  <c:v>0.42708333333333398</c:v>
                </c:pt>
                <c:pt idx="41">
                  <c:v>0.4375</c:v>
                </c:pt>
                <c:pt idx="42">
                  <c:v>0.44791666666666702</c:v>
                </c:pt>
                <c:pt idx="43">
                  <c:v>0.45833333333333398</c:v>
                </c:pt>
                <c:pt idx="44">
                  <c:v>0.46875</c:v>
                </c:pt>
                <c:pt idx="45">
                  <c:v>0.47916666666666702</c:v>
                </c:pt>
                <c:pt idx="46">
                  <c:v>0.48958333333333398</c:v>
                </c:pt>
                <c:pt idx="47">
                  <c:v>0.5</c:v>
                </c:pt>
                <c:pt idx="48">
                  <c:v>0.51041666666666696</c:v>
                </c:pt>
                <c:pt idx="49">
                  <c:v>0.52083333333333404</c:v>
                </c:pt>
                <c:pt idx="50">
                  <c:v>0.53125</c:v>
                </c:pt>
                <c:pt idx="51">
                  <c:v>0.54166666666666696</c:v>
                </c:pt>
                <c:pt idx="52">
                  <c:v>0.55208333333333404</c:v>
                </c:pt>
                <c:pt idx="53">
                  <c:v>0.5625</c:v>
                </c:pt>
                <c:pt idx="54">
                  <c:v>0.57291666666666696</c:v>
                </c:pt>
                <c:pt idx="55">
                  <c:v>0.58333333333333404</c:v>
                </c:pt>
                <c:pt idx="56">
                  <c:v>0.59375</c:v>
                </c:pt>
                <c:pt idx="57">
                  <c:v>0.60416666666666696</c:v>
                </c:pt>
                <c:pt idx="58">
                  <c:v>0.61458333333333404</c:v>
                </c:pt>
                <c:pt idx="59">
                  <c:v>0.625</c:v>
                </c:pt>
                <c:pt idx="60">
                  <c:v>0.63541666666666696</c:v>
                </c:pt>
                <c:pt idx="61">
                  <c:v>0.64583333333333404</c:v>
                </c:pt>
                <c:pt idx="62">
                  <c:v>0.65625</c:v>
                </c:pt>
                <c:pt idx="63">
                  <c:v>0.66666666666666696</c:v>
                </c:pt>
                <c:pt idx="64">
                  <c:v>0.67708333333333404</c:v>
                </c:pt>
                <c:pt idx="65">
                  <c:v>0.6875</c:v>
                </c:pt>
                <c:pt idx="66">
                  <c:v>0.69791666666666696</c:v>
                </c:pt>
                <c:pt idx="67">
                  <c:v>0.70833333333333404</c:v>
                </c:pt>
                <c:pt idx="68">
                  <c:v>0.71875</c:v>
                </c:pt>
                <c:pt idx="69">
                  <c:v>0.72916666666666696</c:v>
                </c:pt>
                <c:pt idx="70">
                  <c:v>0.73958333333333404</c:v>
                </c:pt>
                <c:pt idx="71">
                  <c:v>0.75</c:v>
                </c:pt>
                <c:pt idx="72">
                  <c:v>0.76041666666666696</c:v>
                </c:pt>
                <c:pt idx="73">
                  <c:v>0.77083333333333404</c:v>
                </c:pt>
                <c:pt idx="74">
                  <c:v>0.78125</c:v>
                </c:pt>
                <c:pt idx="75">
                  <c:v>0.79166666666666696</c:v>
                </c:pt>
                <c:pt idx="76">
                  <c:v>0.80208333333333404</c:v>
                </c:pt>
                <c:pt idx="77">
                  <c:v>0.8125</c:v>
                </c:pt>
                <c:pt idx="78">
                  <c:v>0.82291666666666696</c:v>
                </c:pt>
                <c:pt idx="79">
                  <c:v>0.83333333333333404</c:v>
                </c:pt>
                <c:pt idx="80">
                  <c:v>0.84375</c:v>
                </c:pt>
                <c:pt idx="81">
                  <c:v>0.85416666666666696</c:v>
                </c:pt>
                <c:pt idx="82">
                  <c:v>0.86458333333333404</c:v>
                </c:pt>
                <c:pt idx="83">
                  <c:v>0.875</c:v>
                </c:pt>
                <c:pt idx="84">
                  <c:v>0.88541666666666696</c:v>
                </c:pt>
                <c:pt idx="85">
                  <c:v>0.89583333333333404</c:v>
                </c:pt>
                <c:pt idx="86">
                  <c:v>0.90625</c:v>
                </c:pt>
                <c:pt idx="87">
                  <c:v>0.91666666666666696</c:v>
                </c:pt>
                <c:pt idx="88">
                  <c:v>0.92708333333333404</c:v>
                </c:pt>
                <c:pt idx="89">
                  <c:v>0.9375</c:v>
                </c:pt>
                <c:pt idx="90">
                  <c:v>0.94791666666666696</c:v>
                </c:pt>
                <c:pt idx="91">
                  <c:v>0.95833333333333404</c:v>
                </c:pt>
                <c:pt idx="92">
                  <c:v>0.96875</c:v>
                </c:pt>
                <c:pt idx="93">
                  <c:v>0.97916666666666696</c:v>
                </c:pt>
                <c:pt idx="94">
                  <c:v>0.98958333333333404</c:v>
                </c:pt>
                <c:pt idx="95">
                  <c:v>1</c:v>
                </c:pt>
              </c:numCache>
            </c:numRef>
          </c:cat>
          <c:val>
            <c:numRef>
              <c:f>Sheet2!$B$2:$CS$2</c:f>
              <c:numCache>
                <c:formatCode>0.00</c:formatCode>
                <c:ptCount val="96"/>
                <c:pt idx="0">
                  <c:v>349.8446667</c:v>
                </c:pt>
                <c:pt idx="1">
                  <c:v>342.51644829999998</c:v>
                </c:pt>
                <c:pt idx="2">
                  <c:v>282.52224139999998</c:v>
                </c:pt>
                <c:pt idx="3">
                  <c:v>303.8545517</c:v>
                </c:pt>
                <c:pt idx="4">
                  <c:v>328.62703449999998</c:v>
                </c:pt>
                <c:pt idx="5">
                  <c:v>318.2424828</c:v>
                </c:pt>
                <c:pt idx="6">
                  <c:v>327.9122069</c:v>
                </c:pt>
                <c:pt idx="7">
                  <c:v>318.9747241</c:v>
                </c:pt>
                <c:pt idx="8">
                  <c:v>308.56382760000002</c:v>
                </c:pt>
                <c:pt idx="9">
                  <c:v>329.01317239999997</c:v>
                </c:pt>
                <c:pt idx="10">
                  <c:v>300.61637930000001</c:v>
                </c:pt>
                <c:pt idx="11">
                  <c:v>335.93103450000001</c:v>
                </c:pt>
                <c:pt idx="12">
                  <c:v>334.80934480000002</c:v>
                </c:pt>
                <c:pt idx="13">
                  <c:v>289.57286210000001</c:v>
                </c:pt>
                <c:pt idx="14">
                  <c:v>275.4697931</c:v>
                </c:pt>
                <c:pt idx="15">
                  <c:v>280.32848280000002</c:v>
                </c:pt>
                <c:pt idx="16">
                  <c:v>280.63003450000002</c:v>
                </c:pt>
                <c:pt idx="17">
                  <c:v>246.523931</c:v>
                </c:pt>
                <c:pt idx="18">
                  <c:v>243.62434479999999</c:v>
                </c:pt>
                <c:pt idx="19">
                  <c:v>260.24913789999999</c:v>
                </c:pt>
                <c:pt idx="20">
                  <c:v>261.64586209999999</c:v>
                </c:pt>
                <c:pt idx="21">
                  <c:v>264.72241380000003</c:v>
                </c:pt>
                <c:pt idx="22">
                  <c:v>258.2188276</c:v>
                </c:pt>
                <c:pt idx="23">
                  <c:v>227.53086210000001</c:v>
                </c:pt>
                <c:pt idx="24">
                  <c:v>219.49727590000001</c:v>
                </c:pt>
                <c:pt idx="25">
                  <c:v>225.19058620000001</c:v>
                </c:pt>
                <c:pt idx="26">
                  <c:v>233.72682760000001</c:v>
                </c:pt>
                <c:pt idx="27">
                  <c:v>237.2728966</c:v>
                </c:pt>
                <c:pt idx="28">
                  <c:v>236.11031030000001</c:v>
                </c:pt>
                <c:pt idx="29">
                  <c:v>239.92086209999999</c:v>
                </c:pt>
                <c:pt idx="30">
                  <c:v>216.9672759</c:v>
                </c:pt>
                <c:pt idx="31">
                  <c:v>175.3700345</c:v>
                </c:pt>
                <c:pt idx="32">
                  <c:v>161.62355170000001</c:v>
                </c:pt>
                <c:pt idx="33">
                  <c:v>115.3728966</c:v>
                </c:pt>
                <c:pt idx="34">
                  <c:v>102.13544829999999</c:v>
                </c:pt>
                <c:pt idx="35">
                  <c:v>80.242586209999999</c:v>
                </c:pt>
                <c:pt idx="36">
                  <c:v>87.574068969999999</c:v>
                </c:pt>
                <c:pt idx="37">
                  <c:v>93.094379309999994</c:v>
                </c:pt>
                <c:pt idx="38">
                  <c:v>104.45089659999999</c:v>
                </c:pt>
                <c:pt idx="39">
                  <c:v>104.1093448</c:v>
                </c:pt>
                <c:pt idx="40">
                  <c:v>102.5679655</c:v>
                </c:pt>
                <c:pt idx="41">
                  <c:v>117.8474138</c:v>
                </c:pt>
                <c:pt idx="42">
                  <c:v>107.5445862</c:v>
                </c:pt>
                <c:pt idx="43">
                  <c:v>116.8802069</c:v>
                </c:pt>
                <c:pt idx="44">
                  <c:v>113.09175860000001</c:v>
                </c:pt>
                <c:pt idx="45">
                  <c:v>123.1831724</c:v>
                </c:pt>
                <c:pt idx="46">
                  <c:v>120.7457586</c:v>
                </c:pt>
                <c:pt idx="47">
                  <c:v>109.6042759</c:v>
                </c:pt>
                <c:pt idx="48">
                  <c:v>114.14744829999999</c:v>
                </c:pt>
                <c:pt idx="49">
                  <c:v>114.1812759</c:v>
                </c:pt>
                <c:pt idx="50">
                  <c:v>125.1517241</c:v>
                </c:pt>
                <c:pt idx="51">
                  <c:v>116.8547586</c:v>
                </c:pt>
                <c:pt idx="52">
                  <c:v>107.102</c:v>
                </c:pt>
                <c:pt idx="53">
                  <c:v>104.0400345</c:v>
                </c:pt>
                <c:pt idx="54">
                  <c:v>106.81937929999999</c:v>
                </c:pt>
                <c:pt idx="55">
                  <c:v>113.5721379</c:v>
                </c:pt>
                <c:pt idx="56">
                  <c:v>111.9855862</c:v>
                </c:pt>
                <c:pt idx="57">
                  <c:v>129.19151719999999</c:v>
                </c:pt>
                <c:pt idx="58">
                  <c:v>126.2623103</c:v>
                </c:pt>
                <c:pt idx="59">
                  <c:v>120.1117241</c:v>
                </c:pt>
                <c:pt idx="60">
                  <c:v>120.5463103</c:v>
                </c:pt>
                <c:pt idx="61">
                  <c:v>117.3742414</c:v>
                </c:pt>
                <c:pt idx="62">
                  <c:v>108.4337586</c:v>
                </c:pt>
                <c:pt idx="63">
                  <c:v>128.4255172</c:v>
                </c:pt>
                <c:pt idx="64">
                  <c:v>128.72451720000001</c:v>
                </c:pt>
                <c:pt idx="65">
                  <c:v>146.36706899999999</c:v>
                </c:pt>
                <c:pt idx="66">
                  <c:v>168.50299999999999</c:v>
                </c:pt>
                <c:pt idx="67">
                  <c:v>183.68458620000001</c:v>
                </c:pt>
                <c:pt idx="68">
                  <c:v>187.41544830000001</c:v>
                </c:pt>
                <c:pt idx="69">
                  <c:v>226.06299999999999</c:v>
                </c:pt>
                <c:pt idx="70">
                  <c:v>306.3991724</c:v>
                </c:pt>
                <c:pt idx="71">
                  <c:v>306.29868970000001</c:v>
                </c:pt>
                <c:pt idx="72">
                  <c:v>312.27024139999997</c:v>
                </c:pt>
                <c:pt idx="73">
                  <c:v>295.42479309999999</c:v>
                </c:pt>
                <c:pt idx="74">
                  <c:v>281.98906899999997</c:v>
                </c:pt>
                <c:pt idx="75">
                  <c:v>300.64127589999998</c:v>
                </c:pt>
                <c:pt idx="76">
                  <c:v>309.43668969999999</c:v>
                </c:pt>
                <c:pt idx="77">
                  <c:v>276.08358620000001</c:v>
                </c:pt>
                <c:pt idx="78">
                  <c:v>276.10344830000003</c:v>
                </c:pt>
                <c:pt idx="79">
                  <c:v>269.8787241</c:v>
                </c:pt>
                <c:pt idx="80">
                  <c:v>299.34482759999997</c:v>
                </c:pt>
                <c:pt idx="81">
                  <c:v>273.62068970000001</c:v>
                </c:pt>
                <c:pt idx="82">
                  <c:v>294.20362069999999</c:v>
                </c:pt>
                <c:pt idx="83">
                  <c:v>291.28872410000002</c:v>
                </c:pt>
                <c:pt idx="84">
                  <c:v>295.31351719999998</c:v>
                </c:pt>
                <c:pt idx="85">
                  <c:v>277.65517240000003</c:v>
                </c:pt>
                <c:pt idx="86">
                  <c:v>284.44379309999999</c:v>
                </c:pt>
                <c:pt idx="87">
                  <c:v>262.19068970000001</c:v>
                </c:pt>
                <c:pt idx="88">
                  <c:v>260.12531030000002</c:v>
                </c:pt>
                <c:pt idx="89">
                  <c:v>275.4725517</c:v>
                </c:pt>
                <c:pt idx="90">
                  <c:v>254.51724139999999</c:v>
                </c:pt>
                <c:pt idx="91">
                  <c:v>271.82348280000002</c:v>
                </c:pt>
                <c:pt idx="92">
                  <c:v>275.71206899999999</c:v>
                </c:pt>
                <c:pt idx="93">
                  <c:v>254.48024140000001</c:v>
                </c:pt>
                <c:pt idx="94">
                  <c:v>275.88058619999998</c:v>
                </c:pt>
                <c:pt idx="95">
                  <c:v>288.09817240000001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78-4B13-96D9-14C05339D7B4}"/>
            </c:ext>
          </c:extLst>
        </c:ser>
        <c:ser>
          <c:idx val="1"/>
          <c:order val="1"/>
          <c:tx>
            <c:strRef>
              <c:f>Sheet2!$A$3</c:f>
              <c:strCache>
                <c:ptCount val="1"/>
                <c:pt idx="0">
                  <c:v>悦杭独贵储能电站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Sheet2!$B$1:$CS$1</c:f>
              <c:numCache>
                <c:formatCode>h:mm</c:formatCode>
                <c:ptCount val="96"/>
                <c:pt idx="0">
                  <c:v>1.0416666666666666E-2</c:v>
                </c:pt>
                <c:pt idx="1">
                  <c:v>2.0833333333333332E-2</c:v>
                </c:pt>
                <c:pt idx="2">
                  <c:v>3.125E-2</c:v>
                </c:pt>
                <c:pt idx="3">
                  <c:v>4.1666666666666699E-2</c:v>
                </c:pt>
                <c:pt idx="4">
                  <c:v>5.2083333333333398E-2</c:v>
                </c:pt>
                <c:pt idx="5">
                  <c:v>6.25E-2</c:v>
                </c:pt>
                <c:pt idx="6">
                  <c:v>7.2916666666666699E-2</c:v>
                </c:pt>
                <c:pt idx="7">
                  <c:v>8.3333333333333398E-2</c:v>
                </c:pt>
                <c:pt idx="8">
                  <c:v>9.375E-2</c:v>
                </c:pt>
                <c:pt idx="9">
                  <c:v>0.104166666666667</c:v>
                </c:pt>
                <c:pt idx="10">
                  <c:v>0.11458333333333399</c:v>
                </c:pt>
                <c:pt idx="11">
                  <c:v>0.125</c:v>
                </c:pt>
                <c:pt idx="12">
                  <c:v>0.13541666666666699</c:v>
                </c:pt>
                <c:pt idx="13">
                  <c:v>0.14583333333333401</c:v>
                </c:pt>
                <c:pt idx="14">
                  <c:v>0.15625</c:v>
                </c:pt>
                <c:pt idx="15">
                  <c:v>0.16666666666666699</c:v>
                </c:pt>
                <c:pt idx="16">
                  <c:v>0.17708333333333401</c:v>
                </c:pt>
                <c:pt idx="17">
                  <c:v>0.1875</c:v>
                </c:pt>
                <c:pt idx="18">
                  <c:v>0.19791666666666699</c:v>
                </c:pt>
                <c:pt idx="19">
                  <c:v>0.20833333333333401</c:v>
                </c:pt>
                <c:pt idx="20">
                  <c:v>0.21875</c:v>
                </c:pt>
                <c:pt idx="21">
                  <c:v>0.22916666666666699</c:v>
                </c:pt>
                <c:pt idx="22">
                  <c:v>0.23958333333333401</c:v>
                </c:pt>
                <c:pt idx="23">
                  <c:v>0.25</c:v>
                </c:pt>
                <c:pt idx="24">
                  <c:v>0.26041666666666702</c:v>
                </c:pt>
                <c:pt idx="25">
                  <c:v>0.27083333333333398</c:v>
                </c:pt>
                <c:pt idx="26">
                  <c:v>0.28125</c:v>
                </c:pt>
                <c:pt idx="27">
                  <c:v>0.29166666666666702</c:v>
                </c:pt>
                <c:pt idx="28">
                  <c:v>0.30208333333333398</c:v>
                </c:pt>
                <c:pt idx="29">
                  <c:v>0.3125</c:v>
                </c:pt>
                <c:pt idx="30">
                  <c:v>0.32291666666666702</c:v>
                </c:pt>
                <c:pt idx="31">
                  <c:v>0.33333333333333398</c:v>
                </c:pt>
                <c:pt idx="32">
                  <c:v>0.34375</c:v>
                </c:pt>
                <c:pt idx="33">
                  <c:v>0.35416666666666702</c:v>
                </c:pt>
                <c:pt idx="34">
                  <c:v>0.36458333333333398</c:v>
                </c:pt>
                <c:pt idx="35">
                  <c:v>0.375</c:v>
                </c:pt>
                <c:pt idx="36">
                  <c:v>0.38541666666666702</c:v>
                </c:pt>
                <c:pt idx="37">
                  <c:v>0.39583333333333398</c:v>
                </c:pt>
                <c:pt idx="38">
                  <c:v>0.40625</c:v>
                </c:pt>
                <c:pt idx="39">
                  <c:v>0.41666666666666702</c:v>
                </c:pt>
                <c:pt idx="40">
                  <c:v>0.42708333333333398</c:v>
                </c:pt>
                <c:pt idx="41">
                  <c:v>0.4375</c:v>
                </c:pt>
                <c:pt idx="42">
                  <c:v>0.44791666666666702</c:v>
                </c:pt>
                <c:pt idx="43">
                  <c:v>0.45833333333333398</c:v>
                </c:pt>
                <c:pt idx="44">
                  <c:v>0.46875</c:v>
                </c:pt>
                <c:pt idx="45">
                  <c:v>0.47916666666666702</c:v>
                </c:pt>
                <c:pt idx="46">
                  <c:v>0.48958333333333398</c:v>
                </c:pt>
                <c:pt idx="47">
                  <c:v>0.5</c:v>
                </c:pt>
                <c:pt idx="48">
                  <c:v>0.51041666666666696</c:v>
                </c:pt>
                <c:pt idx="49">
                  <c:v>0.52083333333333404</c:v>
                </c:pt>
                <c:pt idx="50">
                  <c:v>0.53125</c:v>
                </c:pt>
                <c:pt idx="51">
                  <c:v>0.54166666666666696</c:v>
                </c:pt>
                <c:pt idx="52">
                  <c:v>0.55208333333333404</c:v>
                </c:pt>
                <c:pt idx="53">
                  <c:v>0.5625</c:v>
                </c:pt>
                <c:pt idx="54">
                  <c:v>0.57291666666666696</c:v>
                </c:pt>
                <c:pt idx="55">
                  <c:v>0.58333333333333404</c:v>
                </c:pt>
                <c:pt idx="56">
                  <c:v>0.59375</c:v>
                </c:pt>
                <c:pt idx="57">
                  <c:v>0.60416666666666696</c:v>
                </c:pt>
                <c:pt idx="58">
                  <c:v>0.61458333333333404</c:v>
                </c:pt>
                <c:pt idx="59">
                  <c:v>0.625</c:v>
                </c:pt>
                <c:pt idx="60">
                  <c:v>0.63541666666666696</c:v>
                </c:pt>
                <c:pt idx="61">
                  <c:v>0.64583333333333404</c:v>
                </c:pt>
                <c:pt idx="62">
                  <c:v>0.65625</c:v>
                </c:pt>
                <c:pt idx="63">
                  <c:v>0.66666666666666696</c:v>
                </c:pt>
                <c:pt idx="64">
                  <c:v>0.67708333333333404</c:v>
                </c:pt>
                <c:pt idx="65">
                  <c:v>0.6875</c:v>
                </c:pt>
                <c:pt idx="66">
                  <c:v>0.69791666666666696</c:v>
                </c:pt>
                <c:pt idx="67">
                  <c:v>0.70833333333333404</c:v>
                </c:pt>
                <c:pt idx="68">
                  <c:v>0.71875</c:v>
                </c:pt>
                <c:pt idx="69">
                  <c:v>0.72916666666666696</c:v>
                </c:pt>
                <c:pt idx="70">
                  <c:v>0.73958333333333404</c:v>
                </c:pt>
                <c:pt idx="71">
                  <c:v>0.75</c:v>
                </c:pt>
                <c:pt idx="72">
                  <c:v>0.76041666666666696</c:v>
                </c:pt>
                <c:pt idx="73">
                  <c:v>0.77083333333333404</c:v>
                </c:pt>
                <c:pt idx="74">
                  <c:v>0.78125</c:v>
                </c:pt>
                <c:pt idx="75">
                  <c:v>0.79166666666666696</c:v>
                </c:pt>
                <c:pt idx="76">
                  <c:v>0.80208333333333404</c:v>
                </c:pt>
                <c:pt idx="77">
                  <c:v>0.8125</c:v>
                </c:pt>
                <c:pt idx="78">
                  <c:v>0.82291666666666696</c:v>
                </c:pt>
                <c:pt idx="79">
                  <c:v>0.83333333333333404</c:v>
                </c:pt>
                <c:pt idx="80">
                  <c:v>0.84375</c:v>
                </c:pt>
                <c:pt idx="81">
                  <c:v>0.85416666666666696</c:v>
                </c:pt>
                <c:pt idx="82">
                  <c:v>0.86458333333333404</c:v>
                </c:pt>
                <c:pt idx="83">
                  <c:v>0.875</c:v>
                </c:pt>
                <c:pt idx="84">
                  <c:v>0.88541666666666696</c:v>
                </c:pt>
                <c:pt idx="85">
                  <c:v>0.89583333333333404</c:v>
                </c:pt>
                <c:pt idx="86">
                  <c:v>0.90625</c:v>
                </c:pt>
                <c:pt idx="87">
                  <c:v>0.91666666666666696</c:v>
                </c:pt>
                <c:pt idx="88">
                  <c:v>0.92708333333333404</c:v>
                </c:pt>
                <c:pt idx="89">
                  <c:v>0.9375</c:v>
                </c:pt>
                <c:pt idx="90">
                  <c:v>0.94791666666666696</c:v>
                </c:pt>
                <c:pt idx="91">
                  <c:v>0.95833333333333404</c:v>
                </c:pt>
                <c:pt idx="92">
                  <c:v>0.96875</c:v>
                </c:pt>
                <c:pt idx="93">
                  <c:v>0.97916666666666696</c:v>
                </c:pt>
                <c:pt idx="94">
                  <c:v>0.98958333333333404</c:v>
                </c:pt>
                <c:pt idx="95">
                  <c:v>1</c:v>
                </c:pt>
              </c:numCache>
            </c:numRef>
          </c:cat>
          <c:val>
            <c:numRef>
              <c:f>Sheet2!$B$3:$CS$3</c:f>
              <c:numCache>
                <c:formatCode>0.00</c:formatCode>
                <c:ptCount val="96"/>
                <c:pt idx="0">
                  <c:v>338.99696669999997</c:v>
                </c:pt>
                <c:pt idx="1">
                  <c:v>335.10251720000002</c:v>
                </c:pt>
                <c:pt idx="2">
                  <c:v>275.13072410000001</c:v>
                </c:pt>
                <c:pt idx="3">
                  <c:v>296.464</c:v>
                </c:pt>
                <c:pt idx="4">
                  <c:v>321.1574483</c:v>
                </c:pt>
                <c:pt idx="5">
                  <c:v>310.77834480000001</c:v>
                </c:pt>
                <c:pt idx="6">
                  <c:v>320.30313790000002</c:v>
                </c:pt>
                <c:pt idx="7">
                  <c:v>311.31779310000002</c:v>
                </c:pt>
                <c:pt idx="8">
                  <c:v>300.99093099999999</c:v>
                </c:pt>
                <c:pt idx="9">
                  <c:v>321.43406900000002</c:v>
                </c:pt>
                <c:pt idx="10">
                  <c:v>293.09220690000001</c:v>
                </c:pt>
                <c:pt idx="11">
                  <c:v>328.38275859999999</c:v>
                </c:pt>
                <c:pt idx="12">
                  <c:v>327.17103450000002</c:v>
                </c:pt>
                <c:pt idx="13">
                  <c:v>282.02489659999998</c:v>
                </c:pt>
                <c:pt idx="14">
                  <c:v>275.20596549999999</c:v>
                </c:pt>
                <c:pt idx="15">
                  <c:v>279.85379310000002</c:v>
                </c:pt>
                <c:pt idx="16">
                  <c:v>280.14496550000001</c:v>
                </c:pt>
                <c:pt idx="17">
                  <c:v>246.02851720000001</c:v>
                </c:pt>
                <c:pt idx="18">
                  <c:v>243.17489660000001</c:v>
                </c:pt>
                <c:pt idx="19">
                  <c:v>259.903931</c:v>
                </c:pt>
                <c:pt idx="20">
                  <c:v>261.50962070000003</c:v>
                </c:pt>
                <c:pt idx="21">
                  <c:v>264.25710340000001</c:v>
                </c:pt>
                <c:pt idx="22">
                  <c:v>257.60782760000001</c:v>
                </c:pt>
                <c:pt idx="23">
                  <c:v>227.32996549999999</c:v>
                </c:pt>
                <c:pt idx="24">
                  <c:v>219.32482759999999</c:v>
                </c:pt>
                <c:pt idx="25">
                  <c:v>224.93320689999999</c:v>
                </c:pt>
                <c:pt idx="26">
                  <c:v>233.43934479999999</c:v>
                </c:pt>
                <c:pt idx="27">
                  <c:v>237.02437929999999</c:v>
                </c:pt>
                <c:pt idx="28">
                  <c:v>235.92458619999999</c:v>
                </c:pt>
                <c:pt idx="29">
                  <c:v>239.7681034</c:v>
                </c:pt>
                <c:pt idx="30">
                  <c:v>216.7572069</c:v>
                </c:pt>
                <c:pt idx="31">
                  <c:v>175.2355517</c:v>
                </c:pt>
                <c:pt idx="32">
                  <c:v>161.48131029999999</c:v>
                </c:pt>
                <c:pt idx="33">
                  <c:v>115.4700345</c:v>
                </c:pt>
                <c:pt idx="34">
                  <c:v>102.24137930000001</c:v>
                </c:pt>
                <c:pt idx="35">
                  <c:v>79.085896550000001</c:v>
                </c:pt>
                <c:pt idx="36">
                  <c:v>85.132689659999997</c:v>
                </c:pt>
                <c:pt idx="37">
                  <c:v>90.812068969999999</c:v>
                </c:pt>
                <c:pt idx="38">
                  <c:v>102.7097931</c:v>
                </c:pt>
                <c:pt idx="39">
                  <c:v>102.5726552</c:v>
                </c:pt>
                <c:pt idx="40">
                  <c:v>101.8244138</c:v>
                </c:pt>
                <c:pt idx="41">
                  <c:v>114.14382759999999</c:v>
                </c:pt>
                <c:pt idx="42">
                  <c:v>107.2711724</c:v>
                </c:pt>
                <c:pt idx="43">
                  <c:v>116.1893103</c:v>
                </c:pt>
                <c:pt idx="44">
                  <c:v>105.7254483</c:v>
                </c:pt>
                <c:pt idx="45">
                  <c:v>114.2835862</c:v>
                </c:pt>
                <c:pt idx="46">
                  <c:v>113.6112414</c:v>
                </c:pt>
                <c:pt idx="47">
                  <c:v>107.6698276</c:v>
                </c:pt>
                <c:pt idx="48">
                  <c:v>117.2477241</c:v>
                </c:pt>
                <c:pt idx="49">
                  <c:v>116.2438621</c:v>
                </c:pt>
                <c:pt idx="50">
                  <c:v>127.40413789999999</c:v>
                </c:pt>
                <c:pt idx="51">
                  <c:v>116.7762759</c:v>
                </c:pt>
                <c:pt idx="52">
                  <c:v>106.7993448</c:v>
                </c:pt>
                <c:pt idx="53">
                  <c:v>104.8474483</c:v>
                </c:pt>
                <c:pt idx="54">
                  <c:v>107.3851724</c:v>
                </c:pt>
                <c:pt idx="55">
                  <c:v>110.9521379</c:v>
                </c:pt>
                <c:pt idx="56">
                  <c:v>104.5532759</c:v>
                </c:pt>
                <c:pt idx="57">
                  <c:v>114.4057586</c:v>
                </c:pt>
                <c:pt idx="58">
                  <c:v>110.4413448</c:v>
                </c:pt>
                <c:pt idx="59">
                  <c:v>117.6536552</c:v>
                </c:pt>
                <c:pt idx="60">
                  <c:v>115.5168621</c:v>
                </c:pt>
                <c:pt idx="61">
                  <c:v>116.0161379</c:v>
                </c:pt>
                <c:pt idx="62">
                  <c:v>100.24617240000001</c:v>
                </c:pt>
                <c:pt idx="63">
                  <c:v>121.87389659999999</c:v>
                </c:pt>
                <c:pt idx="64">
                  <c:v>120.7331379</c:v>
                </c:pt>
                <c:pt idx="65">
                  <c:v>134.61789659999999</c:v>
                </c:pt>
                <c:pt idx="66">
                  <c:v>149.34703450000001</c:v>
                </c:pt>
                <c:pt idx="67">
                  <c:v>166.18475860000001</c:v>
                </c:pt>
                <c:pt idx="68">
                  <c:v>179.45</c:v>
                </c:pt>
                <c:pt idx="69">
                  <c:v>225.9602414</c:v>
                </c:pt>
                <c:pt idx="70">
                  <c:v>301.14637929999998</c:v>
                </c:pt>
                <c:pt idx="71">
                  <c:v>295.0718966</c:v>
                </c:pt>
                <c:pt idx="72">
                  <c:v>297.40300000000002</c:v>
                </c:pt>
                <c:pt idx="73">
                  <c:v>281.07510339999999</c:v>
                </c:pt>
                <c:pt idx="74">
                  <c:v>267.17527589999997</c:v>
                </c:pt>
                <c:pt idx="75">
                  <c:v>285.9998966</c:v>
                </c:pt>
                <c:pt idx="76">
                  <c:v>294.81599999999997</c:v>
                </c:pt>
                <c:pt idx="77">
                  <c:v>268.77324140000002</c:v>
                </c:pt>
                <c:pt idx="78">
                  <c:v>261.48275860000001</c:v>
                </c:pt>
                <c:pt idx="79">
                  <c:v>255.25444830000001</c:v>
                </c:pt>
                <c:pt idx="80">
                  <c:v>284.62068970000001</c:v>
                </c:pt>
                <c:pt idx="81">
                  <c:v>262.65517240000003</c:v>
                </c:pt>
                <c:pt idx="82">
                  <c:v>279.56320690000001</c:v>
                </c:pt>
                <c:pt idx="83">
                  <c:v>276.65258619999997</c:v>
                </c:pt>
                <c:pt idx="84">
                  <c:v>280.58937930000002</c:v>
                </c:pt>
                <c:pt idx="85">
                  <c:v>266.58620689999998</c:v>
                </c:pt>
                <c:pt idx="86">
                  <c:v>270.06672409999999</c:v>
                </c:pt>
                <c:pt idx="87">
                  <c:v>247.4651379</c:v>
                </c:pt>
                <c:pt idx="88">
                  <c:v>245.3738276</c:v>
                </c:pt>
                <c:pt idx="89">
                  <c:v>272.2148621</c:v>
                </c:pt>
                <c:pt idx="90">
                  <c:v>247.1034483</c:v>
                </c:pt>
                <c:pt idx="91">
                  <c:v>263.18120690000001</c:v>
                </c:pt>
                <c:pt idx="92">
                  <c:v>268.34182759999999</c:v>
                </c:pt>
                <c:pt idx="93">
                  <c:v>243.44</c:v>
                </c:pt>
                <c:pt idx="94">
                  <c:v>268.47448279999998</c:v>
                </c:pt>
                <c:pt idx="95">
                  <c:v>276.96306900000002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78-4B13-96D9-14C05339D7B4}"/>
            </c:ext>
          </c:extLst>
        </c:ser>
        <c:ser>
          <c:idx val="2"/>
          <c:order val="2"/>
          <c:tx>
            <c:strRef>
              <c:f>Sheet2!$A$4</c:f>
              <c:strCache>
                <c:ptCount val="1"/>
                <c:pt idx="0">
                  <c:v>景怡查干哈达储能电站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Sheet2!$B$1:$CS$1</c:f>
              <c:numCache>
                <c:formatCode>h:mm</c:formatCode>
                <c:ptCount val="96"/>
                <c:pt idx="0">
                  <c:v>1.0416666666666666E-2</c:v>
                </c:pt>
                <c:pt idx="1">
                  <c:v>2.0833333333333332E-2</c:v>
                </c:pt>
                <c:pt idx="2">
                  <c:v>3.125E-2</c:v>
                </c:pt>
                <c:pt idx="3">
                  <c:v>4.1666666666666699E-2</c:v>
                </c:pt>
                <c:pt idx="4">
                  <c:v>5.2083333333333398E-2</c:v>
                </c:pt>
                <c:pt idx="5">
                  <c:v>6.25E-2</c:v>
                </c:pt>
                <c:pt idx="6">
                  <c:v>7.2916666666666699E-2</c:v>
                </c:pt>
                <c:pt idx="7">
                  <c:v>8.3333333333333398E-2</c:v>
                </c:pt>
                <c:pt idx="8">
                  <c:v>9.375E-2</c:v>
                </c:pt>
                <c:pt idx="9">
                  <c:v>0.104166666666667</c:v>
                </c:pt>
                <c:pt idx="10">
                  <c:v>0.11458333333333399</c:v>
                </c:pt>
                <c:pt idx="11">
                  <c:v>0.125</c:v>
                </c:pt>
                <c:pt idx="12">
                  <c:v>0.13541666666666699</c:v>
                </c:pt>
                <c:pt idx="13">
                  <c:v>0.14583333333333401</c:v>
                </c:pt>
                <c:pt idx="14">
                  <c:v>0.15625</c:v>
                </c:pt>
                <c:pt idx="15">
                  <c:v>0.16666666666666699</c:v>
                </c:pt>
                <c:pt idx="16">
                  <c:v>0.17708333333333401</c:v>
                </c:pt>
                <c:pt idx="17">
                  <c:v>0.1875</c:v>
                </c:pt>
                <c:pt idx="18">
                  <c:v>0.19791666666666699</c:v>
                </c:pt>
                <c:pt idx="19">
                  <c:v>0.20833333333333401</c:v>
                </c:pt>
                <c:pt idx="20">
                  <c:v>0.21875</c:v>
                </c:pt>
                <c:pt idx="21">
                  <c:v>0.22916666666666699</c:v>
                </c:pt>
                <c:pt idx="22">
                  <c:v>0.23958333333333401</c:v>
                </c:pt>
                <c:pt idx="23">
                  <c:v>0.25</c:v>
                </c:pt>
                <c:pt idx="24">
                  <c:v>0.26041666666666702</c:v>
                </c:pt>
                <c:pt idx="25">
                  <c:v>0.27083333333333398</c:v>
                </c:pt>
                <c:pt idx="26">
                  <c:v>0.28125</c:v>
                </c:pt>
                <c:pt idx="27">
                  <c:v>0.29166666666666702</c:v>
                </c:pt>
                <c:pt idx="28">
                  <c:v>0.30208333333333398</c:v>
                </c:pt>
                <c:pt idx="29">
                  <c:v>0.3125</c:v>
                </c:pt>
                <c:pt idx="30">
                  <c:v>0.32291666666666702</c:v>
                </c:pt>
                <c:pt idx="31">
                  <c:v>0.33333333333333398</c:v>
                </c:pt>
                <c:pt idx="32">
                  <c:v>0.34375</c:v>
                </c:pt>
                <c:pt idx="33">
                  <c:v>0.35416666666666702</c:v>
                </c:pt>
                <c:pt idx="34">
                  <c:v>0.36458333333333398</c:v>
                </c:pt>
                <c:pt idx="35">
                  <c:v>0.375</c:v>
                </c:pt>
                <c:pt idx="36">
                  <c:v>0.38541666666666702</c:v>
                </c:pt>
                <c:pt idx="37">
                  <c:v>0.39583333333333398</c:v>
                </c:pt>
                <c:pt idx="38">
                  <c:v>0.40625</c:v>
                </c:pt>
                <c:pt idx="39">
                  <c:v>0.41666666666666702</c:v>
                </c:pt>
                <c:pt idx="40">
                  <c:v>0.42708333333333398</c:v>
                </c:pt>
                <c:pt idx="41">
                  <c:v>0.4375</c:v>
                </c:pt>
                <c:pt idx="42">
                  <c:v>0.44791666666666702</c:v>
                </c:pt>
                <c:pt idx="43">
                  <c:v>0.45833333333333398</c:v>
                </c:pt>
                <c:pt idx="44">
                  <c:v>0.46875</c:v>
                </c:pt>
                <c:pt idx="45">
                  <c:v>0.47916666666666702</c:v>
                </c:pt>
                <c:pt idx="46">
                  <c:v>0.48958333333333398</c:v>
                </c:pt>
                <c:pt idx="47">
                  <c:v>0.5</c:v>
                </c:pt>
                <c:pt idx="48">
                  <c:v>0.51041666666666696</c:v>
                </c:pt>
                <c:pt idx="49">
                  <c:v>0.52083333333333404</c:v>
                </c:pt>
                <c:pt idx="50">
                  <c:v>0.53125</c:v>
                </c:pt>
                <c:pt idx="51">
                  <c:v>0.54166666666666696</c:v>
                </c:pt>
                <c:pt idx="52">
                  <c:v>0.55208333333333404</c:v>
                </c:pt>
                <c:pt idx="53">
                  <c:v>0.5625</c:v>
                </c:pt>
                <c:pt idx="54">
                  <c:v>0.57291666666666696</c:v>
                </c:pt>
                <c:pt idx="55">
                  <c:v>0.58333333333333404</c:v>
                </c:pt>
                <c:pt idx="56">
                  <c:v>0.59375</c:v>
                </c:pt>
                <c:pt idx="57">
                  <c:v>0.60416666666666696</c:v>
                </c:pt>
                <c:pt idx="58">
                  <c:v>0.61458333333333404</c:v>
                </c:pt>
                <c:pt idx="59">
                  <c:v>0.625</c:v>
                </c:pt>
                <c:pt idx="60">
                  <c:v>0.63541666666666696</c:v>
                </c:pt>
                <c:pt idx="61">
                  <c:v>0.64583333333333404</c:v>
                </c:pt>
                <c:pt idx="62">
                  <c:v>0.65625</c:v>
                </c:pt>
                <c:pt idx="63">
                  <c:v>0.66666666666666696</c:v>
                </c:pt>
                <c:pt idx="64">
                  <c:v>0.67708333333333404</c:v>
                </c:pt>
                <c:pt idx="65">
                  <c:v>0.6875</c:v>
                </c:pt>
                <c:pt idx="66">
                  <c:v>0.69791666666666696</c:v>
                </c:pt>
                <c:pt idx="67">
                  <c:v>0.70833333333333404</c:v>
                </c:pt>
                <c:pt idx="68">
                  <c:v>0.71875</c:v>
                </c:pt>
                <c:pt idx="69">
                  <c:v>0.72916666666666696</c:v>
                </c:pt>
                <c:pt idx="70">
                  <c:v>0.73958333333333404</c:v>
                </c:pt>
                <c:pt idx="71">
                  <c:v>0.75</c:v>
                </c:pt>
                <c:pt idx="72">
                  <c:v>0.76041666666666696</c:v>
                </c:pt>
                <c:pt idx="73">
                  <c:v>0.77083333333333404</c:v>
                </c:pt>
                <c:pt idx="74">
                  <c:v>0.78125</c:v>
                </c:pt>
                <c:pt idx="75">
                  <c:v>0.79166666666666696</c:v>
                </c:pt>
                <c:pt idx="76">
                  <c:v>0.80208333333333404</c:v>
                </c:pt>
                <c:pt idx="77">
                  <c:v>0.8125</c:v>
                </c:pt>
                <c:pt idx="78">
                  <c:v>0.82291666666666696</c:v>
                </c:pt>
                <c:pt idx="79">
                  <c:v>0.83333333333333404</c:v>
                </c:pt>
                <c:pt idx="80">
                  <c:v>0.84375</c:v>
                </c:pt>
                <c:pt idx="81">
                  <c:v>0.85416666666666696</c:v>
                </c:pt>
                <c:pt idx="82">
                  <c:v>0.86458333333333404</c:v>
                </c:pt>
                <c:pt idx="83">
                  <c:v>0.875</c:v>
                </c:pt>
                <c:pt idx="84">
                  <c:v>0.88541666666666696</c:v>
                </c:pt>
                <c:pt idx="85">
                  <c:v>0.89583333333333404</c:v>
                </c:pt>
                <c:pt idx="86">
                  <c:v>0.90625</c:v>
                </c:pt>
                <c:pt idx="87">
                  <c:v>0.91666666666666696</c:v>
                </c:pt>
                <c:pt idx="88">
                  <c:v>0.92708333333333404</c:v>
                </c:pt>
                <c:pt idx="89">
                  <c:v>0.9375</c:v>
                </c:pt>
                <c:pt idx="90">
                  <c:v>0.94791666666666696</c:v>
                </c:pt>
                <c:pt idx="91">
                  <c:v>0.95833333333333404</c:v>
                </c:pt>
                <c:pt idx="92">
                  <c:v>0.96875</c:v>
                </c:pt>
                <c:pt idx="93">
                  <c:v>0.97916666666666696</c:v>
                </c:pt>
                <c:pt idx="94">
                  <c:v>0.98958333333333404</c:v>
                </c:pt>
                <c:pt idx="95">
                  <c:v>1</c:v>
                </c:pt>
              </c:numCache>
            </c:numRef>
          </c:cat>
          <c:val>
            <c:numRef>
              <c:f>Sheet2!$B$4:$CS$4</c:f>
              <c:numCache>
                <c:formatCode>0.00</c:formatCode>
                <c:ptCount val="96"/>
                <c:pt idx="0">
                  <c:v>328.29469999999998</c:v>
                </c:pt>
                <c:pt idx="1">
                  <c:v>340.38034479999999</c:v>
                </c:pt>
                <c:pt idx="2">
                  <c:v>280.23293100000001</c:v>
                </c:pt>
                <c:pt idx="3">
                  <c:v>301.63196549999998</c:v>
                </c:pt>
                <c:pt idx="4">
                  <c:v>326.53041380000002</c:v>
                </c:pt>
                <c:pt idx="5">
                  <c:v>316.25220689999998</c:v>
                </c:pt>
                <c:pt idx="6">
                  <c:v>326.39106900000002</c:v>
                </c:pt>
                <c:pt idx="7">
                  <c:v>317.66803449999998</c:v>
                </c:pt>
                <c:pt idx="8">
                  <c:v>306.8785517</c:v>
                </c:pt>
                <c:pt idx="9">
                  <c:v>327.40293100000002</c:v>
                </c:pt>
                <c:pt idx="10">
                  <c:v>298.7705517</c:v>
                </c:pt>
                <c:pt idx="11">
                  <c:v>334.15172410000002</c:v>
                </c:pt>
                <c:pt idx="12">
                  <c:v>333.24796550000002</c:v>
                </c:pt>
                <c:pt idx="13">
                  <c:v>287.8883103</c:v>
                </c:pt>
                <c:pt idx="14">
                  <c:v>276.2065862</c:v>
                </c:pt>
                <c:pt idx="15">
                  <c:v>281.60458620000003</c:v>
                </c:pt>
                <c:pt idx="16">
                  <c:v>281.94193100000001</c:v>
                </c:pt>
                <c:pt idx="17">
                  <c:v>247.84651719999999</c:v>
                </c:pt>
                <c:pt idx="18">
                  <c:v>244.82862069999999</c:v>
                </c:pt>
                <c:pt idx="19">
                  <c:v>235.34465520000001</c:v>
                </c:pt>
                <c:pt idx="20">
                  <c:v>234.97906900000001</c:v>
                </c:pt>
                <c:pt idx="21">
                  <c:v>253.8653103</c:v>
                </c:pt>
                <c:pt idx="22">
                  <c:v>248.79744830000001</c:v>
                </c:pt>
                <c:pt idx="23">
                  <c:v>206.28444830000001</c:v>
                </c:pt>
                <c:pt idx="24">
                  <c:v>209.92265520000001</c:v>
                </c:pt>
                <c:pt idx="25">
                  <c:v>219.30817239999999</c:v>
                </c:pt>
                <c:pt idx="26">
                  <c:v>229.15455170000001</c:v>
                </c:pt>
                <c:pt idx="27">
                  <c:v>230.6393448</c:v>
                </c:pt>
                <c:pt idx="28">
                  <c:v>236.50924140000001</c:v>
                </c:pt>
                <c:pt idx="29">
                  <c:v>240.3028276</c:v>
                </c:pt>
                <c:pt idx="30">
                  <c:v>217.5937241</c:v>
                </c:pt>
                <c:pt idx="31">
                  <c:v>175.69417240000001</c:v>
                </c:pt>
                <c:pt idx="32">
                  <c:v>161.97862069999999</c:v>
                </c:pt>
                <c:pt idx="33">
                  <c:v>115.0397586</c:v>
                </c:pt>
                <c:pt idx="34">
                  <c:v>101.7595172</c:v>
                </c:pt>
                <c:pt idx="35">
                  <c:v>80.066896549999996</c:v>
                </c:pt>
                <c:pt idx="36">
                  <c:v>87.400758620000005</c:v>
                </c:pt>
                <c:pt idx="37">
                  <c:v>90.920758620000001</c:v>
                </c:pt>
                <c:pt idx="38">
                  <c:v>103.7462759</c:v>
                </c:pt>
                <c:pt idx="39">
                  <c:v>103.8383793</c:v>
                </c:pt>
                <c:pt idx="40">
                  <c:v>102.8647931</c:v>
                </c:pt>
                <c:pt idx="41">
                  <c:v>114.6071724</c:v>
                </c:pt>
                <c:pt idx="42">
                  <c:v>104.5384828</c:v>
                </c:pt>
                <c:pt idx="43">
                  <c:v>117.1375517</c:v>
                </c:pt>
                <c:pt idx="44">
                  <c:v>114.94127589999999</c:v>
                </c:pt>
                <c:pt idx="45">
                  <c:v>126.1590345</c:v>
                </c:pt>
                <c:pt idx="46">
                  <c:v>120.29779310000001</c:v>
                </c:pt>
                <c:pt idx="47">
                  <c:v>110.1088276</c:v>
                </c:pt>
                <c:pt idx="48">
                  <c:v>114.9791034</c:v>
                </c:pt>
                <c:pt idx="49">
                  <c:v>115.19679309999999</c:v>
                </c:pt>
                <c:pt idx="50">
                  <c:v>125.0065517</c:v>
                </c:pt>
                <c:pt idx="51">
                  <c:v>116.9891724</c:v>
                </c:pt>
                <c:pt idx="52">
                  <c:v>107.88679310000001</c:v>
                </c:pt>
                <c:pt idx="53">
                  <c:v>103.0832759</c:v>
                </c:pt>
                <c:pt idx="54">
                  <c:v>106.5214828</c:v>
                </c:pt>
                <c:pt idx="55">
                  <c:v>116.72451719999999</c:v>
                </c:pt>
                <c:pt idx="56">
                  <c:v>113.49062069999999</c:v>
                </c:pt>
                <c:pt idx="57">
                  <c:v>127.2391034</c:v>
                </c:pt>
                <c:pt idx="58">
                  <c:v>124.53024139999999</c:v>
                </c:pt>
                <c:pt idx="59">
                  <c:v>118.92520690000001</c:v>
                </c:pt>
                <c:pt idx="60">
                  <c:v>120.3701379</c:v>
                </c:pt>
                <c:pt idx="61">
                  <c:v>114.900069</c:v>
                </c:pt>
                <c:pt idx="62">
                  <c:v>102.8918276</c:v>
                </c:pt>
                <c:pt idx="63">
                  <c:v>127.387069</c:v>
                </c:pt>
                <c:pt idx="64">
                  <c:v>127.8056552</c:v>
                </c:pt>
                <c:pt idx="65">
                  <c:v>138.26382760000001</c:v>
                </c:pt>
                <c:pt idx="66">
                  <c:v>160.3283103</c:v>
                </c:pt>
                <c:pt idx="67">
                  <c:v>179.2897586</c:v>
                </c:pt>
                <c:pt idx="68">
                  <c:v>185.65227590000001</c:v>
                </c:pt>
                <c:pt idx="69">
                  <c:v>226.45637930000001</c:v>
                </c:pt>
                <c:pt idx="70">
                  <c:v>304.94879309999999</c:v>
                </c:pt>
                <c:pt idx="71">
                  <c:v>303.62962069999998</c:v>
                </c:pt>
                <c:pt idx="72">
                  <c:v>308.37799999999999</c:v>
                </c:pt>
                <c:pt idx="73">
                  <c:v>291.19634480000002</c:v>
                </c:pt>
                <c:pt idx="74">
                  <c:v>267.53044829999999</c:v>
                </c:pt>
                <c:pt idx="75">
                  <c:v>281.88468970000002</c:v>
                </c:pt>
                <c:pt idx="76">
                  <c:v>297.44906900000001</c:v>
                </c:pt>
                <c:pt idx="77">
                  <c:v>273.73875859999998</c:v>
                </c:pt>
                <c:pt idx="78">
                  <c:v>260.03448279999998</c:v>
                </c:pt>
                <c:pt idx="79">
                  <c:v>254.16289660000001</c:v>
                </c:pt>
                <c:pt idx="80">
                  <c:v>280.06896549999999</c:v>
                </c:pt>
                <c:pt idx="81">
                  <c:v>254.93103450000001</c:v>
                </c:pt>
                <c:pt idx="82">
                  <c:v>275.42200000000003</c:v>
                </c:pt>
                <c:pt idx="83">
                  <c:v>265.25579310000001</c:v>
                </c:pt>
                <c:pt idx="84">
                  <c:v>266.7273103</c:v>
                </c:pt>
                <c:pt idx="85">
                  <c:v>253</c:v>
                </c:pt>
                <c:pt idx="86">
                  <c:v>253.6152759</c:v>
                </c:pt>
                <c:pt idx="87">
                  <c:v>231.54175860000001</c:v>
                </c:pt>
                <c:pt idx="88">
                  <c:v>229.56793099999999</c:v>
                </c:pt>
                <c:pt idx="89">
                  <c:v>267.46889659999999</c:v>
                </c:pt>
                <c:pt idx="90">
                  <c:v>245.17241379999999</c:v>
                </c:pt>
                <c:pt idx="91">
                  <c:v>263.70220690000002</c:v>
                </c:pt>
                <c:pt idx="92">
                  <c:v>256.53827589999997</c:v>
                </c:pt>
                <c:pt idx="93">
                  <c:v>243.8425172</c:v>
                </c:pt>
                <c:pt idx="94">
                  <c:v>273.733</c:v>
                </c:pt>
                <c:pt idx="95">
                  <c:v>267.742931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78-4B13-96D9-14C05339D7B4}"/>
            </c:ext>
          </c:extLst>
        </c:ser>
        <c:ser>
          <c:idx val="3"/>
          <c:order val="3"/>
          <c:tx>
            <c:strRef>
              <c:f>Sheet2!$A$5</c:f>
              <c:strCache>
                <c:ptCount val="1"/>
                <c:pt idx="0">
                  <c:v>景蓝乌尔图储能电站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Sheet2!$B$1:$CS$1</c:f>
              <c:numCache>
                <c:formatCode>h:mm</c:formatCode>
                <c:ptCount val="96"/>
                <c:pt idx="0">
                  <c:v>1.0416666666666666E-2</c:v>
                </c:pt>
                <c:pt idx="1">
                  <c:v>2.0833333333333332E-2</c:v>
                </c:pt>
                <c:pt idx="2">
                  <c:v>3.125E-2</c:v>
                </c:pt>
                <c:pt idx="3">
                  <c:v>4.1666666666666699E-2</c:v>
                </c:pt>
                <c:pt idx="4">
                  <c:v>5.2083333333333398E-2</c:v>
                </c:pt>
                <c:pt idx="5">
                  <c:v>6.25E-2</c:v>
                </c:pt>
                <c:pt idx="6">
                  <c:v>7.2916666666666699E-2</c:v>
                </c:pt>
                <c:pt idx="7">
                  <c:v>8.3333333333333398E-2</c:v>
                </c:pt>
                <c:pt idx="8">
                  <c:v>9.375E-2</c:v>
                </c:pt>
                <c:pt idx="9">
                  <c:v>0.104166666666667</c:v>
                </c:pt>
                <c:pt idx="10">
                  <c:v>0.11458333333333399</c:v>
                </c:pt>
                <c:pt idx="11">
                  <c:v>0.125</c:v>
                </c:pt>
                <c:pt idx="12">
                  <c:v>0.13541666666666699</c:v>
                </c:pt>
                <c:pt idx="13">
                  <c:v>0.14583333333333401</c:v>
                </c:pt>
                <c:pt idx="14">
                  <c:v>0.15625</c:v>
                </c:pt>
                <c:pt idx="15">
                  <c:v>0.16666666666666699</c:v>
                </c:pt>
                <c:pt idx="16">
                  <c:v>0.17708333333333401</c:v>
                </c:pt>
                <c:pt idx="17">
                  <c:v>0.1875</c:v>
                </c:pt>
                <c:pt idx="18">
                  <c:v>0.19791666666666699</c:v>
                </c:pt>
                <c:pt idx="19">
                  <c:v>0.20833333333333401</c:v>
                </c:pt>
                <c:pt idx="20">
                  <c:v>0.21875</c:v>
                </c:pt>
                <c:pt idx="21">
                  <c:v>0.22916666666666699</c:v>
                </c:pt>
                <c:pt idx="22">
                  <c:v>0.23958333333333401</c:v>
                </c:pt>
                <c:pt idx="23">
                  <c:v>0.25</c:v>
                </c:pt>
                <c:pt idx="24">
                  <c:v>0.26041666666666702</c:v>
                </c:pt>
                <c:pt idx="25">
                  <c:v>0.27083333333333398</c:v>
                </c:pt>
                <c:pt idx="26">
                  <c:v>0.28125</c:v>
                </c:pt>
                <c:pt idx="27">
                  <c:v>0.29166666666666702</c:v>
                </c:pt>
                <c:pt idx="28">
                  <c:v>0.30208333333333398</c:v>
                </c:pt>
                <c:pt idx="29">
                  <c:v>0.3125</c:v>
                </c:pt>
                <c:pt idx="30">
                  <c:v>0.32291666666666702</c:v>
                </c:pt>
                <c:pt idx="31">
                  <c:v>0.33333333333333398</c:v>
                </c:pt>
                <c:pt idx="32">
                  <c:v>0.34375</c:v>
                </c:pt>
                <c:pt idx="33">
                  <c:v>0.35416666666666702</c:v>
                </c:pt>
                <c:pt idx="34">
                  <c:v>0.36458333333333398</c:v>
                </c:pt>
                <c:pt idx="35">
                  <c:v>0.375</c:v>
                </c:pt>
                <c:pt idx="36">
                  <c:v>0.38541666666666702</c:v>
                </c:pt>
                <c:pt idx="37">
                  <c:v>0.39583333333333398</c:v>
                </c:pt>
                <c:pt idx="38">
                  <c:v>0.40625</c:v>
                </c:pt>
                <c:pt idx="39">
                  <c:v>0.41666666666666702</c:v>
                </c:pt>
                <c:pt idx="40">
                  <c:v>0.42708333333333398</c:v>
                </c:pt>
                <c:pt idx="41">
                  <c:v>0.4375</c:v>
                </c:pt>
                <c:pt idx="42">
                  <c:v>0.44791666666666702</c:v>
                </c:pt>
                <c:pt idx="43">
                  <c:v>0.45833333333333398</c:v>
                </c:pt>
                <c:pt idx="44">
                  <c:v>0.46875</c:v>
                </c:pt>
                <c:pt idx="45">
                  <c:v>0.47916666666666702</c:v>
                </c:pt>
                <c:pt idx="46">
                  <c:v>0.48958333333333398</c:v>
                </c:pt>
                <c:pt idx="47">
                  <c:v>0.5</c:v>
                </c:pt>
                <c:pt idx="48">
                  <c:v>0.51041666666666696</c:v>
                </c:pt>
                <c:pt idx="49">
                  <c:v>0.52083333333333404</c:v>
                </c:pt>
                <c:pt idx="50">
                  <c:v>0.53125</c:v>
                </c:pt>
                <c:pt idx="51">
                  <c:v>0.54166666666666696</c:v>
                </c:pt>
                <c:pt idx="52">
                  <c:v>0.55208333333333404</c:v>
                </c:pt>
                <c:pt idx="53">
                  <c:v>0.5625</c:v>
                </c:pt>
                <c:pt idx="54">
                  <c:v>0.57291666666666696</c:v>
                </c:pt>
                <c:pt idx="55">
                  <c:v>0.58333333333333404</c:v>
                </c:pt>
                <c:pt idx="56">
                  <c:v>0.59375</c:v>
                </c:pt>
                <c:pt idx="57">
                  <c:v>0.60416666666666696</c:v>
                </c:pt>
                <c:pt idx="58">
                  <c:v>0.61458333333333404</c:v>
                </c:pt>
                <c:pt idx="59">
                  <c:v>0.625</c:v>
                </c:pt>
                <c:pt idx="60">
                  <c:v>0.63541666666666696</c:v>
                </c:pt>
                <c:pt idx="61">
                  <c:v>0.64583333333333404</c:v>
                </c:pt>
                <c:pt idx="62">
                  <c:v>0.65625</c:v>
                </c:pt>
                <c:pt idx="63">
                  <c:v>0.66666666666666696</c:v>
                </c:pt>
                <c:pt idx="64">
                  <c:v>0.67708333333333404</c:v>
                </c:pt>
                <c:pt idx="65">
                  <c:v>0.6875</c:v>
                </c:pt>
                <c:pt idx="66">
                  <c:v>0.69791666666666696</c:v>
                </c:pt>
                <c:pt idx="67">
                  <c:v>0.70833333333333404</c:v>
                </c:pt>
                <c:pt idx="68">
                  <c:v>0.71875</c:v>
                </c:pt>
                <c:pt idx="69">
                  <c:v>0.72916666666666696</c:v>
                </c:pt>
                <c:pt idx="70">
                  <c:v>0.73958333333333404</c:v>
                </c:pt>
                <c:pt idx="71">
                  <c:v>0.75</c:v>
                </c:pt>
                <c:pt idx="72">
                  <c:v>0.76041666666666696</c:v>
                </c:pt>
                <c:pt idx="73">
                  <c:v>0.77083333333333404</c:v>
                </c:pt>
                <c:pt idx="74">
                  <c:v>0.78125</c:v>
                </c:pt>
                <c:pt idx="75">
                  <c:v>0.79166666666666696</c:v>
                </c:pt>
                <c:pt idx="76">
                  <c:v>0.80208333333333404</c:v>
                </c:pt>
                <c:pt idx="77">
                  <c:v>0.8125</c:v>
                </c:pt>
                <c:pt idx="78">
                  <c:v>0.82291666666666696</c:v>
                </c:pt>
                <c:pt idx="79">
                  <c:v>0.83333333333333404</c:v>
                </c:pt>
                <c:pt idx="80">
                  <c:v>0.84375</c:v>
                </c:pt>
                <c:pt idx="81">
                  <c:v>0.85416666666666696</c:v>
                </c:pt>
                <c:pt idx="82">
                  <c:v>0.86458333333333404</c:v>
                </c:pt>
                <c:pt idx="83">
                  <c:v>0.875</c:v>
                </c:pt>
                <c:pt idx="84">
                  <c:v>0.88541666666666696</c:v>
                </c:pt>
                <c:pt idx="85">
                  <c:v>0.89583333333333404</c:v>
                </c:pt>
                <c:pt idx="86">
                  <c:v>0.90625</c:v>
                </c:pt>
                <c:pt idx="87">
                  <c:v>0.91666666666666696</c:v>
                </c:pt>
                <c:pt idx="88">
                  <c:v>0.92708333333333404</c:v>
                </c:pt>
                <c:pt idx="89">
                  <c:v>0.9375</c:v>
                </c:pt>
                <c:pt idx="90">
                  <c:v>0.94791666666666696</c:v>
                </c:pt>
                <c:pt idx="91">
                  <c:v>0.95833333333333404</c:v>
                </c:pt>
                <c:pt idx="92">
                  <c:v>0.96875</c:v>
                </c:pt>
                <c:pt idx="93">
                  <c:v>0.97916666666666696</c:v>
                </c:pt>
                <c:pt idx="94">
                  <c:v>0.98958333333333404</c:v>
                </c:pt>
                <c:pt idx="95">
                  <c:v>1</c:v>
                </c:pt>
              </c:numCache>
            </c:numRef>
          </c:cat>
          <c:val>
            <c:numRef>
              <c:f>Sheet2!$B$5:$CS$5</c:f>
              <c:numCache>
                <c:formatCode>0.00</c:formatCode>
                <c:ptCount val="96"/>
                <c:pt idx="0">
                  <c:v>364.16539999999998</c:v>
                </c:pt>
                <c:pt idx="1">
                  <c:v>313.75579310000001</c:v>
                </c:pt>
                <c:pt idx="2">
                  <c:v>280.20668970000003</c:v>
                </c:pt>
                <c:pt idx="3">
                  <c:v>306.38341380000003</c:v>
                </c:pt>
                <c:pt idx="4">
                  <c:v>335.00289659999999</c:v>
                </c:pt>
                <c:pt idx="5">
                  <c:v>358.39237930000002</c:v>
                </c:pt>
                <c:pt idx="6">
                  <c:v>326.49893100000003</c:v>
                </c:pt>
                <c:pt idx="7">
                  <c:v>348.94896549999999</c:v>
                </c:pt>
                <c:pt idx="8">
                  <c:v>312.42503449999998</c:v>
                </c:pt>
                <c:pt idx="9">
                  <c:v>341.52562069999999</c:v>
                </c:pt>
                <c:pt idx="10">
                  <c:v>306.69017239999999</c:v>
                </c:pt>
                <c:pt idx="11">
                  <c:v>338.33975859999998</c:v>
                </c:pt>
                <c:pt idx="12">
                  <c:v>341.9917931</c:v>
                </c:pt>
                <c:pt idx="13">
                  <c:v>287.03644830000002</c:v>
                </c:pt>
                <c:pt idx="14">
                  <c:v>300.57958619999999</c:v>
                </c:pt>
                <c:pt idx="15">
                  <c:v>329.1672069</c:v>
                </c:pt>
                <c:pt idx="16">
                  <c:v>332.0156207</c:v>
                </c:pt>
                <c:pt idx="17">
                  <c:v>303.81065519999999</c:v>
                </c:pt>
                <c:pt idx="18">
                  <c:v>291.42906900000003</c:v>
                </c:pt>
                <c:pt idx="19">
                  <c:v>292.7523448</c:v>
                </c:pt>
                <c:pt idx="20">
                  <c:v>312.96217239999999</c:v>
                </c:pt>
                <c:pt idx="21">
                  <c:v>305.7043448</c:v>
                </c:pt>
                <c:pt idx="22">
                  <c:v>307.67731029999999</c:v>
                </c:pt>
                <c:pt idx="23">
                  <c:v>249.51462069999999</c:v>
                </c:pt>
                <c:pt idx="24">
                  <c:v>241.2055517</c:v>
                </c:pt>
                <c:pt idx="25">
                  <c:v>253.6515862</c:v>
                </c:pt>
                <c:pt idx="26">
                  <c:v>265.428</c:v>
                </c:pt>
                <c:pt idx="27">
                  <c:v>270.17268969999998</c:v>
                </c:pt>
                <c:pt idx="28">
                  <c:v>270.95420689999997</c:v>
                </c:pt>
                <c:pt idx="29">
                  <c:v>261.23751720000001</c:v>
                </c:pt>
                <c:pt idx="30">
                  <c:v>252.6261724</c:v>
                </c:pt>
                <c:pt idx="31">
                  <c:v>214.02727590000001</c:v>
                </c:pt>
                <c:pt idx="32">
                  <c:v>205.66148279999999</c:v>
                </c:pt>
                <c:pt idx="33">
                  <c:v>168.6862414</c:v>
                </c:pt>
                <c:pt idx="34">
                  <c:v>171.0565172</c:v>
                </c:pt>
                <c:pt idx="35">
                  <c:v>204.07555170000001</c:v>
                </c:pt>
                <c:pt idx="36">
                  <c:v>193.0157931</c:v>
                </c:pt>
                <c:pt idx="37">
                  <c:v>248.06793099999999</c:v>
                </c:pt>
                <c:pt idx="38">
                  <c:v>254.3016552</c:v>
                </c:pt>
                <c:pt idx="39">
                  <c:v>275.00513790000002</c:v>
                </c:pt>
                <c:pt idx="40">
                  <c:v>266.13889660000001</c:v>
                </c:pt>
                <c:pt idx="41">
                  <c:v>268.22775860000002</c:v>
                </c:pt>
                <c:pt idx="42">
                  <c:v>259.85344830000003</c:v>
                </c:pt>
                <c:pt idx="43">
                  <c:v>251.75986209999999</c:v>
                </c:pt>
                <c:pt idx="44">
                  <c:v>279.80500000000001</c:v>
                </c:pt>
                <c:pt idx="45">
                  <c:v>262.95141380000001</c:v>
                </c:pt>
                <c:pt idx="46">
                  <c:v>235.1416207</c:v>
                </c:pt>
                <c:pt idx="47">
                  <c:v>244.114069</c:v>
                </c:pt>
                <c:pt idx="48">
                  <c:v>231.9073793</c:v>
                </c:pt>
                <c:pt idx="49">
                  <c:v>246.22789660000001</c:v>
                </c:pt>
                <c:pt idx="50">
                  <c:v>247.3746897</c:v>
                </c:pt>
                <c:pt idx="51">
                  <c:v>243.1334828</c:v>
                </c:pt>
                <c:pt idx="52">
                  <c:v>234.79120689999999</c:v>
                </c:pt>
                <c:pt idx="53">
                  <c:v>228.78299999999999</c:v>
                </c:pt>
                <c:pt idx="54">
                  <c:v>234.83444829999999</c:v>
                </c:pt>
                <c:pt idx="55">
                  <c:v>247.83199999999999</c:v>
                </c:pt>
                <c:pt idx="56">
                  <c:v>235.46465520000001</c:v>
                </c:pt>
                <c:pt idx="57">
                  <c:v>241.55468970000001</c:v>
                </c:pt>
                <c:pt idx="58">
                  <c:v>235.24237930000001</c:v>
                </c:pt>
                <c:pt idx="59">
                  <c:v>243.8569655</c:v>
                </c:pt>
                <c:pt idx="60">
                  <c:v>242.11241380000001</c:v>
                </c:pt>
                <c:pt idx="61">
                  <c:v>265.20310339999997</c:v>
                </c:pt>
                <c:pt idx="62">
                  <c:v>239.9195172</c:v>
                </c:pt>
                <c:pt idx="63">
                  <c:v>255.98944829999999</c:v>
                </c:pt>
                <c:pt idx="64">
                  <c:v>254.32037930000001</c:v>
                </c:pt>
                <c:pt idx="65">
                  <c:v>262.27596549999998</c:v>
                </c:pt>
                <c:pt idx="66">
                  <c:v>272.38379309999999</c:v>
                </c:pt>
                <c:pt idx="67">
                  <c:v>238.77365520000001</c:v>
                </c:pt>
                <c:pt idx="68">
                  <c:v>238.82779310000001</c:v>
                </c:pt>
                <c:pt idx="69">
                  <c:v>277.78158619999999</c:v>
                </c:pt>
                <c:pt idx="70">
                  <c:v>345.84113789999998</c:v>
                </c:pt>
                <c:pt idx="71">
                  <c:v>356.4219655</c:v>
                </c:pt>
                <c:pt idx="72">
                  <c:v>358.86506900000001</c:v>
                </c:pt>
                <c:pt idx="73">
                  <c:v>303.61827590000001</c:v>
                </c:pt>
                <c:pt idx="74">
                  <c:v>284.9277586</c:v>
                </c:pt>
                <c:pt idx="75">
                  <c:v>285.8137931</c:v>
                </c:pt>
                <c:pt idx="76">
                  <c:v>303.27568969999999</c:v>
                </c:pt>
                <c:pt idx="77">
                  <c:v>280.17982760000001</c:v>
                </c:pt>
                <c:pt idx="78">
                  <c:v>260.97010340000003</c:v>
                </c:pt>
                <c:pt idx="79">
                  <c:v>253.64024140000001</c:v>
                </c:pt>
                <c:pt idx="80">
                  <c:v>293.79465520000002</c:v>
                </c:pt>
                <c:pt idx="81">
                  <c:v>259.16779309999998</c:v>
                </c:pt>
                <c:pt idx="82">
                  <c:v>273.21782760000002</c:v>
                </c:pt>
                <c:pt idx="83">
                  <c:v>277.40344829999998</c:v>
                </c:pt>
                <c:pt idx="84">
                  <c:v>284.6383103</c:v>
                </c:pt>
                <c:pt idx="85">
                  <c:v>274.29768969999998</c:v>
                </c:pt>
                <c:pt idx="86">
                  <c:v>296.13937929999997</c:v>
                </c:pt>
                <c:pt idx="87">
                  <c:v>263.17399999999998</c:v>
                </c:pt>
                <c:pt idx="88">
                  <c:v>262.70351720000002</c:v>
                </c:pt>
                <c:pt idx="89">
                  <c:v>320.54413790000001</c:v>
                </c:pt>
                <c:pt idx="90">
                  <c:v>267.01575860000003</c:v>
                </c:pt>
                <c:pt idx="91">
                  <c:v>276.66544829999998</c:v>
                </c:pt>
                <c:pt idx="92">
                  <c:v>288.7752759</c:v>
                </c:pt>
                <c:pt idx="93">
                  <c:v>264.49531030000003</c:v>
                </c:pt>
                <c:pt idx="94">
                  <c:v>291.16437930000001</c:v>
                </c:pt>
                <c:pt idx="95">
                  <c:v>308.31286210000002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178-4B13-96D9-14C05339D7B4}"/>
            </c:ext>
          </c:extLst>
        </c:ser>
        <c:ser>
          <c:idx val="4"/>
          <c:order val="4"/>
          <c:tx>
            <c:strRef>
              <c:f>Sheet2!$A$6</c:f>
              <c:strCache>
                <c:ptCount val="1"/>
                <c:pt idx="0">
                  <c:v>景通四益堂储能电站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Sheet2!$B$1:$CS$1</c:f>
              <c:numCache>
                <c:formatCode>h:mm</c:formatCode>
                <c:ptCount val="96"/>
                <c:pt idx="0">
                  <c:v>1.0416666666666666E-2</c:v>
                </c:pt>
                <c:pt idx="1">
                  <c:v>2.0833333333333332E-2</c:v>
                </c:pt>
                <c:pt idx="2">
                  <c:v>3.125E-2</c:v>
                </c:pt>
                <c:pt idx="3">
                  <c:v>4.1666666666666699E-2</c:v>
                </c:pt>
                <c:pt idx="4">
                  <c:v>5.2083333333333398E-2</c:v>
                </c:pt>
                <c:pt idx="5">
                  <c:v>6.25E-2</c:v>
                </c:pt>
                <c:pt idx="6">
                  <c:v>7.2916666666666699E-2</c:v>
                </c:pt>
                <c:pt idx="7">
                  <c:v>8.3333333333333398E-2</c:v>
                </c:pt>
                <c:pt idx="8">
                  <c:v>9.375E-2</c:v>
                </c:pt>
                <c:pt idx="9">
                  <c:v>0.104166666666667</c:v>
                </c:pt>
                <c:pt idx="10">
                  <c:v>0.11458333333333399</c:v>
                </c:pt>
                <c:pt idx="11">
                  <c:v>0.125</c:v>
                </c:pt>
                <c:pt idx="12">
                  <c:v>0.13541666666666699</c:v>
                </c:pt>
                <c:pt idx="13">
                  <c:v>0.14583333333333401</c:v>
                </c:pt>
                <c:pt idx="14">
                  <c:v>0.15625</c:v>
                </c:pt>
                <c:pt idx="15">
                  <c:v>0.16666666666666699</c:v>
                </c:pt>
                <c:pt idx="16">
                  <c:v>0.17708333333333401</c:v>
                </c:pt>
                <c:pt idx="17">
                  <c:v>0.1875</c:v>
                </c:pt>
                <c:pt idx="18">
                  <c:v>0.19791666666666699</c:v>
                </c:pt>
                <c:pt idx="19">
                  <c:v>0.20833333333333401</c:v>
                </c:pt>
                <c:pt idx="20">
                  <c:v>0.21875</c:v>
                </c:pt>
                <c:pt idx="21">
                  <c:v>0.22916666666666699</c:v>
                </c:pt>
                <c:pt idx="22">
                  <c:v>0.23958333333333401</c:v>
                </c:pt>
                <c:pt idx="23">
                  <c:v>0.25</c:v>
                </c:pt>
                <c:pt idx="24">
                  <c:v>0.26041666666666702</c:v>
                </c:pt>
                <c:pt idx="25">
                  <c:v>0.27083333333333398</c:v>
                </c:pt>
                <c:pt idx="26">
                  <c:v>0.28125</c:v>
                </c:pt>
                <c:pt idx="27">
                  <c:v>0.29166666666666702</c:v>
                </c:pt>
                <c:pt idx="28">
                  <c:v>0.30208333333333398</c:v>
                </c:pt>
                <c:pt idx="29">
                  <c:v>0.3125</c:v>
                </c:pt>
                <c:pt idx="30">
                  <c:v>0.32291666666666702</c:v>
                </c:pt>
                <c:pt idx="31">
                  <c:v>0.33333333333333398</c:v>
                </c:pt>
                <c:pt idx="32">
                  <c:v>0.34375</c:v>
                </c:pt>
                <c:pt idx="33">
                  <c:v>0.35416666666666702</c:v>
                </c:pt>
                <c:pt idx="34">
                  <c:v>0.36458333333333398</c:v>
                </c:pt>
                <c:pt idx="35">
                  <c:v>0.375</c:v>
                </c:pt>
                <c:pt idx="36">
                  <c:v>0.38541666666666702</c:v>
                </c:pt>
                <c:pt idx="37">
                  <c:v>0.39583333333333398</c:v>
                </c:pt>
                <c:pt idx="38">
                  <c:v>0.40625</c:v>
                </c:pt>
                <c:pt idx="39">
                  <c:v>0.41666666666666702</c:v>
                </c:pt>
                <c:pt idx="40">
                  <c:v>0.42708333333333398</c:v>
                </c:pt>
                <c:pt idx="41">
                  <c:v>0.4375</c:v>
                </c:pt>
                <c:pt idx="42">
                  <c:v>0.44791666666666702</c:v>
                </c:pt>
                <c:pt idx="43">
                  <c:v>0.45833333333333398</c:v>
                </c:pt>
                <c:pt idx="44">
                  <c:v>0.46875</c:v>
                </c:pt>
                <c:pt idx="45">
                  <c:v>0.47916666666666702</c:v>
                </c:pt>
                <c:pt idx="46">
                  <c:v>0.48958333333333398</c:v>
                </c:pt>
                <c:pt idx="47">
                  <c:v>0.5</c:v>
                </c:pt>
                <c:pt idx="48">
                  <c:v>0.51041666666666696</c:v>
                </c:pt>
                <c:pt idx="49">
                  <c:v>0.52083333333333404</c:v>
                </c:pt>
                <c:pt idx="50">
                  <c:v>0.53125</c:v>
                </c:pt>
                <c:pt idx="51">
                  <c:v>0.54166666666666696</c:v>
                </c:pt>
                <c:pt idx="52">
                  <c:v>0.55208333333333404</c:v>
                </c:pt>
                <c:pt idx="53">
                  <c:v>0.5625</c:v>
                </c:pt>
                <c:pt idx="54">
                  <c:v>0.57291666666666696</c:v>
                </c:pt>
                <c:pt idx="55">
                  <c:v>0.58333333333333404</c:v>
                </c:pt>
                <c:pt idx="56">
                  <c:v>0.59375</c:v>
                </c:pt>
                <c:pt idx="57">
                  <c:v>0.60416666666666696</c:v>
                </c:pt>
                <c:pt idx="58">
                  <c:v>0.61458333333333404</c:v>
                </c:pt>
                <c:pt idx="59">
                  <c:v>0.625</c:v>
                </c:pt>
                <c:pt idx="60">
                  <c:v>0.63541666666666696</c:v>
                </c:pt>
                <c:pt idx="61">
                  <c:v>0.64583333333333404</c:v>
                </c:pt>
                <c:pt idx="62">
                  <c:v>0.65625</c:v>
                </c:pt>
                <c:pt idx="63">
                  <c:v>0.66666666666666696</c:v>
                </c:pt>
                <c:pt idx="64">
                  <c:v>0.67708333333333404</c:v>
                </c:pt>
                <c:pt idx="65">
                  <c:v>0.6875</c:v>
                </c:pt>
                <c:pt idx="66">
                  <c:v>0.69791666666666696</c:v>
                </c:pt>
                <c:pt idx="67">
                  <c:v>0.70833333333333404</c:v>
                </c:pt>
                <c:pt idx="68">
                  <c:v>0.71875</c:v>
                </c:pt>
                <c:pt idx="69">
                  <c:v>0.72916666666666696</c:v>
                </c:pt>
                <c:pt idx="70">
                  <c:v>0.73958333333333404</c:v>
                </c:pt>
                <c:pt idx="71">
                  <c:v>0.75</c:v>
                </c:pt>
                <c:pt idx="72">
                  <c:v>0.76041666666666696</c:v>
                </c:pt>
                <c:pt idx="73">
                  <c:v>0.77083333333333404</c:v>
                </c:pt>
                <c:pt idx="74">
                  <c:v>0.78125</c:v>
                </c:pt>
                <c:pt idx="75">
                  <c:v>0.79166666666666696</c:v>
                </c:pt>
                <c:pt idx="76">
                  <c:v>0.80208333333333404</c:v>
                </c:pt>
                <c:pt idx="77">
                  <c:v>0.8125</c:v>
                </c:pt>
                <c:pt idx="78">
                  <c:v>0.82291666666666696</c:v>
                </c:pt>
                <c:pt idx="79">
                  <c:v>0.83333333333333404</c:v>
                </c:pt>
                <c:pt idx="80">
                  <c:v>0.84375</c:v>
                </c:pt>
                <c:pt idx="81">
                  <c:v>0.85416666666666696</c:v>
                </c:pt>
                <c:pt idx="82">
                  <c:v>0.86458333333333404</c:v>
                </c:pt>
                <c:pt idx="83">
                  <c:v>0.875</c:v>
                </c:pt>
                <c:pt idx="84">
                  <c:v>0.88541666666666696</c:v>
                </c:pt>
                <c:pt idx="85">
                  <c:v>0.89583333333333404</c:v>
                </c:pt>
                <c:pt idx="86">
                  <c:v>0.90625</c:v>
                </c:pt>
                <c:pt idx="87">
                  <c:v>0.91666666666666696</c:v>
                </c:pt>
                <c:pt idx="88">
                  <c:v>0.92708333333333404</c:v>
                </c:pt>
                <c:pt idx="89">
                  <c:v>0.9375</c:v>
                </c:pt>
                <c:pt idx="90">
                  <c:v>0.94791666666666696</c:v>
                </c:pt>
                <c:pt idx="91">
                  <c:v>0.95833333333333404</c:v>
                </c:pt>
                <c:pt idx="92">
                  <c:v>0.96875</c:v>
                </c:pt>
                <c:pt idx="93">
                  <c:v>0.97916666666666696</c:v>
                </c:pt>
                <c:pt idx="94">
                  <c:v>0.98958333333333404</c:v>
                </c:pt>
                <c:pt idx="95">
                  <c:v>1</c:v>
                </c:pt>
              </c:numCache>
            </c:numRef>
          </c:cat>
          <c:val>
            <c:numRef>
              <c:f>Sheet2!$B$6:$CS$6</c:f>
              <c:numCache>
                <c:formatCode>0.00</c:formatCode>
                <c:ptCount val="96"/>
                <c:pt idx="0">
                  <c:v>358.61713329999998</c:v>
                </c:pt>
                <c:pt idx="1">
                  <c:v>309.41782760000001</c:v>
                </c:pt>
                <c:pt idx="2">
                  <c:v>273.88541379999998</c:v>
                </c:pt>
                <c:pt idx="3">
                  <c:v>304.54496549999999</c:v>
                </c:pt>
                <c:pt idx="4">
                  <c:v>325.76703450000002</c:v>
                </c:pt>
                <c:pt idx="5">
                  <c:v>317.81103450000001</c:v>
                </c:pt>
                <c:pt idx="6">
                  <c:v>307.99217240000002</c:v>
                </c:pt>
                <c:pt idx="7">
                  <c:v>332.96610340000001</c:v>
                </c:pt>
                <c:pt idx="8">
                  <c:v>313.60210339999998</c:v>
                </c:pt>
                <c:pt idx="9">
                  <c:v>340.70272410000001</c:v>
                </c:pt>
                <c:pt idx="10">
                  <c:v>305.5241034</c:v>
                </c:pt>
                <c:pt idx="11">
                  <c:v>336.0036897</c:v>
                </c:pt>
                <c:pt idx="12">
                  <c:v>339.66255169999999</c:v>
                </c:pt>
                <c:pt idx="13">
                  <c:v>292.69106900000003</c:v>
                </c:pt>
                <c:pt idx="14">
                  <c:v>289.90489659999997</c:v>
                </c:pt>
                <c:pt idx="15">
                  <c:v>299.4905862</c:v>
                </c:pt>
                <c:pt idx="16">
                  <c:v>298.70100000000002</c:v>
                </c:pt>
                <c:pt idx="17">
                  <c:v>276.29562069999997</c:v>
                </c:pt>
                <c:pt idx="18">
                  <c:v>271.83362069999998</c:v>
                </c:pt>
                <c:pt idx="19">
                  <c:v>279.85727589999999</c:v>
                </c:pt>
                <c:pt idx="20">
                  <c:v>272.43362070000001</c:v>
                </c:pt>
                <c:pt idx="21">
                  <c:v>271.56075859999999</c:v>
                </c:pt>
                <c:pt idx="22">
                  <c:v>271.38062070000001</c:v>
                </c:pt>
                <c:pt idx="23">
                  <c:v>229.3218621</c:v>
                </c:pt>
                <c:pt idx="24">
                  <c:v>221.75179309999999</c:v>
                </c:pt>
                <c:pt idx="25">
                  <c:v>231.3523448</c:v>
                </c:pt>
                <c:pt idx="26">
                  <c:v>236.73134479999999</c:v>
                </c:pt>
                <c:pt idx="27">
                  <c:v>240.8571379</c:v>
                </c:pt>
                <c:pt idx="28">
                  <c:v>246.38182760000001</c:v>
                </c:pt>
                <c:pt idx="29">
                  <c:v>239.29586209999999</c:v>
                </c:pt>
                <c:pt idx="30">
                  <c:v>224.90237930000001</c:v>
                </c:pt>
                <c:pt idx="31">
                  <c:v>206.64</c:v>
                </c:pt>
                <c:pt idx="32">
                  <c:v>198.37310339999999</c:v>
                </c:pt>
                <c:pt idx="33">
                  <c:v>164.7654138</c:v>
                </c:pt>
                <c:pt idx="34">
                  <c:v>168.0756552</c:v>
                </c:pt>
                <c:pt idx="35">
                  <c:v>190.1793448</c:v>
                </c:pt>
                <c:pt idx="36">
                  <c:v>184.07358619999999</c:v>
                </c:pt>
                <c:pt idx="37">
                  <c:v>210.07131029999999</c:v>
                </c:pt>
                <c:pt idx="38">
                  <c:v>206.72055169999999</c:v>
                </c:pt>
                <c:pt idx="39">
                  <c:v>227.11465519999999</c:v>
                </c:pt>
                <c:pt idx="40">
                  <c:v>223.32148280000001</c:v>
                </c:pt>
                <c:pt idx="41">
                  <c:v>229.9675862</c:v>
                </c:pt>
                <c:pt idx="42">
                  <c:v>223.92772410000001</c:v>
                </c:pt>
                <c:pt idx="43">
                  <c:v>223.4938276</c:v>
                </c:pt>
                <c:pt idx="44">
                  <c:v>242.58262070000001</c:v>
                </c:pt>
                <c:pt idx="45">
                  <c:v>233.0625172</c:v>
                </c:pt>
                <c:pt idx="46">
                  <c:v>206.29137929999999</c:v>
                </c:pt>
                <c:pt idx="47">
                  <c:v>216.80210339999999</c:v>
                </c:pt>
                <c:pt idx="48">
                  <c:v>215.97379309999999</c:v>
                </c:pt>
                <c:pt idx="49">
                  <c:v>234.3518966</c:v>
                </c:pt>
                <c:pt idx="50">
                  <c:v>235.20224139999999</c:v>
                </c:pt>
                <c:pt idx="51">
                  <c:v>219.76979309999999</c:v>
                </c:pt>
                <c:pt idx="52">
                  <c:v>217.9701724</c:v>
                </c:pt>
                <c:pt idx="53">
                  <c:v>210.32193100000001</c:v>
                </c:pt>
                <c:pt idx="54">
                  <c:v>216.2775862</c:v>
                </c:pt>
                <c:pt idx="55">
                  <c:v>226.51962069999999</c:v>
                </c:pt>
                <c:pt idx="56">
                  <c:v>209.98624140000001</c:v>
                </c:pt>
                <c:pt idx="57">
                  <c:v>222.3091034</c:v>
                </c:pt>
                <c:pt idx="58">
                  <c:v>213.50427590000001</c:v>
                </c:pt>
                <c:pt idx="59">
                  <c:v>212.41606899999999</c:v>
                </c:pt>
                <c:pt idx="60">
                  <c:v>203.28700000000001</c:v>
                </c:pt>
                <c:pt idx="61">
                  <c:v>226.26603449999999</c:v>
                </c:pt>
                <c:pt idx="62">
                  <c:v>200.2129655</c:v>
                </c:pt>
                <c:pt idx="63">
                  <c:v>223.25700000000001</c:v>
                </c:pt>
                <c:pt idx="64">
                  <c:v>216.9615862</c:v>
                </c:pt>
                <c:pt idx="65">
                  <c:v>236.34762069999999</c:v>
                </c:pt>
                <c:pt idx="66">
                  <c:v>246.13772410000001</c:v>
                </c:pt>
                <c:pt idx="67">
                  <c:v>226.24589660000001</c:v>
                </c:pt>
                <c:pt idx="68">
                  <c:v>221.8086552</c:v>
                </c:pt>
                <c:pt idx="69">
                  <c:v>262.92872410000001</c:v>
                </c:pt>
                <c:pt idx="70">
                  <c:v>326.56589659999997</c:v>
                </c:pt>
                <c:pt idx="71">
                  <c:v>333.52482759999998</c:v>
                </c:pt>
                <c:pt idx="72">
                  <c:v>337.42706900000002</c:v>
                </c:pt>
                <c:pt idx="73">
                  <c:v>293.46075860000002</c:v>
                </c:pt>
                <c:pt idx="74">
                  <c:v>280.49468969999998</c:v>
                </c:pt>
                <c:pt idx="75">
                  <c:v>285.7594138</c:v>
                </c:pt>
                <c:pt idx="76">
                  <c:v>303.46948279999998</c:v>
                </c:pt>
                <c:pt idx="77">
                  <c:v>282.06696549999998</c:v>
                </c:pt>
                <c:pt idx="78">
                  <c:v>261.42727589999998</c:v>
                </c:pt>
                <c:pt idx="79">
                  <c:v>252.92379310000001</c:v>
                </c:pt>
                <c:pt idx="80">
                  <c:v>287.3402069</c:v>
                </c:pt>
                <c:pt idx="81">
                  <c:v>261.17986209999998</c:v>
                </c:pt>
                <c:pt idx="82">
                  <c:v>281.0384828</c:v>
                </c:pt>
                <c:pt idx="83">
                  <c:v>280.8604828</c:v>
                </c:pt>
                <c:pt idx="84">
                  <c:v>287.22151719999999</c:v>
                </c:pt>
                <c:pt idx="85">
                  <c:v>269.26437929999997</c:v>
                </c:pt>
                <c:pt idx="86">
                  <c:v>273.30744829999998</c:v>
                </c:pt>
                <c:pt idx="87">
                  <c:v>258.2777931</c:v>
                </c:pt>
                <c:pt idx="88">
                  <c:v>256.68955169999998</c:v>
                </c:pt>
                <c:pt idx="89">
                  <c:v>287.92141379999998</c:v>
                </c:pt>
                <c:pt idx="90">
                  <c:v>260.86072410000003</c:v>
                </c:pt>
                <c:pt idx="91">
                  <c:v>271.75189660000001</c:v>
                </c:pt>
                <c:pt idx="92">
                  <c:v>283.85062069999998</c:v>
                </c:pt>
                <c:pt idx="93">
                  <c:v>260.40586209999998</c:v>
                </c:pt>
                <c:pt idx="94">
                  <c:v>289.49324139999999</c:v>
                </c:pt>
                <c:pt idx="95">
                  <c:v>299.40648279999999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178-4B13-96D9-14C05339D7B4}"/>
            </c:ext>
          </c:extLst>
        </c:ser>
        <c:ser>
          <c:idx val="5"/>
          <c:order val="5"/>
          <c:tx>
            <c:strRef>
              <c:f>Sheet2!$A$7</c:f>
              <c:strCache>
                <c:ptCount val="1"/>
                <c:pt idx="0">
                  <c:v>裕昭沙子坝储能电站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Sheet2!$B$1:$CS$1</c:f>
              <c:numCache>
                <c:formatCode>h:mm</c:formatCode>
                <c:ptCount val="96"/>
                <c:pt idx="0">
                  <c:v>1.0416666666666666E-2</c:v>
                </c:pt>
                <c:pt idx="1">
                  <c:v>2.0833333333333332E-2</c:v>
                </c:pt>
                <c:pt idx="2">
                  <c:v>3.125E-2</c:v>
                </c:pt>
                <c:pt idx="3">
                  <c:v>4.1666666666666699E-2</c:v>
                </c:pt>
                <c:pt idx="4">
                  <c:v>5.2083333333333398E-2</c:v>
                </c:pt>
                <c:pt idx="5">
                  <c:v>6.25E-2</c:v>
                </c:pt>
                <c:pt idx="6">
                  <c:v>7.2916666666666699E-2</c:v>
                </c:pt>
                <c:pt idx="7">
                  <c:v>8.3333333333333398E-2</c:v>
                </c:pt>
                <c:pt idx="8">
                  <c:v>9.375E-2</c:v>
                </c:pt>
                <c:pt idx="9">
                  <c:v>0.104166666666667</c:v>
                </c:pt>
                <c:pt idx="10">
                  <c:v>0.11458333333333399</c:v>
                </c:pt>
                <c:pt idx="11">
                  <c:v>0.125</c:v>
                </c:pt>
                <c:pt idx="12">
                  <c:v>0.13541666666666699</c:v>
                </c:pt>
                <c:pt idx="13">
                  <c:v>0.14583333333333401</c:v>
                </c:pt>
                <c:pt idx="14">
                  <c:v>0.15625</c:v>
                </c:pt>
                <c:pt idx="15">
                  <c:v>0.16666666666666699</c:v>
                </c:pt>
                <c:pt idx="16">
                  <c:v>0.17708333333333401</c:v>
                </c:pt>
                <c:pt idx="17">
                  <c:v>0.1875</c:v>
                </c:pt>
                <c:pt idx="18">
                  <c:v>0.19791666666666699</c:v>
                </c:pt>
                <c:pt idx="19">
                  <c:v>0.20833333333333401</c:v>
                </c:pt>
                <c:pt idx="20">
                  <c:v>0.21875</c:v>
                </c:pt>
                <c:pt idx="21">
                  <c:v>0.22916666666666699</c:v>
                </c:pt>
                <c:pt idx="22">
                  <c:v>0.23958333333333401</c:v>
                </c:pt>
                <c:pt idx="23">
                  <c:v>0.25</c:v>
                </c:pt>
                <c:pt idx="24">
                  <c:v>0.26041666666666702</c:v>
                </c:pt>
                <c:pt idx="25">
                  <c:v>0.27083333333333398</c:v>
                </c:pt>
                <c:pt idx="26">
                  <c:v>0.28125</c:v>
                </c:pt>
                <c:pt idx="27">
                  <c:v>0.29166666666666702</c:v>
                </c:pt>
                <c:pt idx="28">
                  <c:v>0.30208333333333398</c:v>
                </c:pt>
                <c:pt idx="29">
                  <c:v>0.3125</c:v>
                </c:pt>
                <c:pt idx="30">
                  <c:v>0.32291666666666702</c:v>
                </c:pt>
                <c:pt idx="31">
                  <c:v>0.33333333333333398</c:v>
                </c:pt>
                <c:pt idx="32">
                  <c:v>0.34375</c:v>
                </c:pt>
                <c:pt idx="33">
                  <c:v>0.35416666666666702</c:v>
                </c:pt>
                <c:pt idx="34">
                  <c:v>0.36458333333333398</c:v>
                </c:pt>
                <c:pt idx="35">
                  <c:v>0.375</c:v>
                </c:pt>
                <c:pt idx="36">
                  <c:v>0.38541666666666702</c:v>
                </c:pt>
                <c:pt idx="37">
                  <c:v>0.39583333333333398</c:v>
                </c:pt>
                <c:pt idx="38">
                  <c:v>0.40625</c:v>
                </c:pt>
                <c:pt idx="39">
                  <c:v>0.41666666666666702</c:v>
                </c:pt>
                <c:pt idx="40">
                  <c:v>0.42708333333333398</c:v>
                </c:pt>
                <c:pt idx="41">
                  <c:v>0.4375</c:v>
                </c:pt>
                <c:pt idx="42">
                  <c:v>0.44791666666666702</c:v>
                </c:pt>
                <c:pt idx="43">
                  <c:v>0.45833333333333398</c:v>
                </c:pt>
                <c:pt idx="44">
                  <c:v>0.46875</c:v>
                </c:pt>
                <c:pt idx="45">
                  <c:v>0.47916666666666702</c:v>
                </c:pt>
                <c:pt idx="46">
                  <c:v>0.48958333333333398</c:v>
                </c:pt>
                <c:pt idx="47">
                  <c:v>0.5</c:v>
                </c:pt>
                <c:pt idx="48">
                  <c:v>0.51041666666666696</c:v>
                </c:pt>
                <c:pt idx="49">
                  <c:v>0.52083333333333404</c:v>
                </c:pt>
                <c:pt idx="50">
                  <c:v>0.53125</c:v>
                </c:pt>
                <c:pt idx="51">
                  <c:v>0.54166666666666696</c:v>
                </c:pt>
                <c:pt idx="52">
                  <c:v>0.55208333333333404</c:v>
                </c:pt>
                <c:pt idx="53">
                  <c:v>0.5625</c:v>
                </c:pt>
                <c:pt idx="54">
                  <c:v>0.57291666666666696</c:v>
                </c:pt>
                <c:pt idx="55">
                  <c:v>0.58333333333333404</c:v>
                </c:pt>
                <c:pt idx="56">
                  <c:v>0.59375</c:v>
                </c:pt>
                <c:pt idx="57">
                  <c:v>0.60416666666666696</c:v>
                </c:pt>
                <c:pt idx="58">
                  <c:v>0.61458333333333404</c:v>
                </c:pt>
                <c:pt idx="59">
                  <c:v>0.625</c:v>
                </c:pt>
                <c:pt idx="60">
                  <c:v>0.63541666666666696</c:v>
                </c:pt>
                <c:pt idx="61">
                  <c:v>0.64583333333333404</c:v>
                </c:pt>
                <c:pt idx="62">
                  <c:v>0.65625</c:v>
                </c:pt>
                <c:pt idx="63">
                  <c:v>0.66666666666666696</c:v>
                </c:pt>
                <c:pt idx="64">
                  <c:v>0.67708333333333404</c:v>
                </c:pt>
                <c:pt idx="65">
                  <c:v>0.6875</c:v>
                </c:pt>
                <c:pt idx="66">
                  <c:v>0.69791666666666696</c:v>
                </c:pt>
                <c:pt idx="67">
                  <c:v>0.70833333333333404</c:v>
                </c:pt>
                <c:pt idx="68">
                  <c:v>0.71875</c:v>
                </c:pt>
                <c:pt idx="69">
                  <c:v>0.72916666666666696</c:v>
                </c:pt>
                <c:pt idx="70">
                  <c:v>0.73958333333333404</c:v>
                </c:pt>
                <c:pt idx="71">
                  <c:v>0.75</c:v>
                </c:pt>
                <c:pt idx="72">
                  <c:v>0.76041666666666696</c:v>
                </c:pt>
                <c:pt idx="73">
                  <c:v>0.77083333333333404</c:v>
                </c:pt>
                <c:pt idx="74">
                  <c:v>0.78125</c:v>
                </c:pt>
                <c:pt idx="75">
                  <c:v>0.79166666666666696</c:v>
                </c:pt>
                <c:pt idx="76">
                  <c:v>0.80208333333333404</c:v>
                </c:pt>
                <c:pt idx="77">
                  <c:v>0.8125</c:v>
                </c:pt>
                <c:pt idx="78">
                  <c:v>0.82291666666666696</c:v>
                </c:pt>
                <c:pt idx="79">
                  <c:v>0.83333333333333404</c:v>
                </c:pt>
                <c:pt idx="80">
                  <c:v>0.84375</c:v>
                </c:pt>
                <c:pt idx="81">
                  <c:v>0.85416666666666696</c:v>
                </c:pt>
                <c:pt idx="82">
                  <c:v>0.86458333333333404</c:v>
                </c:pt>
                <c:pt idx="83">
                  <c:v>0.875</c:v>
                </c:pt>
                <c:pt idx="84">
                  <c:v>0.88541666666666696</c:v>
                </c:pt>
                <c:pt idx="85">
                  <c:v>0.89583333333333404</c:v>
                </c:pt>
                <c:pt idx="86">
                  <c:v>0.90625</c:v>
                </c:pt>
                <c:pt idx="87">
                  <c:v>0.91666666666666696</c:v>
                </c:pt>
                <c:pt idx="88">
                  <c:v>0.92708333333333404</c:v>
                </c:pt>
                <c:pt idx="89">
                  <c:v>0.9375</c:v>
                </c:pt>
                <c:pt idx="90">
                  <c:v>0.94791666666666696</c:v>
                </c:pt>
                <c:pt idx="91">
                  <c:v>0.95833333333333404</c:v>
                </c:pt>
                <c:pt idx="92">
                  <c:v>0.96875</c:v>
                </c:pt>
                <c:pt idx="93">
                  <c:v>0.97916666666666696</c:v>
                </c:pt>
                <c:pt idx="94">
                  <c:v>0.98958333333333404</c:v>
                </c:pt>
                <c:pt idx="95">
                  <c:v>1</c:v>
                </c:pt>
              </c:numCache>
            </c:numRef>
          </c:cat>
          <c:val>
            <c:numRef>
              <c:f>Sheet2!$B$7:$CS$7</c:f>
              <c:numCache>
                <c:formatCode>0.00</c:formatCode>
                <c:ptCount val="96"/>
                <c:pt idx="0">
                  <c:v>338.99696669999997</c:v>
                </c:pt>
                <c:pt idx="1">
                  <c:v>335.10251720000002</c:v>
                </c:pt>
                <c:pt idx="2">
                  <c:v>275.13072410000001</c:v>
                </c:pt>
                <c:pt idx="3">
                  <c:v>296.464</c:v>
                </c:pt>
                <c:pt idx="4">
                  <c:v>321.1574483</c:v>
                </c:pt>
                <c:pt idx="5">
                  <c:v>310.77834480000001</c:v>
                </c:pt>
                <c:pt idx="6">
                  <c:v>320.30313790000002</c:v>
                </c:pt>
                <c:pt idx="7">
                  <c:v>311.31779310000002</c:v>
                </c:pt>
                <c:pt idx="8">
                  <c:v>300.99093099999999</c:v>
                </c:pt>
                <c:pt idx="9">
                  <c:v>321.43406900000002</c:v>
                </c:pt>
                <c:pt idx="10">
                  <c:v>293.09220690000001</c:v>
                </c:pt>
                <c:pt idx="11">
                  <c:v>328.38275859999999</c:v>
                </c:pt>
                <c:pt idx="12">
                  <c:v>327.17103450000002</c:v>
                </c:pt>
                <c:pt idx="13">
                  <c:v>282.02489659999998</c:v>
                </c:pt>
                <c:pt idx="14">
                  <c:v>275.20596549999999</c:v>
                </c:pt>
                <c:pt idx="15">
                  <c:v>279.85379310000002</c:v>
                </c:pt>
                <c:pt idx="16">
                  <c:v>280.14496550000001</c:v>
                </c:pt>
                <c:pt idx="17">
                  <c:v>246.02851720000001</c:v>
                </c:pt>
                <c:pt idx="18">
                  <c:v>243.17489660000001</c:v>
                </c:pt>
                <c:pt idx="19">
                  <c:v>259.903931</c:v>
                </c:pt>
                <c:pt idx="20">
                  <c:v>261.50962070000003</c:v>
                </c:pt>
                <c:pt idx="21">
                  <c:v>264.25710340000001</c:v>
                </c:pt>
                <c:pt idx="22">
                  <c:v>257.60782760000001</c:v>
                </c:pt>
                <c:pt idx="23">
                  <c:v>227.32996549999999</c:v>
                </c:pt>
                <c:pt idx="24">
                  <c:v>219.32482759999999</c:v>
                </c:pt>
                <c:pt idx="25">
                  <c:v>213.5538966</c:v>
                </c:pt>
                <c:pt idx="26">
                  <c:v>233.43934479999999</c:v>
                </c:pt>
                <c:pt idx="27">
                  <c:v>231.5071379</c:v>
                </c:pt>
                <c:pt idx="28">
                  <c:v>230.4073448</c:v>
                </c:pt>
                <c:pt idx="29">
                  <c:v>228.73362069999999</c:v>
                </c:pt>
                <c:pt idx="30">
                  <c:v>205.72272409999999</c:v>
                </c:pt>
                <c:pt idx="31">
                  <c:v>175.2355517</c:v>
                </c:pt>
                <c:pt idx="32">
                  <c:v>161.48131029999999</c:v>
                </c:pt>
                <c:pt idx="33">
                  <c:v>115.4700345</c:v>
                </c:pt>
                <c:pt idx="34">
                  <c:v>102.24137930000001</c:v>
                </c:pt>
                <c:pt idx="35">
                  <c:v>78.396241380000006</c:v>
                </c:pt>
                <c:pt idx="36">
                  <c:v>80.305103450000004</c:v>
                </c:pt>
                <c:pt idx="37">
                  <c:v>90.665689659999998</c:v>
                </c:pt>
                <c:pt idx="38">
                  <c:v>92.380689660000002</c:v>
                </c:pt>
                <c:pt idx="39">
                  <c:v>97.504448280000005</c:v>
                </c:pt>
                <c:pt idx="40">
                  <c:v>96.620724139999993</c:v>
                </c:pt>
                <c:pt idx="41">
                  <c:v>108.87389659999999</c:v>
                </c:pt>
                <c:pt idx="42">
                  <c:v>101.363</c:v>
                </c:pt>
                <c:pt idx="43">
                  <c:v>105.2132069</c:v>
                </c:pt>
                <c:pt idx="44">
                  <c:v>100.5530345</c:v>
                </c:pt>
                <c:pt idx="45">
                  <c:v>118.42817239999999</c:v>
                </c:pt>
                <c:pt idx="46">
                  <c:v>119.47331029999999</c:v>
                </c:pt>
                <c:pt idx="47">
                  <c:v>107.6698276</c:v>
                </c:pt>
                <c:pt idx="48">
                  <c:v>117.2477241</c:v>
                </c:pt>
                <c:pt idx="49">
                  <c:v>116.2438621</c:v>
                </c:pt>
                <c:pt idx="50">
                  <c:v>127.40413789999999</c:v>
                </c:pt>
                <c:pt idx="51">
                  <c:v>115.41872410000001</c:v>
                </c:pt>
                <c:pt idx="52">
                  <c:v>106.7993448</c:v>
                </c:pt>
                <c:pt idx="53">
                  <c:v>104.8474483</c:v>
                </c:pt>
                <c:pt idx="54">
                  <c:v>107.3851724</c:v>
                </c:pt>
                <c:pt idx="55">
                  <c:v>110.9521379</c:v>
                </c:pt>
                <c:pt idx="56">
                  <c:v>109.7256897</c:v>
                </c:pt>
                <c:pt idx="57">
                  <c:v>109.33679309999999</c:v>
                </c:pt>
                <c:pt idx="58">
                  <c:v>115.6137586</c:v>
                </c:pt>
                <c:pt idx="59">
                  <c:v>117.6536552</c:v>
                </c:pt>
                <c:pt idx="60">
                  <c:v>115.5168621</c:v>
                </c:pt>
                <c:pt idx="61">
                  <c:v>116.0161379</c:v>
                </c:pt>
                <c:pt idx="62">
                  <c:v>100.24617240000001</c:v>
                </c:pt>
                <c:pt idx="63">
                  <c:v>121.87389659999999</c:v>
                </c:pt>
                <c:pt idx="64">
                  <c:v>120.3883103</c:v>
                </c:pt>
                <c:pt idx="65">
                  <c:v>129.10065520000001</c:v>
                </c:pt>
                <c:pt idx="66">
                  <c:v>144.17462069999999</c:v>
                </c:pt>
                <c:pt idx="67">
                  <c:v>156.65689660000001</c:v>
                </c:pt>
                <c:pt idx="68">
                  <c:v>157.7258621</c:v>
                </c:pt>
                <c:pt idx="69">
                  <c:v>219.0636897</c:v>
                </c:pt>
                <c:pt idx="70">
                  <c:v>287.35327590000003</c:v>
                </c:pt>
                <c:pt idx="71">
                  <c:v>295.0718966</c:v>
                </c:pt>
                <c:pt idx="72">
                  <c:v>287.60989660000001</c:v>
                </c:pt>
                <c:pt idx="73">
                  <c:v>281.07510339999999</c:v>
                </c:pt>
                <c:pt idx="74">
                  <c:v>259.24424140000002</c:v>
                </c:pt>
                <c:pt idx="75">
                  <c:v>256.89644829999997</c:v>
                </c:pt>
                <c:pt idx="76">
                  <c:v>284.67806899999999</c:v>
                </c:pt>
                <c:pt idx="77">
                  <c:v>263.6008276</c:v>
                </c:pt>
                <c:pt idx="78">
                  <c:v>249.27586210000001</c:v>
                </c:pt>
                <c:pt idx="79">
                  <c:v>242.15100000000001</c:v>
                </c:pt>
                <c:pt idx="80">
                  <c:v>284.62068970000001</c:v>
                </c:pt>
                <c:pt idx="81">
                  <c:v>262.65517240000003</c:v>
                </c:pt>
                <c:pt idx="82">
                  <c:v>279.56320690000001</c:v>
                </c:pt>
                <c:pt idx="83">
                  <c:v>276.65258619999997</c:v>
                </c:pt>
                <c:pt idx="84">
                  <c:v>280.58937930000002</c:v>
                </c:pt>
                <c:pt idx="85">
                  <c:v>266.58620689999998</c:v>
                </c:pt>
                <c:pt idx="86">
                  <c:v>270.06672409999999</c:v>
                </c:pt>
                <c:pt idx="87">
                  <c:v>247.4651379</c:v>
                </c:pt>
                <c:pt idx="88">
                  <c:v>245.3738276</c:v>
                </c:pt>
                <c:pt idx="89">
                  <c:v>272.2148621</c:v>
                </c:pt>
                <c:pt idx="90">
                  <c:v>247.1034483</c:v>
                </c:pt>
                <c:pt idx="91">
                  <c:v>263.18120690000001</c:v>
                </c:pt>
                <c:pt idx="92">
                  <c:v>268.34182759999999</c:v>
                </c:pt>
                <c:pt idx="93">
                  <c:v>243.44</c:v>
                </c:pt>
                <c:pt idx="94">
                  <c:v>268.47448279999998</c:v>
                </c:pt>
                <c:pt idx="95">
                  <c:v>276.96306900000002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178-4B13-96D9-14C05339D7B4}"/>
            </c:ext>
          </c:extLst>
        </c:ser>
        <c:ser>
          <c:idx val="6"/>
          <c:order val="6"/>
          <c:tx>
            <c:strRef>
              <c:f>Sheet2!$A$8</c:f>
              <c:strCache>
                <c:ptCount val="1"/>
                <c:pt idx="0">
                  <c:v>远景乌拉特储能电站</c:v>
                </c:pt>
              </c:strCache>
            </c:strRef>
          </c:tx>
          <c:spPr>
            <a:ln w="34925" cap="rnd">
              <a:solidFill>
                <a:schemeClr val="accent1">
                  <a:lumMod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Sheet2!$B$1:$CS$1</c:f>
              <c:numCache>
                <c:formatCode>h:mm</c:formatCode>
                <c:ptCount val="96"/>
                <c:pt idx="0">
                  <c:v>1.0416666666666666E-2</c:v>
                </c:pt>
                <c:pt idx="1">
                  <c:v>2.0833333333333332E-2</c:v>
                </c:pt>
                <c:pt idx="2">
                  <c:v>3.125E-2</c:v>
                </c:pt>
                <c:pt idx="3">
                  <c:v>4.1666666666666699E-2</c:v>
                </c:pt>
                <c:pt idx="4">
                  <c:v>5.2083333333333398E-2</c:v>
                </c:pt>
                <c:pt idx="5">
                  <c:v>6.25E-2</c:v>
                </c:pt>
                <c:pt idx="6">
                  <c:v>7.2916666666666699E-2</c:v>
                </c:pt>
                <c:pt idx="7">
                  <c:v>8.3333333333333398E-2</c:v>
                </c:pt>
                <c:pt idx="8">
                  <c:v>9.375E-2</c:v>
                </c:pt>
                <c:pt idx="9">
                  <c:v>0.104166666666667</c:v>
                </c:pt>
                <c:pt idx="10">
                  <c:v>0.11458333333333399</c:v>
                </c:pt>
                <c:pt idx="11">
                  <c:v>0.125</c:v>
                </c:pt>
                <c:pt idx="12">
                  <c:v>0.13541666666666699</c:v>
                </c:pt>
                <c:pt idx="13">
                  <c:v>0.14583333333333401</c:v>
                </c:pt>
                <c:pt idx="14">
                  <c:v>0.15625</c:v>
                </c:pt>
                <c:pt idx="15">
                  <c:v>0.16666666666666699</c:v>
                </c:pt>
                <c:pt idx="16">
                  <c:v>0.17708333333333401</c:v>
                </c:pt>
                <c:pt idx="17">
                  <c:v>0.1875</c:v>
                </c:pt>
                <c:pt idx="18">
                  <c:v>0.19791666666666699</c:v>
                </c:pt>
                <c:pt idx="19">
                  <c:v>0.20833333333333401</c:v>
                </c:pt>
                <c:pt idx="20">
                  <c:v>0.21875</c:v>
                </c:pt>
                <c:pt idx="21">
                  <c:v>0.22916666666666699</c:v>
                </c:pt>
                <c:pt idx="22">
                  <c:v>0.23958333333333401</c:v>
                </c:pt>
                <c:pt idx="23">
                  <c:v>0.25</c:v>
                </c:pt>
                <c:pt idx="24">
                  <c:v>0.26041666666666702</c:v>
                </c:pt>
                <c:pt idx="25">
                  <c:v>0.27083333333333398</c:v>
                </c:pt>
                <c:pt idx="26">
                  <c:v>0.28125</c:v>
                </c:pt>
                <c:pt idx="27">
                  <c:v>0.29166666666666702</c:v>
                </c:pt>
                <c:pt idx="28">
                  <c:v>0.30208333333333398</c:v>
                </c:pt>
                <c:pt idx="29">
                  <c:v>0.3125</c:v>
                </c:pt>
                <c:pt idx="30">
                  <c:v>0.32291666666666702</c:v>
                </c:pt>
                <c:pt idx="31">
                  <c:v>0.33333333333333398</c:v>
                </c:pt>
                <c:pt idx="32">
                  <c:v>0.34375</c:v>
                </c:pt>
                <c:pt idx="33">
                  <c:v>0.35416666666666702</c:v>
                </c:pt>
                <c:pt idx="34">
                  <c:v>0.36458333333333398</c:v>
                </c:pt>
                <c:pt idx="35">
                  <c:v>0.375</c:v>
                </c:pt>
                <c:pt idx="36">
                  <c:v>0.38541666666666702</c:v>
                </c:pt>
                <c:pt idx="37">
                  <c:v>0.39583333333333398</c:v>
                </c:pt>
                <c:pt idx="38">
                  <c:v>0.40625</c:v>
                </c:pt>
                <c:pt idx="39">
                  <c:v>0.41666666666666702</c:v>
                </c:pt>
                <c:pt idx="40">
                  <c:v>0.42708333333333398</c:v>
                </c:pt>
                <c:pt idx="41">
                  <c:v>0.4375</c:v>
                </c:pt>
                <c:pt idx="42">
                  <c:v>0.44791666666666702</c:v>
                </c:pt>
                <c:pt idx="43">
                  <c:v>0.45833333333333398</c:v>
                </c:pt>
                <c:pt idx="44">
                  <c:v>0.46875</c:v>
                </c:pt>
                <c:pt idx="45">
                  <c:v>0.47916666666666702</c:v>
                </c:pt>
                <c:pt idx="46">
                  <c:v>0.48958333333333398</c:v>
                </c:pt>
                <c:pt idx="47">
                  <c:v>0.5</c:v>
                </c:pt>
                <c:pt idx="48">
                  <c:v>0.51041666666666696</c:v>
                </c:pt>
                <c:pt idx="49">
                  <c:v>0.52083333333333404</c:v>
                </c:pt>
                <c:pt idx="50">
                  <c:v>0.53125</c:v>
                </c:pt>
                <c:pt idx="51">
                  <c:v>0.54166666666666696</c:v>
                </c:pt>
                <c:pt idx="52">
                  <c:v>0.55208333333333404</c:v>
                </c:pt>
                <c:pt idx="53">
                  <c:v>0.5625</c:v>
                </c:pt>
                <c:pt idx="54">
                  <c:v>0.57291666666666696</c:v>
                </c:pt>
                <c:pt idx="55">
                  <c:v>0.58333333333333404</c:v>
                </c:pt>
                <c:pt idx="56">
                  <c:v>0.59375</c:v>
                </c:pt>
                <c:pt idx="57">
                  <c:v>0.60416666666666696</c:v>
                </c:pt>
                <c:pt idx="58">
                  <c:v>0.61458333333333404</c:v>
                </c:pt>
                <c:pt idx="59">
                  <c:v>0.625</c:v>
                </c:pt>
                <c:pt idx="60">
                  <c:v>0.63541666666666696</c:v>
                </c:pt>
                <c:pt idx="61">
                  <c:v>0.64583333333333404</c:v>
                </c:pt>
                <c:pt idx="62">
                  <c:v>0.65625</c:v>
                </c:pt>
                <c:pt idx="63">
                  <c:v>0.66666666666666696</c:v>
                </c:pt>
                <c:pt idx="64">
                  <c:v>0.67708333333333404</c:v>
                </c:pt>
                <c:pt idx="65">
                  <c:v>0.6875</c:v>
                </c:pt>
                <c:pt idx="66">
                  <c:v>0.69791666666666696</c:v>
                </c:pt>
                <c:pt idx="67">
                  <c:v>0.70833333333333404</c:v>
                </c:pt>
                <c:pt idx="68">
                  <c:v>0.71875</c:v>
                </c:pt>
                <c:pt idx="69">
                  <c:v>0.72916666666666696</c:v>
                </c:pt>
                <c:pt idx="70">
                  <c:v>0.73958333333333404</c:v>
                </c:pt>
                <c:pt idx="71">
                  <c:v>0.75</c:v>
                </c:pt>
                <c:pt idx="72">
                  <c:v>0.76041666666666696</c:v>
                </c:pt>
                <c:pt idx="73">
                  <c:v>0.77083333333333404</c:v>
                </c:pt>
                <c:pt idx="74">
                  <c:v>0.78125</c:v>
                </c:pt>
                <c:pt idx="75">
                  <c:v>0.79166666666666696</c:v>
                </c:pt>
                <c:pt idx="76">
                  <c:v>0.80208333333333404</c:v>
                </c:pt>
                <c:pt idx="77">
                  <c:v>0.8125</c:v>
                </c:pt>
                <c:pt idx="78">
                  <c:v>0.82291666666666696</c:v>
                </c:pt>
                <c:pt idx="79">
                  <c:v>0.83333333333333404</c:v>
                </c:pt>
                <c:pt idx="80">
                  <c:v>0.84375</c:v>
                </c:pt>
                <c:pt idx="81">
                  <c:v>0.85416666666666696</c:v>
                </c:pt>
                <c:pt idx="82">
                  <c:v>0.86458333333333404</c:v>
                </c:pt>
                <c:pt idx="83">
                  <c:v>0.875</c:v>
                </c:pt>
                <c:pt idx="84">
                  <c:v>0.88541666666666696</c:v>
                </c:pt>
                <c:pt idx="85">
                  <c:v>0.89583333333333404</c:v>
                </c:pt>
                <c:pt idx="86">
                  <c:v>0.90625</c:v>
                </c:pt>
                <c:pt idx="87">
                  <c:v>0.91666666666666696</c:v>
                </c:pt>
                <c:pt idx="88">
                  <c:v>0.92708333333333404</c:v>
                </c:pt>
                <c:pt idx="89">
                  <c:v>0.9375</c:v>
                </c:pt>
                <c:pt idx="90">
                  <c:v>0.94791666666666696</c:v>
                </c:pt>
                <c:pt idx="91">
                  <c:v>0.95833333333333404</c:v>
                </c:pt>
                <c:pt idx="92">
                  <c:v>0.96875</c:v>
                </c:pt>
                <c:pt idx="93">
                  <c:v>0.97916666666666696</c:v>
                </c:pt>
                <c:pt idx="94">
                  <c:v>0.98958333333333404</c:v>
                </c:pt>
                <c:pt idx="95">
                  <c:v>1</c:v>
                </c:pt>
              </c:numCache>
            </c:numRef>
          </c:cat>
          <c:val>
            <c:numRef>
              <c:f>Sheet2!$B$8:$CS$8</c:f>
              <c:numCache>
                <c:formatCode>0.00</c:formatCode>
                <c:ptCount val="96"/>
                <c:pt idx="0">
                  <c:v>343.16873329999999</c:v>
                </c:pt>
                <c:pt idx="1">
                  <c:v>337.5458276</c:v>
                </c:pt>
                <c:pt idx="2">
                  <c:v>277.17489660000001</c:v>
                </c:pt>
                <c:pt idx="3">
                  <c:v>300.38237930000003</c:v>
                </c:pt>
                <c:pt idx="4">
                  <c:v>325.54944829999999</c:v>
                </c:pt>
                <c:pt idx="5">
                  <c:v>313.72624139999999</c:v>
                </c:pt>
                <c:pt idx="6">
                  <c:v>324.6392414</c:v>
                </c:pt>
                <c:pt idx="7">
                  <c:v>316.33720690000001</c:v>
                </c:pt>
                <c:pt idx="8">
                  <c:v>304.82182760000001</c:v>
                </c:pt>
                <c:pt idx="9">
                  <c:v>325.45686210000002</c:v>
                </c:pt>
                <c:pt idx="10">
                  <c:v>296.4567586</c:v>
                </c:pt>
                <c:pt idx="11">
                  <c:v>331.95172409999998</c:v>
                </c:pt>
                <c:pt idx="12">
                  <c:v>331.42165519999998</c:v>
                </c:pt>
                <c:pt idx="13">
                  <c:v>285.77579309999999</c:v>
                </c:pt>
                <c:pt idx="14">
                  <c:v>279.17958620000002</c:v>
                </c:pt>
                <c:pt idx="15">
                  <c:v>285.54468969999999</c:v>
                </c:pt>
                <c:pt idx="16">
                  <c:v>285.91899999999998</c:v>
                </c:pt>
                <c:pt idx="17">
                  <c:v>251.85606899999999</c:v>
                </c:pt>
                <c:pt idx="18">
                  <c:v>248.62537929999999</c:v>
                </c:pt>
                <c:pt idx="19">
                  <c:v>264.56886209999999</c:v>
                </c:pt>
                <c:pt idx="20">
                  <c:v>263.92955169999999</c:v>
                </c:pt>
                <c:pt idx="21">
                  <c:v>268.01989659999998</c:v>
                </c:pt>
                <c:pt idx="22">
                  <c:v>264.35313789999998</c:v>
                </c:pt>
                <c:pt idx="23">
                  <c:v>232.29900000000001</c:v>
                </c:pt>
                <c:pt idx="24">
                  <c:v>225.83082759999999</c:v>
                </c:pt>
                <c:pt idx="25">
                  <c:v>232.08727590000001</c:v>
                </c:pt>
                <c:pt idx="26">
                  <c:v>240.89699999999999</c:v>
                </c:pt>
                <c:pt idx="27">
                  <c:v>244.1287931</c:v>
                </c:pt>
                <c:pt idx="28">
                  <c:v>244.14606900000001</c:v>
                </c:pt>
                <c:pt idx="29">
                  <c:v>247.89024140000001</c:v>
                </c:pt>
                <c:pt idx="30">
                  <c:v>225.5746207</c:v>
                </c:pt>
                <c:pt idx="31">
                  <c:v>183.1838276</c:v>
                </c:pt>
                <c:pt idx="32">
                  <c:v>169.51858619999999</c:v>
                </c:pt>
                <c:pt idx="33">
                  <c:v>119.6291724</c:v>
                </c:pt>
                <c:pt idx="34">
                  <c:v>108.0011379</c:v>
                </c:pt>
                <c:pt idx="35">
                  <c:v>86.96668966</c:v>
                </c:pt>
                <c:pt idx="36">
                  <c:v>94.468724140000006</c:v>
                </c:pt>
                <c:pt idx="37">
                  <c:v>99.552793100000002</c:v>
                </c:pt>
                <c:pt idx="38">
                  <c:v>109.76720690000001</c:v>
                </c:pt>
                <c:pt idx="39">
                  <c:v>110.603069</c:v>
                </c:pt>
                <c:pt idx="40">
                  <c:v>110.4212414</c:v>
                </c:pt>
                <c:pt idx="41">
                  <c:v>125.0103103</c:v>
                </c:pt>
                <c:pt idx="42">
                  <c:v>116.0115862</c:v>
                </c:pt>
                <c:pt idx="43">
                  <c:v>124.8977241</c:v>
                </c:pt>
                <c:pt idx="44">
                  <c:v>125.542931</c:v>
                </c:pt>
                <c:pt idx="45">
                  <c:v>136.5974483</c:v>
                </c:pt>
                <c:pt idx="46">
                  <c:v>126.6673448</c:v>
                </c:pt>
                <c:pt idx="47">
                  <c:v>118.3814483</c:v>
                </c:pt>
                <c:pt idx="48">
                  <c:v>127.4178276</c:v>
                </c:pt>
                <c:pt idx="49">
                  <c:v>126.4849655</c:v>
                </c:pt>
                <c:pt idx="50">
                  <c:v>134.28406899999999</c:v>
                </c:pt>
                <c:pt idx="51">
                  <c:v>125.1074483</c:v>
                </c:pt>
                <c:pt idx="52">
                  <c:v>115.8277586</c:v>
                </c:pt>
                <c:pt idx="53">
                  <c:v>108.26779310000001</c:v>
                </c:pt>
                <c:pt idx="54">
                  <c:v>112.7033103</c:v>
                </c:pt>
                <c:pt idx="55">
                  <c:v>127.79910340000001</c:v>
                </c:pt>
                <c:pt idx="56">
                  <c:v>123.0771379</c:v>
                </c:pt>
                <c:pt idx="57">
                  <c:v>130.08668969999999</c:v>
                </c:pt>
                <c:pt idx="58">
                  <c:v>127.6545172</c:v>
                </c:pt>
                <c:pt idx="59">
                  <c:v>127.7181379</c:v>
                </c:pt>
                <c:pt idx="60">
                  <c:v>127.26058620000001</c:v>
                </c:pt>
                <c:pt idx="61">
                  <c:v>125.8562759</c:v>
                </c:pt>
                <c:pt idx="62">
                  <c:v>110.15475859999999</c:v>
                </c:pt>
                <c:pt idx="63">
                  <c:v>132.62462070000001</c:v>
                </c:pt>
                <c:pt idx="64">
                  <c:v>133.5505862</c:v>
                </c:pt>
                <c:pt idx="65">
                  <c:v>147.5359655</c:v>
                </c:pt>
                <c:pt idx="66">
                  <c:v>168.91789660000001</c:v>
                </c:pt>
                <c:pt idx="67">
                  <c:v>179.210069</c:v>
                </c:pt>
                <c:pt idx="68">
                  <c:v>190.43906899999999</c:v>
                </c:pt>
                <c:pt idx="69">
                  <c:v>235.76958619999999</c:v>
                </c:pt>
                <c:pt idx="70">
                  <c:v>310.42017240000001</c:v>
                </c:pt>
                <c:pt idx="71">
                  <c:v>306.2861724</c:v>
                </c:pt>
                <c:pt idx="72">
                  <c:v>308.46420690000002</c:v>
                </c:pt>
                <c:pt idx="73">
                  <c:v>289.02337929999999</c:v>
                </c:pt>
                <c:pt idx="74">
                  <c:v>274.15803449999999</c:v>
                </c:pt>
                <c:pt idx="75">
                  <c:v>291.46541380000002</c:v>
                </c:pt>
                <c:pt idx="76">
                  <c:v>301.74703449999998</c:v>
                </c:pt>
                <c:pt idx="77">
                  <c:v>275.70427590000003</c:v>
                </c:pt>
                <c:pt idx="78">
                  <c:v>263.20172409999998</c:v>
                </c:pt>
                <c:pt idx="79">
                  <c:v>257.04041380000001</c:v>
                </c:pt>
                <c:pt idx="80">
                  <c:v>286.73275860000001</c:v>
                </c:pt>
                <c:pt idx="81">
                  <c:v>262.65517240000003</c:v>
                </c:pt>
                <c:pt idx="82">
                  <c:v>279.71427590000002</c:v>
                </c:pt>
                <c:pt idx="83">
                  <c:v>276.77096549999999</c:v>
                </c:pt>
                <c:pt idx="84">
                  <c:v>281.38248279999999</c:v>
                </c:pt>
                <c:pt idx="85">
                  <c:v>267.37931029999999</c:v>
                </c:pt>
                <c:pt idx="86">
                  <c:v>271.79172410000001</c:v>
                </c:pt>
                <c:pt idx="87">
                  <c:v>251.72389659999999</c:v>
                </c:pt>
                <c:pt idx="88">
                  <c:v>249.89958619999999</c:v>
                </c:pt>
                <c:pt idx="89">
                  <c:v>276.47831029999998</c:v>
                </c:pt>
                <c:pt idx="90">
                  <c:v>251.3448276</c:v>
                </c:pt>
                <c:pt idx="91">
                  <c:v>267.14151720000001</c:v>
                </c:pt>
                <c:pt idx="92">
                  <c:v>272.08465519999999</c:v>
                </c:pt>
                <c:pt idx="93">
                  <c:v>247.34193099999999</c:v>
                </c:pt>
                <c:pt idx="94">
                  <c:v>272.59882759999999</c:v>
                </c:pt>
                <c:pt idx="95">
                  <c:v>281.72899999999998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178-4B13-96D9-14C05339D7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30852736"/>
        <c:axId val="830857536"/>
      </c:lineChart>
      <c:catAx>
        <c:axId val="830852736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30857536"/>
        <c:crosses val="autoZero"/>
        <c:auto val="1"/>
        <c:lblAlgn val="ctr"/>
        <c:lblOffset val="100"/>
        <c:noMultiLvlLbl val="0"/>
      </c:catAx>
      <c:valAx>
        <c:axId val="83085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30852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en-US"/>
              <a:t>6.29</a:t>
            </a:r>
            <a:endParaRPr 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景通四益堂储能电站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Sheet1!$B$1:$CV$1</c:f>
              <c:strCache>
                <c:ptCount val="96"/>
                <c:pt idx="0">
                  <c:v>0:00</c:v>
                </c:pt>
                <c:pt idx="1">
                  <c:v>0:15</c:v>
                </c:pt>
                <c:pt idx="2">
                  <c:v>0:30</c:v>
                </c:pt>
                <c:pt idx="3">
                  <c:v>0:45</c:v>
                </c:pt>
                <c:pt idx="4">
                  <c:v>1:00</c:v>
                </c:pt>
                <c:pt idx="5">
                  <c:v>1:15</c:v>
                </c:pt>
                <c:pt idx="6">
                  <c:v>1:30</c:v>
                </c:pt>
                <c:pt idx="7">
                  <c:v>1:45</c:v>
                </c:pt>
                <c:pt idx="8">
                  <c:v>2:00</c:v>
                </c:pt>
                <c:pt idx="9">
                  <c:v>2:15</c:v>
                </c:pt>
                <c:pt idx="10">
                  <c:v>2:30</c:v>
                </c:pt>
                <c:pt idx="11">
                  <c:v>2:45</c:v>
                </c:pt>
                <c:pt idx="12">
                  <c:v>3:00</c:v>
                </c:pt>
                <c:pt idx="13">
                  <c:v>3:15</c:v>
                </c:pt>
                <c:pt idx="14">
                  <c:v>3:30</c:v>
                </c:pt>
                <c:pt idx="15">
                  <c:v>3:45</c:v>
                </c:pt>
                <c:pt idx="16">
                  <c:v>4:00</c:v>
                </c:pt>
                <c:pt idx="17">
                  <c:v>4:15</c:v>
                </c:pt>
                <c:pt idx="18">
                  <c:v>4:30</c:v>
                </c:pt>
                <c:pt idx="19">
                  <c:v>4:45</c:v>
                </c:pt>
                <c:pt idx="20">
                  <c:v>5:00</c:v>
                </c:pt>
                <c:pt idx="21">
                  <c:v>5:15</c:v>
                </c:pt>
                <c:pt idx="22">
                  <c:v>5:30</c:v>
                </c:pt>
                <c:pt idx="23">
                  <c:v>5:45</c:v>
                </c:pt>
                <c:pt idx="24">
                  <c:v>6:00</c:v>
                </c:pt>
                <c:pt idx="25">
                  <c:v>6:15</c:v>
                </c:pt>
                <c:pt idx="26">
                  <c:v>6:30</c:v>
                </c:pt>
                <c:pt idx="27">
                  <c:v>6:45</c:v>
                </c:pt>
                <c:pt idx="28">
                  <c:v>7:00</c:v>
                </c:pt>
                <c:pt idx="29">
                  <c:v>7:15</c:v>
                </c:pt>
                <c:pt idx="30">
                  <c:v>7:30</c:v>
                </c:pt>
                <c:pt idx="31">
                  <c:v>7:45</c:v>
                </c:pt>
                <c:pt idx="32">
                  <c:v>8:00</c:v>
                </c:pt>
                <c:pt idx="33">
                  <c:v>8:15</c:v>
                </c:pt>
                <c:pt idx="34">
                  <c:v>8:30</c:v>
                </c:pt>
                <c:pt idx="35">
                  <c:v>8:45</c:v>
                </c:pt>
                <c:pt idx="36">
                  <c:v>9:00</c:v>
                </c:pt>
                <c:pt idx="37">
                  <c:v>9:15</c:v>
                </c:pt>
                <c:pt idx="38">
                  <c:v>9:30</c:v>
                </c:pt>
                <c:pt idx="39">
                  <c:v>9:45</c:v>
                </c:pt>
                <c:pt idx="40">
                  <c:v>10:00</c:v>
                </c:pt>
                <c:pt idx="41">
                  <c:v>10:15</c:v>
                </c:pt>
                <c:pt idx="42">
                  <c:v>10:30</c:v>
                </c:pt>
                <c:pt idx="43">
                  <c:v>10:45</c:v>
                </c:pt>
                <c:pt idx="44">
                  <c:v>11:00</c:v>
                </c:pt>
                <c:pt idx="45">
                  <c:v>11:15</c:v>
                </c:pt>
                <c:pt idx="46">
                  <c:v>11:30</c:v>
                </c:pt>
                <c:pt idx="47">
                  <c:v>11:45</c:v>
                </c:pt>
                <c:pt idx="48">
                  <c:v>12:00</c:v>
                </c:pt>
                <c:pt idx="49">
                  <c:v>12:15</c:v>
                </c:pt>
                <c:pt idx="50">
                  <c:v>12:30</c:v>
                </c:pt>
                <c:pt idx="51">
                  <c:v>12:45</c:v>
                </c:pt>
                <c:pt idx="52">
                  <c:v>13:00</c:v>
                </c:pt>
                <c:pt idx="53">
                  <c:v>13:15</c:v>
                </c:pt>
                <c:pt idx="54">
                  <c:v>13:30</c:v>
                </c:pt>
                <c:pt idx="55">
                  <c:v>13:45</c:v>
                </c:pt>
                <c:pt idx="56">
                  <c:v>14:00</c:v>
                </c:pt>
                <c:pt idx="57">
                  <c:v>14:15</c:v>
                </c:pt>
                <c:pt idx="58">
                  <c:v>14:30</c:v>
                </c:pt>
                <c:pt idx="59">
                  <c:v>14:45</c:v>
                </c:pt>
                <c:pt idx="60">
                  <c:v>15:00</c:v>
                </c:pt>
                <c:pt idx="61">
                  <c:v>15:15</c:v>
                </c:pt>
                <c:pt idx="62">
                  <c:v>15:30</c:v>
                </c:pt>
                <c:pt idx="63">
                  <c:v>15:45</c:v>
                </c:pt>
                <c:pt idx="64">
                  <c:v>16:00</c:v>
                </c:pt>
                <c:pt idx="65">
                  <c:v>16:15</c:v>
                </c:pt>
                <c:pt idx="66">
                  <c:v>16:30</c:v>
                </c:pt>
                <c:pt idx="67">
                  <c:v>16:45</c:v>
                </c:pt>
                <c:pt idx="68">
                  <c:v>17:00</c:v>
                </c:pt>
                <c:pt idx="69">
                  <c:v>17:15</c:v>
                </c:pt>
                <c:pt idx="70">
                  <c:v>17:30</c:v>
                </c:pt>
                <c:pt idx="71">
                  <c:v>17:45</c:v>
                </c:pt>
                <c:pt idx="72">
                  <c:v>18:00</c:v>
                </c:pt>
                <c:pt idx="73">
                  <c:v>18:15</c:v>
                </c:pt>
                <c:pt idx="74">
                  <c:v>18:30</c:v>
                </c:pt>
                <c:pt idx="75">
                  <c:v>18:45</c:v>
                </c:pt>
                <c:pt idx="76">
                  <c:v>19:00</c:v>
                </c:pt>
                <c:pt idx="77">
                  <c:v>19:15</c:v>
                </c:pt>
                <c:pt idx="78">
                  <c:v>19:30</c:v>
                </c:pt>
                <c:pt idx="79">
                  <c:v>19:45</c:v>
                </c:pt>
                <c:pt idx="80">
                  <c:v>20:00</c:v>
                </c:pt>
                <c:pt idx="81">
                  <c:v>20:15</c:v>
                </c:pt>
                <c:pt idx="82">
                  <c:v>20:30</c:v>
                </c:pt>
                <c:pt idx="83">
                  <c:v>20:45</c:v>
                </c:pt>
                <c:pt idx="84">
                  <c:v>21:00</c:v>
                </c:pt>
                <c:pt idx="85">
                  <c:v>21:15</c:v>
                </c:pt>
                <c:pt idx="86">
                  <c:v>21:30</c:v>
                </c:pt>
                <c:pt idx="87">
                  <c:v>21:45</c:v>
                </c:pt>
                <c:pt idx="88">
                  <c:v>22:00</c:v>
                </c:pt>
                <c:pt idx="89">
                  <c:v>22:15</c:v>
                </c:pt>
                <c:pt idx="90">
                  <c:v>22:30</c:v>
                </c:pt>
                <c:pt idx="91">
                  <c:v>22:45</c:v>
                </c:pt>
                <c:pt idx="92">
                  <c:v>23:00</c:v>
                </c:pt>
                <c:pt idx="93">
                  <c:v>23:15</c:v>
                </c:pt>
                <c:pt idx="94">
                  <c:v>23:30</c:v>
                </c:pt>
                <c:pt idx="95">
                  <c:v>23:45</c:v>
                </c:pt>
              </c:strCache>
            </c:strRef>
          </c:cat>
          <c:val>
            <c:numRef>
              <c:f>Sheet1!$B$2:$CV$2</c:f>
              <c:numCache>
                <c:formatCode>General</c:formatCode>
                <c:ptCount val="96"/>
                <c:pt idx="0">
                  <c:v>16</c:v>
                </c:pt>
                <c:pt idx="1">
                  <c:v>0</c:v>
                </c:pt>
                <c:pt idx="2">
                  <c:v>-32</c:v>
                </c:pt>
                <c:pt idx="3">
                  <c:v>-80</c:v>
                </c:pt>
                <c:pt idx="4">
                  <c:v>-100</c:v>
                </c:pt>
                <c:pt idx="5">
                  <c:v>-100</c:v>
                </c:pt>
                <c:pt idx="6">
                  <c:v>-100</c:v>
                </c:pt>
                <c:pt idx="7">
                  <c:v>-100</c:v>
                </c:pt>
                <c:pt idx="8">
                  <c:v>-100</c:v>
                </c:pt>
                <c:pt idx="9">
                  <c:v>-100</c:v>
                </c:pt>
                <c:pt idx="10">
                  <c:v>-80</c:v>
                </c:pt>
                <c:pt idx="11">
                  <c:v>-32</c:v>
                </c:pt>
                <c:pt idx="12">
                  <c:v>16</c:v>
                </c:pt>
                <c:pt idx="13">
                  <c:v>64</c:v>
                </c:pt>
                <c:pt idx="14">
                  <c:v>64</c:v>
                </c:pt>
                <c:pt idx="15">
                  <c:v>64</c:v>
                </c:pt>
                <c:pt idx="16">
                  <c:v>64</c:v>
                </c:pt>
                <c:pt idx="17">
                  <c:v>64</c:v>
                </c:pt>
                <c:pt idx="18">
                  <c:v>64</c:v>
                </c:pt>
                <c:pt idx="19">
                  <c:v>64</c:v>
                </c:pt>
                <c:pt idx="20">
                  <c:v>64</c:v>
                </c:pt>
                <c:pt idx="21">
                  <c:v>64</c:v>
                </c:pt>
                <c:pt idx="22">
                  <c:v>64</c:v>
                </c:pt>
                <c:pt idx="23">
                  <c:v>64</c:v>
                </c:pt>
                <c:pt idx="24">
                  <c:v>64</c:v>
                </c:pt>
                <c:pt idx="25">
                  <c:v>32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-48</c:v>
                </c:pt>
                <c:pt idx="40">
                  <c:v>-80</c:v>
                </c:pt>
                <c:pt idx="41">
                  <c:v>-100</c:v>
                </c:pt>
                <c:pt idx="42">
                  <c:v>-100</c:v>
                </c:pt>
                <c:pt idx="43">
                  <c:v>-100</c:v>
                </c:pt>
                <c:pt idx="44">
                  <c:v>-50.5</c:v>
                </c:pt>
                <c:pt idx="45">
                  <c:v>-40.107999999999997</c:v>
                </c:pt>
                <c:pt idx="46">
                  <c:v>-89.608000000000004</c:v>
                </c:pt>
                <c:pt idx="47">
                  <c:v>-100</c:v>
                </c:pt>
                <c:pt idx="48">
                  <c:v>-100</c:v>
                </c:pt>
                <c:pt idx="49">
                  <c:v>-100</c:v>
                </c:pt>
                <c:pt idx="50">
                  <c:v>-100</c:v>
                </c:pt>
                <c:pt idx="51">
                  <c:v>-100</c:v>
                </c:pt>
                <c:pt idx="52">
                  <c:v>-100</c:v>
                </c:pt>
                <c:pt idx="53">
                  <c:v>-100</c:v>
                </c:pt>
                <c:pt idx="54">
                  <c:v>-80</c:v>
                </c:pt>
                <c:pt idx="55">
                  <c:v>-48</c:v>
                </c:pt>
                <c:pt idx="56">
                  <c:v>-16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1E-3</c:v>
                </c:pt>
                <c:pt idx="77">
                  <c:v>47.713000000000001</c:v>
                </c:pt>
                <c:pt idx="78">
                  <c:v>97.210999999999999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64</c:v>
                </c:pt>
                <c:pt idx="91">
                  <c:v>16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5D-4B37-B61D-06006B1F7C7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景蓝乌尔图储能电站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Sheet1!$B$1:$CV$1</c:f>
              <c:strCache>
                <c:ptCount val="96"/>
                <c:pt idx="0">
                  <c:v>0:00</c:v>
                </c:pt>
                <c:pt idx="1">
                  <c:v>0:15</c:v>
                </c:pt>
                <c:pt idx="2">
                  <c:v>0:30</c:v>
                </c:pt>
                <c:pt idx="3">
                  <c:v>0:45</c:v>
                </c:pt>
                <c:pt idx="4">
                  <c:v>1:00</c:v>
                </c:pt>
                <c:pt idx="5">
                  <c:v>1:15</c:v>
                </c:pt>
                <c:pt idx="6">
                  <c:v>1:30</c:v>
                </c:pt>
                <c:pt idx="7">
                  <c:v>1:45</c:v>
                </c:pt>
                <c:pt idx="8">
                  <c:v>2:00</c:v>
                </c:pt>
                <c:pt idx="9">
                  <c:v>2:15</c:v>
                </c:pt>
                <c:pt idx="10">
                  <c:v>2:30</c:v>
                </c:pt>
                <c:pt idx="11">
                  <c:v>2:45</c:v>
                </c:pt>
                <c:pt idx="12">
                  <c:v>3:00</c:v>
                </c:pt>
                <c:pt idx="13">
                  <c:v>3:15</c:v>
                </c:pt>
                <c:pt idx="14">
                  <c:v>3:30</c:v>
                </c:pt>
                <c:pt idx="15">
                  <c:v>3:45</c:v>
                </c:pt>
                <c:pt idx="16">
                  <c:v>4:00</c:v>
                </c:pt>
                <c:pt idx="17">
                  <c:v>4:15</c:v>
                </c:pt>
                <c:pt idx="18">
                  <c:v>4:30</c:v>
                </c:pt>
                <c:pt idx="19">
                  <c:v>4:45</c:v>
                </c:pt>
                <c:pt idx="20">
                  <c:v>5:00</c:v>
                </c:pt>
                <c:pt idx="21">
                  <c:v>5:15</c:v>
                </c:pt>
                <c:pt idx="22">
                  <c:v>5:30</c:v>
                </c:pt>
                <c:pt idx="23">
                  <c:v>5:45</c:v>
                </c:pt>
                <c:pt idx="24">
                  <c:v>6:00</c:v>
                </c:pt>
                <c:pt idx="25">
                  <c:v>6:15</c:v>
                </c:pt>
                <c:pt idx="26">
                  <c:v>6:30</c:v>
                </c:pt>
                <c:pt idx="27">
                  <c:v>6:45</c:v>
                </c:pt>
                <c:pt idx="28">
                  <c:v>7:00</c:v>
                </c:pt>
                <c:pt idx="29">
                  <c:v>7:15</c:v>
                </c:pt>
                <c:pt idx="30">
                  <c:v>7:30</c:v>
                </c:pt>
                <c:pt idx="31">
                  <c:v>7:45</c:v>
                </c:pt>
                <c:pt idx="32">
                  <c:v>8:00</c:v>
                </c:pt>
                <c:pt idx="33">
                  <c:v>8:15</c:v>
                </c:pt>
                <c:pt idx="34">
                  <c:v>8:30</c:v>
                </c:pt>
                <c:pt idx="35">
                  <c:v>8:45</c:v>
                </c:pt>
                <c:pt idx="36">
                  <c:v>9:00</c:v>
                </c:pt>
                <c:pt idx="37">
                  <c:v>9:15</c:v>
                </c:pt>
                <c:pt idx="38">
                  <c:v>9:30</c:v>
                </c:pt>
                <c:pt idx="39">
                  <c:v>9:45</c:v>
                </c:pt>
                <c:pt idx="40">
                  <c:v>10:00</c:v>
                </c:pt>
                <c:pt idx="41">
                  <c:v>10:15</c:v>
                </c:pt>
                <c:pt idx="42">
                  <c:v>10:30</c:v>
                </c:pt>
                <c:pt idx="43">
                  <c:v>10:45</c:v>
                </c:pt>
                <c:pt idx="44">
                  <c:v>11:00</c:v>
                </c:pt>
                <c:pt idx="45">
                  <c:v>11:15</c:v>
                </c:pt>
                <c:pt idx="46">
                  <c:v>11:30</c:v>
                </c:pt>
                <c:pt idx="47">
                  <c:v>11:45</c:v>
                </c:pt>
                <c:pt idx="48">
                  <c:v>12:00</c:v>
                </c:pt>
                <c:pt idx="49">
                  <c:v>12:15</c:v>
                </c:pt>
                <c:pt idx="50">
                  <c:v>12:30</c:v>
                </c:pt>
                <c:pt idx="51">
                  <c:v>12:45</c:v>
                </c:pt>
                <c:pt idx="52">
                  <c:v>13:00</c:v>
                </c:pt>
                <c:pt idx="53">
                  <c:v>13:15</c:v>
                </c:pt>
                <c:pt idx="54">
                  <c:v>13:30</c:v>
                </c:pt>
                <c:pt idx="55">
                  <c:v>13:45</c:v>
                </c:pt>
                <c:pt idx="56">
                  <c:v>14:00</c:v>
                </c:pt>
                <c:pt idx="57">
                  <c:v>14:15</c:v>
                </c:pt>
                <c:pt idx="58">
                  <c:v>14:30</c:v>
                </c:pt>
                <c:pt idx="59">
                  <c:v>14:45</c:v>
                </c:pt>
                <c:pt idx="60">
                  <c:v>15:00</c:v>
                </c:pt>
                <c:pt idx="61">
                  <c:v>15:15</c:v>
                </c:pt>
                <c:pt idx="62">
                  <c:v>15:30</c:v>
                </c:pt>
                <c:pt idx="63">
                  <c:v>15:45</c:v>
                </c:pt>
                <c:pt idx="64">
                  <c:v>16:00</c:v>
                </c:pt>
                <c:pt idx="65">
                  <c:v>16:15</c:v>
                </c:pt>
                <c:pt idx="66">
                  <c:v>16:30</c:v>
                </c:pt>
                <c:pt idx="67">
                  <c:v>16:45</c:v>
                </c:pt>
                <c:pt idx="68">
                  <c:v>17:00</c:v>
                </c:pt>
                <c:pt idx="69">
                  <c:v>17:15</c:v>
                </c:pt>
                <c:pt idx="70">
                  <c:v>17:30</c:v>
                </c:pt>
                <c:pt idx="71">
                  <c:v>17:45</c:v>
                </c:pt>
                <c:pt idx="72">
                  <c:v>18:00</c:v>
                </c:pt>
                <c:pt idx="73">
                  <c:v>18:15</c:v>
                </c:pt>
                <c:pt idx="74">
                  <c:v>18:30</c:v>
                </c:pt>
                <c:pt idx="75">
                  <c:v>18:45</c:v>
                </c:pt>
                <c:pt idx="76">
                  <c:v>19:00</c:v>
                </c:pt>
                <c:pt idx="77">
                  <c:v>19:15</c:v>
                </c:pt>
                <c:pt idx="78">
                  <c:v>19:30</c:v>
                </c:pt>
                <c:pt idx="79">
                  <c:v>19:45</c:v>
                </c:pt>
                <c:pt idx="80">
                  <c:v>20:00</c:v>
                </c:pt>
                <c:pt idx="81">
                  <c:v>20:15</c:v>
                </c:pt>
                <c:pt idx="82">
                  <c:v>20:30</c:v>
                </c:pt>
                <c:pt idx="83">
                  <c:v>20:45</c:v>
                </c:pt>
                <c:pt idx="84">
                  <c:v>21:00</c:v>
                </c:pt>
                <c:pt idx="85">
                  <c:v>21:15</c:v>
                </c:pt>
                <c:pt idx="86">
                  <c:v>21:30</c:v>
                </c:pt>
                <c:pt idx="87">
                  <c:v>21:45</c:v>
                </c:pt>
                <c:pt idx="88">
                  <c:v>22:00</c:v>
                </c:pt>
                <c:pt idx="89">
                  <c:v>22:15</c:v>
                </c:pt>
                <c:pt idx="90">
                  <c:v>22:30</c:v>
                </c:pt>
                <c:pt idx="91">
                  <c:v>22:45</c:v>
                </c:pt>
                <c:pt idx="92">
                  <c:v>23:00</c:v>
                </c:pt>
                <c:pt idx="93">
                  <c:v>23:15</c:v>
                </c:pt>
                <c:pt idx="94">
                  <c:v>23:30</c:v>
                </c:pt>
                <c:pt idx="95">
                  <c:v>23:45</c:v>
                </c:pt>
              </c:strCache>
            </c:strRef>
          </c:cat>
          <c:val>
            <c:numRef>
              <c:f>Sheet1!$B$3:$CV$3</c:f>
              <c:numCache>
                <c:formatCode>General</c:formatCode>
                <c:ptCount val="96"/>
                <c:pt idx="0">
                  <c:v>16</c:v>
                </c:pt>
                <c:pt idx="1">
                  <c:v>-48</c:v>
                </c:pt>
                <c:pt idx="2">
                  <c:v>-66</c:v>
                </c:pt>
                <c:pt idx="3">
                  <c:v>-67</c:v>
                </c:pt>
                <c:pt idx="4">
                  <c:v>-67</c:v>
                </c:pt>
                <c:pt idx="5">
                  <c:v>-67</c:v>
                </c:pt>
                <c:pt idx="6">
                  <c:v>-67</c:v>
                </c:pt>
                <c:pt idx="7">
                  <c:v>-67</c:v>
                </c:pt>
                <c:pt idx="8">
                  <c:v>-67</c:v>
                </c:pt>
                <c:pt idx="9">
                  <c:v>-67</c:v>
                </c:pt>
                <c:pt idx="10">
                  <c:v>-67</c:v>
                </c:pt>
                <c:pt idx="11">
                  <c:v>-67</c:v>
                </c:pt>
                <c:pt idx="12">
                  <c:v>-64</c:v>
                </c:pt>
                <c:pt idx="13">
                  <c:v>-16</c:v>
                </c:pt>
                <c:pt idx="14">
                  <c:v>0</c:v>
                </c:pt>
                <c:pt idx="15">
                  <c:v>48</c:v>
                </c:pt>
                <c:pt idx="16">
                  <c:v>59</c:v>
                </c:pt>
                <c:pt idx="17">
                  <c:v>59</c:v>
                </c:pt>
                <c:pt idx="18">
                  <c:v>59</c:v>
                </c:pt>
                <c:pt idx="19">
                  <c:v>59</c:v>
                </c:pt>
                <c:pt idx="20">
                  <c:v>59</c:v>
                </c:pt>
                <c:pt idx="21">
                  <c:v>59</c:v>
                </c:pt>
                <c:pt idx="22">
                  <c:v>59</c:v>
                </c:pt>
                <c:pt idx="23">
                  <c:v>59</c:v>
                </c:pt>
                <c:pt idx="24">
                  <c:v>59</c:v>
                </c:pt>
                <c:pt idx="25">
                  <c:v>59</c:v>
                </c:pt>
                <c:pt idx="26">
                  <c:v>58</c:v>
                </c:pt>
                <c:pt idx="27">
                  <c:v>58</c:v>
                </c:pt>
                <c:pt idx="28">
                  <c:v>58</c:v>
                </c:pt>
                <c:pt idx="29">
                  <c:v>16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-48</c:v>
                </c:pt>
                <c:pt idx="42">
                  <c:v>-73</c:v>
                </c:pt>
                <c:pt idx="43">
                  <c:v>-49.5</c:v>
                </c:pt>
                <c:pt idx="44">
                  <c:v>-9.9999999999999995E-7</c:v>
                </c:pt>
                <c:pt idx="45">
                  <c:v>-9.9999999999999995E-7</c:v>
                </c:pt>
                <c:pt idx="46">
                  <c:v>-23.5</c:v>
                </c:pt>
                <c:pt idx="47">
                  <c:v>-73</c:v>
                </c:pt>
                <c:pt idx="48">
                  <c:v>-73</c:v>
                </c:pt>
                <c:pt idx="49">
                  <c:v>-73</c:v>
                </c:pt>
                <c:pt idx="50">
                  <c:v>-73</c:v>
                </c:pt>
                <c:pt idx="51">
                  <c:v>-73</c:v>
                </c:pt>
                <c:pt idx="52">
                  <c:v>-73</c:v>
                </c:pt>
                <c:pt idx="53">
                  <c:v>-73</c:v>
                </c:pt>
                <c:pt idx="54">
                  <c:v>-74</c:v>
                </c:pt>
                <c:pt idx="55">
                  <c:v>-74</c:v>
                </c:pt>
                <c:pt idx="56">
                  <c:v>-74</c:v>
                </c:pt>
                <c:pt idx="57">
                  <c:v>-74</c:v>
                </c:pt>
                <c:pt idx="58">
                  <c:v>-74</c:v>
                </c:pt>
                <c:pt idx="59">
                  <c:v>-74</c:v>
                </c:pt>
                <c:pt idx="60">
                  <c:v>-74</c:v>
                </c:pt>
                <c:pt idx="61">
                  <c:v>-74</c:v>
                </c:pt>
                <c:pt idx="62">
                  <c:v>-64</c:v>
                </c:pt>
                <c:pt idx="63">
                  <c:v>-16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48</c:v>
                </c:pt>
                <c:pt idx="73">
                  <c:v>48</c:v>
                </c:pt>
                <c:pt idx="74">
                  <c:v>48</c:v>
                </c:pt>
                <c:pt idx="75">
                  <c:v>48</c:v>
                </c:pt>
                <c:pt idx="76">
                  <c:v>48</c:v>
                </c:pt>
                <c:pt idx="77">
                  <c:v>48</c:v>
                </c:pt>
                <c:pt idx="78">
                  <c:v>48</c:v>
                </c:pt>
                <c:pt idx="79">
                  <c:v>48</c:v>
                </c:pt>
                <c:pt idx="80">
                  <c:v>48</c:v>
                </c:pt>
                <c:pt idx="81">
                  <c:v>48</c:v>
                </c:pt>
                <c:pt idx="82">
                  <c:v>48</c:v>
                </c:pt>
                <c:pt idx="83">
                  <c:v>48</c:v>
                </c:pt>
                <c:pt idx="84">
                  <c:v>48</c:v>
                </c:pt>
                <c:pt idx="85">
                  <c:v>48</c:v>
                </c:pt>
                <c:pt idx="86">
                  <c:v>48</c:v>
                </c:pt>
                <c:pt idx="87">
                  <c:v>48</c:v>
                </c:pt>
                <c:pt idx="88">
                  <c:v>48</c:v>
                </c:pt>
                <c:pt idx="89">
                  <c:v>48</c:v>
                </c:pt>
                <c:pt idx="90">
                  <c:v>48</c:v>
                </c:pt>
                <c:pt idx="91">
                  <c:v>48</c:v>
                </c:pt>
                <c:pt idx="92">
                  <c:v>48</c:v>
                </c:pt>
                <c:pt idx="93">
                  <c:v>32</c:v>
                </c:pt>
                <c:pt idx="94">
                  <c:v>32</c:v>
                </c:pt>
                <c:pt idx="95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5D-4B37-B61D-06006B1F7C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1044832"/>
        <c:axId val="1331059232"/>
      </c:barChart>
      <c:lineChart>
        <c:grouping val="standard"/>
        <c:varyColors val="0"/>
        <c:ser>
          <c:idx val="2"/>
          <c:order val="2"/>
          <c:tx>
            <c:strRef>
              <c:f>Sheet1!$A$4</c:f>
              <c:strCache>
                <c:ptCount val="1"/>
                <c:pt idx="0">
                  <c:v>价格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Sheet1!$B$1:$CV$1</c:f>
              <c:strCache>
                <c:ptCount val="96"/>
                <c:pt idx="0">
                  <c:v>0:00</c:v>
                </c:pt>
                <c:pt idx="1">
                  <c:v>0:15</c:v>
                </c:pt>
                <c:pt idx="2">
                  <c:v>0:30</c:v>
                </c:pt>
                <c:pt idx="3">
                  <c:v>0:45</c:v>
                </c:pt>
                <c:pt idx="4">
                  <c:v>1:00</c:v>
                </c:pt>
                <c:pt idx="5">
                  <c:v>1:15</c:v>
                </c:pt>
                <c:pt idx="6">
                  <c:v>1:30</c:v>
                </c:pt>
                <c:pt idx="7">
                  <c:v>1:45</c:v>
                </c:pt>
                <c:pt idx="8">
                  <c:v>2:00</c:v>
                </c:pt>
                <c:pt idx="9">
                  <c:v>2:15</c:v>
                </c:pt>
                <c:pt idx="10">
                  <c:v>2:30</c:v>
                </c:pt>
                <c:pt idx="11">
                  <c:v>2:45</c:v>
                </c:pt>
                <c:pt idx="12">
                  <c:v>3:00</c:v>
                </c:pt>
                <c:pt idx="13">
                  <c:v>3:15</c:v>
                </c:pt>
                <c:pt idx="14">
                  <c:v>3:30</c:v>
                </c:pt>
                <c:pt idx="15">
                  <c:v>3:45</c:v>
                </c:pt>
                <c:pt idx="16">
                  <c:v>4:00</c:v>
                </c:pt>
                <c:pt idx="17">
                  <c:v>4:15</c:v>
                </c:pt>
                <c:pt idx="18">
                  <c:v>4:30</c:v>
                </c:pt>
                <c:pt idx="19">
                  <c:v>4:45</c:v>
                </c:pt>
                <c:pt idx="20">
                  <c:v>5:00</c:v>
                </c:pt>
                <c:pt idx="21">
                  <c:v>5:15</c:v>
                </c:pt>
                <c:pt idx="22">
                  <c:v>5:30</c:v>
                </c:pt>
                <c:pt idx="23">
                  <c:v>5:45</c:v>
                </c:pt>
                <c:pt idx="24">
                  <c:v>6:00</c:v>
                </c:pt>
                <c:pt idx="25">
                  <c:v>6:15</c:v>
                </c:pt>
                <c:pt idx="26">
                  <c:v>6:30</c:v>
                </c:pt>
                <c:pt idx="27">
                  <c:v>6:45</c:v>
                </c:pt>
                <c:pt idx="28">
                  <c:v>7:00</c:v>
                </c:pt>
                <c:pt idx="29">
                  <c:v>7:15</c:v>
                </c:pt>
                <c:pt idx="30">
                  <c:v>7:30</c:v>
                </c:pt>
                <c:pt idx="31">
                  <c:v>7:45</c:v>
                </c:pt>
                <c:pt idx="32">
                  <c:v>8:00</c:v>
                </c:pt>
                <c:pt idx="33">
                  <c:v>8:15</c:v>
                </c:pt>
                <c:pt idx="34">
                  <c:v>8:30</c:v>
                </c:pt>
                <c:pt idx="35">
                  <c:v>8:45</c:v>
                </c:pt>
                <c:pt idx="36">
                  <c:v>9:00</c:v>
                </c:pt>
                <c:pt idx="37">
                  <c:v>9:15</c:v>
                </c:pt>
                <c:pt idx="38">
                  <c:v>9:30</c:v>
                </c:pt>
                <c:pt idx="39">
                  <c:v>9:45</c:v>
                </c:pt>
                <c:pt idx="40">
                  <c:v>10:00</c:v>
                </c:pt>
                <c:pt idx="41">
                  <c:v>10:15</c:v>
                </c:pt>
                <c:pt idx="42">
                  <c:v>10:30</c:v>
                </c:pt>
                <c:pt idx="43">
                  <c:v>10:45</c:v>
                </c:pt>
                <c:pt idx="44">
                  <c:v>11:00</c:v>
                </c:pt>
                <c:pt idx="45">
                  <c:v>11:15</c:v>
                </c:pt>
                <c:pt idx="46">
                  <c:v>11:30</c:v>
                </c:pt>
                <c:pt idx="47">
                  <c:v>11:45</c:v>
                </c:pt>
                <c:pt idx="48">
                  <c:v>12:00</c:v>
                </c:pt>
                <c:pt idx="49">
                  <c:v>12:15</c:v>
                </c:pt>
                <c:pt idx="50">
                  <c:v>12:30</c:v>
                </c:pt>
                <c:pt idx="51">
                  <c:v>12:45</c:v>
                </c:pt>
                <c:pt idx="52">
                  <c:v>13:00</c:v>
                </c:pt>
                <c:pt idx="53">
                  <c:v>13:15</c:v>
                </c:pt>
                <c:pt idx="54">
                  <c:v>13:30</c:v>
                </c:pt>
                <c:pt idx="55">
                  <c:v>13:45</c:v>
                </c:pt>
                <c:pt idx="56">
                  <c:v>14:00</c:v>
                </c:pt>
                <c:pt idx="57">
                  <c:v>14:15</c:v>
                </c:pt>
                <c:pt idx="58">
                  <c:v>14:30</c:v>
                </c:pt>
                <c:pt idx="59">
                  <c:v>14:45</c:v>
                </c:pt>
                <c:pt idx="60">
                  <c:v>15:00</c:v>
                </c:pt>
                <c:pt idx="61">
                  <c:v>15:15</c:v>
                </c:pt>
                <c:pt idx="62">
                  <c:v>15:30</c:v>
                </c:pt>
                <c:pt idx="63">
                  <c:v>15:45</c:v>
                </c:pt>
                <c:pt idx="64">
                  <c:v>16:00</c:v>
                </c:pt>
                <c:pt idx="65">
                  <c:v>16:15</c:v>
                </c:pt>
                <c:pt idx="66">
                  <c:v>16:30</c:v>
                </c:pt>
                <c:pt idx="67">
                  <c:v>16:45</c:v>
                </c:pt>
                <c:pt idx="68">
                  <c:v>17:00</c:v>
                </c:pt>
                <c:pt idx="69">
                  <c:v>17:15</c:v>
                </c:pt>
                <c:pt idx="70">
                  <c:v>17:30</c:v>
                </c:pt>
                <c:pt idx="71">
                  <c:v>17:45</c:v>
                </c:pt>
                <c:pt idx="72">
                  <c:v>18:00</c:v>
                </c:pt>
                <c:pt idx="73">
                  <c:v>18:15</c:v>
                </c:pt>
                <c:pt idx="74">
                  <c:v>18:30</c:v>
                </c:pt>
                <c:pt idx="75">
                  <c:v>18:45</c:v>
                </c:pt>
                <c:pt idx="76">
                  <c:v>19:00</c:v>
                </c:pt>
                <c:pt idx="77">
                  <c:v>19:15</c:v>
                </c:pt>
                <c:pt idx="78">
                  <c:v>19:30</c:v>
                </c:pt>
                <c:pt idx="79">
                  <c:v>19:45</c:v>
                </c:pt>
                <c:pt idx="80">
                  <c:v>20:00</c:v>
                </c:pt>
                <c:pt idx="81">
                  <c:v>20:15</c:v>
                </c:pt>
                <c:pt idx="82">
                  <c:v>20:30</c:v>
                </c:pt>
                <c:pt idx="83">
                  <c:v>20:45</c:v>
                </c:pt>
                <c:pt idx="84">
                  <c:v>21:00</c:v>
                </c:pt>
                <c:pt idx="85">
                  <c:v>21:15</c:v>
                </c:pt>
                <c:pt idx="86">
                  <c:v>21:30</c:v>
                </c:pt>
                <c:pt idx="87">
                  <c:v>21:45</c:v>
                </c:pt>
                <c:pt idx="88">
                  <c:v>22:00</c:v>
                </c:pt>
                <c:pt idx="89">
                  <c:v>22:15</c:v>
                </c:pt>
                <c:pt idx="90">
                  <c:v>22:30</c:v>
                </c:pt>
                <c:pt idx="91">
                  <c:v>22:45</c:v>
                </c:pt>
                <c:pt idx="92">
                  <c:v>23:00</c:v>
                </c:pt>
                <c:pt idx="93">
                  <c:v>23:15</c:v>
                </c:pt>
                <c:pt idx="94">
                  <c:v>23:30</c:v>
                </c:pt>
                <c:pt idx="95">
                  <c:v>23:45</c:v>
                </c:pt>
              </c:strCache>
            </c:strRef>
          </c:cat>
          <c:val>
            <c:numRef>
              <c:f>Sheet1!$B$4:$CV$4</c:f>
              <c:numCache>
                <c:formatCode>General</c:formatCode>
                <c:ptCount val="96"/>
                <c:pt idx="0">
                  <c:v>220</c:v>
                </c:pt>
                <c:pt idx="1">
                  <c:v>230</c:v>
                </c:pt>
                <c:pt idx="2">
                  <c:v>240</c:v>
                </c:pt>
                <c:pt idx="3">
                  <c:v>250</c:v>
                </c:pt>
                <c:pt idx="4">
                  <c:v>240</c:v>
                </c:pt>
                <c:pt idx="5">
                  <c:v>260</c:v>
                </c:pt>
                <c:pt idx="6">
                  <c:v>300</c:v>
                </c:pt>
                <c:pt idx="7">
                  <c:v>270</c:v>
                </c:pt>
                <c:pt idx="8">
                  <c:v>280</c:v>
                </c:pt>
                <c:pt idx="9">
                  <c:v>270</c:v>
                </c:pt>
                <c:pt idx="10">
                  <c:v>280</c:v>
                </c:pt>
                <c:pt idx="11">
                  <c:v>240</c:v>
                </c:pt>
                <c:pt idx="12">
                  <c:v>235.3365</c:v>
                </c:pt>
                <c:pt idx="13">
                  <c:v>190</c:v>
                </c:pt>
                <c:pt idx="14">
                  <c:v>200</c:v>
                </c:pt>
                <c:pt idx="15">
                  <c:v>230</c:v>
                </c:pt>
                <c:pt idx="16">
                  <c:v>190</c:v>
                </c:pt>
                <c:pt idx="17">
                  <c:v>200</c:v>
                </c:pt>
                <c:pt idx="18">
                  <c:v>255.43349999999998</c:v>
                </c:pt>
                <c:pt idx="19">
                  <c:v>180</c:v>
                </c:pt>
                <c:pt idx="20">
                  <c:v>200</c:v>
                </c:pt>
                <c:pt idx="21">
                  <c:v>200</c:v>
                </c:pt>
                <c:pt idx="22">
                  <c:v>150</c:v>
                </c:pt>
                <c:pt idx="23">
                  <c:v>180</c:v>
                </c:pt>
                <c:pt idx="24">
                  <c:v>180</c:v>
                </c:pt>
                <c:pt idx="25">
                  <c:v>160</c:v>
                </c:pt>
                <c:pt idx="26">
                  <c:v>110</c:v>
                </c:pt>
                <c:pt idx="27">
                  <c:v>120</c:v>
                </c:pt>
                <c:pt idx="28">
                  <c:v>200</c:v>
                </c:pt>
                <c:pt idx="29">
                  <c:v>110</c:v>
                </c:pt>
                <c:pt idx="30">
                  <c:v>190</c:v>
                </c:pt>
                <c:pt idx="31">
                  <c:v>220</c:v>
                </c:pt>
                <c:pt idx="32">
                  <c:v>110</c:v>
                </c:pt>
                <c:pt idx="33">
                  <c:v>110</c:v>
                </c:pt>
                <c:pt idx="34">
                  <c:v>278.89999999999998</c:v>
                </c:pt>
                <c:pt idx="35">
                  <c:v>278.89999999999998</c:v>
                </c:pt>
                <c:pt idx="36">
                  <c:v>318</c:v>
                </c:pt>
                <c:pt idx="37">
                  <c:v>239.84550000000002</c:v>
                </c:pt>
                <c:pt idx="38">
                  <c:v>298</c:v>
                </c:pt>
                <c:pt idx="39">
                  <c:v>304.87800000000004</c:v>
                </c:pt>
                <c:pt idx="40">
                  <c:v>240</c:v>
                </c:pt>
                <c:pt idx="41">
                  <c:v>278</c:v>
                </c:pt>
                <c:pt idx="42">
                  <c:v>260</c:v>
                </c:pt>
                <c:pt idx="43">
                  <c:v>298</c:v>
                </c:pt>
                <c:pt idx="44">
                  <c:v>258.3</c:v>
                </c:pt>
                <c:pt idx="45">
                  <c:v>258</c:v>
                </c:pt>
                <c:pt idx="46">
                  <c:v>375.23099999999999</c:v>
                </c:pt>
                <c:pt idx="47">
                  <c:v>353.88650000000001</c:v>
                </c:pt>
                <c:pt idx="48">
                  <c:v>358.2885</c:v>
                </c:pt>
                <c:pt idx="49">
                  <c:v>367.79999999999995</c:v>
                </c:pt>
                <c:pt idx="50">
                  <c:v>364.1</c:v>
                </c:pt>
                <c:pt idx="51">
                  <c:v>364.1</c:v>
                </c:pt>
                <c:pt idx="52">
                  <c:v>310.29999999999995</c:v>
                </c:pt>
                <c:pt idx="53">
                  <c:v>280</c:v>
                </c:pt>
                <c:pt idx="54">
                  <c:v>387.79999999999995</c:v>
                </c:pt>
                <c:pt idx="55">
                  <c:v>387.79999999999995</c:v>
                </c:pt>
                <c:pt idx="56">
                  <c:v>147.19999999999999</c:v>
                </c:pt>
                <c:pt idx="57">
                  <c:v>309.79999999999995</c:v>
                </c:pt>
                <c:pt idx="58">
                  <c:v>437.6</c:v>
                </c:pt>
                <c:pt idx="59">
                  <c:v>319.79999999999995</c:v>
                </c:pt>
                <c:pt idx="60">
                  <c:v>467.6</c:v>
                </c:pt>
                <c:pt idx="61">
                  <c:v>462.71299999999997</c:v>
                </c:pt>
                <c:pt idx="62">
                  <c:v>467.6</c:v>
                </c:pt>
                <c:pt idx="63">
                  <c:v>438.2</c:v>
                </c:pt>
                <c:pt idx="64">
                  <c:v>396.0385</c:v>
                </c:pt>
                <c:pt idx="65">
                  <c:v>381.85</c:v>
                </c:pt>
                <c:pt idx="66">
                  <c:v>427.85</c:v>
                </c:pt>
                <c:pt idx="67">
                  <c:v>282.25</c:v>
                </c:pt>
                <c:pt idx="68">
                  <c:v>267.22649999999999</c:v>
                </c:pt>
                <c:pt idx="69">
                  <c:v>280</c:v>
                </c:pt>
                <c:pt idx="70">
                  <c:v>270.16449999999998</c:v>
                </c:pt>
                <c:pt idx="71">
                  <c:v>280</c:v>
                </c:pt>
                <c:pt idx="72">
                  <c:v>290</c:v>
                </c:pt>
                <c:pt idx="73">
                  <c:v>240</c:v>
                </c:pt>
                <c:pt idx="74">
                  <c:v>180</c:v>
                </c:pt>
                <c:pt idx="75">
                  <c:v>240</c:v>
                </c:pt>
                <c:pt idx="76">
                  <c:v>220</c:v>
                </c:pt>
                <c:pt idx="77">
                  <c:v>220</c:v>
                </c:pt>
                <c:pt idx="78">
                  <c:v>240</c:v>
                </c:pt>
                <c:pt idx="79">
                  <c:v>220</c:v>
                </c:pt>
                <c:pt idx="80">
                  <c:v>300</c:v>
                </c:pt>
                <c:pt idx="81">
                  <c:v>260</c:v>
                </c:pt>
                <c:pt idx="82">
                  <c:v>260</c:v>
                </c:pt>
                <c:pt idx="83">
                  <c:v>240</c:v>
                </c:pt>
                <c:pt idx="84">
                  <c:v>267.1155</c:v>
                </c:pt>
                <c:pt idx="85">
                  <c:v>250</c:v>
                </c:pt>
                <c:pt idx="86">
                  <c:v>260</c:v>
                </c:pt>
                <c:pt idx="87">
                  <c:v>240</c:v>
                </c:pt>
                <c:pt idx="88">
                  <c:v>260</c:v>
                </c:pt>
                <c:pt idx="89">
                  <c:v>240</c:v>
                </c:pt>
                <c:pt idx="90">
                  <c:v>220</c:v>
                </c:pt>
                <c:pt idx="91">
                  <c:v>240</c:v>
                </c:pt>
                <c:pt idx="92">
                  <c:v>250</c:v>
                </c:pt>
                <c:pt idx="93">
                  <c:v>260</c:v>
                </c:pt>
                <c:pt idx="94">
                  <c:v>250</c:v>
                </c:pt>
                <c:pt idx="95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C5D-4B37-B61D-06006B1F7C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8411312"/>
        <c:axId val="1518408912"/>
      </c:lineChart>
      <c:catAx>
        <c:axId val="133104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331059232"/>
        <c:crosses val="autoZero"/>
        <c:auto val="1"/>
        <c:lblAlgn val="ctr"/>
        <c:lblOffset val="100"/>
        <c:noMultiLvlLbl val="0"/>
      </c:catAx>
      <c:valAx>
        <c:axId val="1331059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331044832"/>
        <c:crosses val="autoZero"/>
        <c:crossBetween val="between"/>
      </c:valAx>
      <c:valAx>
        <c:axId val="151840891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518411312"/>
        <c:crosses val="max"/>
        <c:crossBetween val="between"/>
      </c:valAx>
      <c:catAx>
        <c:axId val="15184113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84089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 i="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600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呼包东午间出现结构性抬升，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晚高峰节点价格分化不明显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分时均价!$M$34</c:f>
              <c:strCache>
                <c:ptCount val="1"/>
                <c:pt idx="0">
                  <c:v>协鑫</c:v>
                </c:pt>
              </c:strCache>
            </c:strRef>
          </c:tx>
          <c:spPr>
            <a:ln w="15240" cap="rnd">
              <a:solidFill>
                <a:srgbClr val="B3B3B3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cat>
            <c:strRef>
              <c:f>分时均价!$L$35:$L$58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分时均价!$M$35:$M$58</c:f>
              <c:numCache>
                <c:formatCode>General</c:formatCode>
                <c:ptCount val="24"/>
                <c:pt idx="0">
                  <c:v>263.46741129032256</c:v>
                </c:pt>
                <c:pt idx="1">
                  <c:v>240.64206451612901</c:v>
                </c:pt>
                <c:pt idx="2">
                  <c:v>240.54072580645158</c:v>
                </c:pt>
                <c:pt idx="3">
                  <c:v>213.23481451612901</c:v>
                </c:pt>
                <c:pt idx="4">
                  <c:v>197.08423387096775</c:v>
                </c:pt>
                <c:pt idx="5">
                  <c:v>170.88626612903229</c:v>
                </c:pt>
                <c:pt idx="6">
                  <c:v>162.27132258064515</c:v>
                </c:pt>
                <c:pt idx="7">
                  <c:v>107.39234677419356</c:v>
                </c:pt>
                <c:pt idx="8">
                  <c:v>4.1099919354838734</c:v>
                </c:pt>
                <c:pt idx="9">
                  <c:v>7.1154516129032279</c:v>
                </c:pt>
                <c:pt idx="10">
                  <c:v>36.074169354838702</c:v>
                </c:pt>
                <c:pt idx="11">
                  <c:v>54.391588709677443</c:v>
                </c:pt>
                <c:pt idx="12">
                  <c:v>39.313709677419354</c:v>
                </c:pt>
                <c:pt idx="13">
                  <c:v>44.987798387096774</c:v>
                </c:pt>
                <c:pt idx="14">
                  <c:v>66.215741935483891</c:v>
                </c:pt>
                <c:pt idx="15">
                  <c:v>34.510443548387087</c:v>
                </c:pt>
                <c:pt idx="16">
                  <c:v>73.770717741935499</c:v>
                </c:pt>
                <c:pt idx="17">
                  <c:v>190.38956451612904</c:v>
                </c:pt>
                <c:pt idx="18">
                  <c:v>247.61282258064514</c:v>
                </c:pt>
                <c:pt idx="19">
                  <c:v>245.0533870967742</c:v>
                </c:pt>
                <c:pt idx="20">
                  <c:v>276.42680645161289</c:v>
                </c:pt>
                <c:pt idx="21">
                  <c:v>222.58366129032257</c:v>
                </c:pt>
                <c:pt idx="22">
                  <c:v>257.1861048387097</c:v>
                </c:pt>
                <c:pt idx="23">
                  <c:v>208.11399999999998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2F-4AD7-96CE-CB23470FA80A}"/>
            </c:ext>
          </c:extLst>
        </c:ser>
        <c:ser>
          <c:idx val="1"/>
          <c:order val="1"/>
          <c:tx>
            <c:strRef>
              <c:f>分时均价!$N$34</c:f>
              <c:strCache>
                <c:ptCount val="1"/>
                <c:pt idx="0">
                  <c:v>乌海</c:v>
                </c:pt>
              </c:strCache>
            </c:strRef>
          </c:tx>
          <c:spPr>
            <a:ln w="15240" cap="rnd">
              <a:solidFill>
                <a:srgbClr val="B3B3B3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cat>
            <c:strRef>
              <c:f>分时均价!$L$35:$L$58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分时均价!$N$35:$N$58</c:f>
              <c:numCache>
                <c:formatCode>General</c:formatCode>
                <c:ptCount val="24"/>
                <c:pt idx="0">
                  <c:v>259.11470161290322</c:v>
                </c:pt>
                <c:pt idx="1">
                  <c:v>238.00700000000001</c:v>
                </c:pt>
                <c:pt idx="2">
                  <c:v>236.41601612903224</c:v>
                </c:pt>
                <c:pt idx="3">
                  <c:v>207.31057258064519</c:v>
                </c:pt>
                <c:pt idx="4">
                  <c:v>189.90399193548384</c:v>
                </c:pt>
                <c:pt idx="5">
                  <c:v>162.95939516129036</c:v>
                </c:pt>
                <c:pt idx="6">
                  <c:v>156.95418548387096</c:v>
                </c:pt>
                <c:pt idx="7">
                  <c:v>98.730887096774197</c:v>
                </c:pt>
                <c:pt idx="8">
                  <c:v>-6.5691209677419344</c:v>
                </c:pt>
                <c:pt idx="9">
                  <c:v>-8.2599516129032242</c:v>
                </c:pt>
                <c:pt idx="10">
                  <c:v>15.80446774193549</c:v>
                </c:pt>
                <c:pt idx="11">
                  <c:v>35.96852419354839</c:v>
                </c:pt>
                <c:pt idx="12">
                  <c:v>18.850508064516134</c:v>
                </c:pt>
                <c:pt idx="13">
                  <c:v>25.767790322580648</c:v>
                </c:pt>
                <c:pt idx="14">
                  <c:v>37.449161290322579</c:v>
                </c:pt>
                <c:pt idx="15">
                  <c:v>9.7925161290322542</c:v>
                </c:pt>
                <c:pt idx="16">
                  <c:v>48.490596774193541</c:v>
                </c:pt>
                <c:pt idx="17">
                  <c:v>180.06379032258064</c:v>
                </c:pt>
                <c:pt idx="18">
                  <c:v>245.93481451612905</c:v>
                </c:pt>
                <c:pt idx="19">
                  <c:v>244.39886290322582</c:v>
                </c:pt>
                <c:pt idx="20">
                  <c:v>276.32747580645162</c:v>
                </c:pt>
                <c:pt idx="21">
                  <c:v>222.20600000000002</c:v>
                </c:pt>
                <c:pt idx="22">
                  <c:v>257.16023387096772</c:v>
                </c:pt>
                <c:pt idx="23">
                  <c:v>208.81220967741939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2F-4AD7-96CE-CB23470FA80A}"/>
            </c:ext>
          </c:extLst>
        </c:ser>
        <c:ser>
          <c:idx val="2"/>
          <c:order val="2"/>
          <c:tx>
            <c:strRef>
              <c:f>分时均价!$O$34</c:f>
              <c:strCache>
                <c:ptCount val="1"/>
                <c:pt idx="0">
                  <c:v>杭锦旗</c:v>
                </c:pt>
              </c:strCache>
            </c:strRef>
          </c:tx>
          <c:spPr>
            <a:ln w="15240" cap="rnd">
              <a:solidFill>
                <a:srgbClr val="B3B3B3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cat>
            <c:strRef>
              <c:f>分时均价!$L$35:$L$58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分时均价!$O$35:$O$58</c:f>
              <c:numCache>
                <c:formatCode>General</c:formatCode>
                <c:ptCount val="24"/>
                <c:pt idx="0">
                  <c:v>262.64083870967744</c:v>
                </c:pt>
                <c:pt idx="1">
                  <c:v>237.84070161290325</c:v>
                </c:pt>
                <c:pt idx="2">
                  <c:v>236.13140322580642</c:v>
                </c:pt>
                <c:pt idx="3">
                  <c:v>208.32864516129032</c:v>
                </c:pt>
                <c:pt idx="4">
                  <c:v>189.47804032258063</c:v>
                </c:pt>
                <c:pt idx="5">
                  <c:v>164.5469677419355</c:v>
                </c:pt>
                <c:pt idx="6">
                  <c:v>159.78882258064516</c:v>
                </c:pt>
                <c:pt idx="7">
                  <c:v>98.909741935483879</c:v>
                </c:pt>
                <c:pt idx="8">
                  <c:v>-4.1450241935483865</c:v>
                </c:pt>
                <c:pt idx="9">
                  <c:v>-9.2817903225806457</c:v>
                </c:pt>
                <c:pt idx="10">
                  <c:v>15.899959677419357</c:v>
                </c:pt>
                <c:pt idx="11">
                  <c:v>32.611032258064512</c:v>
                </c:pt>
                <c:pt idx="12">
                  <c:v>21.713483870967746</c:v>
                </c:pt>
                <c:pt idx="13">
                  <c:v>29.795169354838706</c:v>
                </c:pt>
                <c:pt idx="14">
                  <c:v>34.304903225806449</c:v>
                </c:pt>
                <c:pt idx="15">
                  <c:v>6.1795322580645156</c:v>
                </c:pt>
                <c:pt idx="16">
                  <c:v>41.3930564516129</c:v>
                </c:pt>
                <c:pt idx="17">
                  <c:v>175.67294354838708</c:v>
                </c:pt>
                <c:pt idx="18">
                  <c:v>243.73204032258064</c:v>
                </c:pt>
                <c:pt idx="19">
                  <c:v>243.90967741935484</c:v>
                </c:pt>
                <c:pt idx="20">
                  <c:v>276.31255645161286</c:v>
                </c:pt>
                <c:pt idx="21">
                  <c:v>222.23159677419355</c:v>
                </c:pt>
                <c:pt idx="22">
                  <c:v>257.19110483870963</c:v>
                </c:pt>
                <c:pt idx="23">
                  <c:v>208.8216370967742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2F-4AD7-96CE-CB23470FA80A}"/>
            </c:ext>
          </c:extLst>
        </c:ser>
        <c:ser>
          <c:idx val="3"/>
          <c:order val="3"/>
          <c:tx>
            <c:strRef>
              <c:f>分时均价!$P$34</c:f>
              <c:strCache>
                <c:ptCount val="1"/>
                <c:pt idx="0">
                  <c:v>巴盟</c:v>
                </c:pt>
              </c:strCache>
            </c:strRef>
          </c:tx>
          <c:spPr>
            <a:ln w="15240" cap="rnd">
              <a:solidFill>
                <a:srgbClr val="B3B3B3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cat>
            <c:strRef>
              <c:f>分时均价!$L$35:$L$58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分时均价!$P$35:$P$58</c:f>
              <c:numCache>
                <c:formatCode>General</c:formatCode>
                <c:ptCount val="24"/>
                <c:pt idx="0">
                  <c:v>262.8244516129032</c:v>
                </c:pt>
                <c:pt idx="1">
                  <c:v>238.45735483870968</c:v>
                </c:pt>
                <c:pt idx="2">
                  <c:v>237.18826612903223</c:v>
                </c:pt>
                <c:pt idx="3">
                  <c:v>209.43716935483866</c:v>
                </c:pt>
                <c:pt idx="4">
                  <c:v>191.17207258064516</c:v>
                </c:pt>
                <c:pt idx="5">
                  <c:v>166.02854838709675</c:v>
                </c:pt>
                <c:pt idx="6">
                  <c:v>160.38199999999998</c:v>
                </c:pt>
                <c:pt idx="7">
                  <c:v>100.71869354838711</c:v>
                </c:pt>
                <c:pt idx="8">
                  <c:v>-2.1386693548387101</c:v>
                </c:pt>
                <c:pt idx="9">
                  <c:v>-5.3323306451612904</c:v>
                </c:pt>
                <c:pt idx="10">
                  <c:v>19.775088709677419</c:v>
                </c:pt>
                <c:pt idx="11">
                  <c:v>37.406177419354847</c:v>
                </c:pt>
                <c:pt idx="12">
                  <c:v>20.152540322580649</c:v>
                </c:pt>
                <c:pt idx="13">
                  <c:v>26.823701612903225</c:v>
                </c:pt>
                <c:pt idx="14">
                  <c:v>39.208879032258054</c:v>
                </c:pt>
                <c:pt idx="15">
                  <c:v>10.648379032258065</c:v>
                </c:pt>
                <c:pt idx="16">
                  <c:v>48.964919354838706</c:v>
                </c:pt>
                <c:pt idx="17">
                  <c:v>180.08271774193548</c:v>
                </c:pt>
                <c:pt idx="18">
                  <c:v>245.91993548387097</c:v>
                </c:pt>
                <c:pt idx="19">
                  <c:v>244.30978225806453</c:v>
                </c:pt>
                <c:pt idx="20">
                  <c:v>276.3381451612903</c:v>
                </c:pt>
                <c:pt idx="21">
                  <c:v>222.1283306451613</c:v>
                </c:pt>
                <c:pt idx="22">
                  <c:v>257.02859677419355</c:v>
                </c:pt>
                <c:pt idx="23">
                  <c:v>208.66604032258061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72F-4AD7-96CE-CB23470FA80A}"/>
            </c:ext>
          </c:extLst>
        </c:ser>
        <c:ser>
          <c:idx val="6"/>
          <c:order val="6"/>
          <c:tx>
            <c:strRef>
              <c:f>分时均价!$S$34</c:f>
              <c:strCache>
                <c:ptCount val="1"/>
                <c:pt idx="0">
                  <c:v>谷山梁</c:v>
                </c:pt>
              </c:strCache>
            </c:strRef>
          </c:tx>
          <c:spPr>
            <a:ln w="15240" cap="rnd">
              <a:solidFill>
                <a:srgbClr val="B3B3B3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cat>
            <c:strRef>
              <c:f>分时均价!$L$35:$L$58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分时均价!$S$35:$S$58</c:f>
              <c:numCache>
                <c:formatCode>General</c:formatCode>
                <c:ptCount val="24"/>
                <c:pt idx="0">
                  <c:v>262.64083870967744</c:v>
                </c:pt>
                <c:pt idx="1">
                  <c:v>237.84070161290325</c:v>
                </c:pt>
                <c:pt idx="2">
                  <c:v>236.13140322580642</c:v>
                </c:pt>
                <c:pt idx="3">
                  <c:v>208.32864516129032</c:v>
                </c:pt>
                <c:pt idx="4">
                  <c:v>189.47804032258063</c:v>
                </c:pt>
                <c:pt idx="5">
                  <c:v>164.5469677419355</c:v>
                </c:pt>
                <c:pt idx="6">
                  <c:v>159.78882258064516</c:v>
                </c:pt>
                <c:pt idx="7">
                  <c:v>96.812967741935495</c:v>
                </c:pt>
                <c:pt idx="8">
                  <c:v>-6.1611532258064514</c:v>
                </c:pt>
                <c:pt idx="9">
                  <c:v>-10.491467741935484</c:v>
                </c:pt>
                <c:pt idx="10">
                  <c:v>15.899959677419357</c:v>
                </c:pt>
                <c:pt idx="11">
                  <c:v>32.611032258064512</c:v>
                </c:pt>
                <c:pt idx="12">
                  <c:v>21.713483870967746</c:v>
                </c:pt>
                <c:pt idx="13">
                  <c:v>26.77339516129032</c:v>
                </c:pt>
                <c:pt idx="14">
                  <c:v>31.821330645161293</c:v>
                </c:pt>
                <c:pt idx="15">
                  <c:v>5.3049596774193555</c:v>
                </c:pt>
                <c:pt idx="16">
                  <c:v>39.376927419354836</c:v>
                </c:pt>
                <c:pt idx="17">
                  <c:v>163.73745967741937</c:v>
                </c:pt>
                <c:pt idx="18">
                  <c:v>226.99375000000001</c:v>
                </c:pt>
                <c:pt idx="19">
                  <c:v>230.8290806451613</c:v>
                </c:pt>
                <c:pt idx="20">
                  <c:v>268.24804032258061</c:v>
                </c:pt>
                <c:pt idx="21">
                  <c:v>222.23159677419355</c:v>
                </c:pt>
                <c:pt idx="22">
                  <c:v>257.19110483870963</c:v>
                </c:pt>
                <c:pt idx="23">
                  <c:v>208.8216370967742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72F-4AD7-96CE-CB23470FA80A}"/>
            </c:ext>
          </c:extLst>
        </c:ser>
        <c:ser>
          <c:idx val="7"/>
          <c:order val="7"/>
          <c:tx>
            <c:strRef>
              <c:f>分时均价!$T$34</c:f>
              <c:strCache>
                <c:ptCount val="1"/>
                <c:pt idx="0">
                  <c:v>乌拉特</c:v>
                </c:pt>
              </c:strCache>
            </c:strRef>
          </c:tx>
          <c:spPr>
            <a:ln w="15240" cap="rnd">
              <a:solidFill>
                <a:srgbClr val="B3B3B3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cat>
            <c:strRef>
              <c:f>分时均价!$L$35:$L$58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分时均价!$T$35:$T$58</c:f>
              <c:numCache>
                <c:formatCode>General</c:formatCode>
                <c:ptCount val="24"/>
                <c:pt idx="0">
                  <c:v>263.06187903225805</c:v>
                </c:pt>
                <c:pt idx="1">
                  <c:v>239.27975000000001</c:v>
                </c:pt>
                <c:pt idx="2">
                  <c:v>238.59633064516129</c:v>
                </c:pt>
                <c:pt idx="3">
                  <c:v>210.91825806451612</c:v>
                </c:pt>
                <c:pt idx="4">
                  <c:v>193.39391129032256</c:v>
                </c:pt>
                <c:pt idx="5">
                  <c:v>168.0111451612903</c:v>
                </c:pt>
                <c:pt idx="6">
                  <c:v>161.13749193548387</c:v>
                </c:pt>
                <c:pt idx="7">
                  <c:v>102.80666129032258</c:v>
                </c:pt>
                <c:pt idx="8">
                  <c:v>-0.3911854838709678</c:v>
                </c:pt>
                <c:pt idx="9">
                  <c:v>-3.1295564516129017</c:v>
                </c:pt>
                <c:pt idx="10">
                  <c:v>22.584209677419356</c:v>
                </c:pt>
                <c:pt idx="11">
                  <c:v>40.618927419354833</c:v>
                </c:pt>
                <c:pt idx="12">
                  <c:v>28.323677419354834</c:v>
                </c:pt>
                <c:pt idx="13">
                  <c:v>36.591653225806446</c:v>
                </c:pt>
                <c:pt idx="14">
                  <c:v>44.6079193548387</c:v>
                </c:pt>
                <c:pt idx="15">
                  <c:v>12.92435483870968</c:v>
                </c:pt>
                <c:pt idx="16">
                  <c:v>51.689104838709675</c:v>
                </c:pt>
                <c:pt idx="17">
                  <c:v>180.57102419354837</c:v>
                </c:pt>
                <c:pt idx="18">
                  <c:v>245.92482258064518</c:v>
                </c:pt>
                <c:pt idx="19">
                  <c:v>244.27090322580645</c:v>
                </c:pt>
                <c:pt idx="20">
                  <c:v>276.39345967741934</c:v>
                </c:pt>
                <c:pt idx="21">
                  <c:v>221.99562096774196</c:v>
                </c:pt>
                <c:pt idx="22">
                  <c:v>256.79515322580636</c:v>
                </c:pt>
                <c:pt idx="23">
                  <c:v>208.45424999999994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72F-4AD7-96CE-CB23470FA80A}"/>
            </c:ext>
          </c:extLst>
        </c:ser>
        <c:ser>
          <c:idx val="8"/>
          <c:order val="8"/>
          <c:tx>
            <c:strRef>
              <c:f>分时均价!$U$34</c:f>
              <c:strCache>
                <c:ptCount val="1"/>
                <c:pt idx="0">
                  <c:v>呼包西均价</c:v>
                </c:pt>
              </c:strCache>
            </c:strRef>
          </c:tx>
          <c:spPr>
            <a:ln w="34925" cap="rnd">
              <a:solidFill>
                <a:srgbClr val="005CA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CAF"/>
              </a:solidFill>
              <a:ln w="9525">
                <a:noFill/>
              </a:ln>
              <a:effectLst/>
            </c:spPr>
          </c:marker>
          <c:val>
            <c:numRef>
              <c:f>分时均价!$U$35:$U$58</c:f>
              <c:numCache>
                <c:formatCode>General</c:formatCode>
                <c:ptCount val="24"/>
                <c:pt idx="0">
                  <c:v>262.29168682795699</c:v>
                </c:pt>
                <c:pt idx="1">
                  <c:v>238.67792876344083</c:v>
                </c:pt>
                <c:pt idx="2">
                  <c:v>237.50069086021503</c:v>
                </c:pt>
                <c:pt idx="3">
                  <c:v>209.59301747311827</c:v>
                </c:pt>
                <c:pt idx="4">
                  <c:v>191.75171505376343</c:v>
                </c:pt>
                <c:pt idx="5">
                  <c:v>166.16321505376345</c:v>
                </c:pt>
                <c:pt idx="6">
                  <c:v>160.05377419354838</c:v>
                </c:pt>
                <c:pt idx="7">
                  <c:v>100.89521639784948</c:v>
                </c:pt>
                <c:pt idx="8">
                  <c:v>-2.549193548387096</c:v>
                </c:pt>
                <c:pt idx="9">
                  <c:v>-4.8966075268817191</c:v>
                </c:pt>
                <c:pt idx="10">
                  <c:v>21.006309139784946</c:v>
                </c:pt>
                <c:pt idx="11">
                  <c:v>38.934547043010753</c:v>
                </c:pt>
                <c:pt idx="12">
                  <c:v>25.011233870967743</c:v>
                </c:pt>
                <c:pt idx="13">
                  <c:v>31.789918010752686</c:v>
                </c:pt>
                <c:pt idx="14">
                  <c:v>42.267989247311824</c:v>
                </c:pt>
                <c:pt idx="15">
                  <c:v>13.226697580645158</c:v>
                </c:pt>
                <c:pt idx="16">
                  <c:v>50.61422043010753</c:v>
                </c:pt>
                <c:pt idx="17">
                  <c:v>178.41958333333332</c:v>
                </c:pt>
                <c:pt idx="18">
                  <c:v>242.68636424731184</c:v>
                </c:pt>
                <c:pt idx="19">
                  <c:v>242.12861559139785</c:v>
                </c:pt>
                <c:pt idx="20">
                  <c:v>275.00774731182793</c:v>
                </c:pt>
                <c:pt idx="21">
                  <c:v>222.22946774193551</c:v>
                </c:pt>
                <c:pt idx="22">
                  <c:v>257.09204973118278</c:v>
                </c:pt>
                <c:pt idx="23">
                  <c:v>208.6149623655914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72F-4AD7-96CE-CB23470FA80A}"/>
            </c:ext>
          </c:extLst>
        </c:ser>
        <c:ser>
          <c:idx val="9"/>
          <c:order val="9"/>
          <c:tx>
            <c:strRef>
              <c:f>分时均价!$V$34</c:f>
              <c:strCache>
                <c:ptCount val="1"/>
                <c:pt idx="0">
                  <c:v>呼包东均价</c:v>
                </c:pt>
              </c:strCache>
            </c:strRef>
          </c:tx>
          <c:spPr>
            <a:ln w="34925" cap="rnd">
              <a:solidFill>
                <a:srgbClr val="C4302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4302B"/>
              </a:solidFill>
              <a:ln w="9525">
                <a:noFill/>
              </a:ln>
              <a:effectLst/>
            </c:spPr>
          </c:marker>
          <c:dPt>
            <c:idx val="13"/>
            <c:marker>
              <c:symbol val="circle"/>
              <c:size val="5"/>
              <c:spPr>
                <a:solidFill>
                  <a:srgbClr val="C4302B"/>
                </a:solidFill>
                <a:ln w="50800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72F-4AD7-96CE-CB23470FA80A}"/>
              </c:ext>
            </c:extLst>
          </c:dPt>
          <c:val>
            <c:numRef>
              <c:f>分时均价!$V$35:$V$58</c:f>
              <c:numCache>
                <c:formatCode>General</c:formatCode>
                <c:ptCount val="24"/>
                <c:pt idx="0">
                  <c:v>237.42512903225807</c:v>
                </c:pt>
                <c:pt idx="1">
                  <c:v>226.62333870967743</c:v>
                </c:pt>
                <c:pt idx="2">
                  <c:v>238.21082661290322</c:v>
                </c:pt>
                <c:pt idx="3">
                  <c:v>219.33392741935484</c:v>
                </c:pt>
                <c:pt idx="4">
                  <c:v>211.50681451612903</c:v>
                </c:pt>
                <c:pt idx="5">
                  <c:v>185.53343951612902</c:v>
                </c:pt>
                <c:pt idx="6">
                  <c:v>160.85941532258062</c:v>
                </c:pt>
                <c:pt idx="7">
                  <c:v>133.14456048387098</c:v>
                </c:pt>
                <c:pt idx="8">
                  <c:v>43.278673387096774</c:v>
                </c:pt>
                <c:pt idx="9">
                  <c:v>18.002322580645163</c:v>
                </c:pt>
                <c:pt idx="10">
                  <c:v>50.883306451612896</c:v>
                </c:pt>
                <c:pt idx="11">
                  <c:v>81.642314516128991</c:v>
                </c:pt>
                <c:pt idx="12">
                  <c:v>78.303995967741912</c:v>
                </c:pt>
                <c:pt idx="13">
                  <c:v>95.460709677419331</c:v>
                </c:pt>
                <c:pt idx="14">
                  <c:v>92.928560483870967</c:v>
                </c:pt>
                <c:pt idx="15">
                  <c:v>78.460907258064537</c:v>
                </c:pt>
                <c:pt idx="16">
                  <c:v>99.074185483870963</c:v>
                </c:pt>
                <c:pt idx="17">
                  <c:v>189.81258870967739</c:v>
                </c:pt>
                <c:pt idx="18">
                  <c:v>217.46516532258065</c:v>
                </c:pt>
                <c:pt idx="19">
                  <c:v>215.88228629032255</c:v>
                </c:pt>
                <c:pt idx="20">
                  <c:v>250.58317741935485</c:v>
                </c:pt>
                <c:pt idx="21">
                  <c:v>208.64879435483869</c:v>
                </c:pt>
                <c:pt idx="22">
                  <c:v>229.51804032258065</c:v>
                </c:pt>
                <c:pt idx="23">
                  <c:v>191.12839919354838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72F-4AD7-96CE-CB23470FA8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3174720"/>
        <c:axId val="1813184320"/>
        <c:extLst>
          <c:ext xmlns:c15="http://schemas.microsoft.com/office/drawing/2012/chart" uri="{02D57815-91ED-43cb-92C2-25804820EDAC}">
            <c15:filteredLine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分时均价!$Q$34</c15:sqref>
                        </c15:formulaRef>
                      </c:ext>
                    </c:extLst>
                    <c:strCache>
                      <c:ptCount val="1"/>
                      <c:pt idx="0">
                        <c:v>苏右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分时均价!$L$35:$L$58</c15:sqref>
                        </c15:formulaRef>
                      </c:ext>
                    </c:extLst>
                    <c:strCache>
                      <c:ptCount val="24"/>
                      <c:pt idx="0">
                        <c:v>0时</c:v>
                      </c:pt>
                      <c:pt idx="1">
                        <c:v>1时</c:v>
                      </c:pt>
                      <c:pt idx="2">
                        <c:v>2时</c:v>
                      </c:pt>
                      <c:pt idx="3">
                        <c:v>3时</c:v>
                      </c:pt>
                      <c:pt idx="4">
                        <c:v>4时</c:v>
                      </c:pt>
                      <c:pt idx="5">
                        <c:v>5时</c:v>
                      </c:pt>
                      <c:pt idx="6">
                        <c:v>6时</c:v>
                      </c:pt>
                      <c:pt idx="7">
                        <c:v>7时</c:v>
                      </c:pt>
                      <c:pt idx="8">
                        <c:v>8时</c:v>
                      </c:pt>
                      <c:pt idx="9">
                        <c:v>9时</c:v>
                      </c:pt>
                      <c:pt idx="10">
                        <c:v>10时</c:v>
                      </c:pt>
                      <c:pt idx="11">
                        <c:v>11时</c:v>
                      </c:pt>
                      <c:pt idx="12">
                        <c:v>12时</c:v>
                      </c:pt>
                      <c:pt idx="13">
                        <c:v>13时</c:v>
                      </c:pt>
                      <c:pt idx="14">
                        <c:v>14时</c:v>
                      </c:pt>
                      <c:pt idx="15">
                        <c:v>15时</c:v>
                      </c:pt>
                      <c:pt idx="16">
                        <c:v>16时</c:v>
                      </c:pt>
                      <c:pt idx="17">
                        <c:v>17时</c:v>
                      </c:pt>
                      <c:pt idx="18">
                        <c:v>18时</c:v>
                      </c:pt>
                      <c:pt idx="19">
                        <c:v>19时</c:v>
                      </c:pt>
                      <c:pt idx="20">
                        <c:v>20时</c:v>
                      </c:pt>
                      <c:pt idx="21">
                        <c:v>21时</c:v>
                      </c:pt>
                      <c:pt idx="22">
                        <c:v>22时</c:v>
                      </c:pt>
                      <c:pt idx="23">
                        <c:v>23时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分时均价!$Q$35:$Q$58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236.39495161290321</c:v>
                      </c:pt>
                      <c:pt idx="1">
                        <c:v>238.10204838709677</c:v>
                      </c:pt>
                      <c:pt idx="2">
                        <c:v>250.51808064516129</c:v>
                      </c:pt>
                      <c:pt idx="3">
                        <c:v>225.42791935483874</c:v>
                      </c:pt>
                      <c:pt idx="4">
                        <c:v>218.72354032258062</c:v>
                      </c:pt>
                      <c:pt idx="5">
                        <c:v>193.22228225806452</c:v>
                      </c:pt>
                      <c:pt idx="6">
                        <c:v>169.82327419354837</c:v>
                      </c:pt>
                      <c:pt idx="7">
                        <c:v>147.49679838709676</c:v>
                      </c:pt>
                      <c:pt idx="8">
                        <c:v>45.966306451612901</c:v>
                      </c:pt>
                      <c:pt idx="9">
                        <c:v>17.699322580645163</c:v>
                      </c:pt>
                      <c:pt idx="10">
                        <c:v>56.281217741935478</c:v>
                      </c:pt>
                      <c:pt idx="11">
                        <c:v>87.45457258064512</c:v>
                      </c:pt>
                      <c:pt idx="12">
                        <c:v>83.368346774193526</c:v>
                      </c:pt>
                      <c:pt idx="13">
                        <c:v>100.44873387096773</c:v>
                      </c:pt>
                      <c:pt idx="14">
                        <c:v>103.26923387096774</c:v>
                      </c:pt>
                      <c:pt idx="15">
                        <c:v>82.402153225806472</c:v>
                      </c:pt>
                      <c:pt idx="16">
                        <c:v>101.79920161290323</c:v>
                      </c:pt>
                      <c:pt idx="17">
                        <c:v>194.79701612903222</c:v>
                      </c:pt>
                      <c:pt idx="18">
                        <c:v>219.88125806451612</c:v>
                      </c:pt>
                      <c:pt idx="19">
                        <c:v>217.16234677419354</c:v>
                      </c:pt>
                      <c:pt idx="20">
                        <c:v>252.04487903225805</c:v>
                      </c:pt>
                      <c:pt idx="21">
                        <c:v>210.60357258064514</c:v>
                      </c:pt>
                      <c:pt idx="22">
                        <c:v>235.79840322580648</c:v>
                      </c:pt>
                      <c:pt idx="23">
                        <c:v>195.50445161290318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472F-4AD7-96CE-CB23470FA80A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分时均价!$R$34</c15:sqref>
                        </c15:formulaRef>
                      </c:ext>
                    </c:extLst>
                    <c:strCache>
                      <c:ptCount val="1"/>
                      <c:pt idx="0">
                        <c:v>四子王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分时均价!$L$35:$L$58</c15:sqref>
                        </c15:formulaRef>
                      </c:ext>
                    </c:extLst>
                    <c:strCache>
                      <c:ptCount val="24"/>
                      <c:pt idx="0">
                        <c:v>0时</c:v>
                      </c:pt>
                      <c:pt idx="1">
                        <c:v>1时</c:v>
                      </c:pt>
                      <c:pt idx="2">
                        <c:v>2时</c:v>
                      </c:pt>
                      <c:pt idx="3">
                        <c:v>3时</c:v>
                      </c:pt>
                      <c:pt idx="4">
                        <c:v>4时</c:v>
                      </c:pt>
                      <c:pt idx="5">
                        <c:v>5时</c:v>
                      </c:pt>
                      <c:pt idx="6">
                        <c:v>6时</c:v>
                      </c:pt>
                      <c:pt idx="7">
                        <c:v>7时</c:v>
                      </c:pt>
                      <c:pt idx="8">
                        <c:v>8时</c:v>
                      </c:pt>
                      <c:pt idx="9">
                        <c:v>9时</c:v>
                      </c:pt>
                      <c:pt idx="10">
                        <c:v>10时</c:v>
                      </c:pt>
                      <c:pt idx="11">
                        <c:v>11时</c:v>
                      </c:pt>
                      <c:pt idx="12">
                        <c:v>12时</c:v>
                      </c:pt>
                      <c:pt idx="13">
                        <c:v>13时</c:v>
                      </c:pt>
                      <c:pt idx="14">
                        <c:v>14时</c:v>
                      </c:pt>
                      <c:pt idx="15">
                        <c:v>15时</c:v>
                      </c:pt>
                      <c:pt idx="16">
                        <c:v>16时</c:v>
                      </c:pt>
                      <c:pt idx="17">
                        <c:v>17时</c:v>
                      </c:pt>
                      <c:pt idx="18">
                        <c:v>18时</c:v>
                      </c:pt>
                      <c:pt idx="19">
                        <c:v>19时</c:v>
                      </c:pt>
                      <c:pt idx="20">
                        <c:v>20时</c:v>
                      </c:pt>
                      <c:pt idx="21">
                        <c:v>21时</c:v>
                      </c:pt>
                      <c:pt idx="22">
                        <c:v>22时</c:v>
                      </c:pt>
                      <c:pt idx="23">
                        <c:v>23时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分时均价!$R$35:$R$58</c15:sqref>
                        </c15:formulaRef>
                      </c:ext>
                    </c:extLst>
                    <c:numCache>
                      <c:formatCode>General</c:formatCode>
                      <c:ptCount val="24"/>
                      <c:pt idx="0">
                        <c:v>238.45530645161293</c:v>
                      </c:pt>
                      <c:pt idx="1">
                        <c:v>215.14462903225808</c:v>
                      </c:pt>
                      <c:pt idx="2">
                        <c:v>225.90357258064515</c:v>
                      </c:pt>
                      <c:pt idx="3">
                        <c:v>213.23993548387097</c:v>
                      </c:pt>
                      <c:pt idx="4">
                        <c:v>204.29008870967743</c:v>
                      </c:pt>
                      <c:pt idx="5">
                        <c:v>177.84459677419352</c:v>
                      </c:pt>
                      <c:pt idx="6">
                        <c:v>151.89555645161289</c:v>
                      </c:pt>
                      <c:pt idx="7">
                        <c:v>118.79232258064516</c:v>
                      </c:pt>
                      <c:pt idx="8">
                        <c:v>40.591040322580646</c:v>
                      </c:pt>
                      <c:pt idx="9">
                        <c:v>18.305322580645161</c:v>
                      </c:pt>
                      <c:pt idx="10">
                        <c:v>45.48539516129032</c:v>
                      </c:pt>
                      <c:pt idx="11">
                        <c:v>75.830056451612862</c:v>
                      </c:pt>
                      <c:pt idx="12">
                        <c:v>73.239645161290298</c:v>
                      </c:pt>
                      <c:pt idx="13">
                        <c:v>90.472685483870933</c:v>
                      </c:pt>
                      <c:pt idx="14">
                        <c:v>82.587887096774182</c:v>
                      </c:pt>
                      <c:pt idx="15">
                        <c:v>74.519661290322603</c:v>
                      </c:pt>
                      <c:pt idx="16">
                        <c:v>96.349169354838693</c:v>
                      </c:pt>
                      <c:pt idx="17">
                        <c:v>184.82816129032256</c:v>
                      </c:pt>
                      <c:pt idx="18">
                        <c:v>215.04907258064517</c:v>
                      </c:pt>
                      <c:pt idx="19">
                        <c:v>214.60222580645157</c:v>
                      </c:pt>
                      <c:pt idx="20">
                        <c:v>249.12147580645163</c:v>
                      </c:pt>
                      <c:pt idx="21">
                        <c:v>206.69401612903226</c:v>
                      </c:pt>
                      <c:pt idx="22">
                        <c:v>223.23767741935478</c:v>
                      </c:pt>
                      <c:pt idx="23">
                        <c:v>186.75234677419354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472F-4AD7-96CE-CB23470FA80A}"/>
                  </c:ext>
                </c:extLst>
              </c15:ser>
            </c15:filteredLineSeries>
          </c:ext>
        </c:extLst>
      </c:lineChart>
      <c:catAx>
        <c:axId val="181317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3184320"/>
        <c:crosses val="autoZero"/>
        <c:auto val="1"/>
        <c:lblAlgn val="ctr"/>
        <c:lblOffset val="100"/>
        <c:noMultiLvlLbl val="0"/>
      </c:catAx>
      <c:valAx>
        <c:axId val="18131843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3174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0.37616</cdr:x>
      <cdr:y>0.13699</cdr:y>
    </cdr:from>
    <cdr:to>
      <cdr:x>0.63966</cdr:x>
      <cdr:y>0.86758</cdr:y>
    </cdr:to>
    <cdr:sp macro="" textlink="">
      <cdr:nvSpPr>
        <cdr:cNvPr id="2" name="矩形 1">
          <a:extLst xmlns:a="http://schemas.openxmlformats.org/drawingml/2006/main">
            <a:ext uri="{FF2B5EF4-FFF2-40B4-BE49-F238E27FC236}">
              <a16:creationId xmlns:a16="http://schemas.microsoft.com/office/drawing/2014/main" id="{496A5074-1B47-56FB-3136-E2422F9DBAED}"/>
            </a:ext>
          </a:extLst>
        </cdr:cNvPr>
        <cdr:cNvSpPr/>
      </cdr:nvSpPr>
      <cdr:spPr>
        <a:xfrm xmlns:a="http://schemas.openxmlformats.org/drawingml/2006/main">
          <a:off x="3888605" y="577515"/>
          <a:ext cx="2723949" cy="3080085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4">
            <a:lumMod val="40000"/>
            <a:lumOff val="60000"/>
            <a:alpha val="3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zh-CN" altLang="en-US" kern="1200" dirty="0"/>
        </a:p>
      </cdr:txBody>
    </cdr:sp>
  </cdr:relSizeAnchor>
  <cdr:relSizeAnchor xmlns:cdr="http://schemas.openxmlformats.org/drawingml/2006/chartDrawing">
    <cdr:from>
      <cdr:x>0.72273</cdr:x>
      <cdr:y>0.1347</cdr:y>
    </cdr:from>
    <cdr:to>
      <cdr:x>0.91692</cdr:x>
      <cdr:y>0.8653</cdr:y>
    </cdr:to>
    <cdr:sp macro="" textlink="">
      <cdr:nvSpPr>
        <cdr:cNvPr id="3" name="矩形 2">
          <a:extLst xmlns:a="http://schemas.openxmlformats.org/drawingml/2006/main">
            <a:ext uri="{FF2B5EF4-FFF2-40B4-BE49-F238E27FC236}">
              <a16:creationId xmlns:a16="http://schemas.microsoft.com/office/drawing/2014/main" id="{EE07087C-830F-8ACA-9690-5CCB0FFF8D89}"/>
            </a:ext>
          </a:extLst>
        </cdr:cNvPr>
        <cdr:cNvSpPr/>
      </cdr:nvSpPr>
      <cdr:spPr>
        <a:xfrm xmlns:a="http://schemas.openxmlformats.org/drawingml/2006/main">
          <a:off x="7471194" y="567890"/>
          <a:ext cx="2007477" cy="3080085"/>
        </a:xfrm>
        <a:prstGeom xmlns:a="http://schemas.openxmlformats.org/drawingml/2006/main" prst="rect">
          <a:avLst/>
        </a:prstGeom>
        <a:solidFill xmlns:a="http://schemas.openxmlformats.org/drawingml/2006/main">
          <a:srgbClr val="FF0000">
            <a:alpha val="30000"/>
          </a:srgb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zh-CN" altLang="en-US" kern="12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0.47533</cdr:x>
      <cdr:y>0.45572</cdr:y>
    </cdr:from>
    <cdr:to>
      <cdr:x>0.6579</cdr:x>
      <cdr:y>0.54968</cdr:y>
    </cdr:to>
    <cdr:sp macro="" textlink="">
      <cdr:nvSpPr>
        <cdr:cNvPr id="3" name="文本框 2">
          <a:extLst xmlns:a="http://schemas.openxmlformats.org/drawingml/2006/main">
            <a:ext uri="{FF2B5EF4-FFF2-40B4-BE49-F238E27FC236}">
              <a16:creationId xmlns:a16="http://schemas.microsoft.com/office/drawing/2014/main" id="{92A88327-FF34-AF34-CD75-A5681DBE9EA1}"/>
            </a:ext>
          </a:extLst>
        </cdr:cNvPr>
        <cdr:cNvSpPr txBox="1"/>
      </cdr:nvSpPr>
      <cdr:spPr>
        <a:xfrm xmlns:a="http://schemas.openxmlformats.org/drawingml/2006/main">
          <a:off x="5307013" y="1339851"/>
          <a:ext cx="2038350" cy="2762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zh-CN" altLang="en-US" sz="900">
              <a:solidFill>
                <a:schemeClr val="tx1">
                  <a:lumMod val="50000"/>
                  <a:lumOff val="50000"/>
                </a:schemeClr>
              </a:solidFill>
            </a:rPr>
            <a:t>▲ 中午电价明显抬升</a:t>
          </a:r>
          <a:endParaRPr lang="zh-CN" altLang="en-US" sz="900" kern="1200">
            <a:solidFill>
              <a:schemeClr val="tx1">
                <a:lumMod val="50000"/>
                <a:lumOff val="50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0.80293</cdr:x>
      <cdr:y>0.39093</cdr:y>
    </cdr:from>
    <cdr:to>
      <cdr:x>0.9855</cdr:x>
      <cdr:y>0.48488</cdr:y>
    </cdr:to>
    <cdr:sp macro="" textlink="">
      <cdr:nvSpPr>
        <cdr:cNvPr id="4" name="文本框 3">
          <a:extLst xmlns:a="http://schemas.openxmlformats.org/drawingml/2006/main">
            <a:ext uri="{FF2B5EF4-FFF2-40B4-BE49-F238E27FC236}">
              <a16:creationId xmlns:a16="http://schemas.microsoft.com/office/drawing/2014/main" id="{1EF2455F-5D76-B1F4-3A47-4009C5C83C18}"/>
            </a:ext>
          </a:extLst>
        </cdr:cNvPr>
        <cdr:cNvSpPr txBox="1"/>
      </cdr:nvSpPr>
      <cdr:spPr>
        <a:xfrm xmlns:a="http://schemas.openxmlformats.org/drawingml/2006/main">
          <a:off x="8964613" y="1149351"/>
          <a:ext cx="2038350" cy="2762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zh-CN" altLang="en-US" sz="900">
              <a:solidFill>
                <a:schemeClr val="tx1">
                  <a:lumMod val="50000"/>
                  <a:lumOff val="50000"/>
                </a:schemeClr>
              </a:solidFill>
            </a:rPr>
            <a:t>▲ 晚高峰电价更低</a:t>
          </a:r>
          <a:endParaRPr lang="zh-CN" altLang="en-US" sz="900" kern="1200">
            <a:solidFill>
              <a:schemeClr val="tx1">
                <a:lumMod val="50000"/>
                <a:lumOff val="50000"/>
              </a:schemeClr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24EDD-08E7-4802-9E3E-629F646AB6D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EDD14-4813-44A5-894A-1090C6B2402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1B18-0E62-FFDD-8095-21254D11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72A45A-4EFE-C29C-875F-18F5E3639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B2347F-7C03-C6F7-BA2B-69E9FDA9F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A7B98-A56A-C3BA-1773-0D768C2C2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922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D0AC-5CCA-102A-6D6E-C2FED082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83BF77-92D6-E5A8-C145-E227AD8C3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63C57A-BC30-7341-84FB-CE787B68A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37059F-9BCB-1901-1A31-38C7B2A51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873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C684-1591-1CF7-0B4C-80642CA1D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0E433B-8D8C-9609-14A9-2FE91ED37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65495E-4F13-45F4-B3FA-E895582A5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4396AB-7840-2F71-6C4E-BCAF74F9D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856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4851-925C-AD2C-C028-6698A543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8A7AAD-86E6-3A37-4559-1A39B2766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0C2155-BF37-F3B2-784A-B1D7343C5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F1973B-8A05-ADC5-A7B2-3A352015E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691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EDD14-4813-44A5-894A-1090C6B240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4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等线" panose="02010600030101010101" charset="-122"/>
              </a:rPr>
              <a:t>前</a:t>
            </a:r>
            <a:r>
              <a:rPr lang="en-US" altLang="zh-CN">
                <a:ea typeface="等线" panose="02010600030101010101" charset="-122"/>
              </a:rPr>
              <a:t>10，和自己排名，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5EDEA-AD94-93B5-D215-CDD56189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D58C35-EA4C-C8C4-2DEA-8F81A6AC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999AC7-E286-186D-1045-5250392CD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B88CF-4F51-8D01-F2D5-730F2D914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3104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C5235-00A6-269B-A9EC-09B48A48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280FCA-A584-A1BA-8E5A-B32790314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8CADF3-0E8D-A2ED-C9D7-DDCA5E2F4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91BC60-66AB-EA79-EDA6-9CFED94E4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102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4631-6572-C634-9574-8041E39A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40D013-2611-4DAF-318F-98DC370CD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E790AC-CB51-27B3-4CAE-78AAEC3B1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CCD69E-C8F8-DAE3-3D0E-6B0EEB1E4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683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6DB9D-110F-FB37-AE63-B31D42B9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ED4790-A682-46F3-63CB-E542C0E9C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EEA405-700C-D8A1-D7C7-770CB3F9D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2118A0-BDEA-6663-04BD-21E45C790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3361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8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A465-2EA1-453C-A84A-C9DE5BFB9D28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96CE-D536-4AE0-8FEC-6B7DDB73F5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定义版式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9739313" y="68263"/>
            <a:ext cx="2447925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文档密级：秘密</a:t>
            </a:r>
            <a:endParaRPr lang="en-US" altLang="zh-CN" sz="1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400">
                <a:cs typeface="Arial" panose="020B0604020202020204" pitchFamily="34" charset="0"/>
              </a:rPr>
              <a:t>Documentlevel:Confidential</a:t>
            </a:r>
            <a:endParaRPr lang="en-US" altLang="zh-CN" sz="1400"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9350"/>
            <a:ext cx="12192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0938"/>
            <a:ext cx="12192000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075" y="6259513"/>
            <a:ext cx="432435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146300" y="6224588"/>
            <a:ext cx="10045700" cy="676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未经明确授权，本文档禁止拷贝.截屏.拍摄及其他扩散行为，如有发现按违反远景信息安全红线处理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</a:rPr>
              <a:t>Withoutexplicitauthorization,thisdocumentprohibitscopying,screencapture,filmingandotherproliferationactions,iffound,itwillbehandledinaccordancewiththeEnvisioninformationsecurityredline.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7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F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8374" y="1180800"/>
            <a:ext cx="11454525" cy="500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Content Level 1</a:t>
            </a:r>
          </a:p>
          <a:p>
            <a:pPr lvl="1"/>
            <a:r>
              <a:rPr kumimoji="1" lang="en-US" altLang="zh-CN"/>
              <a:t>Content Level 2</a:t>
            </a:r>
          </a:p>
          <a:p>
            <a:pPr lvl="1"/>
            <a:r>
              <a:rPr kumimoji="1" lang="en-US" altLang="zh-CN"/>
              <a:t>	Content Level 3</a:t>
            </a:r>
            <a:endParaRPr kumimoji="1"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318374" y="215901"/>
            <a:ext cx="11454525" cy="60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/>
              <a:t>Page Title</a:t>
            </a:r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-4463" y="6414196"/>
            <a:ext cx="1804688" cy="443804"/>
          </a:xfrm>
          <a:prstGeom prst="rect">
            <a:avLst/>
          </a:prstGeom>
          <a:solidFill>
            <a:srgbClr val="FD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形 23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512" y="6478985"/>
            <a:ext cx="990739" cy="314227"/>
          </a:xfrm>
          <a:prstGeom prst="rect">
            <a:avLst/>
          </a:prstGeom>
        </p:spPr>
      </p:pic>
      <p:sp>
        <p:nvSpPr>
          <p:cNvPr id="25" name="矩形 24"/>
          <p:cNvSpPr/>
          <p:nvPr userDrawn="1"/>
        </p:nvSpPr>
        <p:spPr>
          <a:xfrm>
            <a:off x="1800224" y="6414196"/>
            <a:ext cx="10391776" cy="443804"/>
          </a:xfrm>
          <a:prstGeom prst="rect">
            <a:avLst/>
          </a:prstGeom>
          <a:solidFill>
            <a:srgbClr val="3C3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r"/>
            <a:endParaRPr kumimoji="1" lang="zh-CN" altLang="en-US" sz="1000"/>
          </a:p>
        </p:txBody>
      </p:sp>
      <p:sp>
        <p:nvSpPr>
          <p:cNvPr id="26" name="灯片编号占位符 6"/>
          <p:cNvSpPr txBox="1"/>
          <p:nvPr userDrawn="1"/>
        </p:nvSpPr>
        <p:spPr>
          <a:xfrm>
            <a:off x="6954715" y="6465713"/>
            <a:ext cx="5155659" cy="3407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>
                <a:latin typeface="Calibri" panose="020F0502020204030204" pitchFamily="34" charset="0"/>
                <a:cs typeface="Calibri" panose="020F0502020204030204" pitchFamily="34" charset="0"/>
              </a:rPr>
              <a:t>© 2021 Envision Digital. All Rights Reserved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|Page</a:t>
            </a:r>
            <a:fld id="{CCD584DD-5604-4DED-B8D6-A28E3F71D8B2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矩形 56"/>
          <p:cNvSpPr/>
          <p:nvPr userDrawn="1"/>
        </p:nvSpPr>
        <p:spPr>
          <a:xfrm>
            <a:off x="12283768" y="0"/>
            <a:ext cx="1073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b="1">
                <a:solidFill>
                  <a:srgbClr val="A3A5B3"/>
                </a:solidFill>
                <a:latin typeface="+mj-lt"/>
              </a:rPr>
              <a:t>Dark Theme Palette</a:t>
            </a:r>
            <a:endParaRPr lang="zh-CN" altLang="en-US" sz="1200" b="1">
              <a:solidFill>
                <a:srgbClr val="A3A5B3"/>
              </a:solidFill>
              <a:latin typeface="+mj-lt"/>
            </a:endParaRPr>
          </a:p>
        </p:txBody>
      </p:sp>
      <p:sp>
        <p:nvSpPr>
          <p:cNvPr id="58" name="矩形 57"/>
          <p:cNvSpPr/>
          <p:nvPr userDrawn="1"/>
        </p:nvSpPr>
        <p:spPr>
          <a:xfrm>
            <a:off x="12368385" y="467912"/>
            <a:ext cx="432000" cy="432000"/>
          </a:xfrm>
          <a:prstGeom prst="rect">
            <a:avLst/>
          </a:prstGeom>
          <a:solidFill>
            <a:srgbClr val="199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2368385" y="972332"/>
            <a:ext cx="432000" cy="432000"/>
          </a:xfrm>
          <a:prstGeom prst="rect">
            <a:avLst/>
          </a:prstGeom>
          <a:solidFill>
            <a:srgbClr val="7F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2368385" y="1476752"/>
            <a:ext cx="432000" cy="432000"/>
          </a:xfrm>
          <a:prstGeom prst="rect">
            <a:avLst/>
          </a:prstGeom>
          <a:solidFill>
            <a:srgbClr val="09C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12377694" y="1981172"/>
            <a:ext cx="432000" cy="432000"/>
          </a:xfrm>
          <a:prstGeom prst="rect">
            <a:avLst/>
          </a:prstGeom>
          <a:solidFill>
            <a:srgbClr val="30C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12377694" y="2485592"/>
            <a:ext cx="432000" cy="432000"/>
          </a:xfrm>
          <a:prstGeom prst="rect">
            <a:avLst/>
          </a:prstGeom>
          <a:solidFill>
            <a:srgbClr val="F7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12377694" y="2990012"/>
            <a:ext cx="432000" cy="432000"/>
          </a:xfrm>
          <a:prstGeom prst="rect">
            <a:avLst/>
          </a:prstGeom>
          <a:solidFill>
            <a:srgbClr val="B86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12368385" y="3494432"/>
            <a:ext cx="432000" cy="432000"/>
          </a:xfrm>
          <a:prstGeom prst="rect">
            <a:avLst/>
          </a:prstGeom>
          <a:solidFill>
            <a:srgbClr val="9ED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12368385" y="3998852"/>
            <a:ext cx="432000" cy="432000"/>
          </a:xfrm>
          <a:prstGeom prst="rect">
            <a:avLst/>
          </a:prstGeom>
          <a:solidFill>
            <a:srgbClr val="FAA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12368385" y="4503272"/>
            <a:ext cx="432000" cy="432000"/>
          </a:xfrm>
          <a:prstGeom prst="rect">
            <a:avLst/>
          </a:prstGeom>
          <a:solidFill>
            <a:srgbClr val="F5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12368385" y="5007690"/>
            <a:ext cx="432000" cy="432000"/>
          </a:xfrm>
          <a:prstGeom prst="rect">
            <a:avLst/>
          </a:prstGeom>
          <a:solidFill>
            <a:srgbClr val="F66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12925695" y="467912"/>
            <a:ext cx="432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12925695" y="972332"/>
            <a:ext cx="432000" cy="432000"/>
          </a:xfrm>
          <a:prstGeom prst="rect">
            <a:avLst/>
          </a:prstGeom>
          <a:solidFill>
            <a:srgbClr val="F8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12925695" y="1476752"/>
            <a:ext cx="432000" cy="432000"/>
          </a:xfrm>
          <a:prstGeom prst="rect">
            <a:avLst/>
          </a:prstGeom>
          <a:solidFill>
            <a:srgbClr val="D6D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12925695" y="1988160"/>
            <a:ext cx="432000" cy="432000"/>
          </a:xfrm>
          <a:prstGeom prst="rect">
            <a:avLst/>
          </a:prstGeom>
          <a:solidFill>
            <a:srgbClr val="A3A5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12925695" y="2485592"/>
            <a:ext cx="432000" cy="432000"/>
          </a:xfrm>
          <a:prstGeom prst="rect">
            <a:avLst/>
          </a:prstGeom>
          <a:solidFill>
            <a:srgbClr val="7676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12925695" y="2997000"/>
            <a:ext cx="432000" cy="432000"/>
          </a:xfrm>
          <a:prstGeom prst="rect">
            <a:avLst/>
          </a:prstGeom>
          <a:solidFill>
            <a:srgbClr val="3E3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613500" y="3788"/>
            <a:ext cx="8563234" cy="6157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2000" b="1" kern="1200" baseline="0" dirty="0" smtClean="0">
          <a:solidFill>
            <a:srgbClr val="F8F6FB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rgbClr val="F8F5FB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D6D9D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CG41N1370099955拷贝.jpg" descr="VCG41N1370099955拷贝.jpg"/>
          <p:cNvPicPr>
            <a:picLocks noChangeAspect="1"/>
          </p:cNvPicPr>
          <p:nvPr/>
        </p:nvPicPr>
        <p:blipFill>
          <a:blip r:embed="rId2"/>
          <a:srcRect l="209" r="247" b="11865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1299028" y="2844225"/>
            <a:ext cx="959394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蒙西康富</a:t>
            </a:r>
            <a:r>
              <a:rPr lang="zh-CN" altLang="en-US" sz="3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储能场站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复盘（</a:t>
            </a: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月）</a:t>
            </a:r>
            <a:endParaRPr kumimoji="0" lang="en-US" altLang="zh-CN" sz="32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9028" y="3994029"/>
            <a:ext cx="9593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2026.7.22</a:t>
            </a:r>
            <a:endParaRPr kumimoji="0" lang="zh-CN" altLang="en-US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4EE96-6087-D985-E0FA-E2242707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6FC5541E-BB4A-15FB-75F4-80877D49147B}"/>
              </a:ext>
            </a:extLst>
          </p:cNvPr>
          <p:cNvSpPr txBox="1"/>
          <p:nvPr/>
        </p:nvSpPr>
        <p:spPr>
          <a:xfrm>
            <a:off x="126998" y="5879110"/>
            <a:ext cx="9439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总收益口径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现货收益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系统运行费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线损费用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调频分摊</a:t>
            </a:r>
            <a:endParaRPr lang="en-US" altLang="zh-CN" sz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C37361-B572-4AB1-0521-662B23EE0BC3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CA2CDD-C0CE-2A58-1DE8-5DF0D3E1F369}"/>
              </a:ext>
            </a:extLst>
          </p:cNvPr>
          <p:cNvSpPr txBox="1"/>
          <p:nvPr/>
        </p:nvSpPr>
        <p:spPr>
          <a:xfrm>
            <a:off x="126998" y="102938"/>
            <a:ext cx="655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6128A8-685E-63D3-EA0E-D1BDA8F8609B}"/>
              </a:ext>
            </a:extLst>
          </p:cNvPr>
          <p:cNvSpPr txBox="1"/>
          <p:nvPr/>
        </p:nvSpPr>
        <p:spPr>
          <a:xfrm>
            <a:off x="126998" y="813816"/>
            <a:ext cx="11668761" cy="4946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DA08E5-74D6-EFCD-E0A4-7396E6CAB038}"/>
              </a:ext>
            </a:extLst>
          </p:cNvPr>
          <p:cNvSpPr txBox="1"/>
          <p:nvPr/>
        </p:nvSpPr>
        <p:spPr>
          <a:xfrm>
            <a:off x="201168" y="889754"/>
            <a:ext cx="9184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月整体收益较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月有明显下滑，主要原因是市场情况恶劣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FEA251E-B66E-1622-F79A-8901237E8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421165"/>
              </p:ext>
            </p:extLst>
          </p:nvPr>
        </p:nvGraphicFramePr>
        <p:xfrm>
          <a:off x="269237" y="1339878"/>
          <a:ext cx="11303638" cy="41605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505">
                  <a:extLst>
                    <a:ext uri="{9D8B030D-6E8A-4147-A177-3AD203B41FA5}">
                      <a16:colId xmlns:a16="http://schemas.microsoft.com/office/drawing/2014/main" val="2093698825"/>
                    </a:ext>
                  </a:extLst>
                </a:gridCol>
                <a:gridCol w="1359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41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关键收益指标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月度总收益（万元）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额定容量收益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日均充电次数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现货价差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实发容量补偿单价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系统运行费单价（元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收益指标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实际达成</a:t>
                      </a:r>
                      <a:r>
                        <a:rPr lang="en-US" altLang="zh-CN" sz="11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累计收益和百分比）</a:t>
                      </a:r>
                      <a:endParaRPr lang="en-US" altLang="zh-CN" sz="11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（收益分成）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370.21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9255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1.18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24.90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355.16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3151/6000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52.5%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523.49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13087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1.41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79.22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348.69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3441/6000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57.35%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361.30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9033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1.17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35.07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348.57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2513/6000</a:t>
                      </a: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41.9%</a:t>
                      </a: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2352.14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11761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1.26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78.44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348.72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15322/29000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52.8%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527.95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13199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1.40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83.02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353.47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累计</a:t>
                      </a:r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3684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57164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429.28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10732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1.25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66.45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354.31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累计</a:t>
                      </a:r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3275</a:t>
                      </a:r>
                      <a:r>
                        <a:rPr lang="zh-CN" altLang="en-US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</a:t>
                      </a:r>
                      <a:endParaRPr lang="en-US" altLang="zh-CN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947639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4094.89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10237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1.17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55.12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348.95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累计</a:t>
                      </a: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31923</a:t>
                      </a:r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</a:t>
                      </a:r>
                      <a:endParaRPr lang="en-US" altLang="zh-CN" sz="12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44492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39E706A-1768-1D15-326B-9C8195A8A2C5}"/>
              </a:ext>
            </a:extLst>
          </p:cNvPr>
          <p:cNvSpPr txBox="1"/>
          <p:nvPr/>
        </p:nvSpPr>
        <p:spPr>
          <a:xfrm>
            <a:off x="3401576" y="5415533"/>
            <a:ext cx="1830823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市场平均水平为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1.19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kumimoji="0" lang="zh-CN" altLang="en-US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6754E4-A0D6-734A-4F8B-9FE754EA4C9A}"/>
              </a:ext>
            </a:extLst>
          </p:cNvPr>
          <p:cNvSpPr txBox="1"/>
          <p:nvPr/>
        </p:nvSpPr>
        <p:spPr>
          <a:xfrm>
            <a:off x="8438894" y="5861335"/>
            <a:ext cx="3753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合同达成收益口径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现货收益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调频分摊</a:t>
            </a:r>
            <a:endParaRPr lang="en-US" altLang="zh-CN" sz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269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C9F2-C1D7-C6CE-0F14-11DEA38C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69272A-4525-C104-F3E8-5C30179517F0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50E9BD-01F7-D33B-0D41-6568CD379978}"/>
              </a:ext>
            </a:extLst>
          </p:cNvPr>
          <p:cNvSpPr txBox="1"/>
          <p:nvPr/>
        </p:nvSpPr>
        <p:spPr>
          <a:xfrm>
            <a:off x="126999" y="102938"/>
            <a:ext cx="5254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收益概览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1CDA66-6FBB-06C3-376D-194B0631DA46}"/>
              </a:ext>
            </a:extLst>
          </p:cNvPr>
          <p:cNvSpPr txBox="1"/>
          <p:nvPr/>
        </p:nvSpPr>
        <p:spPr>
          <a:xfrm>
            <a:off x="126998" y="813816"/>
            <a:ext cx="11668761" cy="52906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DD0EDCA-B90E-E3F7-C035-D1612A2F8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854484"/>
              </p:ext>
            </p:extLst>
          </p:nvPr>
        </p:nvGraphicFramePr>
        <p:xfrm>
          <a:off x="201167" y="1259086"/>
          <a:ext cx="11371706" cy="468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68282">
                  <a:extLst>
                    <a:ext uri="{9D8B030D-6E8A-4147-A177-3AD203B41FA5}">
                      <a16:colId xmlns:a16="http://schemas.microsoft.com/office/drawing/2014/main" val="667949120"/>
                    </a:ext>
                  </a:extLst>
                </a:gridCol>
                <a:gridCol w="1038223">
                  <a:extLst>
                    <a:ext uri="{9D8B030D-6E8A-4147-A177-3AD203B41FA5}">
                      <a16:colId xmlns:a16="http://schemas.microsoft.com/office/drawing/2014/main" val="1261835547"/>
                    </a:ext>
                  </a:extLst>
                </a:gridCol>
                <a:gridCol w="1038223">
                  <a:extLst>
                    <a:ext uri="{9D8B030D-6E8A-4147-A177-3AD203B41FA5}">
                      <a16:colId xmlns:a16="http://schemas.microsoft.com/office/drawing/2014/main" val="3820191947"/>
                    </a:ext>
                  </a:extLst>
                </a:gridCol>
                <a:gridCol w="1215807">
                  <a:extLst>
                    <a:ext uri="{9D8B030D-6E8A-4147-A177-3AD203B41FA5}">
                      <a16:colId xmlns:a16="http://schemas.microsoft.com/office/drawing/2014/main" val="2489073120"/>
                    </a:ext>
                  </a:extLst>
                </a:gridCol>
                <a:gridCol w="1215807">
                  <a:extLst>
                    <a:ext uri="{9D8B030D-6E8A-4147-A177-3AD203B41FA5}">
                      <a16:colId xmlns:a16="http://schemas.microsoft.com/office/drawing/2014/main" val="270464836"/>
                    </a:ext>
                  </a:extLst>
                </a:gridCol>
                <a:gridCol w="982068">
                  <a:extLst>
                    <a:ext uri="{9D8B030D-6E8A-4147-A177-3AD203B41FA5}">
                      <a16:colId xmlns:a16="http://schemas.microsoft.com/office/drawing/2014/main" val="1402428963"/>
                    </a:ext>
                  </a:extLst>
                </a:gridCol>
                <a:gridCol w="982068">
                  <a:extLst>
                    <a:ext uri="{9D8B030D-6E8A-4147-A177-3AD203B41FA5}">
                      <a16:colId xmlns:a16="http://schemas.microsoft.com/office/drawing/2014/main" val="475764781"/>
                    </a:ext>
                  </a:extLst>
                </a:gridCol>
                <a:gridCol w="1032807">
                  <a:extLst>
                    <a:ext uri="{9D8B030D-6E8A-4147-A177-3AD203B41FA5}">
                      <a16:colId xmlns:a16="http://schemas.microsoft.com/office/drawing/2014/main" val="2082754537"/>
                    </a:ext>
                  </a:extLst>
                </a:gridCol>
                <a:gridCol w="1032807">
                  <a:extLst>
                    <a:ext uri="{9D8B030D-6E8A-4147-A177-3AD203B41FA5}">
                      <a16:colId xmlns:a16="http://schemas.microsoft.com/office/drawing/2014/main" val="799714809"/>
                    </a:ext>
                  </a:extLst>
                </a:gridCol>
                <a:gridCol w="1032807">
                  <a:extLst>
                    <a:ext uri="{9D8B030D-6E8A-4147-A177-3AD203B41FA5}">
                      <a16:colId xmlns:a16="http://schemas.microsoft.com/office/drawing/2014/main" val="587217622"/>
                    </a:ext>
                  </a:extLst>
                </a:gridCol>
                <a:gridCol w="1032807">
                  <a:extLst>
                    <a:ext uri="{9D8B030D-6E8A-4147-A177-3AD203B41FA5}">
                      <a16:colId xmlns:a16="http://schemas.microsoft.com/office/drawing/2014/main" val="253257417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关键收益指标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48662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月度总收益（万元）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容量补贴单价</a:t>
                      </a:r>
                      <a:endParaRPr lang="en-US" altLang="zh-CN" sz="1100" b="1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（元</a:t>
                      </a:r>
                      <a:r>
                        <a:rPr lang="en-US" altLang="zh-CN" sz="11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/MWh</a:t>
                      </a:r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日均充电次数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现货价差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系统运行费单价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/kWh)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34162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4675815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720.56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483.47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355.16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1.26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91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24.90</a:t>
                      </a: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35.7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44.3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599771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655.46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523.49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373.83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1.28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138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79.22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48684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559.54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361.30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366.78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1.25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92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35.07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668750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3334.62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2352.14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369.56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1.33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131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78.44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0624370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808.18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527.95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462.29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353.47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1.38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131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83.02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8119582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774.30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429.28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471.12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354.31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1.28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125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66.45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181092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6303.73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4094.89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372.26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348.95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1.29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120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55.12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76347276"/>
                  </a:ext>
                </a:extLst>
              </a:tr>
            </a:tbl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A888B0AB-841C-839E-93CA-A1027CEBB539}"/>
              </a:ext>
            </a:extLst>
          </p:cNvPr>
          <p:cNvSpPr txBox="1"/>
          <p:nvPr/>
        </p:nvSpPr>
        <p:spPr>
          <a:xfrm>
            <a:off x="126998" y="5907371"/>
            <a:ext cx="9439835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月度总收益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现货收益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系统运行费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线损费用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调频分摊</a:t>
            </a:r>
            <a:endParaRPr lang="en-US" altLang="zh-CN" sz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4980FB-9E60-25A0-02AA-1FFB90D124C3}"/>
              </a:ext>
            </a:extLst>
          </p:cNvPr>
          <p:cNvSpPr txBox="1"/>
          <p:nvPr/>
        </p:nvSpPr>
        <p:spPr>
          <a:xfrm>
            <a:off x="201168" y="889754"/>
            <a:ext cx="9184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月整体收益较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月有明显下滑，主要原因是现货市场价差收紧，容量补贴回复正常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箭头: 上 2">
            <a:extLst>
              <a:ext uri="{FF2B5EF4-FFF2-40B4-BE49-F238E27FC236}">
                <a16:creationId xmlns:a16="http://schemas.microsoft.com/office/drawing/2014/main" id="{B4D4F454-D1E0-2C9B-B97B-9E02E6E473C4}"/>
              </a:ext>
            </a:extLst>
          </p:cNvPr>
          <p:cNvSpPr/>
          <p:nvPr/>
        </p:nvSpPr>
        <p:spPr>
          <a:xfrm flipV="1">
            <a:off x="2597149" y="1828800"/>
            <a:ext cx="314325" cy="257175"/>
          </a:xfrm>
          <a:prstGeom prst="up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上 6">
            <a:extLst>
              <a:ext uri="{FF2B5EF4-FFF2-40B4-BE49-F238E27FC236}">
                <a16:creationId xmlns:a16="http://schemas.microsoft.com/office/drawing/2014/main" id="{9B34B63B-89A3-9817-D278-01E310FFDED8}"/>
              </a:ext>
            </a:extLst>
          </p:cNvPr>
          <p:cNvSpPr/>
          <p:nvPr/>
        </p:nvSpPr>
        <p:spPr>
          <a:xfrm flipV="1">
            <a:off x="4793607" y="1828799"/>
            <a:ext cx="314325" cy="257175"/>
          </a:xfrm>
          <a:prstGeom prst="up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A1B10DFF-08B8-8DC4-952D-9CD0BC7007EB}"/>
              </a:ext>
            </a:extLst>
          </p:cNvPr>
          <p:cNvSpPr/>
          <p:nvPr/>
        </p:nvSpPr>
        <p:spPr>
          <a:xfrm flipV="1">
            <a:off x="8870307" y="1828799"/>
            <a:ext cx="314325" cy="257175"/>
          </a:xfrm>
          <a:prstGeom prst="up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B7CCF033-3651-1B88-52CE-1DF99FDDA634}"/>
              </a:ext>
            </a:extLst>
          </p:cNvPr>
          <p:cNvSpPr/>
          <p:nvPr/>
        </p:nvSpPr>
        <p:spPr>
          <a:xfrm>
            <a:off x="11101386" y="1828799"/>
            <a:ext cx="314325" cy="25717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22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999" y="102938"/>
            <a:ext cx="502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-6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月现货及补偿</a:t>
            </a:r>
            <a:r>
              <a: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收益拆解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634786"/>
              </p:ext>
            </p:extLst>
          </p:nvPr>
        </p:nvGraphicFramePr>
        <p:xfrm>
          <a:off x="0" y="574176"/>
          <a:ext cx="12191998" cy="37002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7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7869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曲线</a:t>
                      </a:r>
                      <a:endParaRPr lang="zh-CN" alt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远景景蓝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悦杭独贵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景通四益堂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裕昭新能源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2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策略申报收益</a:t>
                      </a: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1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566.06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17606.00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16938.50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640.87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17676.50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15967.25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609.43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17595.00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17260.00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1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3138.17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86359.75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78458.50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实时出清收益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475.02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15382.59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13985.64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630.36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17364.48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15608.66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494.76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15210.03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13915.79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3091.90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85147.51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76904.46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实际执行收益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436.08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14156.57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12775.11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607.95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16844.87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15103.34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453.64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13901.16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12613.79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2710.92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75240.21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67563.87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-11393" y="4662270"/>
            <a:ext cx="3027322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苏右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 -91.04/</a:t>
            </a:r>
            <a:r>
              <a:rPr lang="en-US" altLang="zh-CN" sz="12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-16.1%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-16.8%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- 38.94/-8.2%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-8.2%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107643" y="4662270"/>
            <a:ext cx="2960786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杭锦旗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 -10.52/</a:t>
            </a:r>
            <a:r>
              <a:rPr lang="en-US" altLang="zh-CN" sz="12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-1.6%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-7.9%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 -22.4/</a:t>
            </a:r>
            <a:r>
              <a:rPr lang="en-US" altLang="zh-CN" sz="12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-3.6%</a:t>
            </a:r>
            <a:r>
              <a:rPr lang="zh-CN" altLang="en-US" sz="12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-6.1%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8750" y="4662270"/>
            <a:ext cx="3027321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四子王旗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 -114.66/-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18.8%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-17.6%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- 41.13/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-8.3%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-7.9%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56391" y="4662270"/>
            <a:ext cx="2836997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谷山梁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- 46.27/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-7.2%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- 380.98/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-12.3%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-2.5%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26497A-B7FD-1450-BB10-0D1666762DCB}"/>
              </a:ext>
            </a:extLst>
          </p:cNvPr>
          <p:cNvSpPr txBox="1"/>
          <p:nvPr/>
        </p:nvSpPr>
        <p:spPr>
          <a:xfrm>
            <a:off x="0" y="5899952"/>
            <a:ext cx="9439835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容量补偿单价按照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350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/MWh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endParaRPr lang="en-US" altLang="zh-CN" sz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4646A-54DF-0C49-F8C5-86663459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C3F321-8BEB-FA38-0C2F-02AAE26B4511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6AB074-A71E-6F42-E202-155852C3AE58}"/>
              </a:ext>
            </a:extLst>
          </p:cNvPr>
          <p:cNvSpPr txBox="1"/>
          <p:nvPr/>
        </p:nvSpPr>
        <p:spPr>
          <a:xfrm>
            <a:off x="126999" y="102938"/>
            <a:ext cx="502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-6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月现货及补偿</a:t>
            </a:r>
            <a:r>
              <a: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收益拆解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0AB5EF0-9B3F-FE48-4363-30F5B4E5E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976439"/>
              </p:ext>
            </p:extLst>
          </p:nvPr>
        </p:nvGraphicFramePr>
        <p:xfrm>
          <a:off x="0" y="574176"/>
          <a:ext cx="12192000" cy="37002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869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曲线</a:t>
                      </a:r>
                      <a:endParaRPr lang="zh-CN" alt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  <a:endParaRPr lang="zh-CN" altLang="en-US" sz="16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2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  <a:endParaRPr lang="en-US" altLang="zh-CN" sz="140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  <a:r>
                        <a:rPr lang="en-US" altLang="zh-CN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策略申报收益</a:t>
                      </a: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633.85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17497.25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15672.00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581.45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16905.75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14954.25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6230.94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171059.50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159805.50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实时出清收益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631.45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17191.65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15470.23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559.26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15703.80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14025.77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6036.77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161904.34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153744.53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实际执行收益</a:t>
                      </a:r>
                      <a:endParaRPr lang="zh-CN" altLang="en-US" sz="12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86" marR="4686" marT="4686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593.09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16337.44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14370.88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503.17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14996.80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12912.10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4751.29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139939.10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125616.44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EBBB64D-BACC-5E8C-B67E-BE4A057F91CE}"/>
              </a:ext>
            </a:extLst>
          </p:cNvPr>
          <p:cNvSpPr txBox="1"/>
          <p:nvPr/>
        </p:nvSpPr>
        <p:spPr>
          <a:xfrm>
            <a:off x="1507964" y="4624682"/>
            <a:ext cx="3027322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乌海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-2.39/</a:t>
            </a:r>
            <a:r>
              <a:rPr lang="en-US" altLang="zh-CN" sz="12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-0.4%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-2.6%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-38.36/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-6.1%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-0.9%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605BAF-6808-6B95-3D81-618B7BBA723F}"/>
              </a:ext>
            </a:extLst>
          </p:cNvPr>
          <p:cNvSpPr txBox="1"/>
          <p:nvPr/>
        </p:nvSpPr>
        <p:spPr>
          <a:xfrm>
            <a:off x="4615607" y="4624682"/>
            <a:ext cx="2960786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乌拉特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-22/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-3.8%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-7.2%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-56.09/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-10.0%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-6.2%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7CDFE6-C9D6-CBAD-839C-087BCD6FC905}"/>
              </a:ext>
            </a:extLst>
          </p:cNvPr>
          <p:cNvSpPr txBox="1"/>
          <p:nvPr/>
        </p:nvSpPr>
        <p:spPr>
          <a:xfrm>
            <a:off x="7656714" y="4624682"/>
            <a:ext cx="3027321" cy="89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巴盟</a:t>
            </a:r>
            <a:endParaRPr lang="en-US" altLang="zh-CN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-194.16/</a:t>
            </a:r>
            <a:r>
              <a:rPr lang="en-US" altLang="zh-CN" sz="12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-3.1%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-6.2%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出清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-1285.48/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-21.3%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-9.8%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683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F516-FB8F-6C49-15C0-B09D9A7FA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374178-F7E7-3CE5-19CC-A8935CF23491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9C38CD-CEE6-8D30-D7C0-3B4D017FB501}"/>
              </a:ext>
            </a:extLst>
          </p:cNvPr>
          <p:cNvSpPr txBox="1"/>
          <p:nvPr/>
        </p:nvSpPr>
        <p:spPr>
          <a:xfrm>
            <a:off x="126999" y="102938"/>
            <a:ext cx="502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涉网试验的统计及影响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BC12EC5-EA40-8F41-0F8F-D388CED14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234116"/>
              </p:ext>
            </p:extLst>
          </p:nvPr>
        </p:nvGraphicFramePr>
        <p:xfrm>
          <a:off x="355600" y="815726"/>
          <a:ext cx="7159624" cy="3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843">
                  <a:extLst>
                    <a:ext uri="{9D8B030D-6E8A-4147-A177-3AD203B41FA5}">
                      <a16:colId xmlns:a16="http://schemas.microsoft.com/office/drawing/2014/main" val="2080733003"/>
                    </a:ext>
                  </a:extLst>
                </a:gridCol>
                <a:gridCol w="1024057">
                  <a:extLst>
                    <a:ext uri="{9D8B030D-6E8A-4147-A177-3AD203B41FA5}">
                      <a16:colId xmlns:a16="http://schemas.microsoft.com/office/drawing/2014/main" val="462909123"/>
                    </a:ext>
                  </a:extLst>
                </a:gridCol>
                <a:gridCol w="1120512">
                  <a:extLst>
                    <a:ext uri="{9D8B030D-6E8A-4147-A177-3AD203B41FA5}">
                      <a16:colId xmlns:a16="http://schemas.microsoft.com/office/drawing/2014/main" val="1988911361"/>
                    </a:ext>
                  </a:extLst>
                </a:gridCol>
                <a:gridCol w="1022803">
                  <a:extLst>
                    <a:ext uri="{9D8B030D-6E8A-4147-A177-3AD203B41FA5}">
                      <a16:colId xmlns:a16="http://schemas.microsoft.com/office/drawing/2014/main" val="1327950919"/>
                    </a:ext>
                  </a:extLst>
                </a:gridCol>
                <a:gridCol w="1022803">
                  <a:extLst>
                    <a:ext uri="{9D8B030D-6E8A-4147-A177-3AD203B41FA5}">
                      <a16:colId xmlns:a16="http://schemas.microsoft.com/office/drawing/2014/main" val="3883648408"/>
                    </a:ext>
                  </a:extLst>
                </a:gridCol>
                <a:gridCol w="1022803">
                  <a:extLst>
                    <a:ext uri="{9D8B030D-6E8A-4147-A177-3AD203B41FA5}">
                      <a16:colId xmlns:a16="http://schemas.microsoft.com/office/drawing/2014/main" val="3817278966"/>
                    </a:ext>
                  </a:extLst>
                </a:gridCol>
                <a:gridCol w="1022803">
                  <a:extLst>
                    <a:ext uri="{9D8B030D-6E8A-4147-A177-3AD203B41FA5}">
                      <a16:colId xmlns:a16="http://schemas.microsoft.com/office/drawing/2014/main" val="1949041435"/>
                    </a:ext>
                  </a:extLst>
                </a:gridCol>
              </a:tblGrid>
              <a:tr h="6734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涉网试验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总天数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功率控制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（天数）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额定能量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（天数）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充放电时间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（天数）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一次调频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（天数）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惯量响应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（天数）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060665"/>
                  </a:ext>
                </a:extLst>
              </a:tr>
              <a:tr h="673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悦杭独贵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118517"/>
                  </a:ext>
                </a:extLst>
              </a:tr>
              <a:tr h="673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景怡查干哈达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029228"/>
                  </a:ext>
                </a:extLst>
              </a:tr>
              <a:tr h="673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景通四益堂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2052"/>
                  </a:ext>
                </a:extLst>
              </a:tr>
              <a:tr h="673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裕昭沙子坝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807631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E88945F-09B6-1157-8C8E-D13935643AAE}"/>
              </a:ext>
            </a:extLst>
          </p:cNvPr>
          <p:cNvSpPr txBox="1"/>
          <p:nvPr/>
        </p:nvSpPr>
        <p:spPr>
          <a:xfrm>
            <a:off x="746125" y="4424675"/>
            <a:ext cx="10369550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一次调频、惯量响应影响较大（巴盟需要分母线做，因此执行充放的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仅为申报的）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功率控制试验会改变充放计划，使得收益受损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其他试验，有“满功率充放”“固定充放时段”“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变化”等要求，会影响策略收益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综上，六月大面积的涉网试验，会深刻影响场站收益；对于巴盟来说还会延续到七月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4AB011-2DE0-911E-2794-C3FF03673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360"/>
          <a:stretch>
            <a:fillRect/>
          </a:stretch>
        </p:blipFill>
        <p:spPr>
          <a:xfrm>
            <a:off x="7625899" y="992487"/>
            <a:ext cx="4210501" cy="1562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5D72CC-1342-AAFC-91A7-89C09DE4C3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678" b="15000"/>
          <a:stretch>
            <a:fillRect/>
          </a:stretch>
        </p:blipFill>
        <p:spPr>
          <a:xfrm>
            <a:off x="7625899" y="2646341"/>
            <a:ext cx="4210501" cy="133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531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999" y="102938"/>
            <a:ext cx="8359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市场环境分析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蒙西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现货价格及峰谷价差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243840" y="1417320"/>
            <a:ext cx="5547360" cy="390144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243840" y="1417320"/>
            <a:ext cx="60960" cy="390144"/>
          </a:xfrm>
          <a:prstGeom prst="rect">
            <a:avLst/>
          </a:prstGeom>
          <a:solidFill>
            <a:srgbClr val="7B97AD"/>
          </a:solidFill>
          <a:ln w="12700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 7"/>
          <p:cNvSpPr/>
          <p:nvPr/>
        </p:nvSpPr>
        <p:spPr>
          <a:xfrm>
            <a:off x="426720" y="1417320"/>
            <a:ext cx="536448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现货均价对比（元/MWh）</a:t>
            </a:r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6156960" y="1417320"/>
            <a:ext cx="5791200" cy="390144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6156960" y="1417320"/>
            <a:ext cx="60960" cy="390144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6339840" y="1417320"/>
            <a:ext cx="560832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峰谷价差对比（元/MWh）</a:t>
            </a:r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243840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243840" y="5097399"/>
            <a:ext cx="1853184" cy="60960"/>
          </a:xfrm>
          <a:prstGeom prst="rect">
            <a:avLst/>
          </a:prstGeom>
          <a:solidFill>
            <a:srgbClr val="7B97AD"/>
          </a:solidFill>
          <a:ln w="12700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243840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呼包东</a:t>
            </a:r>
            <a:r>
              <a:rPr lang="en-US" sz="100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00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均价</a:t>
            </a:r>
            <a:r>
              <a:rPr lang="en-US" sz="100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(6月)</a:t>
            </a:r>
            <a:endParaRPr 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243840" y="5853303"/>
            <a:ext cx="1019251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35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Shape 17"/>
          <p:cNvSpPr/>
          <p:nvPr/>
        </p:nvSpPr>
        <p:spPr>
          <a:xfrm>
            <a:off x="2206752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2206752" y="5097399"/>
            <a:ext cx="1853184" cy="60960"/>
          </a:xfrm>
          <a:prstGeom prst="rect">
            <a:avLst/>
          </a:prstGeom>
          <a:solidFill>
            <a:srgbClr val="7B97AD"/>
          </a:solidFill>
          <a:ln w="12700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2206752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呼包西</a:t>
            </a:r>
            <a:r>
              <a:rPr lang="en-US" sz="100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00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均价</a:t>
            </a:r>
            <a:r>
              <a:rPr lang="en-US" sz="100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(6月)</a:t>
            </a:r>
            <a:endParaRPr 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2206752" y="5853303"/>
            <a:ext cx="1019251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35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Shape 23"/>
          <p:cNvSpPr/>
          <p:nvPr/>
        </p:nvSpPr>
        <p:spPr>
          <a:xfrm>
            <a:off x="4169664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4169664" y="5097399"/>
            <a:ext cx="1853184" cy="60960"/>
          </a:xfrm>
          <a:prstGeom prst="rect">
            <a:avLst/>
          </a:prstGeom>
          <a:solidFill>
            <a:srgbClr val="7B97AD"/>
          </a:solidFill>
          <a:ln w="12700">
            <a:solidFill>
              <a:srgbClr val="7B97AD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4169664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统一结算价</a:t>
            </a:r>
            <a:r>
              <a:rPr lang="en-US" sz="100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(6月)</a:t>
            </a:r>
            <a:endParaRPr 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 27"/>
          <p:cNvSpPr/>
          <p:nvPr/>
        </p:nvSpPr>
        <p:spPr>
          <a:xfrm>
            <a:off x="4169664" y="5853303"/>
            <a:ext cx="1019251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35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Shape 29"/>
          <p:cNvSpPr/>
          <p:nvPr/>
        </p:nvSpPr>
        <p:spPr>
          <a:xfrm>
            <a:off x="6132576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Shape 30"/>
          <p:cNvSpPr/>
          <p:nvPr/>
        </p:nvSpPr>
        <p:spPr>
          <a:xfrm>
            <a:off x="6132576" y="5097399"/>
            <a:ext cx="1853184" cy="60960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 31"/>
          <p:cNvSpPr/>
          <p:nvPr/>
        </p:nvSpPr>
        <p:spPr>
          <a:xfrm>
            <a:off x="6132576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呼包东</a:t>
            </a:r>
            <a:r>
              <a:rPr lang="en-US" sz="100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4h峰谷差</a:t>
            </a:r>
            <a:endParaRPr 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 33"/>
          <p:cNvSpPr/>
          <p:nvPr/>
        </p:nvSpPr>
        <p:spPr>
          <a:xfrm>
            <a:off x="6132576" y="5853303"/>
            <a:ext cx="1019251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35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Shape 35"/>
          <p:cNvSpPr/>
          <p:nvPr/>
        </p:nvSpPr>
        <p:spPr>
          <a:xfrm>
            <a:off x="8095488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Shape 36"/>
          <p:cNvSpPr/>
          <p:nvPr/>
        </p:nvSpPr>
        <p:spPr>
          <a:xfrm>
            <a:off x="8095488" y="5097399"/>
            <a:ext cx="1853184" cy="60960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 37"/>
          <p:cNvSpPr/>
          <p:nvPr/>
        </p:nvSpPr>
        <p:spPr>
          <a:xfrm>
            <a:off x="8095488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呼包西</a:t>
            </a:r>
            <a:r>
              <a:rPr lang="en-US" sz="100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4h峰谷差</a:t>
            </a:r>
          </a:p>
        </p:txBody>
      </p:sp>
      <p:sp>
        <p:nvSpPr>
          <p:cNvPr id="97" name="Text 39"/>
          <p:cNvSpPr/>
          <p:nvPr/>
        </p:nvSpPr>
        <p:spPr>
          <a:xfrm>
            <a:off x="8095488" y="5853303"/>
            <a:ext cx="1019251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35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Shape 41"/>
          <p:cNvSpPr/>
          <p:nvPr/>
        </p:nvSpPr>
        <p:spPr>
          <a:xfrm>
            <a:off x="10058400" y="5097399"/>
            <a:ext cx="185318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Shape 42"/>
          <p:cNvSpPr/>
          <p:nvPr/>
        </p:nvSpPr>
        <p:spPr>
          <a:xfrm>
            <a:off x="10058400" y="5097399"/>
            <a:ext cx="1853184" cy="60960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 43"/>
          <p:cNvSpPr/>
          <p:nvPr/>
        </p:nvSpPr>
        <p:spPr>
          <a:xfrm>
            <a:off x="10058400" y="5170551"/>
            <a:ext cx="1853184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00" err="1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</a:t>
            </a:r>
            <a:r>
              <a:rPr lang="en-US" sz="1000">
                <a:solidFill>
                  <a:srgbClr val="607D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4h峰谷差</a:t>
            </a:r>
            <a:endParaRPr 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Text 45"/>
          <p:cNvSpPr/>
          <p:nvPr/>
        </p:nvSpPr>
        <p:spPr>
          <a:xfrm>
            <a:off x="10058400" y="5853303"/>
            <a:ext cx="1019251" cy="243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35">
                <a:solidFill>
                  <a:srgbClr val="90A4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元/MWh</a:t>
            </a:r>
            <a:endParaRPr lang="en-US" sz="9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735307-A92C-9FE2-CE0E-49204E70FEB8}"/>
              </a:ext>
            </a:extLst>
          </p:cNvPr>
          <p:cNvSpPr txBox="1"/>
          <p:nvPr/>
        </p:nvSpPr>
        <p:spPr>
          <a:xfrm>
            <a:off x="252805" y="547046"/>
            <a:ext cx="11704320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月蒙西进入迎峰度夏关键期，现货价格中枢继续上移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三区域月均价环比涨幅达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55%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，呼包东月均价飙升，较呼包西高出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200.2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/MWh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；但峰谷价差反向收窄。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6C461D25-D46E-9E65-AF1D-C5D17562C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1934631"/>
            <a:ext cx="5675138" cy="2975148"/>
          </a:xfrm>
          <a:prstGeom prst="rect">
            <a:avLst/>
          </a:prstGeom>
        </p:spPr>
      </p:pic>
      <p:pic>
        <p:nvPicPr>
          <p:cNvPr id="11" name="Picture 13" descr="image.png">
            <a:extLst>
              <a:ext uri="{FF2B5EF4-FFF2-40B4-BE49-F238E27FC236}">
                <a16:creationId xmlns:a16="http://schemas.microsoft.com/office/drawing/2014/main" id="{34AE99F3-13AB-EFBB-6EE4-CAA17B34B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139" y="1932007"/>
            <a:ext cx="5675138" cy="2980567"/>
          </a:xfrm>
          <a:prstGeom prst="rect">
            <a:avLst/>
          </a:prstGeom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94A783E9-AF31-F2BB-5941-B28F8F978DB7}"/>
              </a:ext>
            </a:extLst>
          </p:cNvPr>
          <p:cNvSpPr txBox="1"/>
          <p:nvPr/>
        </p:nvSpPr>
        <p:spPr>
          <a:xfrm>
            <a:off x="553752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D3548"/>
                </a:solidFill>
                <a:latin typeface="Microsoft YaHei"/>
              </a:rPr>
              <a:t>421.63</a:t>
            </a:r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9CAF7106-7D8A-389C-2354-86EE714587F6}"/>
              </a:ext>
            </a:extLst>
          </p:cNvPr>
          <p:cNvSpPr txBox="1"/>
          <p:nvPr/>
        </p:nvSpPr>
        <p:spPr>
          <a:xfrm>
            <a:off x="2533752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D3548"/>
                </a:solidFill>
                <a:latin typeface="Microsoft YaHei"/>
              </a:rPr>
              <a:t>221.48</a:t>
            </a:r>
          </a:p>
        </p:txBody>
      </p:sp>
      <p:sp>
        <p:nvSpPr>
          <p:cNvPr id="14" name="TextBox 29">
            <a:extLst>
              <a:ext uri="{FF2B5EF4-FFF2-40B4-BE49-F238E27FC236}">
                <a16:creationId xmlns:a16="http://schemas.microsoft.com/office/drawing/2014/main" id="{6F87D01E-6BA3-9420-FDAB-FBF5A7ABA67D}"/>
              </a:ext>
            </a:extLst>
          </p:cNvPr>
          <p:cNvSpPr txBox="1"/>
          <p:nvPr/>
        </p:nvSpPr>
        <p:spPr>
          <a:xfrm>
            <a:off x="4513752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D3548"/>
                </a:solidFill>
                <a:latin typeface="Microsoft YaHei"/>
              </a:rPr>
              <a:t>316.07</a:t>
            </a: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id="{F94A992D-8A29-2CBA-6F34-F330C79B8C56}"/>
              </a:ext>
            </a:extLst>
          </p:cNvPr>
          <p:cNvSpPr txBox="1"/>
          <p:nvPr/>
        </p:nvSpPr>
        <p:spPr>
          <a:xfrm>
            <a:off x="6493752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D3548"/>
                </a:solidFill>
                <a:latin typeface="Microsoft YaHei"/>
              </a:rPr>
              <a:t>339.37</a:t>
            </a:r>
          </a:p>
        </p:txBody>
      </p:sp>
      <p:sp>
        <p:nvSpPr>
          <p:cNvPr id="16" name="TextBox 41">
            <a:extLst>
              <a:ext uri="{FF2B5EF4-FFF2-40B4-BE49-F238E27FC236}">
                <a16:creationId xmlns:a16="http://schemas.microsoft.com/office/drawing/2014/main" id="{83793671-8AFE-47E7-125F-889BC7D749EF}"/>
              </a:ext>
            </a:extLst>
          </p:cNvPr>
          <p:cNvSpPr txBox="1"/>
          <p:nvPr/>
        </p:nvSpPr>
        <p:spPr>
          <a:xfrm>
            <a:off x="8473752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D3548"/>
                </a:solidFill>
                <a:latin typeface="Microsoft YaHei"/>
              </a:rPr>
              <a:t>243.15</a:t>
            </a:r>
          </a:p>
        </p:txBody>
      </p:sp>
      <p:sp>
        <p:nvSpPr>
          <p:cNvPr id="17" name="TextBox 47">
            <a:extLst>
              <a:ext uri="{FF2B5EF4-FFF2-40B4-BE49-F238E27FC236}">
                <a16:creationId xmlns:a16="http://schemas.microsoft.com/office/drawing/2014/main" id="{9DA99B2A-85BF-F7FE-E16E-C90003B9015B}"/>
              </a:ext>
            </a:extLst>
          </p:cNvPr>
          <p:cNvSpPr txBox="1"/>
          <p:nvPr/>
        </p:nvSpPr>
        <p:spPr>
          <a:xfrm>
            <a:off x="10453752" y="5447362"/>
            <a:ext cx="11836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D3548"/>
                </a:solidFill>
                <a:latin typeface="Microsoft YaHei"/>
              </a:rPr>
              <a:t>251.81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2283EBCF-86ED-F738-67CC-49F3A951375E}"/>
              </a:ext>
            </a:extLst>
          </p:cNvPr>
          <p:cNvSpPr txBox="1"/>
          <p:nvPr/>
        </p:nvSpPr>
        <p:spPr>
          <a:xfrm>
            <a:off x="1177872" y="5844716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C5A3C"/>
                </a:solidFill>
                <a:latin typeface="Microsoft YaHei"/>
              </a:rPr>
              <a:t>▲ +54.6%</a:t>
            </a:r>
          </a:p>
        </p:txBody>
      </p:sp>
      <p:sp>
        <p:nvSpPr>
          <p:cNvPr id="19" name="TextBox 25">
            <a:extLst>
              <a:ext uri="{FF2B5EF4-FFF2-40B4-BE49-F238E27FC236}">
                <a16:creationId xmlns:a16="http://schemas.microsoft.com/office/drawing/2014/main" id="{B9AC80F5-7B08-8317-90F1-1E366F229401}"/>
              </a:ext>
            </a:extLst>
          </p:cNvPr>
          <p:cNvSpPr txBox="1"/>
          <p:nvPr/>
        </p:nvSpPr>
        <p:spPr>
          <a:xfrm>
            <a:off x="3157872" y="5844716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C5A3C"/>
                </a:solidFill>
                <a:latin typeface="Microsoft YaHei"/>
              </a:rPr>
              <a:t>▲ +44.3%</a:t>
            </a:r>
          </a:p>
        </p:txBody>
      </p:sp>
      <p:sp>
        <p:nvSpPr>
          <p:cNvPr id="20" name="TextBox 31">
            <a:extLst>
              <a:ext uri="{FF2B5EF4-FFF2-40B4-BE49-F238E27FC236}">
                <a16:creationId xmlns:a16="http://schemas.microsoft.com/office/drawing/2014/main" id="{B66687DA-3AD2-3952-4ACB-93469BC47A81}"/>
              </a:ext>
            </a:extLst>
          </p:cNvPr>
          <p:cNvSpPr txBox="1"/>
          <p:nvPr/>
        </p:nvSpPr>
        <p:spPr>
          <a:xfrm>
            <a:off x="5137872" y="5844716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C5A3C"/>
                </a:solidFill>
                <a:latin typeface="Microsoft YaHei"/>
              </a:rPr>
              <a:t>▲ +50.9%</a:t>
            </a:r>
          </a:p>
        </p:txBody>
      </p:sp>
      <p:sp>
        <p:nvSpPr>
          <p:cNvPr id="21" name="TextBox 37">
            <a:extLst>
              <a:ext uri="{FF2B5EF4-FFF2-40B4-BE49-F238E27FC236}">
                <a16:creationId xmlns:a16="http://schemas.microsoft.com/office/drawing/2014/main" id="{0B4D44AF-43DD-D95A-6CE4-0346AB9C6D4E}"/>
              </a:ext>
            </a:extLst>
          </p:cNvPr>
          <p:cNvSpPr txBox="1"/>
          <p:nvPr/>
        </p:nvSpPr>
        <p:spPr>
          <a:xfrm>
            <a:off x="7117872" y="5844716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A6E8F"/>
                </a:solidFill>
                <a:latin typeface="Microsoft YaHei"/>
              </a:rPr>
              <a:t>▼ -28.0%</a:t>
            </a:r>
          </a:p>
        </p:txBody>
      </p:sp>
      <p:sp>
        <p:nvSpPr>
          <p:cNvPr id="22" name="TextBox 43">
            <a:extLst>
              <a:ext uri="{FF2B5EF4-FFF2-40B4-BE49-F238E27FC236}">
                <a16:creationId xmlns:a16="http://schemas.microsoft.com/office/drawing/2014/main" id="{5604045F-26D5-654E-4DB0-714042412C92}"/>
              </a:ext>
            </a:extLst>
          </p:cNvPr>
          <p:cNvSpPr txBox="1"/>
          <p:nvPr/>
        </p:nvSpPr>
        <p:spPr>
          <a:xfrm>
            <a:off x="9097872" y="5844716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A6E8F"/>
                </a:solidFill>
                <a:latin typeface="Microsoft YaHei"/>
              </a:rPr>
              <a:t>▼ -31.8%</a:t>
            </a:r>
          </a:p>
        </p:txBody>
      </p:sp>
      <p:sp>
        <p:nvSpPr>
          <p:cNvPr id="23" name="TextBox 49">
            <a:extLst>
              <a:ext uri="{FF2B5EF4-FFF2-40B4-BE49-F238E27FC236}">
                <a16:creationId xmlns:a16="http://schemas.microsoft.com/office/drawing/2014/main" id="{D9ACEC96-84AA-2155-F951-402BB8AD969A}"/>
              </a:ext>
            </a:extLst>
          </p:cNvPr>
          <p:cNvSpPr txBox="1"/>
          <p:nvPr/>
        </p:nvSpPr>
        <p:spPr>
          <a:xfrm>
            <a:off x="11077872" y="5844716"/>
            <a:ext cx="813259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A6E8F"/>
                </a:solidFill>
                <a:latin typeface="Microsoft YaHei"/>
              </a:rPr>
              <a:t>▼ -35.7%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ABFF6BE1-2139-002C-6D73-419BFB3B0E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8534262"/>
              </p:ext>
            </p:extLst>
          </p:nvPr>
        </p:nvGraphicFramePr>
        <p:xfrm>
          <a:off x="994988" y="2619376"/>
          <a:ext cx="10202023" cy="3455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84ADC59-C3C2-A057-EDA7-5D2F4ECC7A33}"/>
              </a:ext>
            </a:extLst>
          </p:cNvPr>
          <p:cNvSpPr/>
          <p:nvPr/>
        </p:nvSpPr>
        <p:spPr>
          <a:xfrm>
            <a:off x="0" y="9144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3B7D11-1DC9-7ACC-2D5A-6FA07B86F45D}"/>
              </a:ext>
            </a:extLst>
          </p:cNvPr>
          <p:cNvSpPr txBox="1"/>
          <p:nvPr/>
        </p:nvSpPr>
        <p:spPr>
          <a:xfrm>
            <a:off x="126999" y="102938"/>
            <a:ext cx="8359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市场环境分析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蒙西</a:t>
            </a: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现货价格及峰谷价差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FDAA49-98B7-7C57-3A3B-AE542A50FA43}"/>
              </a:ext>
            </a:extLst>
          </p:cNvPr>
          <p:cNvSpPr txBox="1"/>
          <p:nvPr/>
        </p:nvSpPr>
        <p:spPr>
          <a:xfrm>
            <a:off x="252805" y="783280"/>
            <a:ext cx="11853470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峰谷差收窄的核心原因，在于中午谷段价格抬升；呼包西中午价格从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以下，上涨至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/MWh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左右；呼包西抬升更为明显，至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200-250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/MWh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，与此同时，受储能集中放电影响，晚高峰价格提升有限，甚至低于早段价格。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据市场情况摸排，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月份小风季起，新能源主体集体采用高报价策略，是中午价格上涨的主要原因。</a:t>
            </a:r>
          </a:p>
        </p:txBody>
      </p:sp>
    </p:spTree>
    <p:extLst>
      <p:ext uri="{BB962C8B-B14F-4D97-AF65-F5344CB8AC3E}">
        <p14:creationId xmlns:p14="http://schemas.microsoft.com/office/powerpoint/2010/main" val="269429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26998" y="102938"/>
            <a:ext cx="119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市场环境分析 </a:t>
            </a: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en-US" altLang="zh-CN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月蒙西全市场储能收益大幅下降，小风季的现货低价差极限收缩是主要原因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" name="Shape 30"/>
          <p:cNvSpPr/>
          <p:nvPr/>
        </p:nvSpPr>
        <p:spPr>
          <a:xfrm>
            <a:off x="506864" y="2185393"/>
            <a:ext cx="1121664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37D5CE9-8376-585F-D982-A1A2AA0F4C1D}"/>
              </a:ext>
            </a:extLst>
          </p:cNvPr>
          <p:cNvGrpSpPr/>
          <p:nvPr/>
        </p:nvGrpSpPr>
        <p:grpSpPr>
          <a:xfrm>
            <a:off x="6269487" y="954865"/>
            <a:ext cx="5364480" cy="1524000"/>
            <a:chOff x="466344" y="936811"/>
            <a:chExt cx="5364480" cy="1524000"/>
          </a:xfrm>
        </p:grpSpPr>
        <p:sp>
          <p:nvSpPr>
            <p:cNvPr id="110" name="Shape 32"/>
            <p:cNvSpPr/>
            <p:nvPr/>
          </p:nvSpPr>
          <p:spPr>
            <a:xfrm>
              <a:off x="466344" y="936811"/>
              <a:ext cx="5364480" cy="1524000"/>
            </a:xfrm>
            <a:prstGeom prst="rect">
              <a:avLst/>
            </a:prstGeom>
            <a:solidFill>
              <a:srgbClr val="FFFFFF"/>
            </a:solidFill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Shape 33"/>
            <p:cNvSpPr/>
            <p:nvPr/>
          </p:nvSpPr>
          <p:spPr>
            <a:xfrm>
              <a:off x="466344" y="936811"/>
              <a:ext cx="60960" cy="1524000"/>
            </a:xfrm>
            <a:prstGeom prst="rect">
              <a:avLst/>
            </a:prstGeom>
            <a:solidFill>
              <a:srgbClr val="7B97AD"/>
            </a:solidFill>
          </p:spPr>
          <p:txBody>
            <a:bodyPr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Text 34"/>
            <p:cNvSpPr/>
            <p:nvPr/>
          </p:nvSpPr>
          <p:spPr>
            <a:xfrm>
              <a:off x="710184" y="1022155"/>
              <a:ext cx="2438400" cy="3413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TOP10 </a:t>
              </a:r>
              <a:r>
                <a:rPr lang="en-US" sz="1600" b="1" err="1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场站</a:t>
              </a:r>
              <a:r>
                <a:rPr lang="en-US" sz="1600" b="1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-</a:t>
              </a:r>
              <a:r>
                <a:rPr lang="en-US" altLang="zh-CN" sz="1600" b="1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</a:t>
              </a:r>
              <a:r>
                <a:rPr lang="en-US" altLang="zh-CN" sz="1600" b="1">
                  <a:solidFill>
                    <a:srgbClr val="7B97A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↓  19.5% </a:t>
              </a:r>
              <a:endParaRPr lang="en-US" sz="16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Text 36"/>
            <p:cNvSpPr/>
            <p:nvPr/>
          </p:nvSpPr>
          <p:spPr>
            <a:xfrm>
              <a:off x="771144" y="1436683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总收益 (万元)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Text 37"/>
            <p:cNvSpPr/>
            <p:nvPr/>
          </p:nvSpPr>
          <p:spPr>
            <a:xfrm>
              <a:off x="2194738" y="1436683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5月 17,663  →  6月 14,227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Text 39"/>
            <p:cNvSpPr/>
            <p:nvPr/>
          </p:nvSpPr>
          <p:spPr>
            <a:xfrm>
              <a:off x="771144" y="1778059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 err="1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总充电量</a:t>
              </a:r>
              <a:r>
                <a:rPr lang="en-US" sz="120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(MWh)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Text 40"/>
            <p:cNvSpPr/>
            <p:nvPr/>
          </p:nvSpPr>
          <p:spPr>
            <a:xfrm>
              <a:off x="2194738" y="1778059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5月 395,703  →  6月 360,170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Text 42"/>
            <p:cNvSpPr/>
            <p:nvPr/>
          </p:nvSpPr>
          <p:spPr>
            <a:xfrm>
              <a:off x="771144" y="2119435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总放电量 (MWh)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Text 43"/>
            <p:cNvSpPr/>
            <p:nvPr/>
          </p:nvSpPr>
          <p:spPr>
            <a:xfrm>
              <a:off x="2194738" y="2119435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5月 368,568  →  6月 335,618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DF471702-BEF3-F934-6336-57719AEDDA89}"/>
              </a:ext>
            </a:extLst>
          </p:cNvPr>
          <p:cNvGrpSpPr/>
          <p:nvPr/>
        </p:nvGrpSpPr>
        <p:grpSpPr>
          <a:xfrm>
            <a:off x="478289" y="919967"/>
            <a:ext cx="5364480" cy="1524000"/>
            <a:chOff x="6318504" y="936811"/>
            <a:chExt cx="5364480" cy="1524000"/>
          </a:xfrm>
        </p:grpSpPr>
        <p:sp>
          <p:nvSpPr>
            <p:cNvPr id="123" name="Shape 45"/>
            <p:cNvSpPr/>
            <p:nvPr/>
          </p:nvSpPr>
          <p:spPr>
            <a:xfrm>
              <a:off x="6318504" y="936811"/>
              <a:ext cx="5364480" cy="1524000"/>
            </a:xfrm>
            <a:prstGeom prst="rect">
              <a:avLst/>
            </a:prstGeom>
            <a:solidFill>
              <a:srgbClr val="FFFFFF"/>
            </a:solidFill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Shape 46"/>
            <p:cNvSpPr/>
            <p:nvPr/>
          </p:nvSpPr>
          <p:spPr>
            <a:xfrm>
              <a:off x="6318504" y="936811"/>
              <a:ext cx="60960" cy="1524000"/>
            </a:xfrm>
            <a:prstGeom prst="rect">
              <a:avLst/>
            </a:prstGeom>
            <a:solidFill>
              <a:srgbClr val="8C5A3C"/>
            </a:solidFill>
          </p:spPr>
          <p:txBody>
            <a:bodyPr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Text 47"/>
            <p:cNvSpPr/>
            <p:nvPr/>
          </p:nvSpPr>
          <p:spPr>
            <a:xfrm>
              <a:off x="6562344" y="1022155"/>
              <a:ext cx="3048000" cy="3413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全市场（39</a:t>
              </a:r>
              <a:r>
                <a:rPr lang="zh-CN" altLang="en-US" sz="1600" b="1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个场</a:t>
              </a:r>
              <a:r>
                <a:rPr lang="en-US" sz="1600" b="1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站）-</a:t>
              </a:r>
              <a:r>
                <a:rPr lang="en-US" altLang="zh-CN" sz="1600" b="1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</a:t>
              </a:r>
              <a:r>
                <a:rPr lang="zh-CN" altLang="en-US" sz="1600" b="1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↓ </a:t>
              </a:r>
              <a:r>
                <a:rPr lang="en-US" altLang="zh-CN" sz="1600" b="1">
                  <a:solidFill>
                    <a:srgbClr val="8C5A3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18% </a:t>
              </a:r>
              <a:endParaRPr lang="en-US" sz="1600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Text 48"/>
            <p:cNvSpPr/>
            <p:nvPr/>
          </p:nvSpPr>
          <p:spPr>
            <a:xfrm>
              <a:off x="6562344" y="1022155"/>
              <a:ext cx="4876800" cy="304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Text 49"/>
            <p:cNvSpPr/>
            <p:nvPr/>
          </p:nvSpPr>
          <p:spPr>
            <a:xfrm>
              <a:off x="6623304" y="1436683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总收益 (万元)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Text 52"/>
            <p:cNvSpPr/>
            <p:nvPr/>
          </p:nvSpPr>
          <p:spPr>
            <a:xfrm>
              <a:off x="6623304" y="1778059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总充电量 (MWh)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Text 55"/>
            <p:cNvSpPr/>
            <p:nvPr/>
          </p:nvSpPr>
          <p:spPr>
            <a:xfrm>
              <a:off x="6623304" y="2119435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636E7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总放电量 (MWh)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 2"/>
          <p:cNvSpPr/>
          <p:nvPr/>
        </p:nvSpPr>
        <p:spPr>
          <a:xfrm>
            <a:off x="506864" y="386442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▎</a:t>
            </a:r>
            <a:r>
              <a:rPr lang="en-US" sz="1600" b="1" err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全市场出清</a:t>
            </a:r>
            <a:r>
              <a:rPr lang="zh-CN" altLang="en-US" sz="16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量价</a:t>
            </a:r>
            <a:r>
              <a:rPr lang="en-US" sz="1600" b="1" err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</a:t>
            </a:r>
            <a:endParaRPr 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506864" y="4222658"/>
            <a:ext cx="3474720" cy="2011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5"/>
          <p:cNvSpPr/>
          <p:nvPr/>
        </p:nvSpPr>
        <p:spPr>
          <a:xfrm>
            <a:off x="689744" y="4368962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充</a:t>
            </a:r>
            <a:r>
              <a:rPr lang="en-US" altLang="zh-CN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en-US" sz="1465" b="1" err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放电电量</a:t>
            </a:r>
            <a:r>
              <a:rPr 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(MWh)</a:t>
            </a:r>
            <a:endParaRPr lang="en-US" sz="146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89744" y="4856642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35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5月</a:t>
            </a:r>
            <a:endParaRPr lang="en-US" sz="13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7"/>
          <p:cNvSpPr/>
          <p:nvPr/>
        </p:nvSpPr>
        <p:spPr>
          <a:xfrm>
            <a:off x="1238384" y="4856642"/>
            <a:ext cx="274320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1,434,475</a:t>
            </a:r>
            <a:r>
              <a:rPr lang="en-US" altLang="zh-CN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en-US" b="1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1,322,639</a:t>
            </a:r>
            <a:endParaRPr lang="en-US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89744" y="5246786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35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6月</a:t>
            </a:r>
            <a:endParaRPr lang="en-US" sz="13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9"/>
          <p:cNvSpPr/>
          <p:nvPr/>
        </p:nvSpPr>
        <p:spPr>
          <a:xfrm>
            <a:off x="1238384" y="5210210"/>
            <a:ext cx="274320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1,374,987</a:t>
            </a:r>
            <a:r>
              <a:rPr lang="en-US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1,285,421</a:t>
            </a:r>
            <a:endParaRPr lang="en-US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750704" y="5710082"/>
            <a:ext cx="298704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2345570" y="5725502"/>
            <a:ext cx="1453133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r>
              <a:rPr lang="en-US" altLang="zh-CN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-2.8%</a:t>
            </a:r>
          </a:p>
        </p:txBody>
      </p:sp>
      <p:sp>
        <p:nvSpPr>
          <p:cNvPr id="25" name="Shape 21"/>
          <p:cNvSpPr/>
          <p:nvPr/>
        </p:nvSpPr>
        <p:spPr>
          <a:xfrm>
            <a:off x="8139056" y="4222658"/>
            <a:ext cx="3474720" cy="2011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8139056" y="4222658"/>
            <a:ext cx="3474720" cy="48768"/>
          </a:xfrm>
          <a:prstGeom prst="rect">
            <a:avLst/>
          </a:prstGeom>
          <a:solidFill>
            <a:srgbClr val="8C5A3C"/>
          </a:solidFill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8321936" y="4368962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65" b="1" err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</a:t>
            </a:r>
            <a:r>
              <a:rPr lang="zh-CN" alt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捕获价差</a:t>
            </a:r>
            <a:r>
              <a:rPr 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(元/MWh)</a:t>
            </a:r>
            <a:endParaRPr lang="en-US" sz="146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8321936" y="4856642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35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5月</a:t>
            </a:r>
            <a:endParaRPr lang="en-US" sz="13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8870576" y="4820066"/>
            <a:ext cx="256032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20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142.4</a:t>
            </a:r>
            <a:endParaRPr 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8321936" y="5246786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35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6月</a:t>
            </a:r>
            <a:endParaRPr lang="en-US" sz="13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8870576" y="5210210"/>
            <a:ext cx="256032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2000" b="1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67.1</a:t>
            </a:r>
            <a:endParaRPr 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8382896" y="5710082"/>
            <a:ext cx="298704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8321936" y="5734466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 -52.9%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92EE0BB2-F308-117D-DE92-6529930C7A3C}"/>
              </a:ext>
            </a:extLst>
          </p:cNvPr>
          <p:cNvSpPr/>
          <p:nvPr/>
        </p:nvSpPr>
        <p:spPr>
          <a:xfrm>
            <a:off x="91319" y="5725502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r>
              <a:rPr lang="en-US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-4.1%</a:t>
            </a: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F3A075DF-D623-2049-C37E-1B13FC0F8B4D}"/>
              </a:ext>
            </a:extLst>
          </p:cNvPr>
          <p:cNvSpPr/>
          <p:nvPr/>
        </p:nvSpPr>
        <p:spPr>
          <a:xfrm>
            <a:off x="2101730" y="5684265"/>
            <a:ext cx="48768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38459D1F-0025-4F1C-312B-50FD6E9814F2}"/>
              </a:ext>
            </a:extLst>
          </p:cNvPr>
          <p:cNvSpPr/>
          <p:nvPr/>
        </p:nvSpPr>
        <p:spPr>
          <a:xfrm>
            <a:off x="4347343" y="4222658"/>
            <a:ext cx="3474720" cy="2011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682EE6D2-DE24-78E9-D080-99B3316981EA}"/>
              </a:ext>
            </a:extLst>
          </p:cNvPr>
          <p:cNvSpPr/>
          <p:nvPr/>
        </p:nvSpPr>
        <p:spPr>
          <a:xfrm>
            <a:off x="4347343" y="4222658"/>
            <a:ext cx="3474720" cy="48768"/>
          </a:xfrm>
          <a:prstGeom prst="rect">
            <a:avLst/>
          </a:prstGeom>
          <a:solidFill>
            <a:srgbClr val="7B97AD"/>
          </a:solidFill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B96B6735-E7C8-960A-2D08-E86AC559E29A}"/>
              </a:ext>
            </a:extLst>
          </p:cNvPr>
          <p:cNvSpPr/>
          <p:nvPr/>
        </p:nvSpPr>
        <p:spPr>
          <a:xfrm>
            <a:off x="4530223" y="4368962"/>
            <a:ext cx="310896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465" b="1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平均出清充电次数</a:t>
            </a:r>
            <a:endParaRPr lang="en-US" sz="146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72A8731B-431F-4718-5518-FFCA9F6B9E9A}"/>
              </a:ext>
            </a:extLst>
          </p:cNvPr>
          <p:cNvSpPr/>
          <p:nvPr/>
        </p:nvSpPr>
        <p:spPr>
          <a:xfrm>
            <a:off x="4530223" y="4856642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35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5月</a:t>
            </a:r>
            <a:endParaRPr lang="en-US" sz="13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E8C0C196-B668-14BA-2518-40948813285D}"/>
              </a:ext>
            </a:extLst>
          </p:cNvPr>
          <p:cNvSpPr/>
          <p:nvPr/>
        </p:nvSpPr>
        <p:spPr>
          <a:xfrm>
            <a:off x="5078863" y="4856642"/>
            <a:ext cx="274320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1.21</a:t>
            </a:r>
            <a:endParaRPr lang="en-US" sz="200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18C87D6E-BC7E-6E1C-DCBB-C609B88503A8}"/>
              </a:ext>
            </a:extLst>
          </p:cNvPr>
          <p:cNvSpPr/>
          <p:nvPr/>
        </p:nvSpPr>
        <p:spPr>
          <a:xfrm>
            <a:off x="4530223" y="5246786"/>
            <a:ext cx="60960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335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6月</a:t>
            </a:r>
            <a:endParaRPr lang="en-US" sz="13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1C7E7554-DBBD-23C2-1BD0-9116EA8ABF88}"/>
              </a:ext>
            </a:extLst>
          </p:cNvPr>
          <p:cNvSpPr/>
          <p:nvPr/>
        </p:nvSpPr>
        <p:spPr>
          <a:xfrm>
            <a:off x="5078863" y="5210210"/>
            <a:ext cx="274320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b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1.19</a:t>
            </a:r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C60E7755-5F33-F6C3-0269-FD388EF5340B}"/>
              </a:ext>
            </a:extLst>
          </p:cNvPr>
          <p:cNvSpPr/>
          <p:nvPr/>
        </p:nvSpPr>
        <p:spPr>
          <a:xfrm>
            <a:off x="4591183" y="5710082"/>
            <a:ext cx="2987040" cy="0"/>
          </a:xfrm>
          <a:prstGeom prst="line">
            <a:avLst/>
          </a:prstGeom>
          <a:noFill/>
          <a:ln w="6350">
            <a:solidFill>
              <a:srgbClr val="DFE6E9"/>
            </a:solidFill>
            <a:prstDash val="solid"/>
          </a:ln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9A495B8E-FBB0-60C7-4826-E764EC83C798}"/>
              </a:ext>
            </a:extLst>
          </p:cNvPr>
          <p:cNvSpPr/>
          <p:nvPr/>
        </p:nvSpPr>
        <p:spPr>
          <a:xfrm>
            <a:off x="5332610" y="5705936"/>
            <a:ext cx="1453133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</a:t>
            </a:r>
            <a:r>
              <a:rPr lang="en-US" altLang="zh-CN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-2.0%</a:t>
            </a:r>
          </a:p>
        </p:txBody>
      </p:sp>
      <p:sp>
        <p:nvSpPr>
          <p:cNvPr id="46" name="Text 31"/>
          <p:cNvSpPr/>
          <p:nvPr/>
        </p:nvSpPr>
        <p:spPr>
          <a:xfrm>
            <a:off x="484632" y="596636"/>
            <a:ext cx="487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▎</a:t>
            </a:r>
            <a:r>
              <a:rPr lang="zh-CN" altLang="en-US" sz="1600" b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出清</a:t>
            </a:r>
            <a:r>
              <a:rPr lang="en-US" sz="1600" b="1" err="1">
                <a:solidFill>
                  <a:srgbClr val="7B97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收益排名对比</a:t>
            </a:r>
            <a:endParaRPr 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hape 32">
            <a:extLst>
              <a:ext uri="{FF2B5EF4-FFF2-40B4-BE49-F238E27FC236}">
                <a16:creationId xmlns:a16="http://schemas.microsoft.com/office/drawing/2014/main" id="{15505F49-5029-3EA0-ED25-E3F10F52D2EA}"/>
              </a:ext>
            </a:extLst>
          </p:cNvPr>
          <p:cNvSpPr/>
          <p:nvPr/>
        </p:nvSpPr>
        <p:spPr>
          <a:xfrm>
            <a:off x="491758" y="2536053"/>
            <a:ext cx="11142209" cy="12227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F70AED03-7EE9-AE57-FED9-F8241FEC015A}"/>
              </a:ext>
            </a:extLst>
          </p:cNvPr>
          <p:cNvSpPr/>
          <p:nvPr/>
        </p:nvSpPr>
        <p:spPr>
          <a:xfrm>
            <a:off x="463183" y="2545578"/>
            <a:ext cx="60960" cy="1209009"/>
          </a:xfrm>
          <a:prstGeom prst="rect">
            <a:avLst/>
          </a:prstGeom>
          <a:solidFill>
            <a:srgbClr val="7B97AD"/>
          </a:solidFill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7FE8B3AD-AC86-207C-044B-912B576F743E}"/>
              </a:ext>
            </a:extLst>
          </p:cNvPr>
          <p:cNvGrpSpPr/>
          <p:nvPr/>
        </p:nvGrpSpPr>
        <p:grpSpPr>
          <a:xfrm>
            <a:off x="750704" y="2684913"/>
            <a:ext cx="4084319" cy="304666"/>
            <a:chOff x="750704" y="2513366"/>
            <a:chExt cx="4084319" cy="304666"/>
          </a:xfrm>
        </p:grpSpPr>
        <p:sp>
          <p:nvSpPr>
            <p:cNvPr id="6" name="Text 36">
              <a:extLst>
                <a:ext uri="{FF2B5EF4-FFF2-40B4-BE49-F238E27FC236}">
                  <a16:creationId xmlns:a16="http://schemas.microsoft.com/office/drawing/2014/main" id="{236E6D7A-8D28-DCBE-06CB-5CF6C8BFE8E3}"/>
                </a:ext>
              </a:extLst>
            </p:cNvPr>
            <p:cNvSpPr/>
            <p:nvPr/>
          </p:nvSpPr>
          <p:spPr>
            <a:xfrm>
              <a:off x="750704" y="2513366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杭锦旗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37">
              <a:extLst>
                <a:ext uri="{FF2B5EF4-FFF2-40B4-BE49-F238E27FC236}">
                  <a16:creationId xmlns:a16="http://schemas.microsoft.com/office/drawing/2014/main" id="{15D1A84A-9686-2020-2627-28C19230FCEC}"/>
                </a:ext>
              </a:extLst>
            </p:cNvPr>
            <p:cNvSpPr/>
            <p:nvPr/>
          </p:nvSpPr>
          <p:spPr>
            <a:xfrm>
              <a:off x="1977656" y="2513366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5月 751  →  6月 616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 38">
              <a:extLst>
                <a:ext uri="{FF2B5EF4-FFF2-40B4-BE49-F238E27FC236}">
                  <a16:creationId xmlns:a16="http://schemas.microsoft.com/office/drawing/2014/main" id="{0B39D519-058B-A4EF-68BB-3CDDFEC22DA0}"/>
                </a:ext>
              </a:extLst>
            </p:cNvPr>
            <p:cNvSpPr/>
            <p:nvPr/>
          </p:nvSpPr>
          <p:spPr>
            <a:xfrm>
              <a:off x="3676783" y="2525424"/>
              <a:ext cx="115824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↓</a:t>
              </a:r>
              <a:r>
                <a:rPr 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18.0%</a:t>
              </a:r>
            </a:p>
          </p:txBody>
        </p:sp>
      </p:grpSp>
      <p:sp>
        <p:nvSpPr>
          <p:cNvPr id="50" name="Text 36">
            <a:extLst>
              <a:ext uri="{FF2B5EF4-FFF2-40B4-BE49-F238E27FC236}">
                <a16:creationId xmlns:a16="http://schemas.microsoft.com/office/drawing/2014/main" id="{595E674D-365F-6A1D-9A5C-9A58988D0BFF}"/>
              </a:ext>
            </a:extLst>
          </p:cNvPr>
          <p:cNvSpPr/>
          <p:nvPr/>
        </p:nvSpPr>
        <p:spPr>
          <a:xfrm>
            <a:off x="6602863" y="2684913"/>
            <a:ext cx="1950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谷山梁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E9DD81C2-F814-1CFD-F18C-B736AC81A250}"/>
              </a:ext>
            </a:extLst>
          </p:cNvPr>
          <p:cNvSpPr/>
          <p:nvPr/>
        </p:nvSpPr>
        <p:spPr>
          <a:xfrm>
            <a:off x="8212430" y="2682979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5月 3681  →  6月 3049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36">
            <a:extLst>
              <a:ext uri="{FF2B5EF4-FFF2-40B4-BE49-F238E27FC236}">
                <a16:creationId xmlns:a16="http://schemas.microsoft.com/office/drawing/2014/main" id="{15F3D91F-F32D-5218-290F-6276E7B03D72}"/>
              </a:ext>
            </a:extLst>
          </p:cNvPr>
          <p:cNvSpPr/>
          <p:nvPr/>
        </p:nvSpPr>
        <p:spPr>
          <a:xfrm>
            <a:off x="6602863" y="3029798"/>
            <a:ext cx="1950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四子王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 37">
            <a:extLst>
              <a:ext uri="{FF2B5EF4-FFF2-40B4-BE49-F238E27FC236}">
                <a16:creationId xmlns:a16="http://schemas.microsoft.com/office/drawing/2014/main" id="{3A4D383C-8EF7-06F4-EB81-D753FC556BE9}"/>
              </a:ext>
            </a:extLst>
          </p:cNvPr>
          <p:cNvSpPr/>
          <p:nvPr/>
        </p:nvSpPr>
        <p:spPr>
          <a:xfrm>
            <a:off x="8207768" y="3028831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5月 653  →  6月 488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D8377DA-8BEB-F883-61B4-5BF4C73A452D}"/>
              </a:ext>
            </a:extLst>
          </p:cNvPr>
          <p:cNvSpPr txBox="1"/>
          <p:nvPr/>
        </p:nvSpPr>
        <p:spPr>
          <a:xfrm>
            <a:off x="2032767" y="1466042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62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845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  →  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51,502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A50F6C27-10F1-C16A-2B1C-0679CA1E861B}"/>
              </a:ext>
            </a:extLst>
          </p:cNvPr>
          <p:cNvSpPr txBox="1"/>
          <p:nvPr/>
        </p:nvSpPr>
        <p:spPr>
          <a:xfrm>
            <a:off x="2032767" y="1786082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月 1,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434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47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5  →  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月 1,3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,9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A758ACAB-0572-C903-6004-00046C89C391}"/>
              </a:ext>
            </a:extLst>
          </p:cNvPr>
          <p:cNvSpPr txBox="1"/>
          <p:nvPr/>
        </p:nvSpPr>
        <p:spPr>
          <a:xfrm>
            <a:off x="2032767" y="2106122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月 1,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322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639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  →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月 1,2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497FB04-85FA-021C-44E4-7660D07AFCB3}"/>
              </a:ext>
            </a:extLst>
          </p:cNvPr>
          <p:cNvSpPr txBox="1"/>
          <p:nvPr/>
        </p:nvSpPr>
        <p:spPr>
          <a:xfrm>
            <a:off x="4414690" y="1473035"/>
            <a:ext cx="1417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8.0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85ECE947-24B8-3721-49BE-E825558E6747}"/>
              </a:ext>
            </a:extLst>
          </p:cNvPr>
          <p:cNvSpPr txBox="1"/>
          <p:nvPr/>
        </p:nvSpPr>
        <p:spPr>
          <a:xfrm>
            <a:off x="4277530" y="1793075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850EAA05-C11A-19EB-E5E6-0A00023242E0}"/>
              </a:ext>
            </a:extLst>
          </p:cNvPr>
          <p:cNvSpPr txBox="1"/>
          <p:nvPr/>
        </p:nvSpPr>
        <p:spPr>
          <a:xfrm>
            <a:off x="4094650" y="2113115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2.8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ADEC0AAC-BFA5-1D2B-8C59-7135B6BABEB6}"/>
              </a:ext>
            </a:extLst>
          </p:cNvPr>
          <p:cNvSpPr txBox="1"/>
          <p:nvPr/>
        </p:nvSpPr>
        <p:spPr>
          <a:xfrm>
            <a:off x="10153825" y="1487953"/>
            <a:ext cx="1417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19.5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D0E05-6D95-98D3-51A2-1130343A7FEE}"/>
              </a:ext>
            </a:extLst>
          </p:cNvPr>
          <p:cNvSpPr txBox="1"/>
          <p:nvPr/>
        </p:nvSpPr>
        <p:spPr>
          <a:xfrm>
            <a:off x="10016665" y="1807993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9.0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BE8F0F-A154-6808-9B60-AA3DF8CC73BA}"/>
              </a:ext>
            </a:extLst>
          </p:cNvPr>
          <p:cNvSpPr txBox="1"/>
          <p:nvPr/>
        </p:nvSpPr>
        <p:spPr>
          <a:xfrm>
            <a:off x="9833785" y="2128033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9944"/>
                </a:solidFill>
                <a:latin typeface="Microsoft YaHei"/>
              </a:defRPr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8.9</a:t>
            </a:r>
            <a:r>
              <a:rPr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</p:txBody>
      </p:sp>
      <p:sp>
        <p:nvSpPr>
          <p:cNvPr id="34" name="Text 38">
            <a:extLst>
              <a:ext uri="{FF2B5EF4-FFF2-40B4-BE49-F238E27FC236}">
                <a16:creationId xmlns:a16="http://schemas.microsoft.com/office/drawing/2014/main" id="{BA2B3058-5635-4581-418F-086AAD8CC7C2}"/>
              </a:ext>
            </a:extLst>
          </p:cNvPr>
          <p:cNvSpPr/>
          <p:nvPr/>
        </p:nvSpPr>
        <p:spPr>
          <a:xfrm>
            <a:off x="9836409" y="2712276"/>
            <a:ext cx="1158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zh-CN" altLang="en-US" sz="1200" b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↓</a:t>
            </a:r>
            <a:r>
              <a:rPr lang="en-US" sz="1200" b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 17.2%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153B22C-DE56-01DD-407A-EEFE417EC72B}"/>
              </a:ext>
            </a:extLst>
          </p:cNvPr>
          <p:cNvGrpSpPr/>
          <p:nvPr/>
        </p:nvGrpSpPr>
        <p:grpSpPr>
          <a:xfrm>
            <a:off x="742703" y="3022196"/>
            <a:ext cx="4092320" cy="298177"/>
            <a:chOff x="742703" y="2858706"/>
            <a:chExt cx="4092320" cy="298177"/>
          </a:xfrm>
        </p:grpSpPr>
        <p:sp>
          <p:nvSpPr>
            <p:cNvPr id="53" name="Text 36">
              <a:extLst>
                <a:ext uri="{FF2B5EF4-FFF2-40B4-BE49-F238E27FC236}">
                  <a16:creationId xmlns:a16="http://schemas.microsoft.com/office/drawing/2014/main" id="{B31E74DA-E278-59E2-C762-BA7A037858F3}"/>
                </a:ext>
              </a:extLst>
            </p:cNvPr>
            <p:cNvSpPr/>
            <p:nvPr/>
          </p:nvSpPr>
          <p:spPr>
            <a:xfrm>
              <a:off x="742703" y="2858706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苏右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 37">
              <a:extLst>
                <a:ext uri="{FF2B5EF4-FFF2-40B4-BE49-F238E27FC236}">
                  <a16:creationId xmlns:a16="http://schemas.microsoft.com/office/drawing/2014/main" id="{0493BEA2-B6C1-E71C-6CF6-CDB2D31589D5}"/>
                </a:ext>
              </a:extLst>
            </p:cNvPr>
            <p:cNvSpPr/>
            <p:nvPr/>
          </p:nvSpPr>
          <p:spPr>
            <a:xfrm>
              <a:off x="1969655" y="2858706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5月 650  →  6月 463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38">
              <a:extLst>
                <a:ext uri="{FF2B5EF4-FFF2-40B4-BE49-F238E27FC236}">
                  <a16:creationId xmlns:a16="http://schemas.microsoft.com/office/drawing/2014/main" id="{96271863-8FBA-530E-DD24-66B65EBDC0C1}"/>
                </a:ext>
              </a:extLst>
            </p:cNvPr>
            <p:cNvSpPr/>
            <p:nvPr/>
          </p:nvSpPr>
          <p:spPr>
            <a:xfrm>
              <a:off x="3676783" y="2864275"/>
              <a:ext cx="115824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↓</a:t>
              </a:r>
              <a:r>
                <a:rPr 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28.8%</a:t>
              </a:r>
            </a:p>
          </p:txBody>
        </p:sp>
      </p:grpSp>
      <p:sp>
        <p:nvSpPr>
          <p:cNvPr id="48" name="Text 38">
            <a:extLst>
              <a:ext uri="{FF2B5EF4-FFF2-40B4-BE49-F238E27FC236}">
                <a16:creationId xmlns:a16="http://schemas.microsoft.com/office/drawing/2014/main" id="{99508619-CA9C-8172-5C37-A5682A953FC3}"/>
              </a:ext>
            </a:extLst>
          </p:cNvPr>
          <p:cNvSpPr/>
          <p:nvPr/>
        </p:nvSpPr>
        <p:spPr>
          <a:xfrm>
            <a:off x="9836409" y="3043020"/>
            <a:ext cx="1158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zh-CN" altLang="en-US" sz="1200" b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↓</a:t>
            </a:r>
            <a:r>
              <a:rPr lang="en-US" sz="1200" b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-120"/>
              </a:rPr>
              <a:t> 25.3%</a:t>
            </a:r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13B55B6A-561D-CCF9-48F3-A39C6D66C725}"/>
              </a:ext>
            </a:extLst>
          </p:cNvPr>
          <p:cNvSpPr/>
          <p:nvPr/>
        </p:nvSpPr>
        <p:spPr>
          <a:xfrm>
            <a:off x="506864" y="4210466"/>
            <a:ext cx="3474720" cy="48768"/>
          </a:xfrm>
          <a:prstGeom prst="rect">
            <a:avLst/>
          </a:prstGeom>
          <a:solidFill>
            <a:srgbClr val="8C5A3C"/>
          </a:solidFill>
        </p:spPr>
        <p:txBody>
          <a:bodyPr/>
          <a:lstStyle/>
          <a:p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AB5BD05-E8B8-8D6B-E6CB-6471192663B5}"/>
              </a:ext>
            </a:extLst>
          </p:cNvPr>
          <p:cNvGrpSpPr/>
          <p:nvPr/>
        </p:nvGrpSpPr>
        <p:grpSpPr>
          <a:xfrm>
            <a:off x="742703" y="3374475"/>
            <a:ext cx="3070277" cy="317481"/>
            <a:chOff x="742703" y="2858706"/>
            <a:chExt cx="3070277" cy="317481"/>
          </a:xfrm>
        </p:grpSpPr>
        <p:sp>
          <p:nvSpPr>
            <p:cNvPr id="55" name="Text 36">
              <a:extLst>
                <a:ext uri="{FF2B5EF4-FFF2-40B4-BE49-F238E27FC236}">
                  <a16:creationId xmlns:a16="http://schemas.microsoft.com/office/drawing/2014/main" id="{1C18610E-54C8-D5DD-23FD-7B3B2162D30F}"/>
                </a:ext>
              </a:extLst>
            </p:cNvPr>
            <p:cNvSpPr/>
            <p:nvPr/>
          </p:nvSpPr>
          <p:spPr>
            <a:xfrm>
              <a:off x="742703" y="2858706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乌海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Text 37">
              <a:extLst>
                <a:ext uri="{FF2B5EF4-FFF2-40B4-BE49-F238E27FC236}">
                  <a16:creationId xmlns:a16="http://schemas.microsoft.com/office/drawing/2014/main" id="{315CDAA6-6E20-6526-D99E-B22C8D23F80A}"/>
                </a:ext>
              </a:extLst>
            </p:cNvPr>
            <p:cNvSpPr/>
            <p:nvPr/>
          </p:nvSpPr>
          <p:spPr>
            <a:xfrm>
              <a:off x="1252660" y="2883579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5月 743  →  6月 616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38">
              <a:extLst>
                <a:ext uri="{FF2B5EF4-FFF2-40B4-BE49-F238E27FC236}">
                  <a16:creationId xmlns:a16="http://schemas.microsoft.com/office/drawing/2014/main" id="{15D24A6C-9579-4EF9-1C73-328C04922E55}"/>
                </a:ext>
              </a:extLst>
            </p:cNvPr>
            <p:cNvSpPr/>
            <p:nvPr/>
          </p:nvSpPr>
          <p:spPr>
            <a:xfrm>
              <a:off x="2763152" y="2898147"/>
              <a:ext cx="670559" cy="27259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↓</a:t>
              </a:r>
              <a:r>
                <a:rPr 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17.1%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F6E0B89-5A99-1CB4-382B-A07D5C721312}"/>
              </a:ext>
            </a:extLst>
          </p:cNvPr>
          <p:cNvGrpSpPr/>
          <p:nvPr/>
        </p:nvGrpSpPr>
        <p:grpSpPr>
          <a:xfrm>
            <a:off x="4597305" y="3374475"/>
            <a:ext cx="3070277" cy="317481"/>
            <a:chOff x="742703" y="2858706"/>
            <a:chExt cx="3070277" cy="317481"/>
          </a:xfrm>
        </p:grpSpPr>
        <p:sp>
          <p:nvSpPr>
            <p:cNvPr id="67" name="Text 36">
              <a:extLst>
                <a:ext uri="{FF2B5EF4-FFF2-40B4-BE49-F238E27FC236}">
                  <a16:creationId xmlns:a16="http://schemas.microsoft.com/office/drawing/2014/main" id="{E986AB11-2194-814C-1844-9C50C06B4FFB}"/>
                </a:ext>
              </a:extLst>
            </p:cNvPr>
            <p:cNvSpPr/>
            <p:nvPr/>
          </p:nvSpPr>
          <p:spPr>
            <a:xfrm>
              <a:off x="742703" y="2858706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巴盟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Text 37">
              <a:extLst>
                <a:ext uri="{FF2B5EF4-FFF2-40B4-BE49-F238E27FC236}">
                  <a16:creationId xmlns:a16="http://schemas.microsoft.com/office/drawing/2014/main" id="{B5063C5D-CC30-76E8-F837-99C40DA2F514}"/>
                </a:ext>
              </a:extLst>
            </p:cNvPr>
            <p:cNvSpPr/>
            <p:nvPr/>
          </p:nvSpPr>
          <p:spPr>
            <a:xfrm>
              <a:off x="1252660" y="2883579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5月 7346  →  6月 5980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Text 38">
              <a:extLst>
                <a:ext uri="{FF2B5EF4-FFF2-40B4-BE49-F238E27FC236}">
                  <a16:creationId xmlns:a16="http://schemas.microsoft.com/office/drawing/2014/main" id="{3D43BA7E-9031-F2A6-D305-C861005A0B72}"/>
                </a:ext>
              </a:extLst>
            </p:cNvPr>
            <p:cNvSpPr/>
            <p:nvPr/>
          </p:nvSpPr>
          <p:spPr>
            <a:xfrm>
              <a:off x="2864756" y="2898147"/>
              <a:ext cx="670559" cy="27259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↓</a:t>
              </a:r>
              <a:r>
                <a:rPr 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18.6%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C58D959-1D20-29D5-BA2A-FAD84E8238B5}"/>
              </a:ext>
            </a:extLst>
          </p:cNvPr>
          <p:cNvGrpSpPr/>
          <p:nvPr/>
        </p:nvGrpSpPr>
        <p:grpSpPr>
          <a:xfrm>
            <a:off x="8299659" y="3374475"/>
            <a:ext cx="3070277" cy="317481"/>
            <a:chOff x="742703" y="2858706"/>
            <a:chExt cx="3070277" cy="317481"/>
          </a:xfrm>
        </p:grpSpPr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A0C36073-0DE6-7268-F8A6-FF5C2CC20CCB}"/>
                </a:ext>
              </a:extLst>
            </p:cNvPr>
            <p:cNvSpPr/>
            <p:nvPr/>
          </p:nvSpPr>
          <p:spPr>
            <a:xfrm>
              <a:off x="742703" y="2858706"/>
              <a:ext cx="19507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乌拉特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Text 37">
              <a:extLst>
                <a:ext uri="{FF2B5EF4-FFF2-40B4-BE49-F238E27FC236}">
                  <a16:creationId xmlns:a16="http://schemas.microsoft.com/office/drawing/2014/main" id="{6C04BADA-E34E-7A7C-B8A8-576865F11EF4}"/>
                </a:ext>
              </a:extLst>
            </p:cNvPr>
            <p:cNvSpPr/>
            <p:nvPr/>
          </p:nvSpPr>
          <p:spPr>
            <a:xfrm>
              <a:off x="1252660" y="2883579"/>
              <a:ext cx="2560320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1200">
                  <a:solidFill>
                    <a:srgbClr val="2D343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5月 709  →  6月 542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Text 38">
              <a:extLst>
                <a:ext uri="{FF2B5EF4-FFF2-40B4-BE49-F238E27FC236}">
                  <a16:creationId xmlns:a16="http://schemas.microsoft.com/office/drawing/2014/main" id="{38E2693D-AABB-D502-477C-38117C7E6156}"/>
                </a:ext>
              </a:extLst>
            </p:cNvPr>
            <p:cNvSpPr/>
            <p:nvPr/>
          </p:nvSpPr>
          <p:spPr>
            <a:xfrm>
              <a:off x="2763152" y="2898147"/>
              <a:ext cx="670559" cy="27259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r"/>
              <a:r>
                <a:rPr lang="zh-CN" alt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↓</a:t>
              </a:r>
              <a:r>
                <a:rPr lang="en-US" sz="12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-120"/>
                </a:rPr>
                <a:t> 23.6%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D383-EF9A-72BF-8048-07A344E3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>
            <a:extLst>
              <a:ext uri="{FF2B5EF4-FFF2-40B4-BE49-F238E27FC236}">
                <a16:creationId xmlns:a16="http://schemas.microsoft.com/office/drawing/2014/main" id="{10D187D9-2918-5541-3112-BFD2AA2897E8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516003C-B7C2-AC9B-5728-C74A45A977F1}"/>
              </a:ext>
            </a:extLst>
          </p:cNvPr>
          <p:cNvSpPr txBox="1"/>
          <p:nvPr/>
        </p:nvSpPr>
        <p:spPr>
          <a:xfrm>
            <a:off x="126998" y="102938"/>
            <a:ext cx="11216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市场环境分析 </a:t>
            </a: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蒙西</a:t>
            </a:r>
            <a:r>
              <a:rPr lang="en-US" altLang="zh-CN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月约束放松，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全市场充放电量上升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CEE944-4743-F948-9F02-EDA540662073}"/>
              </a:ext>
            </a:extLst>
          </p:cNvPr>
          <p:cNvSpPr txBox="1"/>
          <p:nvPr/>
        </p:nvSpPr>
        <p:spPr>
          <a:xfrm>
            <a:off x="436876" y="575208"/>
            <a:ext cx="1161897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下表</a:t>
            </a:r>
            <a:r>
              <a:rPr lang="en-US" altLang="zh-CN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5-6</a:t>
            </a:r>
            <a:r>
              <a:rPr lang="zh-CN" altLang="en-US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月出清校核量比例的对比：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025BD97-925C-79E6-4F10-6F308CBC3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072519"/>
              </p:ext>
            </p:extLst>
          </p:nvPr>
        </p:nvGraphicFramePr>
        <p:xfrm>
          <a:off x="436876" y="1128513"/>
          <a:ext cx="11318247" cy="496563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257583">
                  <a:extLst>
                    <a:ext uri="{9D8B030D-6E8A-4147-A177-3AD203B41FA5}">
                      <a16:colId xmlns:a16="http://schemas.microsoft.com/office/drawing/2014/main" val="3603750526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1064453936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1255254139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2925776424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2556274436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602321327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1554112587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3333656582"/>
                    </a:ext>
                  </a:extLst>
                </a:gridCol>
                <a:gridCol w="1257583">
                  <a:extLst>
                    <a:ext uri="{9D8B030D-6E8A-4147-A177-3AD203B41FA5}">
                      <a16:colId xmlns:a16="http://schemas.microsoft.com/office/drawing/2014/main" val="298290653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gridSpan="4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gridSpan="4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extLst>
                  <a:ext uri="{0D108BD9-81ED-4DB2-BD59-A6C34878D82A}">
                    <a16:rowId xmlns:a16="http://schemas.microsoft.com/office/drawing/2014/main" val="39802306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充电量偏差（</a:t>
                      </a:r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</a:t>
                      </a: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400" b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充电偏差率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放电量偏差（</a:t>
                      </a:r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</a:t>
                      </a: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放电偏差率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充电量偏差（</a:t>
                      </a:r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</a:t>
                      </a: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400" b="1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充电偏差率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放电量偏差（</a:t>
                      </a:r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</a:t>
                      </a: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放电偏差率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extLst>
                  <a:ext uri="{0D108BD9-81ED-4DB2-BD59-A6C34878D82A}">
                    <a16:rowId xmlns:a16="http://schemas.microsoft.com/office/drawing/2014/main" val="72346986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-597.18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-3%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-3371.65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-18%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-2223.41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-2952.86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99345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-664.2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-4%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-3769.9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-20%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-2384.98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-3344.21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3360480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-184.62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-1%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-1077.52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-6%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-312.03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-358.59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997768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-1488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-2%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-6530.98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-8%</a:t>
                      </a:r>
                      <a:endParaRPr lang="en-US" altLang="zh-CN" sz="14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-1212.24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-1554.04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7830207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-182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-848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-305.60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-201.77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92767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-557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-1482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-1201.95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-928.48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1612065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-4590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-9864</a:t>
                      </a:r>
                    </a:p>
                  </a:txBody>
                  <a:tcPr marL="5558" marR="5558" marT="5558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-9155.16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-6060.97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71328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40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999" y="102938"/>
            <a:ext cx="925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月蒙西储能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场站横向对比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西部横排名次基本保持稳定，东部地区较上月降低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6999" y="620079"/>
            <a:ext cx="11866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当前蒙西参与市场出清的独立场站共有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个，总功率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10.7GW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，总容量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42GWh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。统计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0:00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时段起，至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24:00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时段止，每日实时出清量价情况，结合电网披露补贴进行收益计算，结果如下：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031918"/>
              </p:ext>
            </p:extLst>
          </p:nvPr>
        </p:nvGraphicFramePr>
        <p:xfrm>
          <a:off x="1914269" y="1312312"/>
          <a:ext cx="8292236" cy="468804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4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6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31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10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修正前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0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总收益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日均循环次数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等效价差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b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单位容量收益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DOD(%)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星辰科创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1.366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103.40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17356.06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95%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明阳亚什图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692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1.395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92.36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17290.55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95%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星能乌勒吉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691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1.322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37.23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17280.05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109%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博梁海纳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3320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1.379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105.55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16601.44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91%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综能百灵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1277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1.303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73.27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15959.69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98%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616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1.392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79.66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15390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90%</a:t>
                      </a:r>
                    </a:p>
                  </a:txBody>
                  <a:tcPr marL="4649" marR="4649" marT="464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055009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616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1.406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77.12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15389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90%</a:t>
                      </a:r>
                    </a:p>
                  </a:txBody>
                  <a:tcPr marL="4649" marR="4649" marT="464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33568561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3049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1.379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75.19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15243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90%</a:t>
                      </a:r>
                    </a:p>
                  </a:txBody>
                  <a:tcPr marL="4649" marR="4649" marT="464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53626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5980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1.307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52.43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14950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96%</a:t>
                      </a:r>
                    </a:p>
                  </a:txBody>
                  <a:tcPr marL="4649" marR="4649" marT="464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24744957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542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1.276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69.36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13543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89%</a:t>
                      </a:r>
                    </a:p>
                  </a:txBody>
                  <a:tcPr marL="4649" marR="4649" marT="464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4876858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488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1.223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32.82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12200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92%</a:t>
                      </a:r>
                    </a:p>
                  </a:txBody>
                  <a:tcPr marL="4649" marR="4649" marT="464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06489785"/>
                  </a:ext>
                </a:extLst>
              </a:tr>
              <a:tr h="3234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463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1.220</a:t>
                      </a: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24.1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11563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91%</a:t>
                      </a:r>
                    </a:p>
                  </a:txBody>
                  <a:tcPr marL="4649" marR="4649" marT="464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24126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41DE1-A53E-FFD4-76D5-D148ADD6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37C739-EC8B-ABF3-11E7-72B7589F9BD8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F7D908-3EEA-D988-71F8-19F5C6E57AE4}"/>
              </a:ext>
            </a:extLst>
          </p:cNvPr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月蒙西储能场站横向对比情况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修正后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不同价区排位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28E4EA7-2205-5944-6F08-3993BC284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876516"/>
              </p:ext>
            </p:extLst>
          </p:nvPr>
        </p:nvGraphicFramePr>
        <p:xfrm>
          <a:off x="3374157" y="1016275"/>
          <a:ext cx="2514601" cy="480833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11002">
                  <a:extLst>
                    <a:ext uri="{9D8B030D-6E8A-4147-A177-3AD203B41FA5}">
                      <a16:colId xmlns:a16="http://schemas.microsoft.com/office/drawing/2014/main" val="712439611"/>
                    </a:ext>
                  </a:extLst>
                </a:gridCol>
                <a:gridCol w="1603599">
                  <a:extLst>
                    <a:ext uri="{9D8B030D-6E8A-4147-A177-3AD203B41FA5}">
                      <a16:colId xmlns:a16="http://schemas.microsoft.com/office/drawing/2014/main" val="466466213"/>
                    </a:ext>
                  </a:extLst>
                </a:gridCol>
              </a:tblGrid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6728315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富景五虎山储能电站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415478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泰垚鑫储储能电站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9322309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融储辉图霍勃储能电站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115086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远景乌拉特储能电站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598709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景怡查干哈达储能电站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683342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蒙能奈伦储能电站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45870374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国众哈日木格台储能电站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0666174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巴能峰塔储能电站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5336336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蒙能苏木哈储能电站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91247432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蒙能敖仑储能电站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7329544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0D44731-1890-61C5-A517-F3EEFC08D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713097"/>
              </p:ext>
            </p:extLst>
          </p:nvPr>
        </p:nvGraphicFramePr>
        <p:xfrm>
          <a:off x="6314212" y="983862"/>
          <a:ext cx="2514601" cy="174848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11002">
                  <a:extLst>
                    <a:ext uri="{9D8B030D-6E8A-4147-A177-3AD203B41FA5}">
                      <a16:colId xmlns:a16="http://schemas.microsoft.com/office/drawing/2014/main" val="712439611"/>
                    </a:ext>
                  </a:extLst>
                </a:gridCol>
                <a:gridCol w="1603599">
                  <a:extLst>
                    <a:ext uri="{9D8B030D-6E8A-4147-A177-3AD203B41FA5}">
                      <a16:colId xmlns:a16="http://schemas.microsoft.com/office/drawing/2014/main" val="466466213"/>
                    </a:ext>
                  </a:extLst>
                </a:gridCol>
              </a:tblGrid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6728315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裕昭沙子坝储能电站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415478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熠能沙壕储能电站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9322309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熠储新荣储能电站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115086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2645D2D-1506-8E35-2E67-FA9F3C78D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63648"/>
              </p:ext>
            </p:extLst>
          </p:nvPr>
        </p:nvGraphicFramePr>
        <p:xfrm>
          <a:off x="6314212" y="3040123"/>
          <a:ext cx="2609265" cy="3059847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45297">
                  <a:extLst>
                    <a:ext uri="{9D8B030D-6E8A-4147-A177-3AD203B41FA5}">
                      <a16:colId xmlns:a16="http://schemas.microsoft.com/office/drawing/2014/main" val="712439611"/>
                    </a:ext>
                  </a:extLst>
                </a:gridCol>
                <a:gridCol w="1663968">
                  <a:extLst>
                    <a:ext uri="{9D8B030D-6E8A-4147-A177-3AD203B41FA5}">
                      <a16:colId xmlns:a16="http://schemas.microsoft.com/office/drawing/2014/main" val="466466213"/>
                    </a:ext>
                  </a:extLst>
                </a:gridCol>
              </a:tblGrid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6728315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明阳亚什图储能电站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415478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星辰科创储能电站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9322309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博梁海纳储能电站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115086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悦杭独贵储能电站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742501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博思苗六营储能电站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20695060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创启杜四营储能电站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749349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5C3B4BC-4D9C-83C9-BFBB-B05A771AC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763114"/>
              </p:ext>
            </p:extLst>
          </p:nvPr>
        </p:nvGraphicFramePr>
        <p:xfrm>
          <a:off x="9153236" y="1016275"/>
          <a:ext cx="2911765" cy="480833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054889">
                  <a:extLst>
                    <a:ext uri="{9D8B030D-6E8A-4147-A177-3AD203B41FA5}">
                      <a16:colId xmlns:a16="http://schemas.microsoft.com/office/drawing/2014/main" val="712439611"/>
                    </a:ext>
                  </a:extLst>
                </a:gridCol>
                <a:gridCol w="1856876">
                  <a:extLst>
                    <a:ext uri="{9D8B030D-6E8A-4147-A177-3AD203B41FA5}">
                      <a16:colId xmlns:a16="http://schemas.microsoft.com/office/drawing/2014/main" val="466466213"/>
                    </a:ext>
                  </a:extLst>
                </a:gridCol>
              </a:tblGrid>
              <a:tr h="4371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6728315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星能乌勒吉储能电站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415478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星钒海窝储能电站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9322309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景通四益堂储能电站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1150861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1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景蓝乌尔图储能电站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598709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蒙能利民储能电站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683342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宇动头泉储能电站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45870374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…</a:t>
                      </a:r>
                      <a:endParaRPr lang="zh-CN" altLang="en-US" sz="1100" b="1" i="0" u="none" strike="noStrike" kern="12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0666174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大航额日和图储能电站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77247436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大航都林储能电站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15181093"/>
                  </a:ext>
                </a:extLst>
              </a:tr>
              <a:tr h="43712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荣鑫地房子储能电站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7087899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6CCB2A4-B3CF-E714-FC0C-AD0EDB4D5E51}"/>
              </a:ext>
            </a:extLst>
          </p:cNvPr>
          <p:cNvSpPr txBox="1"/>
          <p:nvPr/>
        </p:nvSpPr>
        <p:spPr>
          <a:xfrm>
            <a:off x="3522518" y="606591"/>
            <a:ext cx="2217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价区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D13C4A-1611-0551-30EC-1DADC7514E32}"/>
              </a:ext>
            </a:extLst>
          </p:cNvPr>
          <p:cNvSpPr txBox="1"/>
          <p:nvPr/>
        </p:nvSpPr>
        <p:spPr>
          <a:xfrm>
            <a:off x="6462573" y="574177"/>
            <a:ext cx="2217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价区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57DA33-0D68-6130-EB35-E2E421A6ED01}"/>
              </a:ext>
            </a:extLst>
          </p:cNvPr>
          <p:cNvSpPr txBox="1"/>
          <p:nvPr/>
        </p:nvSpPr>
        <p:spPr>
          <a:xfrm>
            <a:off x="6509905" y="2732346"/>
            <a:ext cx="2217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价区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20D054-136B-A61D-55CE-6C3DA07CDDE9}"/>
              </a:ext>
            </a:extLst>
          </p:cNvPr>
          <p:cNvSpPr txBox="1"/>
          <p:nvPr/>
        </p:nvSpPr>
        <p:spPr>
          <a:xfrm>
            <a:off x="9500179" y="606588"/>
            <a:ext cx="2217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价区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4A35882-6A63-D756-75D1-214251B7B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445819"/>
              </p:ext>
            </p:extLst>
          </p:nvPr>
        </p:nvGraphicFramePr>
        <p:xfrm>
          <a:off x="126998" y="1228797"/>
          <a:ext cx="3017399" cy="440040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87427">
                  <a:extLst>
                    <a:ext uri="{9D8B030D-6E8A-4147-A177-3AD203B41FA5}">
                      <a16:colId xmlns:a16="http://schemas.microsoft.com/office/drawing/2014/main" val="263026231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428573308"/>
                    </a:ext>
                  </a:extLst>
                </a:gridCol>
                <a:gridCol w="944122">
                  <a:extLst>
                    <a:ext uri="{9D8B030D-6E8A-4147-A177-3AD203B41FA5}">
                      <a16:colId xmlns:a16="http://schemas.microsoft.com/office/drawing/2014/main" val="630702654"/>
                    </a:ext>
                  </a:extLst>
                </a:gridCol>
              </a:tblGrid>
              <a:tr h="48893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2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修正后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649" marR="4649" marT="46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936238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上月排名</a:t>
                      </a: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1083477850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34423791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04098260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15656905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4038183514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857547002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</a:t>
                      </a: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608711829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22</a:t>
                      </a: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97971368"/>
                  </a:ext>
                </a:extLst>
              </a:tr>
            </a:tbl>
          </a:graphicData>
        </a:graphic>
      </p:graphicFrame>
      <p:sp>
        <p:nvSpPr>
          <p:cNvPr id="4" name="箭头: 下 3">
            <a:extLst>
              <a:ext uri="{FF2B5EF4-FFF2-40B4-BE49-F238E27FC236}">
                <a16:creationId xmlns:a16="http://schemas.microsoft.com/office/drawing/2014/main" id="{428A3E4C-7435-4A6F-3A94-64DBBDC506A6}"/>
              </a:ext>
            </a:extLst>
          </p:cNvPr>
          <p:cNvSpPr/>
          <p:nvPr/>
        </p:nvSpPr>
        <p:spPr>
          <a:xfrm>
            <a:off x="1771650" y="2334289"/>
            <a:ext cx="257175" cy="26537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6D163E58-FBB4-44B2-FB73-7AA006E4537E}"/>
              </a:ext>
            </a:extLst>
          </p:cNvPr>
          <p:cNvSpPr/>
          <p:nvPr/>
        </p:nvSpPr>
        <p:spPr>
          <a:xfrm>
            <a:off x="1771650" y="2876044"/>
            <a:ext cx="257175" cy="26537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B3942761-E16E-2D43-B682-2F8779B81AE1}"/>
              </a:ext>
            </a:extLst>
          </p:cNvPr>
          <p:cNvSpPr/>
          <p:nvPr/>
        </p:nvSpPr>
        <p:spPr>
          <a:xfrm>
            <a:off x="1771649" y="3866644"/>
            <a:ext cx="257175" cy="26537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F5BBCFF8-B883-E5D7-1140-BB0EE8F2D5E7}"/>
              </a:ext>
            </a:extLst>
          </p:cNvPr>
          <p:cNvSpPr/>
          <p:nvPr/>
        </p:nvSpPr>
        <p:spPr>
          <a:xfrm>
            <a:off x="1771648" y="4845884"/>
            <a:ext cx="257175" cy="26537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3D66AE43-BD06-D844-C4D7-BDCC5E568A79}"/>
              </a:ext>
            </a:extLst>
          </p:cNvPr>
          <p:cNvSpPr/>
          <p:nvPr/>
        </p:nvSpPr>
        <p:spPr>
          <a:xfrm>
            <a:off x="1762121" y="5345869"/>
            <a:ext cx="257175" cy="265371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10DA8F7B-A1FC-5A64-E53D-244634EEFB64}"/>
              </a:ext>
            </a:extLst>
          </p:cNvPr>
          <p:cNvSpPr/>
          <p:nvPr/>
        </p:nvSpPr>
        <p:spPr>
          <a:xfrm flipV="1">
            <a:off x="1771648" y="3285113"/>
            <a:ext cx="257175" cy="26537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800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2D0228-A1E0-CE21-FA07-C4E4502B9CC6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604358-386A-62A2-D12B-978C541D4101}"/>
              </a:ext>
            </a:extLst>
          </p:cNvPr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巴盟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收益受限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影响分析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6DBE50-BD8F-D051-5DE1-EC071CBD558E}"/>
              </a:ext>
            </a:extLst>
          </p:cNvPr>
          <p:cNvSpPr txBox="1"/>
          <p:nvPr/>
        </p:nvSpPr>
        <p:spPr>
          <a:xfrm>
            <a:off x="355600" y="787400"/>
            <a:ext cx="11366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巴盟受上级变电站检修影响，累计收益损失</a:t>
            </a:r>
            <a:r>
              <a:rPr lang="en-US" altLang="zh-CN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150.05</a:t>
            </a:r>
            <a:r>
              <a:rPr lang="zh-CN" alt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万元。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6F0CD0-1615-3E86-F125-7A58C3F358D9}"/>
              </a:ext>
            </a:extLst>
          </p:cNvPr>
          <p:cNvSpPr/>
          <p:nvPr/>
        </p:nvSpPr>
        <p:spPr>
          <a:xfrm>
            <a:off x="355600" y="1231153"/>
            <a:ext cx="76200" cy="381000"/>
          </a:xfrm>
          <a:prstGeom prst="rect">
            <a:avLst/>
          </a:prstGeom>
          <a:solidFill>
            <a:srgbClr val="7F9DB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DA0FDA-C907-6365-6665-315B7454D3B4}"/>
              </a:ext>
            </a:extLst>
          </p:cNvPr>
          <p:cNvSpPr/>
          <p:nvPr/>
        </p:nvSpPr>
        <p:spPr>
          <a:xfrm>
            <a:off x="431800" y="1231153"/>
            <a:ext cx="5257800" cy="381000"/>
          </a:xfrm>
          <a:prstGeom prst="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EEB91A-6B8E-82FD-F769-04CC68E11D7D}"/>
              </a:ext>
            </a:extLst>
          </p:cNvPr>
          <p:cNvSpPr txBox="1"/>
          <p:nvPr/>
        </p:nvSpPr>
        <p:spPr>
          <a:xfrm>
            <a:off x="609600" y="1307353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>
                <a:solidFill>
                  <a:srgbClr val="6E8C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损失影响对比（万元）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24FE36-145D-8869-463C-D5D0703CB1CA}"/>
              </a:ext>
            </a:extLst>
          </p:cNvPr>
          <p:cNvSpPr/>
          <p:nvPr/>
        </p:nvSpPr>
        <p:spPr>
          <a:xfrm>
            <a:off x="355600" y="1726452"/>
            <a:ext cx="5334000" cy="2578848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A1309E6-ADC9-2EDD-D31F-EB540C10B17E}"/>
              </a:ext>
            </a:extLst>
          </p:cNvPr>
          <p:cNvCxnSpPr/>
          <p:nvPr/>
        </p:nvCxnSpPr>
        <p:spPr>
          <a:xfrm>
            <a:off x="762000" y="3810000"/>
            <a:ext cx="4572000" cy="0"/>
          </a:xfrm>
          <a:prstGeom prst="line">
            <a:avLst/>
          </a:prstGeom>
          <a:ln w="889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3EB4FE6-3F7C-2B16-67A7-81E6EE6A0B3E}"/>
              </a:ext>
            </a:extLst>
          </p:cNvPr>
          <p:cNvSpPr txBox="1"/>
          <p:nvPr/>
        </p:nvSpPr>
        <p:spPr>
          <a:xfrm>
            <a:off x="482600" y="37338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65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650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1A0E35D-4875-DE82-C3A2-333AEC3BA188}"/>
              </a:ext>
            </a:extLst>
          </p:cNvPr>
          <p:cNvCxnSpPr/>
          <p:nvPr/>
        </p:nvCxnSpPr>
        <p:spPr>
          <a:xfrm>
            <a:off x="762000" y="3335867"/>
            <a:ext cx="4572000" cy="0"/>
          </a:xfrm>
          <a:prstGeom prst="line">
            <a:avLst/>
          </a:prstGeom>
          <a:ln w="889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2EEF37F-A323-85C8-F353-4AD85413EE3A}"/>
              </a:ext>
            </a:extLst>
          </p:cNvPr>
          <p:cNvSpPr txBox="1"/>
          <p:nvPr/>
        </p:nvSpPr>
        <p:spPr>
          <a:xfrm>
            <a:off x="482600" y="3259667"/>
            <a:ext cx="2286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65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lang="zh-CN" altLang="en-US" sz="650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3248A12-FF20-C47D-21BB-0DB101A9149F}"/>
              </a:ext>
            </a:extLst>
          </p:cNvPr>
          <p:cNvCxnSpPr/>
          <p:nvPr/>
        </p:nvCxnSpPr>
        <p:spPr>
          <a:xfrm>
            <a:off x="762000" y="2861733"/>
            <a:ext cx="4572000" cy="0"/>
          </a:xfrm>
          <a:prstGeom prst="line">
            <a:avLst/>
          </a:prstGeom>
          <a:ln w="889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50D09F2-A00E-016F-B594-18A2E73CB60A}"/>
              </a:ext>
            </a:extLst>
          </p:cNvPr>
          <p:cNvSpPr txBox="1"/>
          <p:nvPr/>
        </p:nvSpPr>
        <p:spPr>
          <a:xfrm>
            <a:off x="482600" y="2785533"/>
            <a:ext cx="2286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65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</a:t>
            </a:r>
            <a:endParaRPr lang="zh-CN" altLang="en-US" sz="650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0BED3D8-6E35-EE2C-3DEF-451B048BDFB9}"/>
              </a:ext>
            </a:extLst>
          </p:cNvPr>
          <p:cNvCxnSpPr/>
          <p:nvPr/>
        </p:nvCxnSpPr>
        <p:spPr>
          <a:xfrm>
            <a:off x="762000" y="2387600"/>
            <a:ext cx="4572000" cy="0"/>
          </a:xfrm>
          <a:prstGeom prst="line">
            <a:avLst/>
          </a:prstGeom>
          <a:ln w="889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13A70FB-4E7F-BC14-2B8A-60D248DEC8A0}"/>
              </a:ext>
            </a:extLst>
          </p:cNvPr>
          <p:cNvSpPr txBox="1"/>
          <p:nvPr/>
        </p:nvSpPr>
        <p:spPr>
          <a:xfrm>
            <a:off x="482600" y="2311400"/>
            <a:ext cx="2286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650">
                <a:solidFill>
                  <a:srgbClr val="777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endParaRPr lang="zh-CN" altLang="en-US" sz="650">
              <a:solidFill>
                <a:srgbClr val="777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C1A44D6-E8BE-8AAC-8F71-8610D6C06AE6}"/>
              </a:ext>
            </a:extLst>
          </p:cNvPr>
          <p:cNvCxnSpPr/>
          <p:nvPr/>
        </p:nvCxnSpPr>
        <p:spPr>
          <a:xfrm>
            <a:off x="762000" y="2387600"/>
            <a:ext cx="0" cy="1422400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62DEE43-33A2-10A4-05BA-70B025AE7D2E}"/>
              </a:ext>
            </a:extLst>
          </p:cNvPr>
          <p:cNvCxnSpPr/>
          <p:nvPr/>
        </p:nvCxnSpPr>
        <p:spPr>
          <a:xfrm>
            <a:off x="762000" y="3810000"/>
            <a:ext cx="4572000" cy="0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84FC4CF-AD25-F722-7177-FE101A8E2F9B}"/>
              </a:ext>
            </a:extLst>
          </p:cNvPr>
          <p:cNvSpPr/>
          <p:nvPr/>
        </p:nvSpPr>
        <p:spPr>
          <a:xfrm>
            <a:off x="1117600" y="3644900"/>
            <a:ext cx="533400" cy="165100"/>
          </a:xfrm>
          <a:prstGeom prst="rect">
            <a:avLst/>
          </a:prstGeom>
          <a:solidFill>
            <a:srgbClr val="BFCF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698991-D642-0880-9A39-026F20A0BB04}"/>
              </a:ext>
            </a:extLst>
          </p:cNvPr>
          <p:cNvSpPr txBox="1"/>
          <p:nvPr/>
        </p:nvSpPr>
        <p:spPr>
          <a:xfrm>
            <a:off x="1066800" y="34417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7.93</a:t>
            </a:r>
            <a:endParaRPr lang="zh-CN" altLang="en-US" sz="800" b="1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3E197C-B09F-7D7E-593E-32DAA4E6E53A}"/>
              </a:ext>
            </a:extLst>
          </p:cNvPr>
          <p:cNvSpPr txBox="1"/>
          <p:nvPr/>
        </p:nvSpPr>
        <p:spPr>
          <a:xfrm>
            <a:off x="1041400" y="3924300"/>
            <a:ext cx="685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01DE86-C81B-6331-E4E7-30079A5EF6E1}"/>
              </a:ext>
            </a:extLst>
          </p:cNvPr>
          <p:cNvSpPr txBox="1"/>
          <p:nvPr/>
        </p:nvSpPr>
        <p:spPr>
          <a:xfrm>
            <a:off x="1041400" y="41021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65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endParaRPr lang="zh-CN" altLang="en-US" sz="65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85E428-2C96-C86B-D5A3-9DBCB28A8825}"/>
              </a:ext>
            </a:extLst>
          </p:cNvPr>
          <p:cNvSpPr/>
          <p:nvPr/>
        </p:nvSpPr>
        <p:spPr>
          <a:xfrm>
            <a:off x="2374900" y="2400300"/>
            <a:ext cx="533400" cy="1409700"/>
          </a:xfrm>
          <a:prstGeom prst="rect">
            <a:avLst/>
          </a:prstGeom>
          <a:solidFill>
            <a:srgbClr val="7F9DB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897D50-E81F-6379-3BCA-CBAB3AE02CD3}"/>
              </a:ext>
            </a:extLst>
          </p:cNvPr>
          <p:cNvSpPr txBox="1"/>
          <p:nvPr/>
        </p:nvSpPr>
        <p:spPr>
          <a:xfrm>
            <a:off x="2324100" y="21971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69.36</a:t>
            </a:r>
            <a:endParaRPr lang="zh-CN" altLang="en-US" sz="800" b="1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04CA44-7FF1-BFAF-A9CC-123F32842C52}"/>
              </a:ext>
            </a:extLst>
          </p:cNvPr>
          <p:cNvSpPr txBox="1"/>
          <p:nvPr/>
        </p:nvSpPr>
        <p:spPr>
          <a:xfrm>
            <a:off x="2298700" y="3924300"/>
            <a:ext cx="685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6E97ED2-08A1-8BB2-FBA4-A02F9C878E42}"/>
              </a:ext>
            </a:extLst>
          </p:cNvPr>
          <p:cNvSpPr txBox="1"/>
          <p:nvPr/>
        </p:nvSpPr>
        <p:spPr>
          <a:xfrm>
            <a:off x="2298700" y="41021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65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46%</a:t>
            </a:r>
            <a:endParaRPr lang="zh-CN" altLang="en-US" sz="65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4557C8F-750A-1376-933E-32123FE2A2A3}"/>
              </a:ext>
            </a:extLst>
          </p:cNvPr>
          <p:cNvSpPr/>
          <p:nvPr/>
        </p:nvSpPr>
        <p:spPr>
          <a:xfrm>
            <a:off x="3632200" y="2882900"/>
            <a:ext cx="533400" cy="927100"/>
          </a:xfrm>
          <a:prstGeom prst="rect">
            <a:avLst/>
          </a:prstGeom>
          <a:solidFill>
            <a:srgbClr val="9A63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DD364F-63AF-8F72-D695-D7AF8368FB02}"/>
              </a:ext>
            </a:extLst>
          </p:cNvPr>
          <p:cNvSpPr txBox="1"/>
          <p:nvPr/>
        </p:nvSpPr>
        <p:spPr>
          <a:xfrm>
            <a:off x="3581400" y="26797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45.73</a:t>
            </a:r>
            <a:endParaRPr lang="zh-CN" altLang="en-US" sz="800" b="1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230BDB4-DD80-FE08-2E40-C61A751781F2}"/>
              </a:ext>
            </a:extLst>
          </p:cNvPr>
          <p:cNvSpPr txBox="1"/>
          <p:nvPr/>
        </p:nvSpPr>
        <p:spPr>
          <a:xfrm>
            <a:off x="3556000" y="3924300"/>
            <a:ext cx="685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B3F3799-AC2D-AC41-78F0-67EA347159D9}"/>
              </a:ext>
            </a:extLst>
          </p:cNvPr>
          <p:cNvSpPr txBox="1"/>
          <p:nvPr/>
        </p:nvSpPr>
        <p:spPr>
          <a:xfrm>
            <a:off x="3556000" y="41021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65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endParaRPr lang="zh-CN" altLang="en-US" sz="65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A3CD05B-2F02-B310-EC8F-74E0364DEDDC}"/>
              </a:ext>
            </a:extLst>
          </p:cNvPr>
          <p:cNvSpPr/>
          <p:nvPr/>
        </p:nvSpPr>
        <p:spPr>
          <a:xfrm>
            <a:off x="4889500" y="3263900"/>
            <a:ext cx="533400" cy="546100"/>
          </a:xfrm>
          <a:prstGeom prst="rect">
            <a:avLst/>
          </a:prstGeom>
          <a:solidFill>
            <a:srgbClr val="C5B6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C881E9B-A7F3-7BC6-E292-A33C423A6955}"/>
              </a:ext>
            </a:extLst>
          </p:cNvPr>
          <p:cNvSpPr txBox="1"/>
          <p:nvPr/>
        </p:nvSpPr>
        <p:spPr>
          <a:xfrm>
            <a:off x="4838700" y="30607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27.02</a:t>
            </a:r>
            <a:endParaRPr lang="zh-CN" altLang="en-US" sz="800" b="1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8C11DBF-C4F2-F3C2-124D-A979ED987A3C}"/>
              </a:ext>
            </a:extLst>
          </p:cNvPr>
          <p:cNvSpPr txBox="1"/>
          <p:nvPr/>
        </p:nvSpPr>
        <p:spPr>
          <a:xfrm>
            <a:off x="4813300" y="3924300"/>
            <a:ext cx="685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7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63440F9-B93E-AC67-AB20-94E2434C1A4F}"/>
              </a:ext>
            </a:extLst>
          </p:cNvPr>
          <p:cNvSpPr txBox="1"/>
          <p:nvPr/>
        </p:nvSpPr>
        <p:spPr>
          <a:xfrm>
            <a:off x="4813300" y="41021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65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18%</a:t>
            </a:r>
            <a:endParaRPr lang="zh-CN" altLang="en-US" sz="65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6C0765D-43F6-657D-E92C-04A0F1934BB0}"/>
              </a:ext>
            </a:extLst>
          </p:cNvPr>
          <p:cNvSpPr/>
          <p:nvPr/>
        </p:nvSpPr>
        <p:spPr>
          <a:xfrm>
            <a:off x="6070600" y="1231153"/>
            <a:ext cx="76200" cy="381000"/>
          </a:xfrm>
          <a:prstGeom prst="rect">
            <a:avLst/>
          </a:prstGeom>
          <a:solidFill>
            <a:srgbClr val="956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3156E69-5817-04FB-5643-A61BD7C8ED18}"/>
              </a:ext>
            </a:extLst>
          </p:cNvPr>
          <p:cNvSpPr/>
          <p:nvPr/>
        </p:nvSpPr>
        <p:spPr>
          <a:xfrm>
            <a:off x="6146800" y="1231153"/>
            <a:ext cx="5689600" cy="381000"/>
          </a:xfrm>
          <a:prstGeom prst="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594CF81-0F07-1A1C-FE97-54CC378B3098}"/>
              </a:ext>
            </a:extLst>
          </p:cNvPr>
          <p:cNvSpPr txBox="1"/>
          <p:nvPr/>
        </p:nvSpPr>
        <p:spPr>
          <a:xfrm>
            <a:off x="6324600" y="1307353"/>
            <a:ext cx="538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 b="1" dirty="0">
                <a:solidFill>
                  <a:srgbClr val="9561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事故原因复盘及纠偏措施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6F495AF-A867-6DEA-6606-DCF962A7FD0F}"/>
              </a:ext>
            </a:extLst>
          </p:cNvPr>
          <p:cNvSpPr/>
          <p:nvPr/>
        </p:nvSpPr>
        <p:spPr>
          <a:xfrm>
            <a:off x="6070600" y="1726452"/>
            <a:ext cx="5765800" cy="2578848"/>
          </a:xfrm>
          <a:prstGeom prst="rect">
            <a:avLst/>
          </a:prstGeom>
          <a:solidFill>
            <a:srgbClr val="FFFFFF"/>
          </a:solidFill>
          <a:ln w="8890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3BF9044-C748-28E0-006C-1A78B8D270E5}"/>
              </a:ext>
            </a:extLst>
          </p:cNvPr>
          <p:cNvSpPr txBox="1"/>
          <p:nvPr/>
        </p:nvSpPr>
        <p:spPr>
          <a:xfrm>
            <a:off x="6222998" y="1816258"/>
            <a:ext cx="14986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收益损失来源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45AFBF4-D554-44B8-4E62-0D91D095996B}"/>
              </a:ext>
            </a:extLst>
          </p:cNvPr>
          <p:cNvSpPr txBox="1"/>
          <p:nvPr/>
        </p:nvSpPr>
        <p:spPr>
          <a:xfrm>
            <a:off x="6210300" y="2071992"/>
            <a:ext cx="5626100" cy="136970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1000MW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放电，日前价格正常，实时价格晚高峰时段出现</a:t>
            </a: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-50,-100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/MWh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；同时上级</a:t>
            </a: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500kV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节点价格正常</a:t>
            </a: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节点送出阻塞</a:t>
            </a:r>
            <a:endParaRPr lang="en-US" altLang="zh-CN" sz="1400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D-1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申报，</a:t>
            </a: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D+1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交易中心披露实时价格，所以损失跨越</a:t>
            </a: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号最大放电功率调整至</a:t>
            </a: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，仍有半小时越限，后续继续调整</a:t>
            </a:r>
            <a:endParaRPr lang="en-US" altLang="zh-CN" sz="1400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FD07A14-D261-3803-8E8E-30E666964103}"/>
              </a:ext>
            </a:extLst>
          </p:cNvPr>
          <p:cNvSpPr txBox="1"/>
          <p:nvPr/>
        </p:nvSpPr>
        <p:spPr>
          <a:xfrm>
            <a:off x="6197600" y="3397819"/>
            <a:ext cx="162560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越限原因分析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DC265AD-A6B2-6F6F-233E-6E6B6344AD80}"/>
              </a:ext>
            </a:extLst>
          </p:cNvPr>
          <p:cNvSpPr txBox="1"/>
          <p:nvPr/>
        </p:nvSpPr>
        <p:spPr>
          <a:xfrm>
            <a:off x="6197600" y="3685401"/>
            <a:ext cx="55118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500kV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河套变扩建间隔，改变运行方式，造成限制</a:t>
            </a:r>
            <a:r>
              <a:rPr lang="en-US" altLang="zh-CN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220kV</a:t>
            </a:r>
            <a:r>
              <a:rPr lang="zh-CN" altLang="en-US" sz="1400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节点送出受限；日前、实时新能源偏差较大（调度口径）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B6453AE-76A1-BF11-A2AD-653B48B40EAC}"/>
              </a:ext>
            </a:extLst>
          </p:cNvPr>
          <p:cNvSpPr/>
          <p:nvPr/>
        </p:nvSpPr>
        <p:spPr>
          <a:xfrm>
            <a:off x="355600" y="4343400"/>
            <a:ext cx="11480800" cy="376198"/>
          </a:xfrm>
          <a:prstGeom prst="rect">
            <a:avLst/>
          </a:prstGeom>
          <a:solidFill>
            <a:srgbClr val="F3F6F8"/>
          </a:solidFill>
          <a:ln w="7620">
            <a:solidFill>
              <a:srgbClr val="D8D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248D797-F1B9-97A9-FE94-9073AA59097A}"/>
              </a:ext>
            </a:extLst>
          </p:cNvPr>
          <p:cNvSpPr/>
          <p:nvPr/>
        </p:nvSpPr>
        <p:spPr>
          <a:xfrm>
            <a:off x="355600" y="4974822"/>
            <a:ext cx="1778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C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5840CFB-B454-1364-0948-A242B876A9CF}"/>
              </a:ext>
            </a:extLst>
          </p:cNvPr>
          <p:cNvSpPr/>
          <p:nvPr/>
        </p:nvSpPr>
        <p:spPr>
          <a:xfrm>
            <a:off x="355600" y="4974822"/>
            <a:ext cx="1778000" cy="50800"/>
          </a:xfrm>
          <a:prstGeom prst="rect">
            <a:avLst/>
          </a:prstGeom>
          <a:solidFill>
            <a:srgbClr val="7F9DB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8604CB6-5E44-811A-F007-B563484773CA}"/>
              </a:ext>
            </a:extLst>
          </p:cNvPr>
          <p:cNvSpPr txBox="1"/>
          <p:nvPr/>
        </p:nvSpPr>
        <p:spPr>
          <a:xfrm>
            <a:off x="482600" y="51145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00">
                <a:solidFill>
                  <a:srgbClr val="6D82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累计收益损失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AC0EF80-0933-5C37-6104-7CE3B3F88DDE}"/>
              </a:ext>
            </a:extLst>
          </p:cNvPr>
          <p:cNvSpPr txBox="1"/>
          <p:nvPr/>
        </p:nvSpPr>
        <p:spPr>
          <a:xfrm>
            <a:off x="482600" y="52923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532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150.05</a:t>
            </a:r>
            <a:endParaRPr lang="zh-CN" altLang="en-US" sz="2000" b="1">
              <a:solidFill>
                <a:srgbClr val="2532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A4C1288-66AB-FF4B-614D-FFF0C4A1AA88}"/>
              </a:ext>
            </a:extLst>
          </p:cNvPr>
          <p:cNvSpPr txBox="1"/>
          <p:nvPr/>
        </p:nvSpPr>
        <p:spPr>
          <a:xfrm>
            <a:off x="482600" y="5546322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8AA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F54519F-9791-DF30-D3EF-E132A9B76552}"/>
              </a:ext>
            </a:extLst>
          </p:cNvPr>
          <p:cNvSpPr txBox="1"/>
          <p:nvPr/>
        </p:nvSpPr>
        <p:spPr>
          <a:xfrm>
            <a:off x="1054100" y="5533622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endParaRPr lang="zh-CN" altLang="en-US" sz="900" b="1">
              <a:solidFill>
                <a:srgbClr val="7F9D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5C57980-7258-9EE3-C904-5479906A64D5}"/>
              </a:ext>
            </a:extLst>
          </p:cNvPr>
          <p:cNvSpPr/>
          <p:nvPr/>
        </p:nvSpPr>
        <p:spPr>
          <a:xfrm>
            <a:off x="2260600" y="4974822"/>
            <a:ext cx="1778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C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51354CA-5C4C-285C-467E-034C2832E324}"/>
              </a:ext>
            </a:extLst>
          </p:cNvPr>
          <p:cNvSpPr/>
          <p:nvPr/>
        </p:nvSpPr>
        <p:spPr>
          <a:xfrm>
            <a:off x="2260600" y="4974822"/>
            <a:ext cx="1778000" cy="50800"/>
          </a:xfrm>
          <a:prstGeom prst="rect">
            <a:avLst/>
          </a:prstGeom>
          <a:solidFill>
            <a:srgbClr val="7F9DB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69D93D6-70AE-3C9C-D6BA-4F94AD9D6E50}"/>
              </a:ext>
            </a:extLst>
          </p:cNvPr>
          <p:cNvSpPr txBox="1"/>
          <p:nvPr/>
        </p:nvSpPr>
        <p:spPr>
          <a:xfrm>
            <a:off x="2387600" y="51145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00">
                <a:solidFill>
                  <a:srgbClr val="6D82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受限电量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3B1874C-14EB-5C2B-228E-6A1F8DEE8EF6}"/>
              </a:ext>
            </a:extLst>
          </p:cNvPr>
          <p:cNvSpPr txBox="1"/>
          <p:nvPr/>
        </p:nvSpPr>
        <p:spPr>
          <a:xfrm>
            <a:off x="2387600" y="52923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532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6,029.09</a:t>
            </a:r>
            <a:endParaRPr lang="zh-CN" altLang="en-US" sz="2000" b="1">
              <a:solidFill>
                <a:srgbClr val="2532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6572305-618C-3D70-D528-23370DD7F1D9}"/>
              </a:ext>
            </a:extLst>
          </p:cNvPr>
          <p:cNvSpPr txBox="1"/>
          <p:nvPr/>
        </p:nvSpPr>
        <p:spPr>
          <a:xfrm>
            <a:off x="2387600" y="5546322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b="1">
                <a:solidFill>
                  <a:srgbClr val="8AA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MWh</a:t>
            </a:r>
            <a:endParaRPr lang="zh-CN" altLang="en-US" sz="900" b="1">
              <a:solidFill>
                <a:srgbClr val="8AA0A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2FCE4A3-4C4C-165B-51A0-E2E80C96EECA}"/>
              </a:ext>
            </a:extLst>
          </p:cNvPr>
          <p:cNvSpPr txBox="1"/>
          <p:nvPr/>
        </p:nvSpPr>
        <p:spPr>
          <a:xfrm>
            <a:off x="2959100" y="5533622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endParaRPr lang="zh-CN" altLang="en-US" sz="900" b="1">
              <a:solidFill>
                <a:srgbClr val="7F9D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95AE5F5-FDDD-19CE-B541-32AA5FBCE0E6}"/>
              </a:ext>
            </a:extLst>
          </p:cNvPr>
          <p:cNvSpPr/>
          <p:nvPr/>
        </p:nvSpPr>
        <p:spPr>
          <a:xfrm>
            <a:off x="4165600" y="4974822"/>
            <a:ext cx="1778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C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D519A60-EF09-1543-3303-9CD3EE2C848E}"/>
              </a:ext>
            </a:extLst>
          </p:cNvPr>
          <p:cNvSpPr/>
          <p:nvPr/>
        </p:nvSpPr>
        <p:spPr>
          <a:xfrm>
            <a:off x="4165600" y="4974822"/>
            <a:ext cx="1778000" cy="50800"/>
          </a:xfrm>
          <a:prstGeom prst="rect">
            <a:avLst/>
          </a:prstGeom>
          <a:solidFill>
            <a:srgbClr val="7F9DB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E088D33-94C6-0432-BD95-A703A940D2F1}"/>
              </a:ext>
            </a:extLst>
          </p:cNvPr>
          <p:cNvSpPr txBox="1"/>
          <p:nvPr/>
        </p:nvSpPr>
        <p:spPr>
          <a:xfrm>
            <a:off x="4292600" y="51145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00">
                <a:solidFill>
                  <a:srgbClr val="6D82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受影响时段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FAFC967-FE2C-92CB-B1E9-29A0D7AFEEFD}"/>
              </a:ext>
            </a:extLst>
          </p:cNvPr>
          <p:cNvSpPr txBox="1"/>
          <p:nvPr/>
        </p:nvSpPr>
        <p:spPr>
          <a:xfrm>
            <a:off x="4292600" y="52923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532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000" b="1">
              <a:solidFill>
                <a:srgbClr val="2532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6AF4DA2-7700-0D97-732C-0D1DCB4157FD}"/>
              </a:ext>
            </a:extLst>
          </p:cNvPr>
          <p:cNvSpPr txBox="1"/>
          <p:nvPr/>
        </p:nvSpPr>
        <p:spPr>
          <a:xfrm>
            <a:off x="4292600" y="5546322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 dirty="0">
                <a:solidFill>
                  <a:srgbClr val="8AA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6454BFF-0B9F-E2AD-BEE5-BD85898F61DE}"/>
              </a:ext>
            </a:extLst>
          </p:cNvPr>
          <p:cNvSpPr txBox="1"/>
          <p:nvPr/>
        </p:nvSpPr>
        <p:spPr>
          <a:xfrm>
            <a:off x="4864100" y="5533622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900" b="1">
                <a:solidFill>
                  <a:srgbClr val="7F9D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</a:t>
            </a:r>
            <a:r>
              <a:rPr lang="en-US" altLang="zh-CN" sz="900" b="1">
                <a:solidFill>
                  <a:srgbClr val="7F9D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900" b="1">
                <a:solidFill>
                  <a:srgbClr val="7F9D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C88FCB6-E95E-0A65-59ED-D53AFEF23585}"/>
              </a:ext>
            </a:extLst>
          </p:cNvPr>
          <p:cNvSpPr/>
          <p:nvPr/>
        </p:nvSpPr>
        <p:spPr>
          <a:xfrm>
            <a:off x="6070600" y="4974822"/>
            <a:ext cx="1778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C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3BC00B8-1DAD-68C3-354A-C291509E91C9}"/>
              </a:ext>
            </a:extLst>
          </p:cNvPr>
          <p:cNvSpPr/>
          <p:nvPr/>
        </p:nvSpPr>
        <p:spPr>
          <a:xfrm>
            <a:off x="6070600" y="4974822"/>
            <a:ext cx="1778000" cy="50800"/>
          </a:xfrm>
          <a:prstGeom prst="rect">
            <a:avLst/>
          </a:prstGeom>
          <a:solidFill>
            <a:srgbClr val="956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F394473-00A9-EBD8-08E2-33E04C12215B}"/>
              </a:ext>
            </a:extLst>
          </p:cNvPr>
          <p:cNvSpPr txBox="1"/>
          <p:nvPr/>
        </p:nvSpPr>
        <p:spPr>
          <a:xfrm>
            <a:off x="6197600" y="51145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00">
                <a:solidFill>
                  <a:srgbClr val="6D82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流程纠偏目标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CB9A17F-8660-9B28-8790-5B055D97212D}"/>
              </a:ext>
            </a:extLst>
          </p:cNvPr>
          <p:cNvSpPr txBox="1"/>
          <p:nvPr/>
        </p:nvSpPr>
        <p:spPr>
          <a:xfrm>
            <a:off x="6197600" y="52923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532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>
              <a:solidFill>
                <a:srgbClr val="2532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A9A53B9-885F-4D11-0DE1-18B6C5DBE4C4}"/>
              </a:ext>
            </a:extLst>
          </p:cNvPr>
          <p:cNvSpPr txBox="1"/>
          <p:nvPr/>
        </p:nvSpPr>
        <p:spPr>
          <a:xfrm>
            <a:off x="6197600" y="5546322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8AA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E601BEA-BA2F-762F-DBC6-ABD5673ABDBA}"/>
              </a:ext>
            </a:extLst>
          </p:cNvPr>
          <p:cNvSpPr txBox="1"/>
          <p:nvPr/>
        </p:nvSpPr>
        <p:spPr>
          <a:xfrm>
            <a:off x="6769100" y="5533622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zh-CN" altLang="en-US" sz="900" b="1">
                <a:solidFill>
                  <a:srgbClr val="9561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可降低至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F3813FF-07CA-310F-B85C-72C8D3F36F11}"/>
              </a:ext>
            </a:extLst>
          </p:cNvPr>
          <p:cNvSpPr/>
          <p:nvPr/>
        </p:nvSpPr>
        <p:spPr>
          <a:xfrm>
            <a:off x="7975600" y="4974822"/>
            <a:ext cx="1778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C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0EA1809-2DEE-5240-F25E-CF5BC6CD7E50}"/>
              </a:ext>
            </a:extLst>
          </p:cNvPr>
          <p:cNvSpPr/>
          <p:nvPr/>
        </p:nvSpPr>
        <p:spPr>
          <a:xfrm>
            <a:off x="7975600" y="4974822"/>
            <a:ext cx="1778000" cy="50800"/>
          </a:xfrm>
          <a:prstGeom prst="rect">
            <a:avLst/>
          </a:prstGeom>
          <a:solidFill>
            <a:srgbClr val="956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3136C92-D6C6-2C54-B8EA-1A645F64B9E1}"/>
              </a:ext>
            </a:extLst>
          </p:cNvPr>
          <p:cNvSpPr txBox="1"/>
          <p:nvPr/>
        </p:nvSpPr>
        <p:spPr>
          <a:xfrm>
            <a:off x="8102600" y="5114522"/>
            <a:ext cx="15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6D82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900">
                <a:solidFill>
                  <a:srgbClr val="6D82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900">
                <a:solidFill>
                  <a:srgbClr val="6D82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8-9</a:t>
            </a:r>
            <a:r>
              <a:rPr lang="zh-CN" altLang="en-US" sz="900">
                <a:solidFill>
                  <a:srgbClr val="6D82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日损失占比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AE6AF2F-64C8-0A39-DD0B-0671E86D6778}"/>
              </a:ext>
            </a:extLst>
          </p:cNvPr>
          <p:cNvSpPr txBox="1"/>
          <p:nvPr/>
        </p:nvSpPr>
        <p:spPr>
          <a:xfrm>
            <a:off x="8102600" y="52923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532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77%</a:t>
            </a:r>
            <a:endParaRPr lang="zh-CN" altLang="en-US" sz="2000" b="1">
              <a:solidFill>
                <a:srgbClr val="2532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970F8C5-CC3F-147E-E6FB-4C9121C0F2A6}"/>
              </a:ext>
            </a:extLst>
          </p:cNvPr>
          <p:cNvSpPr txBox="1"/>
          <p:nvPr/>
        </p:nvSpPr>
        <p:spPr>
          <a:xfrm>
            <a:off x="8102600" y="5546322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zh-CN" altLang="en-US" sz="900" b="1">
              <a:solidFill>
                <a:srgbClr val="8AA0A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9828C74-597F-F1FF-678C-00E484ABC43E}"/>
              </a:ext>
            </a:extLst>
          </p:cNvPr>
          <p:cNvSpPr txBox="1"/>
          <p:nvPr/>
        </p:nvSpPr>
        <p:spPr>
          <a:xfrm>
            <a:off x="8674100" y="5533622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endParaRPr lang="zh-CN" altLang="en-US" sz="900" b="1">
              <a:solidFill>
                <a:srgbClr val="9561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A784F95-34D1-A8B0-A3A1-DC9B35951470}"/>
              </a:ext>
            </a:extLst>
          </p:cNvPr>
          <p:cNvSpPr/>
          <p:nvPr/>
        </p:nvSpPr>
        <p:spPr>
          <a:xfrm>
            <a:off x="9880600" y="4974822"/>
            <a:ext cx="1778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C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2FC361B-3B3E-08F5-ED01-69A7918FBB82}"/>
              </a:ext>
            </a:extLst>
          </p:cNvPr>
          <p:cNvSpPr/>
          <p:nvPr/>
        </p:nvSpPr>
        <p:spPr>
          <a:xfrm>
            <a:off x="9880600" y="4974822"/>
            <a:ext cx="1778000" cy="50800"/>
          </a:xfrm>
          <a:prstGeom prst="rect">
            <a:avLst/>
          </a:prstGeom>
          <a:solidFill>
            <a:srgbClr val="956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F3E276E-3242-C07A-0F84-F9BC8EDC3FAD}"/>
              </a:ext>
            </a:extLst>
          </p:cNvPr>
          <p:cNvSpPr txBox="1"/>
          <p:nvPr/>
        </p:nvSpPr>
        <p:spPr>
          <a:xfrm>
            <a:off x="10007600" y="5114522"/>
            <a:ext cx="15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00">
                <a:solidFill>
                  <a:srgbClr val="6D82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最大单时段损失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16F78FD-6CD4-C05E-A068-19A1DD6D5B22}"/>
              </a:ext>
            </a:extLst>
          </p:cNvPr>
          <p:cNvSpPr txBox="1"/>
          <p:nvPr/>
        </p:nvSpPr>
        <p:spPr>
          <a:xfrm>
            <a:off x="10007600" y="5292322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532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12.86</a:t>
            </a:r>
            <a:endParaRPr lang="zh-CN" altLang="en-US" sz="2000" b="1">
              <a:solidFill>
                <a:srgbClr val="2532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C67622F-4502-6680-2F7F-B219BD4886E4}"/>
              </a:ext>
            </a:extLst>
          </p:cNvPr>
          <p:cNvSpPr txBox="1"/>
          <p:nvPr/>
        </p:nvSpPr>
        <p:spPr>
          <a:xfrm>
            <a:off x="10007600" y="5546322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 b="1">
                <a:solidFill>
                  <a:srgbClr val="8AA0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781ADCC-11BD-E6A5-DBCC-BE2D03B8A71A}"/>
              </a:ext>
            </a:extLst>
          </p:cNvPr>
          <p:cNvSpPr txBox="1"/>
          <p:nvPr/>
        </p:nvSpPr>
        <p:spPr>
          <a:xfrm>
            <a:off x="10579100" y="5533622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endParaRPr lang="zh-CN" altLang="en-US" sz="900" b="1">
              <a:solidFill>
                <a:srgbClr val="9561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E4DE8D-E40D-2439-3138-CAE674592655}"/>
              </a:ext>
            </a:extLst>
          </p:cNvPr>
          <p:cNvSpPr txBox="1"/>
          <p:nvPr/>
        </p:nvSpPr>
        <p:spPr>
          <a:xfrm>
            <a:off x="457200" y="4479889"/>
            <a:ext cx="11226800" cy="15955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受影响时段：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 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23:45-24:00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 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06:30-06:54;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18:45;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20:45-23:15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 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04:45-06:15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 </a:t>
            </a:r>
            <a:r>
              <a:rPr lang="en-US" altLang="zh-CN" sz="1200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18:30-19:45</a:t>
            </a:r>
            <a:endParaRPr lang="zh-CN" altLang="en-US" sz="1200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2328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82BC-0142-19C4-5B42-A7BE8593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B47739-419D-C894-4458-B87A2842D31F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BAA9FA-A454-8755-F20B-F7267F977985}"/>
              </a:ext>
            </a:extLst>
          </p:cNvPr>
          <p:cNvSpPr txBox="1"/>
          <p:nvPr/>
        </p:nvSpPr>
        <p:spPr>
          <a:xfrm>
            <a:off x="355600" y="787400"/>
            <a:ext cx="11366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应对措施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9B9B11-C537-38A7-F3F4-608F9B0DB458}"/>
              </a:ext>
            </a:extLst>
          </p:cNvPr>
          <p:cNvSpPr txBox="1"/>
          <p:nvPr/>
        </p:nvSpPr>
        <p:spPr>
          <a:xfrm>
            <a:off x="266699" y="1157592"/>
            <a:ext cx="11029951" cy="217615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号发现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号价格异常，调整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号申报曲线降功率至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号已完成申报），并在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号申报中进一步降低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交易发现上报后，由运维同事孟凡光迅速确认越限原因，降低后续可能损失；同时确认变电站无相关检修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立即修改价格复盘机制，每日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点运维将实时价格报送交易，交易在次日申报前查看、并调整策略；可以将类似损失由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天，降至两天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81CF33-9CBC-5D60-8F1E-EC36DFA5E8A3}"/>
              </a:ext>
            </a:extLst>
          </p:cNvPr>
          <p:cNvSpPr txBox="1"/>
          <p:nvPr/>
        </p:nvSpPr>
        <p:spPr>
          <a:xfrm>
            <a:off x="444501" y="2963558"/>
            <a:ext cx="11366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调度、交易中心调研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25764F-DB32-8B00-149F-4D500BFC592D}"/>
              </a:ext>
            </a:extLst>
          </p:cNvPr>
          <p:cNvSpPr txBox="1"/>
          <p:nvPr/>
        </p:nvSpPr>
        <p:spPr>
          <a:xfrm>
            <a:off x="355600" y="3333750"/>
            <a:ext cx="11029951" cy="217615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资管带领下就该次损失，去交易中心和调度做了专访，得出以下结论建议：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已经出清的结果，价格符合即时供需关系，无法调整；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调度不能保证每天发布信息颗粒度达到节点检修级别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日前、实时价格偏差由新能源、负荷预测产生，不能保证日前完全知道实时价格。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建议：目前价格实时披露，主体应自行监盘，发现价格异常，可向调度申请修改计划、降低功率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资管正在牵头准备相关流程措施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4B0F6D-94A0-2163-66EE-03B4E5E02BC9}"/>
              </a:ext>
            </a:extLst>
          </p:cNvPr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巴盟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收益受限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影响分析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702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03D6-DE15-5D9C-1A3A-F1C10B0C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B8D8C5D-CA5D-3141-225E-B635373A8F12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0D3AC-2A9B-2541-60AD-EBB3CFA476BB}"/>
              </a:ext>
            </a:extLst>
          </p:cNvPr>
          <p:cNvSpPr txBox="1"/>
          <p:nvPr/>
        </p:nvSpPr>
        <p:spPr>
          <a:xfrm>
            <a:off x="1010653" y="5441301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呼包东中午橙色区间价格高于晚上红色区间价格，导致充放价格倒挂</a:t>
            </a:r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2CCEC0F9-E9D3-A008-0069-ED9D3C32FA83}"/>
              </a:ext>
            </a:extLst>
          </p:cNvPr>
          <p:cNvGraphicFramePr>
            <a:graphicFrameLocks/>
          </p:cNvGraphicFramePr>
          <p:nvPr/>
        </p:nvGraphicFramePr>
        <p:xfrm>
          <a:off x="1010653" y="899806"/>
          <a:ext cx="10337531" cy="42158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7543017-4271-7AFA-8759-EAC45BCEF4D5}"/>
              </a:ext>
            </a:extLst>
          </p:cNvPr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 </a:t>
            </a: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呼包东收益问题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123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3263-C2F8-34FA-D83C-10104D9E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0728DB-324B-91D5-93AD-C996C84915C1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364B3D-9E7C-1331-6FD2-28CF77725CD9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收益与排名预告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06712BB-F473-8FBF-07B9-67A267FAC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251052"/>
              </p:ext>
            </p:extLst>
          </p:nvPr>
        </p:nvGraphicFramePr>
        <p:xfrm>
          <a:off x="469900" y="1341398"/>
          <a:ext cx="2073277" cy="440040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87427">
                  <a:extLst>
                    <a:ext uri="{9D8B030D-6E8A-4147-A177-3AD203B41FA5}">
                      <a16:colId xmlns:a16="http://schemas.microsoft.com/office/drawing/2014/main" val="263026231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428573308"/>
                    </a:ext>
                  </a:extLst>
                </a:gridCol>
              </a:tblGrid>
              <a:tr h="48893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修正前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649" marR="4649" marT="46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936238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1083477850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34423791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04098260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15656905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4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4038183514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857547002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608711829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97971368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2FE3722B-DF4F-A470-4BB4-E301863716D8}"/>
              </a:ext>
            </a:extLst>
          </p:cNvPr>
          <p:cNvSpPr txBox="1"/>
          <p:nvPr/>
        </p:nvSpPr>
        <p:spPr>
          <a:xfrm>
            <a:off x="355600" y="787400"/>
            <a:ext cx="11366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7.28</a:t>
            </a:r>
            <a:endParaRPr lang="zh-CN" altLang="en-US" sz="1500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8E6F0B9-CCF6-65D0-30B9-5AC23D49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700924"/>
              </p:ext>
            </p:extLst>
          </p:nvPr>
        </p:nvGraphicFramePr>
        <p:xfrm>
          <a:off x="3736975" y="1341398"/>
          <a:ext cx="2073277" cy="4400406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87427">
                  <a:extLst>
                    <a:ext uri="{9D8B030D-6E8A-4147-A177-3AD203B41FA5}">
                      <a16:colId xmlns:a16="http://schemas.microsoft.com/office/drawing/2014/main" val="2630262314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428573308"/>
                    </a:ext>
                  </a:extLst>
                </a:gridCol>
              </a:tblGrid>
              <a:tr h="48893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修正前后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649" marR="4649" marT="46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936238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1083477850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34423791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04098260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3156569055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en-US" altLang="zh-CN" sz="14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4038183514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857547002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608711829"/>
                  </a:ext>
                </a:extLst>
              </a:tr>
              <a:tr h="48893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649" marR="4649" marT="4649" marB="0" anchor="ctr"/>
                </a:tc>
                <a:extLst>
                  <a:ext uri="{0D108BD9-81ED-4DB2-BD59-A6C34878D82A}">
                    <a16:rowId xmlns:a16="http://schemas.microsoft.com/office/drawing/2014/main" val="297971368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1B862D52-DD50-FDF6-A168-F10689E19404}"/>
              </a:ext>
            </a:extLst>
          </p:cNvPr>
          <p:cNvSpPr txBox="1"/>
          <p:nvPr/>
        </p:nvSpPr>
        <p:spPr>
          <a:xfrm>
            <a:off x="6248402" y="2122448"/>
            <a:ext cx="5597523" cy="217615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月巴盟继续受涉网试验影响，收益价差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其他场站基本恢复正常水平，排名上来说，杭锦旗和谷山梁有显著提高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乌海杭锦旗出清收益已超过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650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万，预计执行收益应超过</a:t>
            </a:r>
            <a:r>
              <a:rPr lang="en-US" altLang="zh-CN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</a:t>
            </a:r>
            <a:r>
              <a:rPr lang="zh-CN" altLang="en-US" b="1" dirty="0">
                <a:solidFill>
                  <a:srgbClr val="2D33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endParaRPr lang="en-US" altLang="zh-CN" b="1" dirty="0">
              <a:solidFill>
                <a:srgbClr val="2D33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9614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下一步计划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3049" y="677115"/>
            <a:ext cx="11645901" cy="21209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月问题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乌海、苏右、乌拉特设备出现明显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下降的现象，需要校正参数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资管已拉通产品，对各个场站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进行评估，后续建立常态化流程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申报流程、方式需要进一步优化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苏右、四子王异常问题凸显。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730FBB-9165-7A87-BF44-45D6E994DD3B}"/>
              </a:ext>
            </a:extLst>
          </p:cNvPr>
          <p:cNvSpPr txBox="1"/>
          <p:nvPr/>
        </p:nvSpPr>
        <p:spPr>
          <a:xfrm>
            <a:off x="273048" y="3084828"/>
            <a:ext cx="11645901" cy="29518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调度及交易中心调研信息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报量报价，会允许主体选择报量报价和报量不报价两种模式。目前在等主管部门审核，主管部门对于转成报量报价还有顾及。如果报量报价，可能会有日内调整窗口。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调频，目前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万里程费用，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8000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万的机会成本费用；可以按规则给储能选择窗口，并与报量不报价结合。储能占比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。时间未知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红绿灯，会按呼包东西划分，另一个会有绿区充放带宽，并有推荐策略。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调度后期会对同一时段，同一区域，不同主体不同充放进行管理，就是不能有充有放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64EE8-2FFD-638F-1847-E82140C25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145167-820E-2795-F385-6FC2F2D74877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BE681A-8255-961C-E9CD-6E8483B332DC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下一步计划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453420-DB46-D78E-8AB6-4D3373C81734}"/>
              </a:ext>
            </a:extLst>
          </p:cNvPr>
          <p:cNvSpPr txBox="1"/>
          <p:nvPr/>
        </p:nvSpPr>
        <p:spPr>
          <a:xfrm>
            <a:off x="273049" y="2039190"/>
            <a:ext cx="11645901" cy="17054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下一步计划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月问题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重建申报流程和申报群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开展苏右、四子王专项提升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月引入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工具，开展价格预测、完善复盘看板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0367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999" y="10293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不同接入节点决定储能天然套利空间，呼包东节点受断面阻塞影响，中午电价抬升，显著压缩峰谷价差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57BFC683-4DAB-4CA4-D7B1-DB69B63D3B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11198"/>
              </p:ext>
            </p:extLst>
          </p:nvPr>
        </p:nvGraphicFramePr>
        <p:xfrm>
          <a:off x="647388" y="3213060"/>
          <a:ext cx="11151222" cy="2959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ADACA8C-9835-E378-B1C9-2AB28F1C4325}"/>
              </a:ext>
            </a:extLst>
          </p:cNvPr>
          <p:cNvSpPr txBox="1"/>
          <p:nvPr/>
        </p:nvSpPr>
        <p:spPr>
          <a:xfrm>
            <a:off x="7654947" y="578877"/>
            <a:ext cx="3661209" cy="26341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调度在日前市场按照充放电效率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95%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进行校核。因此，不考虑执行校核的前提下，充放转换效率不超过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90.25%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若转换效率超越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90.25%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，应存在执行校核，对比苏右和四子王的转换效率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A0044CB-A178-B6D5-6DE7-121EF1D96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66518"/>
              </p:ext>
            </p:extLst>
          </p:nvPr>
        </p:nvGraphicFramePr>
        <p:xfrm>
          <a:off x="647388" y="796222"/>
          <a:ext cx="6761245" cy="2199492"/>
        </p:xfrm>
        <a:graphic>
          <a:graphicData uri="http://schemas.openxmlformats.org/drawingml/2006/table">
            <a:tbl>
              <a:tblPr bandRow="1">
                <a:tableStyleId>{5202B0CA-FC54-4496-8BCA-5EF66A818D29}</a:tableStyleId>
              </a:tblPr>
              <a:tblGrid>
                <a:gridCol w="153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5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307">
                  <a:extLst>
                    <a:ext uri="{9D8B030D-6E8A-4147-A177-3AD203B41FA5}">
                      <a16:colId xmlns:a16="http://schemas.microsoft.com/office/drawing/2014/main" val="263428482"/>
                    </a:ext>
                  </a:extLst>
                </a:gridCol>
                <a:gridCol w="1448117">
                  <a:extLst>
                    <a:ext uri="{9D8B030D-6E8A-4147-A177-3AD203B41FA5}">
                      <a16:colId xmlns:a16="http://schemas.microsoft.com/office/drawing/2014/main" val="1036947743"/>
                    </a:ext>
                  </a:extLst>
                </a:gridCol>
                <a:gridCol w="1448117">
                  <a:extLst>
                    <a:ext uri="{9D8B030D-6E8A-4147-A177-3AD203B41FA5}">
                      <a16:colId xmlns:a16="http://schemas.microsoft.com/office/drawing/2014/main" val="2682235846"/>
                    </a:ext>
                  </a:extLst>
                </a:gridCol>
              </a:tblGrid>
              <a:tr h="366582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出清收益收益排名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充电量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放电量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充放转换效率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1077583"/>
                  </a:ext>
                </a:extLst>
              </a:tr>
              <a:tr h="366582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kern="1200">
                          <a:solidFill>
                            <a:schemeClr val="bg1"/>
                          </a:solidFill>
                          <a:effectLst/>
                          <a:highlight>
                            <a:srgbClr val="D99694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协鑫石拐储能电站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16053.58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14802.47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92.21%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582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chemeClr val="bg1"/>
                          </a:solidFill>
                          <a:effectLst/>
                          <a:highlight>
                            <a:srgbClr val="9BBB5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悦杭独贵储能电站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16871.28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15110.04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89.56%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582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>
                          <a:solidFill>
                            <a:schemeClr val="bg1"/>
                          </a:solidFill>
                          <a:effectLst/>
                          <a:highlight>
                            <a:srgbClr val="9BBB5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裕昭沙子坝储能电站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82757.01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74826.31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90.42%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582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0" i="0" u="none" strike="noStrike" kern="1200">
                          <a:solidFill>
                            <a:schemeClr val="bg1"/>
                          </a:solidFill>
                          <a:effectLst/>
                          <a:highlight>
                            <a:srgbClr val="9BBB5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景通四益堂储能电站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14681.02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13463.78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91.71%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58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zh-CN" altLang="en-US" sz="1100" b="0" i="0" u="none" strike="noStrike" kern="1200">
                          <a:solidFill>
                            <a:schemeClr val="bg1"/>
                          </a:solidFill>
                          <a:effectLst/>
                          <a:highlight>
                            <a:srgbClr val="9BBB59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景蓝乌尔图储能电站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14643.99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13272.1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90.63%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549" y="472270"/>
            <a:ext cx="11518901" cy="571055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6999" y="102938"/>
            <a:ext cx="5254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vision Digital - Dark">
  <a:themeElements>
    <a:clrScheme name="EnOS">
      <a:dk1>
        <a:sysClr val="windowText" lastClr="000000"/>
      </a:dk1>
      <a:lt1>
        <a:sysClr val="window" lastClr="FFFFFF"/>
      </a:lt1>
      <a:dk2>
        <a:srgbClr val="00293A"/>
      </a:dk2>
      <a:lt2>
        <a:srgbClr val="E7E6E6"/>
      </a:lt2>
      <a:accent1>
        <a:srgbClr val="4CA8FF"/>
      </a:accent1>
      <a:accent2>
        <a:srgbClr val="01CB90"/>
      </a:accent2>
      <a:accent3>
        <a:srgbClr val="DE5145"/>
      </a:accent3>
      <a:accent4>
        <a:srgbClr val="FFC000"/>
      </a:accent4>
      <a:accent5>
        <a:srgbClr val="964FFF"/>
      </a:accent5>
      <a:accent6>
        <a:srgbClr val="DF397F"/>
      </a:accent6>
      <a:hlink>
        <a:srgbClr val="4CA8FF"/>
      </a:hlink>
      <a:folHlink>
        <a:srgbClr val="A5A5A5"/>
      </a:folHlink>
    </a:clrScheme>
    <a:fontScheme name="n5nw3kzm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3394</Words>
  <Application>Microsoft Office PowerPoint</Application>
  <PresentationFormat>宽屏</PresentationFormat>
  <Paragraphs>869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DengXian</vt:lpstr>
      <vt:lpstr>DengXian</vt:lpstr>
      <vt:lpstr>Microsoft YaHei</vt:lpstr>
      <vt:lpstr>Microsoft YaHei</vt:lpstr>
      <vt:lpstr>微软雅黑 Light</vt:lpstr>
      <vt:lpstr>Aptos</vt:lpstr>
      <vt:lpstr>Arial</vt:lpstr>
      <vt:lpstr>Calibri</vt:lpstr>
      <vt:lpstr>Wingdings</vt:lpstr>
      <vt:lpstr>3_Office 主题</vt:lpstr>
      <vt:lpstr>Envision Digital - Dark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Song</dc:creator>
  <cp:lastModifiedBy>Yang You</cp:lastModifiedBy>
  <cp:revision>2</cp:revision>
  <dcterms:created xsi:type="dcterms:W3CDTF">2025-05-13T07:57:00Z</dcterms:created>
  <dcterms:modified xsi:type="dcterms:W3CDTF">2026-09-02T02:34:02Z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52D698BB38E341ABAC45084D687B7123_13</vt:lpwstr>
  </property>
  <property fmtid="{D5CDD505-2E9C-101B-9397-08002B2CF9AE}" pid="3" name="KSOProductBuildVer">
    <vt:lpwstr>2052-12.1.0.26375</vt:lpwstr>
  </property>
</Properties>
</file>