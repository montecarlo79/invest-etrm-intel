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5" r:id="rId2"/>
  </p:sldMasterIdLst>
  <p:notesMasterIdLst>
    <p:notesMasterId r:id="rId22"/>
  </p:notesMasterIdLst>
  <p:sldIdLst>
    <p:sldId id="16772690" r:id="rId3"/>
    <p:sldId id="16775980" r:id="rId4"/>
    <p:sldId id="16775952" r:id="rId5"/>
    <p:sldId id="16775953" r:id="rId6"/>
    <p:sldId id="16775909" r:id="rId7"/>
    <p:sldId id="16775963" r:id="rId8"/>
    <p:sldId id="16775964" r:id="rId9"/>
    <p:sldId id="16775983" r:id="rId10"/>
    <p:sldId id="16775961" r:id="rId11"/>
    <p:sldId id="256" r:id="rId12"/>
    <p:sldId id="16775965" r:id="rId13"/>
    <p:sldId id="16775962" r:id="rId14"/>
    <p:sldId id="16775966" r:id="rId15"/>
    <p:sldId id="16775979" r:id="rId16"/>
    <p:sldId id="16775978" r:id="rId17"/>
    <p:sldId id="16775981" r:id="rId18"/>
    <p:sldId id="16775982" r:id="rId19"/>
    <p:sldId id="16775974" r:id="rId20"/>
    <p:sldId id="16772752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0106510E-A83A-4C65-9D54-E34780A9DDB5}">
          <p14:sldIdLst>
            <p14:sldId id="16772690"/>
            <p14:sldId id="16775980"/>
            <p14:sldId id="16775952"/>
            <p14:sldId id="16775953"/>
            <p14:sldId id="16775909"/>
            <p14:sldId id="16775963"/>
            <p14:sldId id="16775964"/>
          </p14:sldIdLst>
        </p14:section>
        <p14:section name="市场环境" id="{48A1BE95-3CEE-4304-A741-546A7AA94F97}">
          <p14:sldIdLst>
            <p14:sldId id="16775983"/>
            <p14:sldId id="16775961"/>
            <p14:sldId id="256"/>
            <p14:sldId id="16775965"/>
          </p14:sldIdLst>
        </p14:section>
        <p14:section name="策略与竞争" id="{5588AE6D-4643-4601-9425-B52CBA002C99}">
          <p14:sldIdLst>
            <p14:sldId id="16775962"/>
            <p14:sldId id="16775966"/>
            <p14:sldId id="16775979"/>
            <p14:sldId id="16775978"/>
            <p14:sldId id="16775981"/>
            <p14:sldId id="16775982"/>
            <p14:sldId id="16775974"/>
            <p14:sldId id="16772752"/>
          </p14:sldIdLst>
        </p14:section>
        <p14:section name="backup" id="{ADA1A3B3-49D6-4874-A7CB-02635A2E191B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9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C5A3C"/>
    <a:srgbClr val="7B97AD"/>
    <a:srgbClr val="C55A11"/>
    <a:srgbClr val="5A78AD"/>
    <a:srgbClr val="BF6F8E"/>
    <a:srgbClr val="D99694"/>
    <a:srgbClr val="8064A2"/>
    <a:srgbClr val="9BBB59"/>
    <a:srgbClr val="9B9EA2"/>
    <a:srgbClr val="EAE1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FD0F851-EC5A-4D38-B0AD-8093EC10F338}" styleName="浅色样式 1 - 强调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1FECB4D8-DB02-4DC6-A0A2-4F2EBAE1DC90}" styleName="中度样式 1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EBBBCC-DAD2-459C-BE2E-F6DE35CF9A28}" styleName="深色样式 2 - 强调 3/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浅色样式 2 - 强调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202B0CA-FC54-4496-8BCA-5EF66A818D29}" styleName="深色样式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85BE263C-DBD7-4A20-BB59-AAB30ACAA65A}" styleName="中度样式 3 - 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中度样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14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816" y="72"/>
      </p:cViewPr>
      <p:guideLst>
        <p:guide orient="horz" pos="2160"/>
        <p:guide pos="39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ng You" userId="81ee67ff-e6ba-436d-99fd-0a8de86a4bf9" providerId="ADAL" clId="{ECE8191B-FCDA-47B3-ABAC-3E8255FF6FCF}"/>
    <pc:docChg chg="delSld modSld sldOrd modSection">
      <pc:chgData name="Yang You" userId="81ee67ff-e6ba-436d-99fd-0a8de86a4bf9" providerId="ADAL" clId="{ECE8191B-FCDA-47B3-ABAC-3E8255FF6FCF}" dt="2026-09-02T02:31:44.481" v="3" actId="47"/>
      <pc:docMkLst>
        <pc:docMk/>
      </pc:docMkLst>
      <pc:sldChg chg="del">
        <pc:chgData name="Yang You" userId="81ee67ff-e6ba-436d-99fd-0a8de86a4bf9" providerId="ADAL" clId="{ECE8191B-FCDA-47B3-ABAC-3E8255FF6FCF}" dt="2026-09-02T02:31:44.481" v="3" actId="47"/>
        <pc:sldMkLst>
          <pc:docMk/>
          <pc:sldMk cId="0" sldId="16772731"/>
        </pc:sldMkLst>
      </pc:sldChg>
      <pc:sldChg chg="ord">
        <pc:chgData name="Yang You" userId="81ee67ff-e6ba-436d-99fd-0a8de86a4bf9" providerId="ADAL" clId="{ECE8191B-FCDA-47B3-ABAC-3E8255FF6FCF}" dt="2026-09-02T02:31:34.287" v="2"/>
        <pc:sldMkLst>
          <pc:docMk/>
          <pc:sldMk cId="0" sldId="16775909"/>
        </pc:sldMkLst>
      </pc:sldChg>
      <pc:sldChg chg="del">
        <pc:chgData name="Yang You" userId="81ee67ff-e6ba-436d-99fd-0a8de86a4bf9" providerId="ADAL" clId="{ECE8191B-FCDA-47B3-ABAC-3E8255FF6FCF}" dt="2026-09-02T02:31:28.456" v="0" actId="47"/>
        <pc:sldMkLst>
          <pc:docMk/>
          <pc:sldMk cId="3212328298" sldId="16775972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r>
              <a:rPr lang="zh-CN" altLang="en-US" sz="1300" b="1">
                <a:solidFill>
                  <a:srgbClr val="333333"/>
                </a:solidFill>
              </a:rPr>
              <a:t>富景五虎山储能电站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6月</c:v>
                </c:pt>
              </c:strCache>
            </c:strRef>
          </c:tx>
          <c:spPr>
            <a:ln w="19050">
              <a:solidFill>
                <a:srgbClr val="4A90E2"/>
              </a:solidFill>
              <a:prstDash val="dash"/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00</c:v>
                </c:pt>
                <c:pt idx="1">
                  <c:v>01</c:v>
                </c:pt>
                <c:pt idx="2">
                  <c:v>02</c:v>
                </c:pt>
                <c:pt idx="3">
                  <c:v>03</c:v>
                </c:pt>
                <c:pt idx="4">
                  <c:v>04</c:v>
                </c:pt>
                <c:pt idx="5">
                  <c:v>05</c:v>
                </c:pt>
                <c:pt idx="6">
                  <c:v>06</c:v>
                </c:pt>
                <c:pt idx="7">
                  <c:v>07</c:v>
                </c:pt>
                <c:pt idx="8">
                  <c:v>08</c:v>
                </c:pt>
                <c:pt idx="9">
                  <c:v>09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310.65453256448416</c:v>
                </c:pt>
                <c:pt idx="1">
                  <c:v>313.47966589781754</c:v>
                </c:pt>
                <c:pt idx="2">
                  <c:v>319.92653256448415</c:v>
                </c:pt>
                <c:pt idx="3">
                  <c:v>279.75894089781752</c:v>
                </c:pt>
                <c:pt idx="4">
                  <c:v>252.55509923115082</c:v>
                </c:pt>
                <c:pt idx="5">
                  <c:v>242.91306589781749</c:v>
                </c:pt>
                <c:pt idx="6">
                  <c:v>235.14311589781752</c:v>
                </c:pt>
                <c:pt idx="7">
                  <c:v>200.44188256448419</c:v>
                </c:pt>
                <c:pt idx="8">
                  <c:v>104.20734089781746</c:v>
                </c:pt>
                <c:pt idx="9">
                  <c:v>108.9409242311508</c:v>
                </c:pt>
                <c:pt idx="10">
                  <c:v>121.30009089781746</c:v>
                </c:pt>
                <c:pt idx="11">
                  <c:v>123.94366589781745</c:v>
                </c:pt>
                <c:pt idx="12">
                  <c:v>122.42111589781744</c:v>
                </c:pt>
                <c:pt idx="13">
                  <c:v>115.88460756448411</c:v>
                </c:pt>
                <c:pt idx="14">
                  <c:v>130.36999923115079</c:v>
                </c:pt>
                <c:pt idx="15">
                  <c:v>126.19782423115079</c:v>
                </c:pt>
                <c:pt idx="16">
                  <c:v>172.31648256448415</c:v>
                </c:pt>
                <c:pt idx="17">
                  <c:v>289.26209089781747</c:v>
                </c:pt>
                <c:pt idx="18">
                  <c:v>293.64765756448412</c:v>
                </c:pt>
                <c:pt idx="19">
                  <c:v>278.09469089781749</c:v>
                </c:pt>
                <c:pt idx="20">
                  <c:v>284.74021589781745</c:v>
                </c:pt>
                <c:pt idx="21">
                  <c:v>268.23741589781747</c:v>
                </c:pt>
                <c:pt idx="22">
                  <c:v>266.9890908978175</c:v>
                </c:pt>
                <c:pt idx="23">
                  <c:v>289.94167423115078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BCE-42B0-8DBC-6A1C81B80A3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7月</c:v>
                </c:pt>
              </c:strCache>
            </c:strRef>
          </c:tx>
          <c:spPr>
            <a:ln w="31750">
              <a:solidFill>
                <a:srgbClr val="F58A07"/>
              </a:solidFill>
              <a:prstDash val="solid"/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00</c:v>
                </c:pt>
                <c:pt idx="1">
                  <c:v>01</c:v>
                </c:pt>
                <c:pt idx="2">
                  <c:v>02</c:v>
                </c:pt>
                <c:pt idx="3">
                  <c:v>03</c:v>
                </c:pt>
                <c:pt idx="4">
                  <c:v>04</c:v>
                </c:pt>
                <c:pt idx="5">
                  <c:v>05</c:v>
                </c:pt>
                <c:pt idx="6">
                  <c:v>06</c:v>
                </c:pt>
                <c:pt idx="7">
                  <c:v>07</c:v>
                </c:pt>
                <c:pt idx="8">
                  <c:v>08</c:v>
                </c:pt>
                <c:pt idx="9">
                  <c:v>09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361.88643548387097</c:v>
                </c:pt>
                <c:pt idx="1">
                  <c:v>365.99787903225803</c:v>
                </c:pt>
                <c:pt idx="2">
                  <c:v>345.53811290322579</c:v>
                </c:pt>
                <c:pt idx="3">
                  <c:v>341.55793548387095</c:v>
                </c:pt>
                <c:pt idx="4">
                  <c:v>324.84512903225806</c:v>
                </c:pt>
                <c:pt idx="5">
                  <c:v>298.34933870967745</c:v>
                </c:pt>
                <c:pt idx="6">
                  <c:v>287.09000000000003</c:v>
                </c:pt>
                <c:pt idx="7">
                  <c:v>241.01134677419361</c:v>
                </c:pt>
                <c:pt idx="8">
                  <c:v>136.67067741935483</c:v>
                </c:pt>
                <c:pt idx="9">
                  <c:v>93.553629032258058</c:v>
                </c:pt>
                <c:pt idx="10">
                  <c:v>105.60025806451614</c:v>
                </c:pt>
                <c:pt idx="11">
                  <c:v>102.99095161290323</c:v>
                </c:pt>
                <c:pt idx="12">
                  <c:v>106.00595161290323</c:v>
                </c:pt>
                <c:pt idx="13">
                  <c:v>110.23680645161291</c:v>
                </c:pt>
                <c:pt idx="14">
                  <c:v>119.46691129032259</c:v>
                </c:pt>
                <c:pt idx="15">
                  <c:v>121.37990322580643</c:v>
                </c:pt>
                <c:pt idx="16">
                  <c:v>185.65869354838713</c:v>
                </c:pt>
                <c:pt idx="17">
                  <c:v>262.40275806451615</c:v>
                </c:pt>
                <c:pt idx="18">
                  <c:v>311.6796451612903</c:v>
                </c:pt>
                <c:pt idx="19">
                  <c:v>314.56610483870969</c:v>
                </c:pt>
                <c:pt idx="20">
                  <c:v>319.74625000000009</c:v>
                </c:pt>
                <c:pt idx="21">
                  <c:v>292.4349354838709</c:v>
                </c:pt>
                <c:pt idx="22">
                  <c:v>309.67165322580649</c:v>
                </c:pt>
                <c:pt idx="23">
                  <c:v>303.68611290322582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BCE-42B0-8DBC-6A1C81B80A3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6月均价 219</c:v>
                </c:pt>
              </c:strCache>
            </c:strRef>
          </c:tx>
          <c:spPr>
            <a:ln w="9525">
              <a:solidFill>
                <a:srgbClr val="4A90E2"/>
              </a:solidFill>
              <a:prstDash val="sysDot"/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00</c:v>
                </c:pt>
                <c:pt idx="1">
                  <c:v>01</c:v>
                </c:pt>
                <c:pt idx="2">
                  <c:v>02</c:v>
                </c:pt>
                <c:pt idx="3">
                  <c:v>03</c:v>
                </c:pt>
                <c:pt idx="4">
                  <c:v>04</c:v>
                </c:pt>
                <c:pt idx="5">
                  <c:v>05</c:v>
                </c:pt>
                <c:pt idx="6">
                  <c:v>06</c:v>
                </c:pt>
                <c:pt idx="7">
                  <c:v>07</c:v>
                </c:pt>
                <c:pt idx="8">
                  <c:v>08</c:v>
                </c:pt>
                <c:pt idx="9">
                  <c:v>09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Sheet1!$D$2:$D$25</c:f>
              <c:numCache>
                <c:formatCode>General</c:formatCode>
                <c:ptCount val="24"/>
                <c:pt idx="0">
                  <c:v>218.80698846726193</c:v>
                </c:pt>
                <c:pt idx="1">
                  <c:v>218.80698846726193</c:v>
                </c:pt>
                <c:pt idx="2">
                  <c:v>218.80698846726193</c:v>
                </c:pt>
                <c:pt idx="3">
                  <c:v>218.80698846726193</c:v>
                </c:pt>
                <c:pt idx="4">
                  <c:v>218.80698846726193</c:v>
                </c:pt>
                <c:pt idx="5">
                  <c:v>218.80698846726193</c:v>
                </c:pt>
                <c:pt idx="6">
                  <c:v>218.80698846726193</c:v>
                </c:pt>
                <c:pt idx="7">
                  <c:v>218.80698846726193</c:v>
                </c:pt>
                <c:pt idx="8">
                  <c:v>218.80698846726193</c:v>
                </c:pt>
                <c:pt idx="9">
                  <c:v>218.80698846726193</c:v>
                </c:pt>
                <c:pt idx="10">
                  <c:v>218.80698846726193</c:v>
                </c:pt>
                <c:pt idx="11">
                  <c:v>218.80698846726193</c:v>
                </c:pt>
                <c:pt idx="12">
                  <c:v>218.80698846726193</c:v>
                </c:pt>
                <c:pt idx="13">
                  <c:v>218.80698846726193</c:v>
                </c:pt>
                <c:pt idx="14">
                  <c:v>218.80698846726193</c:v>
                </c:pt>
                <c:pt idx="15">
                  <c:v>218.80698846726193</c:v>
                </c:pt>
                <c:pt idx="16">
                  <c:v>218.80698846726193</c:v>
                </c:pt>
                <c:pt idx="17">
                  <c:v>218.80698846726193</c:v>
                </c:pt>
                <c:pt idx="18">
                  <c:v>218.80698846726193</c:v>
                </c:pt>
                <c:pt idx="19">
                  <c:v>218.80698846726193</c:v>
                </c:pt>
                <c:pt idx="20">
                  <c:v>218.80698846726193</c:v>
                </c:pt>
                <c:pt idx="21">
                  <c:v>218.80698846726193</c:v>
                </c:pt>
                <c:pt idx="22">
                  <c:v>218.80698846726193</c:v>
                </c:pt>
                <c:pt idx="23">
                  <c:v>218.80698846726193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BCE-42B0-8DBC-6A1C81B80A3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7月均价 240</c:v>
                </c:pt>
              </c:strCache>
            </c:strRef>
          </c:tx>
          <c:spPr>
            <a:ln w="9525">
              <a:solidFill>
                <a:srgbClr val="F58A07"/>
              </a:solidFill>
              <a:prstDash val="sysDot"/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00</c:v>
                </c:pt>
                <c:pt idx="1">
                  <c:v>01</c:v>
                </c:pt>
                <c:pt idx="2">
                  <c:v>02</c:v>
                </c:pt>
                <c:pt idx="3">
                  <c:v>03</c:v>
                </c:pt>
                <c:pt idx="4">
                  <c:v>04</c:v>
                </c:pt>
                <c:pt idx="5">
                  <c:v>05</c:v>
                </c:pt>
                <c:pt idx="6">
                  <c:v>06</c:v>
                </c:pt>
                <c:pt idx="7">
                  <c:v>07</c:v>
                </c:pt>
                <c:pt idx="8">
                  <c:v>08</c:v>
                </c:pt>
                <c:pt idx="9">
                  <c:v>09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Sheet1!$E$2:$E$25</c:f>
              <c:numCache>
                <c:formatCode>General</c:formatCode>
                <c:ptCount val="24"/>
                <c:pt idx="0">
                  <c:v>240.08447580645159</c:v>
                </c:pt>
                <c:pt idx="1">
                  <c:v>240.08447580645159</c:v>
                </c:pt>
                <c:pt idx="2">
                  <c:v>240.08447580645159</c:v>
                </c:pt>
                <c:pt idx="3">
                  <c:v>240.08447580645159</c:v>
                </c:pt>
                <c:pt idx="4">
                  <c:v>240.08447580645159</c:v>
                </c:pt>
                <c:pt idx="5">
                  <c:v>240.08447580645159</c:v>
                </c:pt>
                <c:pt idx="6">
                  <c:v>240.08447580645159</c:v>
                </c:pt>
                <c:pt idx="7">
                  <c:v>240.08447580645159</c:v>
                </c:pt>
                <c:pt idx="8">
                  <c:v>240.08447580645159</c:v>
                </c:pt>
                <c:pt idx="9">
                  <c:v>240.08447580645159</c:v>
                </c:pt>
                <c:pt idx="10">
                  <c:v>240.08447580645159</c:v>
                </c:pt>
                <c:pt idx="11">
                  <c:v>240.08447580645159</c:v>
                </c:pt>
                <c:pt idx="12">
                  <c:v>240.08447580645159</c:v>
                </c:pt>
                <c:pt idx="13">
                  <c:v>240.08447580645159</c:v>
                </c:pt>
                <c:pt idx="14">
                  <c:v>240.08447580645159</c:v>
                </c:pt>
                <c:pt idx="15">
                  <c:v>240.08447580645159</c:v>
                </c:pt>
                <c:pt idx="16">
                  <c:v>240.08447580645159</c:v>
                </c:pt>
                <c:pt idx="17">
                  <c:v>240.08447580645159</c:v>
                </c:pt>
                <c:pt idx="18">
                  <c:v>240.08447580645159</c:v>
                </c:pt>
                <c:pt idx="19">
                  <c:v>240.08447580645159</c:v>
                </c:pt>
                <c:pt idx="20">
                  <c:v>240.08447580645159</c:v>
                </c:pt>
                <c:pt idx="21">
                  <c:v>240.08447580645159</c:v>
                </c:pt>
                <c:pt idx="22">
                  <c:v>240.08447580645159</c:v>
                </c:pt>
                <c:pt idx="23">
                  <c:v>240.08447580645159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DBCE-42B0-8DBC-6A1C81B80A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333333"/>
                </a:solidFill>
              </a:defRPr>
            </a:pPr>
            <a:endParaRPr lang="zh-CN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420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333333"/>
                </a:solidFill>
              </a:defRPr>
            </a:pPr>
            <a:endParaRPr lang="zh-CN"/>
          </a:p>
        </c:txPr>
        <c:crossAx val="2118791784"/>
        <c:crosses val="autoZero"/>
        <c:crossBetween val="between"/>
        <c:majorUnit val="100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374151"/>
              </a:solidFill>
            </a:defRPr>
          </a:pPr>
          <a:endParaRPr lang="zh-CN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r>
              <a:rPr lang="zh-CN" altLang="en-US" sz="1300" b="1">
                <a:solidFill>
                  <a:srgbClr val="333333"/>
                </a:solidFill>
              </a:rPr>
              <a:t>悦杭独贵储能电站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6月</c:v>
                </c:pt>
              </c:strCache>
            </c:strRef>
          </c:tx>
          <c:spPr>
            <a:ln w="19050">
              <a:solidFill>
                <a:srgbClr val="4A90E2"/>
              </a:solidFill>
              <a:prstDash val="dash"/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00</c:v>
                </c:pt>
                <c:pt idx="1">
                  <c:v>01</c:v>
                </c:pt>
                <c:pt idx="2">
                  <c:v>02</c:v>
                </c:pt>
                <c:pt idx="3">
                  <c:v>03</c:v>
                </c:pt>
                <c:pt idx="4">
                  <c:v>04</c:v>
                </c:pt>
                <c:pt idx="5">
                  <c:v>05</c:v>
                </c:pt>
                <c:pt idx="6">
                  <c:v>06</c:v>
                </c:pt>
                <c:pt idx="7">
                  <c:v>07</c:v>
                </c:pt>
                <c:pt idx="8">
                  <c:v>08</c:v>
                </c:pt>
                <c:pt idx="9">
                  <c:v>09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303.06742819940479</c:v>
                </c:pt>
                <c:pt idx="1">
                  <c:v>305.73851153273813</c:v>
                </c:pt>
                <c:pt idx="2">
                  <c:v>312.18856153273805</c:v>
                </c:pt>
                <c:pt idx="3">
                  <c:v>277.22356153273807</c:v>
                </c:pt>
                <c:pt idx="4">
                  <c:v>251.79592819940478</c:v>
                </c:pt>
                <c:pt idx="5">
                  <c:v>242.14481153273809</c:v>
                </c:pt>
                <c:pt idx="6">
                  <c:v>234.48857819940477</c:v>
                </c:pt>
                <c:pt idx="7">
                  <c:v>199.86940319940476</c:v>
                </c:pt>
                <c:pt idx="8">
                  <c:v>102.98396153273809</c:v>
                </c:pt>
                <c:pt idx="9">
                  <c:v>107.00806986607144</c:v>
                </c:pt>
                <c:pt idx="10">
                  <c:v>117.97390319940475</c:v>
                </c:pt>
                <c:pt idx="11">
                  <c:v>119.94457819940477</c:v>
                </c:pt>
                <c:pt idx="12">
                  <c:v>122.98110319940477</c:v>
                </c:pt>
                <c:pt idx="13">
                  <c:v>113.39173653273809</c:v>
                </c:pt>
                <c:pt idx="14">
                  <c:v>120.77596986607141</c:v>
                </c:pt>
                <c:pt idx="15">
                  <c:v>120.03279486607144</c:v>
                </c:pt>
                <c:pt idx="16">
                  <c:v>158.29543653273808</c:v>
                </c:pt>
                <c:pt idx="17">
                  <c:v>281.24385319940478</c:v>
                </c:pt>
                <c:pt idx="18">
                  <c:v>279.11022819940473</c:v>
                </c:pt>
                <c:pt idx="19">
                  <c:v>265.28423653273808</c:v>
                </c:pt>
                <c:pt idx="20">
                  <c:v>271.03879486607144</c:v>
                </c:pt>
                <c:pt idx="21">
                  <c:v>254.54641986607143</c:v>
                </c:pt>
                <c:pt idx="22">
                  <c:v>260.12253653273808</c:v>
                </c:pt>
                <c:pt idx="23">
                  <c:v>279.66574486607146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EBF-4E32-833A-8905C8F17AB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7月</c:v>
                </c:pt>
              </c:strCache>
            </c:strRef>
          </c:tx>
          <c:spPr>
            <a:ln w="31750">
              <a:solidFill>
                <a:srgbClr val="F58A07"/>
              </a:solidFill>
              <a:prstDash val="solid"/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00</c:v>
                </c:pt>
                <c:pt idx="1">
                  <c:v>01</c:v>
                </c:pt>
                <c:pt idx="2">
                  <c:v>02</c:v>
                </c:pt>
                <c:pt idx="3">
                  <c:v>03</c:v>
                </c:pt>
                <c:pt idx="4">
                  <c:v>04</c:v>
                </c:pt>
                <c:pt idx="5">
                  <c:v>05</c:v>
                </c:pt>
                <c:pt idx="6">
                  <c:v>06</c:v>
                </c:pt>
                <c:pt idx="7">
                  <c:v>07</c:v>
                </c:pt>
                <c:pt idx="8">
                  <c:v>08</c:v>
                </c:pt>
                <c:pt idx="9">
                  <c:v>09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361.76956451612904</c:v>
                </c:pt>
                <c:pt idx="1">
                  <c:v>365.86696774193547</c:v>
                </c:pt>
                <c:pt idx="2">
                  <c:v>345.3959758064517</c:v>
                </c:pt>
                <c:pt idx="3">
                  <c:v>341.40717741935481</c:v>
                </c:pt>
                <c:pt idx="4">
                  <c:v>324.69615322580643</c:v>
                </c:pt>
                <c:pt idx="5">
                  <c:v>298.17337096774196</c:v>
                </c:pt>
                <c:pt idx="6">
                  <c:v>286.89212903225808</c:v>
                </c:pt>
                <c:pt idx="7">
                  <c:v>240.82273387096777</c:v>
                </c:pt>
                <c:pt idx="8">
                  <c:v>135.1264677419355</c:v>
                </c:pt>
                <c:pt idx="9">
                  <c:v>83.847419354838706</c:v>
                </c:pt>
                <c:pt idx="10">
                  <c:v>113.68170161290324</c:v>
                </c:pt>
                <c:pt idx="11">
                  <c:v>114.72634677419353</c:v>
                </c:pt>
                <c:pt idx="12">
                  <c:v>114.18761290322578</c:v>
                </c:pt>
                <c:pt idx="13">
                  <c:v>120.71164516129029</c:v>
                </c:pt>
                <c:pt idx="14">
                  <c:v>125.40290322580643</c:v>
                </c:pt>
                <c:pt idx="15">
                  <c:v>121.56191129032258</c:v>
                </c:pt>
                <c:pt idx="16">
                  <c:v>180.41486290322581</c:v>
                </c:pt>
                <c:pt idx="17">
                  <c:v>261.26951612903224</c:v>
                </c:pt>
                <c:pt idx="18">
                  <c:v>311.00844354838705</c:v>
                </c:pt>
                <c:pt idx="19">
                  <c:v>314.20949999999999</c:v>
                </c:pt>
                <c:pt idx="20">
                  <c:v>319.61178225806458</c:v>
                </c:pt>
                <c:pt idx="21">
                  <c:v>292.39084677419345</c:v>
                </c:pt>
                <c:pt idx="22">
                  <c:v>309.6428225806452</c:v>
                </c:pt>
                <c:pt idx="23">
                  <c:v>303.65650806451612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EBF-4E32-833A-8905C8F17AB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6月均价 213</c:v>
                </c:pt>
              </c:strCache>
            </c:strRef>
          </c:tx>
          <c:spPr>
            <a:ln w="9525">
              <a:solidFill>
                <a:srgbClr val="4A90E2"/>
              </a:solidFill>
              <a:prstDash val="sysDot"/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00</c:v>
                </c:pt>
                <c:pt idx="1">
                  <c:v>01</c:v>
                </c:pt>
                <c:pt idx="2">
                  <c:v>02</c:v>
                </c:pt>
                <c:pt idx="3">
                  <c:v>03</c:v>
                </c:pt>
                <c:pt idx="4">
                  <c:v>04</c:v>
                </c:pt>
                <c:pt idx="5">
                  <c:v>05</c:v>
                </c:pt>
                <c:pt idx="6">
                  <c:v>06</c:v>
                </c:pt>
                <c:pt idx="7">
                  <c:v>07</c:v>
                </c:pt>
                <c:pt idx="8">
                  <c:v>08</c:v>
                </c:pt>
                <c:pt idx="9">
                  <c:v>09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Sheet1!$D$2:$D$25</c:f>
              <c:numCache>
                <c:formatCode>General</c:formatCode>
                <c:ptCount val="24"/>
                <c:pt idx="0">
                  <c:v>212.53817299107143</c:v>
                </c:pt>
                <c:pt idx="1">
                  <c:v>212.53817299107143</c:v>
                </c:pt>
                <c:pt idx="2">
                  <c:v>212.53817299107143</c:v>
                </c:pt>
                <c:pt idx="3">
                  <c:v>212.53817299107143</c:v>
                </c:pt>
                <c:pt idx="4">
                  <c:v>212.53817299107143</c:v>
                </c:pt>
                <c:pt idx="5">
                  <c:v>212.53817299107143</c:v>
                </c:pt>
                <c:pt idx="6">
                  <c:v>212.53817299107143</c:v>
                </c:pt>
                <c:pt idx="7">
                  <c:v>212.53817299107143</c:v>
                </c:pt>
                <c:pt idx="8">
                  <c:v>212.53817299107143</c:v>
                </c:pt>
                <c:pt idx="9">
                  <c:v>212.53817299107143</c:v>
                </c:pt>
                <c:pt idx="10">
                  <c:v>212.53817299107143</c:v>
                </c:pt>
                <c:pt idx="11">
                  <c:v>212.53817299107143</c:v>
                </c:pt>
                <c:pt idx="12">
                  <c:v>212.53817299107143</c:v>
                </c:pt>
                <c:pt idx="13">
                  <c:v>212.53817299107143</c:v>
                </c:pt>
                <c:pt idx="14">
                  <c:v>212.53817299107143</c:v>
                </c:pt>
                <c:pt idx="15">
                  <c:v>212.53817299107143</c:v>
                </c:pt>
                <c:pt idx="16">
                  <c:v>212.53817299107143</c:v>
                </c:pt>
                <c:pt idx="17">
                  <c:v>212.53817299107143</c:v>
                </c:pt>
                <c:pt idx="18">
                  <c:v>212.53817299107143</c:v>
                </c:pt>
                <c:pt idx="19">
                  <c:v>212.53817299107143</c:v>
                </c:pt>
                <c:pt idx="20">
                  <c:v>212.53817299107143</c:v>
                </c:pt>
                <c:pt idx="21">
                  <c:v>212.53817299107143</c:v>
                </c:pt>
                <c:pt idx="22">
                  <c:v>212.53817299107143</c:v>
                </c:pt>
                <c:pt idx="23">
                  <c:v>212.53817299107143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EBF-4E32-833A-8905C8F17AB1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7月均价 241</c:v>
                </c:pt>
              </c:strCache>
            </c:strRef>
          </c:tx>
          <c:spPr>
            <a:ln w="9525">
              <a:solidFill>
                <a:srgbClr val="F58A07"/>
              </a:solidFill>
              <a:prstDash val="sysDot"/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00</c:v>
                </c:pt>
                <c:pt idx="1">
                  <c:v>01</c:v>
                </c:pt>
                <c:pt idx="2">
                  <c:v>02</c:v>
                </c:pt>
                <c:pt idx="3">
                  <c:v>03</c:v>
                </c:pt>
                <c:pt idx="4">
                  <c:v>04</c:v>
                </c:pt>
                <c:pt idx="5">
                  <c:v>05</c:v>
                </c:pt>
                <c:pt idx="6">
                  <c:v>06</c:v>
                </c:pt>
                <c:pt idx="7">
                  <c:v>07</c:v>
                </c:pt>
                <c:pt idx="8">
                  <c:v>08</c:v>
                </c:pt>
                <c:pt idx="9">
                  <c:v>09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Sheet1!$E$2:$E$25</c:f>
              <c:numCache>
                <c:formatCode>General</c:formatCode>
                <c:ptCount val="24"/>
                <c:pt idx="0">
                  <c:v>241.10309845430106</c:v>
                </c:pt>
                <c:pt idx="1">
                  <c:v>241.10309845430106</c:v>
                </c:pt>
                <c:pt idx="2">
                  <c:v>241.10309845430106</c:v>
                </c:pt>
                <c:pt idx="3">
                  <c:v>241.10309845430106</c:v>
                </c:pt>
                <c:pt idx="4">
                  <c:v>241.10309845430106</c:v>
                </c:pt>
                <c:pt idx="5">
                  <c:v>241.10309845430106</c:v>
                </c:pt>
                <c:pt idx="6">
                  <c:v>241.10309845430106</c:v>
                </c:pt>
                <c:pt idx="7">
                  <c:v>241.10309845430106</c:v>
                </c:pt>
                <c:pt idx="8">
                  <c:v>241.10309845430106</c:v>
                </c:pt>
                <c:pt idx="9">
                  <c:v>241.10309845430106</c:v>
                </c:pt>
                <c:pt idx="10">
                  <c:v>241.10309845430106</c:v>
                </c:pt>
                <c:pt idx="11">
                  <c:v>241.10309845430106</c:v>
                </c:pt>
                <c:pt idx="12">
                  <c:v>241.10309845430106</c:v>
                </c:pt>
                <c:pt idx="13">
                  <c:v>241.10309845430106</c:v>
                </c:pt>
                <c:pt idx="14">
                  <c:v>241.10309845430106</c:v>
                </c:pt>
                <c:pt idx="15">
                  <c:v>241.10309845430106</c:v>
                </c:pt>
                <c:pt idx="16">
                  <c:v>241.10309845430106</c:v>
                </c:pt>
                <c:pt idx="17">
                  <c:v>241.10309845430106</c:v>
                </c:pt>
                <c:pt idx="18">
                  <c:v>241.10309845430106</c:v>
                </c:pt>
                <c:pt idx="19">
                  <c:v>241.10309845430106</c:v>
                </c:pt>
                <c:pt idx="20">
                  <c:v>241.10309845430106</c:v>
                </c:pt>
                <c:pt idx="21">
                  <c:v>241.10309845430106</c:v>
                </c:pt>
                <c:pt idx="22">
                  <c:v>241.10309845430106</c:v>
                </c:pt>
                <c:pt idx="23">
                  <c:v>241.10309845430106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DEBF-4E32-833A-8905C8F17A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333333"/>
                </a:solidFill>
              </a:defRPr>
            </a:pPr>
            <a:endParaRPr lang="zh-CN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420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333333"/>
                </a:solidFill>
              </a:defRPr>
            </a:pPr>
            <a:endParaRPr lang="zh-CN"/>
          </a:p>
        </c:txPr>
        <c:crossAx val="2118791784"/>
        <c:crosses val="autoZero"/>
        <c:crossBetween val="between"/>
        <c:majorUnit val="100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374151"/>
              </a:solidFill>
            </a:defRPr>
          </a:pPr>
          <a:endParaRPr lang="zh-CN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r>
              <a:rPr lang="zh-CN" altLang="en-US" sz="1300" b="1">
                <a:solidFill>
                  <a:srgbClr val="333333"/>
                </a:solidFill>
              </a:rPr>
              <a:t>景怡查干哈达储能电站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6月</c:v>
                </c:pt>
              </c:strCache>
            </c:strRef>
          </c:tx>
          <c:spPr>
            <a:ln w="19050">
              <a:solidFill>
                <a:srgbClr val="4A90E2"/>
              </a:solidFill>
              <a:prstDash val="dash"/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00</c:v>
                </c:pt>
                <c:pt idx="1">
                  <c:v>01</c:v>
                </c:pt>
                <c:pt idx="2">
                  <c:v>02</c:v>
                </c:pt>
                <c:pt idx="3">
                  <c:v>03</c:v>
                </c:pt>
                <c:pt idx="4">
                  <c:v>04</c:v>
                </c:pt>
                <c:pt idx="5">
                  <c:v>05</c:v>
                </c:pt>
                <c:pt idx="6">
                  <c:v>06</c:v>
                </c:pt>
                <c:pt idx="7">
                  <c:v>07</c:v>
                </c:pt>
                <c:pt idx="8">
                  <c:v>08</c:v>
                </c:pt>
                <c:pt idx="9">
                  <c:v>09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308.11435394345239</c:v>
                </c:pt>
                <c:pt idx="1">
                  <c:v>311.48112061011909</c:v>
                </c:pt>
                <c:pt idx="2">
                  <c:v>317.85708727678571</c:v>
                </c:pt>
                <c:pt idx="3">
                  <c:v>279.71792894345242</c:v>
                </c:pt>
                <c:pt idx="4">
                  <c:v>240.26202894345241</c:v>
                </c:pt>
                <c:pt idx="5">
                  <c:v>230.13712061011904</c:v>
                </c:pt>
                <c:pt idx="6">
                  <c:v>230.68297061011904</c:v>
                </c:pt>
                <c:pt idx="7">
                  <c:v>200.4228289434524</c:v>
                </c:pt>
                <c:pt idx="8">
                  <c:v>103.48474561011905</c:v>
                </c:pt>
                <c:pt idx="9">
                  <c:v>107.80217061011908</c:v>
                </c:pt>
                <c:pt idx="10">
                  <c:v>119.87282061011906</c:v>
                </c:pt>
                <c:pt idx="11">
                  <c:v>124.41858727678571</c:v>
                </c:pt>
                <c:pt idx="12">
                  <c:v>122.35409561011907</c:v>
                </c:pt>
                <c:pt idx="13">
                  <c:v>116.22004561011906</c:v>
                </c:pt>
                <c:pt idx="14">
                  <c:v>128.64337061011906</c:v>
                </c:pt>
                <c:pt idx="15">
                  <c:v>123.22095394345239</c:v>
                </c:pt>
                <c:pt idx="16">
                  <c:v>166.41497061011904</c:v>
                </c:pt>
                <c:pt idx="17">
                  <c:v>286.99410394345239</c:v>
                </c:pt>
                <c:pt idx="18">
                  <c:v>281.27487061011908</c:v>
                </c:pt>
                <c:pt idx="19">
                  <c:v>264.76147061011909</c:v>
                </c:pt>
                <c:pt idx="20">
                  <c:v>262.05813727678571</c:v>
                </c:pt>
                <c:pt idx="21">
                  <c:v>239.61043727678572</c:v>
                </c:pt>
                <c:pt idx="22">
                  <c:v>255.77333727678572</c:v>
                </c:pt>
                <c:pt idx="23">
                  <c:v>276.10586227678573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38D-4118-95F9-8C014654E09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7月</c:v>
                </c:pt>
              </c:strCache>
            </c:strRef>
          </c:tx>
          <c:spPr>
            <a:ln w="31750">
              <a:solidFill>
                <a:srgbClr val="F58A07"/>
              </a:solidFill>
              <a:prstDash val="solid"/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00</c:v>
                </c:pt>
                <c:pt idx="1">
                  <c:v>01</c:v>
                </c:pt>
                <c:pt idx="2">
                  <c:v>02</c:v>
                </c:pt>
                <c:pt idx="3">
                  <c:v>03</c:v>
                </c:pt>
                <c:pt idx="4">
                  <c:v>04</c:v>
                </c:pt>
                <c:pt idx="5">
                  <c:v>05</c:v>
                </c:pt>
                <c:pt idx="6">
                  <c:v>06</c:v>
                </c:pt>
                <c:pt idx="7">
                  <c:v>07</c:v>
                </c:pt>
                <c:pt idx="8">
                  <c:v>08</c:v>
                </c:pt>
                <c:pt idx="9">
                  <c:v>09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362.41589516129034</c:v>
                </c:pt>
                <c:pt idx="1">
                  <c:v>366.56024193548387</c:v>
                </c:pt>
                <c:pt idx="2">
                  <c:v>346.12087096774195</c:v>
                </c:pt>
                <c:pt idx="3">
                  <c:v>342.17674999999997</c:v>
                </c:pt>
                <c:pt idx="4">
                  <c:v>325.45436290322579</c:v>
                </c:pt>
                <c:pt idx="5">
                  <c:v>299.06912096774192</c:v>
                </c:pt>
                <c:pt idx="6">
                  <c:v>287.85228225806446</c:v>
                </c:pt>
                <c:pt idx="7">
                  <c:v>241.67399193548388</c:v>
                </c:pt>
                <c:pt idx="8">
                  <c:v>137.46786290322581</c:v>
                </c:pt>
                <c:pt idx="9">
                  <c:v>94.721185483870983</c:v>
                </c:pt>
                <c:pt idx="10">
                  <c:v>106.49738709677418</c:v>
                </c:pt>
                <c:pt idx="11">
                  <c:v>103.53384677419355</c:v>
                </c:pt>
                <c:pt idx="12">
                  <c:v>105.25484677419354</c:v>
                </c:pt>
                <c:pt idx="13">
                  <c:v>110.02643548387098</c:v>
                </c:pt>
                <c:pt idx="14">
                  <c:v>118.42309677419354</c:v>
                </c:pt>
                <c:pt idx="15">
                  <c:v>121.25995967741936</c:v>
                </c:pt>
                <c:pt idx="16">
                  <c:v>186.08350806451614</c:v>
                </c:pt>
                <c:pt idx="17">
                  <c:v>262.97691129032256</c:v>
                </c:pt>
                <c:pt idx="18">
                  <c:v>312.60225806451621</c:v>
                </c:pt>
                <c:pt idx="19">
                  <c:v>315.17597580645156</c:v>
                </c:pt>
                <c:pt idx="20">
                  <c:v>320.31662903225805</c:v>
                </c:pt>
                <c:pt idx="21">
                  <c:v>292.64914516129033</c:v>
                </c:pt>
                <c:pt idx="22">
                  <c:v>309.81495967741938</c:v>
                </c:pt>
                <c:pt idx="23">
                  <c:v>303.81590322580644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38D-4118-95F9-8C014654E09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6月均价 212</c:v>
                </c:pt>
              </c:strCache>
            </c:strRef>
          </c:tx>
          <c:spPr>
            <a:ln w="9525">
              <a:solidFill>
                <a:srgbClr val="4A90E2"/>
              </a:solidFill>
              <a:prstDash val="sysDot"/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00</c:v>
                </c:pt>
                <c:pt idx="1">
                  <c:v>01</c:v>
                </c:pt>
                <c:pt idx="2">
                  <c:v>02</c:v>
                </c:pt>
                <c:pt idx="3">
                  <c:v>03</c:v>
                </c:pt>
                <c:pt idx="4">
                  <c:v>04</c:v>
                </c:pt>
                <c:pt idx="5">
                  <c:v>05</c:v>
                </c:pt>
                <c:pt idx="6">
                  <c:v>06</c:v>
                </c:pt>
                <c:pt idx="7">
                  <c:v>07</c:v>
                </c:pt>
                <c:pt idx="8">
                  <c:v>08</c:v>
                </c:pt>
                <c:pt idx="9">
                  <c:v>09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Sheet1!$D$2:$D$25</c:f>
              <c:numCache>
                <c:formatCode>General</c:formatCode>
                <c:ptCount val="24"/>
                <c:pt idx="0">
                  <c:v>212.40355915178574</c:v>
                </c:pt>
                <c:pt idx="1">
                  <c:v>212.40355915178574</c:v>
                </c:pt>
                <c:pt idx="2">
                  <c:v>212.40355915178574</c:v>
                </c:pt>
                <c:pt idx="3">
                  <c:v>212.40355915178574</c:v>
                </c:pt>
                <c:pt idx="4">
                  <c:v>212.40355915178574</c:v>
                </c:pt>
                <c:pt idx="5">
                  <c:v>212.40355915178574</c:v>
                </c:pt>
                <c:pt idx="6">
                  <c:v>212.40355915178574</c:v>
                </c:pt>
                <c:pt idx="7">
                  <c:v>212.40355915178574</c:v>
                </c:pt>
                <c:pt idx="8">
                  <c:v>212.40355915178574</c:v>
                </c:pt>
                <c:pt idx="9">
                  <c:v>212.40355915178574</c:v>
                </c:pt>
                <c:pt idx="10">
                  <c:v>212.40355915178574</c:v>
                </c:pt>
                <c:pt idx="11">
                  <c:v>212.40355915178574</c:v>
                </c:pt>
                <c:pt idx="12">
                  <c:v>212.40355915178574</c:v>
                </c:pt>
                <c:pt idx="13">
                  <c:v>212.40355915178574</c:v>
                </c:pt>
                <c:pt idx="14">
                  <c:v>212.40355915178574</c:v>
                </c:pt>
                <c:pt idx="15">
                  <c:v>212.40355915178574</c:v>
                </c:pt>
                <c:pt idx="16">
                  <c:v>212.40355915178574</c:v>
                </c:pt>
                <c:pt idx="17">
                  <c:v>212.40355915178574</c:v>
                </c:pt>
                <c:pt idx="18">
                  <c:v>212.40355915178574</c:v>
                </c:pt>
                <c:pt idx="19">
                  <c:v>212.40355915178574</c:v>
                </c:pt>
                <c:pt idx="20">
                  <c:v>212.40355915178574</c:v>
                </c:pt>
                <c:pt idx="21">
                  <c:v>212.40355915178574</c:v>
                </c:pt>
                <c:pt idx="22">
                  <c:v>212.40355915178574</c:v>
                </c:pt>
                <c:pt idx="23">
                  <c:v>212.40355915178574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38D-4118-95F9-8C014654E09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7月均价 240</c:v>
                </c:pt>
              </c:strCache>
            </c:strRef>
          </c:tx>
          <c:spPr>
            <a:ln w="9525">
              <a:solidFill>
                <a:srgbClr val="F58A07"/>
              </a:solidFill>
              <a:prstDash val="sysDot"/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00</c:v>
                </c:pt>
                <c:pt idx="1">
                  <c:v>01</c:v>
                </c:pt>
                <c:pt idx="2">
                  <c:v>02</c:v>
                </c:pt>
                <c:pt idx="3">
                  <c:v>03</c:v>
                </c:pt>
                <c:pt idx="4">
                  <c:v>04</c:v>
                </c:pt>
                <c:pt idx="5">
                  <c:v>05</c:v>
                </c:pt>
                <c:pt idx="6">
                  <c:v>06</c:v>
                </c:pt>
                <c:pt idx="7">
                  <c:v>07</c:v>
                </c:pt>
                <c:pt idx="8">
                  <c:v>08</c:v>
                </c:pt>
                <c:pt idx="9">
                  <c:v>09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Sheet1!$E$2:$E$25</c:f>
              <c:numCache>
                <c:formatCode>General</c:formatCode>
                <c:ptCount val="24"/>
                <c:pt idx="0">
                  <c:v>240.49764280913976</c:v>
                </c:pt>
                <c:pt idx="1">
                  <c:v>240.49764280913976</c:v>
                </c:pt>
                <c:pt idx="2">
                  <c:v>240.49764280913976</c:v>
                </c:pt>
                <c:pt idx="3">
                  <c:v>240.49764280913976</c:v>
                </c:pt>
                <c:pt idx="4">
                  <c:v>240.49764280913976</c:v>
                </c:pt>
                <c:pt idx="5">
                  <c:v>240.49764280913976</c:v>
                </c:pt>
                <c:pt idx="6">
                  <c:v>240.49764280913976</c:v>
                </c:pt>
                <c:pt idx="7">
                  <c:v>240.49764280913976</c:v>
                </c:pt>
                <c:pt idx="8">
                  <c:v>240.49764280913976</c:v>
                </c:pt>
                <c:pt idx="9">
                  <c:v>240.49764280913976</c:v>
                </c:pt>
                <c:pt idx="10">
                  <c:v>240.49764280913976</c:v>
                </c:pt>
                <c:pt idx="11">
                  <c:v>240.49764280913976</c:v>
                </c:pt>
                <c:pt idx="12">
                  <c:v>240.49764280913976</c:v>
                </c:pt>
                <c:pt idx="13">
                  <c:v>240.49764280913976</c:v>
                </c:pt>
                <c:pt idx="14">
                  <c:v>240.49764280913976</c:v>
                </c:pt>
                <c:pt idx="15">
                  <c:v>240.49764280913976</c:v>
                </c:pt>
                <c:pt idx="16">
                  <c:v>240.49764280913976</c:v>
                </c:pt>
                <c:pt idx="17">
                  <c:v>240.49764280913976</c:v>
                </c:pt>
                <c:pt idx="18">
                  <c:v>240.49764280913976</c:v>
                </c:pt>
                <c:pt idx="19">
                  <c:v>240.49764280913976</c:v>
                </c:pt>
                <c:pt idx="20">
                  <c:v>240.49764280913976</c:v>
                </c:pt>
                <c:pt idx="21">
                  <c:v>240.49764280913976</c:v>
                </c:pt>
                <c:pt idx="22">
                  <c:v>240.49764280913976</c:v>
                </c:pt>
                <c:pt idx="23">
                  <c:v>240.49764280913976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538D-4118-95F9-8C014654E0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333333"/>
                </a:solidFill>
              </a:defRPr>
            </a:pPr>
            <a:endParaRPr lang="zh-CN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420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333333"/>
                </a:solidFill>
              </a:defRPr>
            </a:pPr>
            <a:endParaRPr lang="zh-CN"/>
          </a:p>
        </c:txPr>
        <c:crossAx val="2118791784"/>
        <c:crosses val="autoZero"/>
        <c:crossBetween val="between"/>
        <c:majorUnit val="100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374151"/>
              </a:solidFill>
            </a:defRPr>
          </a:pPr>
          <a:endParaRPr lang="zh-CN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r>
              <a:rPr lang="zh-CN" altLang="en-US" sz="1300" b="1">
                <a:solidFill>
                  <a:srgbClr val="333333"/>
                </a:solidFill>
              </a:rPr>
              <a:t>裕昭沙子坝储能电站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6月</c:v>
                </c:pt>
              </c:strCache>
            </c:strRef>
          </c:tx>
          <c:spPr>
            <a:ln w="19050">
              <a:solidFill>
                <a:srgbClr val="4A90E2"/>
              </a:solidFill>
              <a:prstDash val="dash"/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00</c:v>
                </c:pt>
                <c:pt idx="1">
                  <c:v>01</c:v>
                </c:pt>
                <c:pt idx="2">
                  <c:v>02</c:v>
                </c:pt>
                <c:pt idx="3">
                  <c:v>03</c:v>
                </c:pt>
                <c:pt idx="4">
                  <c:v>04</c:v>
                </c:pt>
                <c:pt idx="5">
                  <c:v>05</c:v>
                </c:pt>
                <c:pt idx="6">
                  <c:v>06</c:v>
                </c:pt>
                <c:pt idx="7">
                  <c:v>07</c:v>
                </c:pt>
                <c:pt idx="8">
                  <c:v>08</c:v>
                </c:pt>
                <c:pt idx="9">
                  <c:v>09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302.91927234623017</c:v>
                </c:pt>
                <c:pt idx="1">
                  <c:v>305.59035567956357</c:v>
                </c:pt>
                <c:pt idx="2">
                  <c:v>312.04040567956343</c:v>
                </c:pt>
                <c:pt idx="3">
                  <c:v>277.07540567956346</c:v>
                </c:pt>
                <c:pt idx="4">
                  <c:v>251.6477723462302</c:v>
                </c:pt>
                <c:pt idx="5">
                  <c:v>241.9966556795635</c:v>
                </c:pt>
                <c:pt idx="6">
                  <c:v>228.9237556795635</c:v>
                </c:pt>
                <c:pt idx="7">
                  <c:v>194.38791401289686</c:v>
                </c:pt>
                <c:pt idx="8">
                  <c:v>101.50247234623018</c:v>
                </c:pt>
                <c:pt idx="9">
                  <c:v>105.58751401289685</c:v>
                </c:pt>
                <c:pt idx="10">
                  <c:v>112.47181401289683</c:v>
                </c:pt>
                <c:pt idx="11">
                  <c:v>122.21469734623018</c:v>
                </c:pt>
                <c:pt idx="12">
                  <c:v>122.50487234623019</c:v>
                </c:pt>
                <c:pt idx="13">
                  <c:v>114.49358067956351</c:v>
                </c:pt>
                <c:pt idx="14">
                  <c:v>120.65281401289683</c:v>
                </c:pt>
                <c:pt idx="15">
                  <c:v>119.80130567956351</c:v>
                </c:pt>
                <c:pt idx="16">
                  <c:v>148.01138067956347</c:v>
                </c:pt>
                <c:pt idx="17">
                  <c:v>273.72903067956355</c:v>
                </c:pt>
                <c:pt idx="18">
                  <c:v>269.47873901289688</c:v>
                </c:pt>
                <c:pt idx="19">
                  <c:v>257.76941401289685</c:v>
                </c:pt>
                <c:pt idx="20">
                  <c:v>270.89063901289683</c:v>
                </c:pt>
                <c:pt idx="21">
                  <c:v>254.39826401289685</c:v>
                </c:pt>
                <c:pt idx="22">
                  <c:v>259.97438067956352</c:v>
                </c:pt>
                <c:pt idx="23">
                  <c:v>279.51758901289685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09E-4D7F-88CC-08CE60A5330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7月</c:v>
                </c:pt>
              </c:strCache>
            </c:strRef>
          </c:tx>
          <c:spPr>
            <a:ln w="31750">
              <a:solidFill>
                <a:srgbClr val="F58A07"/>
              </a:solidFill>
              <a:prstDash val="solid"/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00</c:v>
                </c:pt>
                <c:pt idx="1">
                  <c:v>01</c:v>
                </c:pt>
                <c:pt idx="2">
                  <c:v>02</c:v>
                </c:pt>
                <c:pt idx="3">
                  <c:v>03</c:v>
                </c:pt>
                <c:pt idx="4">
                  <c:v>04</c:v>
                </c:pt>
                <c:pt idx="5">
                  <c:v>05</c:v>
                </c:pt>
                <c:pt idx="6">
                  <c:v>06</c:v>
                </c:pt>
                <c:pt idx="7">
                  <c:v>07</c:v>
                </c:pt>
                <c:pt idx="8">
                  <c:v>08</c:v>
                </c:pt>
                <c:pt idx="9">
                  <c:v>09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361.76956451612904</c:v>
                </c:pt>
                <c:pt idx="1">
                  <c:v>365.86696774193547</c:v>
                </c:pt>
                <c:pt idx="2">
                  <c:v>345.3959758064517</c:v>
                </c:pt>
                <c:pt idx="3">
                  <c:v>341.40717741935481</c:v>
                </c:pt>
                <c:pt idx="4">
                  <c:v>324.69615322580643</c:v>
                </c:pt>
                <c:pt idx="5">
                  <c:v>298.17337096774196</c:v>
                </c:pt>
                <c:pt idx="6">
                  <c:v>286.89212903225808</c:v>
                </c:pt>
                <c:pt idx="7">
                  <c:v>237.91950806451615</c:v>
                </c:pt>
                <c:pt idx="8">
                  <c:v>133.45711290322578</c:v>
                </c:pt>
                <c:pt idx="9">
                  <c:v>81.013645161290313</c:v>
                </c:pt>
                <c:pt idx="10">
                  <c:v>111.40857258064518</c:v>
                </c:pt>
                <c:pt idx="11">
                  <c:v>112.30699193548385</c:v>
                </c:pt>
                <c:pt idx="12">
                  <c:v>114.18761290322578</c:v>
                </c:pt>
                <c:pt idx="13">
                  <c:v>120.71164516129029</c:v>
                </c:pt>
                <c:pt idx="14">
                  <c:v>125.40290322580643</c:v>
                </c:pt>
                <c:pt idx="15">
                  <c:v>121.56191129032258</c:v>
                </c:pt>
                <c:pt idx="16">
                  <c:v>172.60331451612905</c:v>
                </c:pt>
                <c:pt idx="17">
                  <c:v>250.46306451612898</c:v>
                </c:pt>
                <c:pt idx="18">
                  <c:v>283.10521774193546</c:v>
                </c:pt>
                <c:pt idx="19">
                  <c:v>310.79229838709676</c:v>
                </c:pt>
                <c:pt idx="20">
                  <c:v>319.61178225806458</c:v>
                </c:pt>
                <c:pt idx="21">
                  <c:v>292.39084677419345</c:v>
                </c:pt>
                <c:pt idx="22">
                  <c:v>309.6428225806452</c:v>
                </c:pt>
                <c:pt idx="23">
                  <c:v>303.65650806451612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09E-4D7F-88CC-08CE60A5330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6月均价 210</c:v>
                </c:pt>
              </c:strCache>
            </c:strRef>
          </c:tx>
          <c:spPr>
            <a:ln w="9525">
              <a:solidFill>
                <a:srgbClr val="4A90E2"/>
              </a:solidFill>
              <a:prstDash val="sysDot"/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00</c:v>
                </c:pt>
                <c:pt idx="1">
                  <c:v>01</c:v>
                </c:pt>
                <c:pt idx="2">
                  <c:v>02</c:v>
                </c:pt>
                <c:pt idx="3">
                  <c:v>03</c:v>
                </c:pt>
                <c:pt idx="4">
                  <c:v>04</c:v>
                </c:pt>
                <c:pt idx="5">
                  <c:v>05</c:v>
                </c:pt>
                <c:pt idx="6">
                  <c:v>06</c:v>
                </c:pt>
                <c:pt idx="7">
                  <c:v>07</c:v>
                </c:pt>
                <c:pt idx="8">
                  <c:v>08</c:v>
                </c:pt>
                <c:pt idx="9">
                  <c:v>09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Sheet1!$D$2:$D$25</c:f>
              <c:numCache>
                <c:formatCode>General</c:formatCode>
                <c:ptCount val="24"/>
                <c:pt idx="0">
                  <c:v>210.31583519345239</c:v>
                </c:pt>
                <c:pt idx="1">
                  <c:v>210.31583519345239</c:v>
                </c:pt>
                <c:pt idx="2">
                  <c:v>210.31583519345239</c:v>
                </c:pt>
                <c:pt idx="3">
                  <c:v>210.31583519345239</c:v>
                </c:pt>
                <c:pt idx="4">
                  <c:v>210.31583519345239</c:v>
                </c:pt>
                <c:pt idx="5">
                  <c:v>210.31583519345239</c:v>
                </c:pt>
                <c:pt idx="6">
                  <c:v>210.31583519345239</c:v>
                </c:pt>
                <c:pt idx="7">
                  <c:v>210.31583519345239</c:v>
                </c:pt>
                <c:pt idx="8">
                  <c:v>210.31583519345239</c:v>
                </c:pt>
                <c:pt idx="9">
                  <c:v>210.31583519345239</c:v>
                </c:pt>
                <c:pt idx="10">
                  <c:v>210.31583519345239</c:v>
                </c:pt>
                <c:pt idx="11">
                  <c:v>210.31583519345239</c:v>
                </c:pt>
                <c:pt idx="12">
                  <c:v>210.31583519345239</c:v>
                </c:pt>
                <c:pt idx="13">
                  <c:v>210.31583519345239</c:v>
                </c:pt>
                <c:pt idx="14">
                  <c:v>210.31583519345239</c:v>
                </c:pt>
                <c:pt idx="15">
                  <c:v>210.31583519345239</c:v>
                </c:pt>
                <c:pt idx="16">
                  <c:v>210.31583519345239</c:v>
                </c:pt>
                <c:pt idx="17">
                  <c:v>210.31583519345239</c:v>
                </c:pt>
                <c:pt idx="18">
                  <c:v>210.31583519345239</c:v>
                </c:pt>
                <c:pt idx="19">
                  <c:v>210.31583519345239</c:v>
                </c:pt>
                <c:pt idx="20">
                  <c:v>210.31583519345239</c:v>
                </c:pt>
                <c:pt idx="21">
                  <c:v>210.31583519345239</c:v>
                </c:pt>
                <c:pt idx="22">
                  <c:v>210.31583519345239</c:v>
                </c:pt>
                <c:pt idx="23">
                  <c:v>210.31583519345239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09E-4D7F-88CC-08CE60A5330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7月均价 239</c:v>
                </c:pt>
              </c:strCache>
            </c:strRef>
          </c:tx>
          <c:spPr>
            <a:ln w="9525">
              <a:solidFill>
                <a:srgbClr val="F58A07"/>
              </a:solidFill>
              <a:prstDash val="sysDot"/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00</c:v>
                </c:pt>
                <c:pt idx="1">
                  <c:v>01</c:v>
                </c:pt>
                <c:pt idx="2">
                  <c:v>02</c:v>
                </c:pt>
                <c:pt idx="3">
                  <c:v>03</c:v>
                </c:pt>
                <c:pt idx="4">
                  <c:v>04</c:v>
                </c:pt>
                <c:pt idx="5">
                  <c:v>05</c:v>
                </c:pt>
                <c:pt idx="6">
                  <c:v>06</c:v>
                </c:pt>
                <c:pt idx="7">
                  <c:v>07</c:v>
                </c:pt>
                <c:pt idx="8">
                  <c:v>08</c:v>
                </c:pt>
                <c:pt idx="9">
                  <c:v>09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Sheet1!$E$2:$E$25</c:f>
              <c:numCache>
                <c:formatCode>General</c:formatCode>
                <c:ptCount val="24"/>
                <c:pt idx="0">
                  <c:v>238.51821236559138</c:v>
                </c:pt>
                <c:pt idx="1">
                  <c:v>238.51821236559138</c:v>
                </c:pt>
                <c:pt idx="2">
                  <c:v>238.51821236559138</c:v>
                </c:pt>
                <c:pt idx="3">
                  <c:v>238.51821236559138</c:v>
                </c:pt>
                <c:pt idx="4">
                  <c:v>238.51821236559138</c:v>
                </c:pt>
                <c:pt idx="5">
                  <c:v>238.51821236559138</c:v>
                </c:pt>
                <c:pt idx="6">
                  <c:v>238.51821236559138</c:v>
                </c:pt>
                <c:pt idx="7">
                  <c:v>238.51821236559138</c:v>
                </c:pt>
                <c:pt idx="8">
                  <c:v>238.51821236559138</c:v>
                </c:pt>
                <c:pt idx="9">
                  <c:v>238.51821236559138</c:v>
                </c:pt>
                <c:pt idx="10">
                  <c:v>238.51821236559138</c:v>
                </c:pt>
                <c:pt idx="11">
                  <c:v>238.51821236559138</c:v>
                </c:pt>
                <c:pt idx="12">
                  <c:v>238.51821236559138</c:v>
                </c:pt>
                <c:pt idx="13">
                  <c:v>238.51821236559138</c:v>
                </c:pt>
                <c:pt idx="14">
                  <c:v>238.51821236559138</c:v>
                </c:pt>
                <c:pt idx="15">
                  <c:v>238.51821236559138</c:v>
                </c:pt>
                <c:pt idx="16">
                  <c:v>238.51821236559138</c:v>
                </c:pt>
                <c:pt idx="17">
                  <c:v>238.51821236559138</c:v>
                </c:pt>
                <c:pt idx="18">
                  <c:v>238.51821236559138</c:v>
                </c:pt>
                <c:pt idx="19">
                  <c:v>238.51821236559138</c:v>
                </c:pt>
                <c:pt idx="20">
                  <c:v>238.51821236559138</c:v>
                </c:pt>
                <c:pt idx="21">
                  <c:v>238.51821236559138</c:v>
                </c:pt>
                <c:pt idx="22">
                  <c:v>238.51821236559138</c:v>
                </c:pt>
                <c:pt idx="23">
                  <c:v>238.51821236559138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E09E-4D7F-88CC-08CE60A533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333333"/>
                </a:solidFill>
              </a:defRPr>
            </a:pPr>
            <a:endParaRPr lang="zh-CN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420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333333"/>
                </a:solidFill>
              </a:defRPr>
            </a:pPr>
            <a:endParaRPr lang="zh-CN"/>
          </a:p>
        </c:txPr>
        <c:crossAx val="2118791784"/>
        <c:crosses val="autoZero"/>
        <c:crossBetween val="between"/>
        <c:majorUnit val="100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374151"/>
              </a:solidFill>
            </a:defRPr>
          </a:pPr>
          <a:endParaRPr lang="zh-CN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r>
              <a:rPr lang="zh-CN" altLang="en-US" sz="1300" b="1">
                <a:solidFill>
                  <a:srgbClr val="333333"/>
                </a:solidFill>
              </a:rPr>
              <a:t>远景乌拉特储能电站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6月</c:v>
                </c:pt>
              </c:strCache>
            </c:strRef>
          </c:tx>
          <c:spPr>
            <a:ln w="19050">
              <a:solidFill>
                <a:srgbClr val="4A90E2"/>
              </a:solidFill>
              <a:prstDash val="dash"/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00</c:v>
                </c:pt>
                <c:pt idx="1">
                  <c:v>01</c:v>
                </c:pt>
                <c:pt idx="2">
                  <c:v>02</c:v>
                </c:pt>
                <c:pt idx="3">
                  <c:v>03</c:v>
                </c:pt>
                <c:pt idx="4">
                  <c:v>04</c:v>
                </c:pt>
                <c:pt idx="5">
                  <c:v>05</c:v>
                </c:pt>
                <c:pt idx="6">
                  <c:v>06</c:v>
                </c:pt>
                <c:pt idx="7">
                  <c:v>07</c:v>
                </c:pt>
                <c:pt idx="8">
                  <c:v>08</c:v>
                </c:pt>
                <c:pt idx="9">
                  <c:v>09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306.65185004960313</c:v>
                </c:pt>
                <c:pt idx="1">
                  <c:v>310.12924171626986</c:v>
                </c:pt>
                <c:pt idx="2">
                  <c:v>316.35517504960319</c:v>
                </c:pt>
                <c:pt idx="3">
                  <c:v>282.32343338293657</c:v>
                </c:pt>
                <c:pt idx="4">
                  <c:v>256.68219171626987</c:v>
                </c:pt>
                <c:pt idx="5">
                  <c:v>247.94900838293651</c:v>
                </c:pt>
                <c:pt idx="6">
                  <c:v>242.21510838293653</c:v>
                </c:pt>
                <c:pt idx="7">
                  <c:v>208.31790838293651</c:v>
                </c:pt>
                <c:pt idx="8">
                  <c:v>109.90836671626981</c:v>
                </c:pt>
                <c:pt idx="9">
                  <c:v>115.26539171626983</c:v>
                </c:pt>
                <c:pt idx="10">
                  <c:v>130.09760004960316</c:v>
                </c:pt>
                <c:pt idx="11">
                  <c:v>133.93034171626985</c:v>
                </c:pt>
                <c:pt idx="12">
                  <c:v>131.57864171626983</c:v>
                </c:pt>
                <c:pt idx="13">
                  <c:v>124.35559171626981</c:v>
                </c:pt>
                <c:pt idx="14">
                  <c:v>134.23730004960314</c:v>
                </c:pt>
                <c:pt idx="15">
                  <c:v>130.52962504960317</c:v>
                </c:pt>
                <c:pt idx="16">
                  <c:v>172.27762504960316</c:v>
                </c:pt>
                <c:pt idx="17">
                  <c:v>291.73045838293655</c:v>
                </c:pt>
                <c:pt idx="18">
                  <c:v>286.20600004960318</c:v>
                </c:pt>
                <c:pt idx="19">
                  <c:v>268.80828338293651</c:v>
                </c:pt>
                <c:pt idx="20">
                  <c:v>271.78718338293652</c:v>
                </c:pt>
                <c:pt idx="21">
                  <c:v>257.7694917162699</c:v>
                </c:pt>
                <c:pt idx="22">
                  <c:v>264.53106671626989</c:v>
                </c:pt>
                <c:pt idx="23">
                  <c:v>284.25713338293656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F1F-4E7C-95E6-91B5C80B8C0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7月</c:v>
                </c:pt>
              </c:strCache>
            </c:strRef>
          </c:tx>
          <c:spPr>
            <a:ln w="31750">
              <a:solidFill>
                <a:srgbClr val="F58A07"/>
              </a:solidFill>
              <a:prstDash val="solid"/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00</c:v>
                </c:pt>
                <c:pt idx="1">
                  <c:v>01</c:v>
                </c:pt>
                <c:pt idx="2">
                  <c:v>02</c:v>
                </c:pt>
                <c:pt idx="3">
                  <c:v>03</c:v>
                </c:pt>
                <c:pt idx="4">
                  <c:v>04</c:v>
                </c:pt>
                <c:pt idx="5">
                  <c:v>05</c:v>
                </c:pt>
                <c:pt idx="6">
                  <c:v>06</c:v>
                </c:pt>
                <c:pt idx="7">
                  <c:v>07</c:v>
                </c:pt>
                <c:pt idx="8">
                  <c:v>08</c:v>
                </c:pt>
                <c:pt idx="9">
                  <c:v>09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363.22191129032257</c:v>
                </c:pt>
                <c:pt idx="1">
                  <c:v>367.48390322580644</c:v>
                </c:pt>
                <c:pt idx="2">
                  <c:v>347.07470161290325</c:v>
                </c:pt>
                <c:pt idx="3">
                  <c:v>343.17408870967739</c:v>
                </c:pt>
                <c:pt idx="4">
                  <c:v>326.43918548387097</c:v>
                </c:pt>
                <c:pt idx="5">
                  <c:v>300.26392741935484</c:v>
                </c:pt>
                <c:pt idx="6">
                  <c:v>289.11360483870965</c:v>
                </c:pt>
                <c:pt idx="7">
                  <c:v>242.76896774193548</c:v>
                </c:pt>
                <c:pt idx="8">
                  <c:v>139.20604838709679</c:v>
                </c:pt>
                <c:pt idx="9">
                  <c:v>100.46107258064518</c:v>
                </c:pt>
                <c:pt idx="10">
                  <c:v>115.42989516129036</c:v>
                </c:pt>
                <c:pt idx="11">
                  <c:v>114.54482258064515</c:v>
                </c:pt>
                <c:pt idx="12">
                  <c:v>111.61523387096773</c:v>
                </c:pt>
                <c:pt idx="13">
                  <c:v>120.55437096774193</c:v>
                </c:pt>
                <c:pt idx="14">
                  <c:v>123.72453225806451</c:v>
                </c:pt>
                <c:pt idx="15">
                  <c:v>129.32233064516129</c:v>
                </c:pt>
                <c:pt idx="16">
                  <c:v>193.39452419354834</c:v>
                </c:pt>
                <c:pt idx="17">
                  <c:v>264.11852419354835</c:v>
                </c:pt>
                <c:pt idx="18">
                  <c:v>314.20409677419354</c:v>
                </c:pt>
                <c:pt idx="19">
                  <c:v>316.06391935483873</c:v>
                </c:pt>
                <c:pt idx="20">
                  <c:v>321.2292016129033</c:v>
                </c:pt>
                <c:pt idx="21">
                  <c:v>292.89183064516135</c:v>
                </c:pt>
                <c:pt idx="22">
                  <c:v>310.04228225806452</c:v>
                </c:pt>
                <c:pt idx="23">
                  <c:v>304.02793548387098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F1F-4E7C-95E6-91B5C80B8C0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6月均价 220</c:v>
                </c:pt>
              </c:strCache>
            </c:strRef>
          </c:tx>
          <c:spPr>
            <a:ln w="9525">
              <a:solidFill>
                <a:srgbClr val="4A90E2"/>
              </a:solidFill>
              <a:prstDash val="sysDot"/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00</c:v>
                </c:pt>
                <c:pt idx="1">
                  <c:v>01</c:v>
                </c:pt>
                <c:pt idx="2">
                  <c:v>02</c:v>
                </c:pt>
                <c:pt idx="3">
                  <c:v>03</c:v>
                </c:pt>
                <c:pt idx="4">
                  <c:v>04</c:v>
                </c:pt>
                <c:pt idx="5">
                  <c:v>05</c:v>
                </c:pt>
                <c:pt idx="6">
                  <c:v>06</c:v>
                </c:pt>
                <c:pt idx="7">
                  <c:v>07</c:v>
                </c:pt>
                <c:pt idx="8">
                  <c:v>08</c:v>
                </c:pt>
                <c:pt idx="9">
                  <c:v>09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Sheet1!$D$2:$D$25</c:f>
              <c:numCache>
                <c:formatCode>General</c:formatCode>
                <c:ptCount val="24"/>
                <c:pt idx="0">
                  <c:v>219.91225074404761</c:v>
                </c:pt>
                <c:pt idx="1">
                  <c:v>219.91225074404761</c:v>
                </c:pt>
                <c:pt idx="2">
                  <c:v>219.91225074404761</c:v>
                </c:pt>
                <c:pt idx="3">
                  <c:v>219.91225074404761</c:v>
                </c:pt>
                <c:pt idx="4">
                  <c:v>219.91225074404761</c:v>
                </c:pt>
                <c:pt idx="5">
                  <c:v>219.91225074404761</c:v>
                </c:pt>
                <c:pt idx="6">
                  <c:v>219.91225074404761</c:v>
                </c:pt>
                <c:pt idx="7">
                  <c:v>219.91225074404761</c:v>
                </c:pt>
                <c:pt idx="8">
                  <c:v>219.91225074404761</c:v>
                </c:pt>
                <c:pt idx="9">
                  <c:v>219.91225074404761</c:v>
                </c:pt>
                <c:pt idx="10">
                  <c:v>219.91225074404761</c:v>
                </c:pt>
                <c:pt idx="11">
                  <c:v>219.91225074404761</c:v>
                </c:pt>
                <c:pt idx="12">
                  <c:v>219.91225074404761</c:v>
                </c:pt>
                <c:pt idx="13">
                  <c:v>219.91225074404761</c:v>
                </c:pt>
                <c:pt idx="14">
                  <c:v>219.91225074404761</c:v>
                </c:pt>
                <c:pt idx="15">
                  <c:v>219.91225074404761</c:v>
                </c:pt>
                <c:pt idx="16">
                  <c:v>219.91225074404761</c:v>
                </c:pt>
                <c:pt idx="17">
                  <c:v>219.91225074404761</c:v>
                </c:pt>
                <c:pt idx="18">
                  <c:v>219.91225074404761</c:v>
                </c:pt>
                <c:pt idx="19">
                  <c:v>219.91225074404761</c:v>
                </c:pt>
                <c:pt idx="20">
                  <c:v>219.91225074404761</c:v>
                </c:pt>
                <c:pt idx="21">
                  <c:v>219.91225074404761</c:v>
                </c:pt>
                <c:pt idx="22">
                  <c:v>219.91225074404761</c:v>
                </c:pt>
                <c:pt idx="23">
                  <c:v>219.91225074404761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F1F-4E7C-95E6-91B5C80B8C0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7月均价 244</c:v>
                </c:pt>
              </c:strCache>
            </c:strRef>
          </c:tx>
          <c:spPr>
            <a:ln w="9525">
              <a:solidFill>
                <a:srgbClr val="F58A07"/>
              </a:solidFill>
              <a:prstDash val="sysDot"/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00</c:v>
                </c:pt>
                <c:pt idx="1">
                  <c:v>01</c:v>
                </c:pt>
                <c:pt idx="2">
                  <c:v>02</c:v>
                </c:pt>
                <c:pt idx="3">
                  <c:v>03</c:v>
                </c:pt>
                <c:pt idx="4">
                  <c:v>04</c:v>
                </c:pt>
                <c:pt idx="5">
                  <c:v>05</c:v>
                </c:pt>
                <c:pt idx="6">
                  <c:v>06</c:v>
                </c:pt>
                <c:pt idx="7">
                  <c:v>07</c:v>
                </c:pt>
                <c:pt idx="8">
                  <c:v>08</c:v>
                </c:pt>
                <c:pt idx="9">
                  <c:v>09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Sheet1!$E$2:$E$25</c:f>
              <c:numCache>
                <c:formatCode>General</c:formatCode>
                <c:ptCount val="24"/>
                <c:pt idx="0">
                  <c:v>243.76545463709678</c:v>
                </c:pt>
                <c:pt idx="1">
                  <c:v>243.76545463709678</c:v>
                </c:pt>
                <c:pt idx="2">
                  <c:v>243.76545463709678</c:v>
                </c:pt>
                <c:pt idx="3">
                  <c:v>243.76545463709678</c:v>
                </c:pt>
                <c:pt idx="4">
                  <c:v>243.76545463709678</c:v>
                </c:pt>
                <c:pt idx="5">
                  <c:v>243.76545463709678</c:v>
                </c:pt>
                <c:pt idx="6">
                  <c:v>243.76545463709678</c:v>
                </c:pt>
                <c:pt idx="7">
                  <c:v>243.76545463709678</c:v>
                </c:pt>
                <c:pt idx="8">
                  <c:v>243.76545463709678</c:v>
                </c:pt>
                <c:pt idx="9">
                  <c:v>243.76545463709678</c:v>
                </c:pt>
                <c:pt idx="10">
                  <c:v>243.76545463709678</c:v>
                </c:pt>
                <c:pt idx="11">
                  <c:v>243.76545463709678</c:v>
                </c:pt>
                <c:pt idx="12">
                  <c:v>243.76545463709678</c:v>
                </c:pt>
                <c:pt idx="13">
                  <c:v>243.76545463709678</c:v>
                </c:pt>
                <c:pt idx="14">
                  <c:v>243.76545463709678</c:v>
                </c:pt>
                <c:pt idx="15">
                  <c:v>243.76545463709678</c:v>
                </c:pt>
                <c:pt idx="16">
                  <c:v>243.76545463709678</c:v>
                </c:pt>
                <c:pt idx="17">
                  <c:v>243.76545463709678</c:v>
                </c:pt>
                <c:pt idx="18">
                  <c:v>243.76545463709678</c:v>
                </c:pt>
                <c:pt idx="19">
                  <c:v>243.76545463709678</c:v>
                </c:pt>
                <c:pt idx="20">
                  <c:v>243.76545463709678</c:v>
                </c:pt>
                <c:pt idx="21">
                  <c:v>243.76545463709678</c:v>
                </c:pt>
                <c:pt idx="22">
                  <c:v>243.76545463709678</c:v>
                </c:pt>
                <c:pt idx="23">
                  <c:v>243.76545463709678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7F1F-4E7C-95E6-91B5C80B8C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600">
                <a:solidFill>
                  <a:srgbClr val="333333"/>
                </a:solidFill>
              </a:defRPr>
            </a:pPr>
            <a:endParaRPr lang="zh-CN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420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333333"/>
                </a:solidFill>
              </a:defRPr>
            </a:pPr>
            <a:endParaRPr lang="zh-CN"/>
          </a:p>
        </c:txPr>
        <c:crossAx val="2118791784"/>
        <c:crosses val="autoZero"/>
        <c:crossBetween val="between"/>
        <c:majorUnit val="100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374151"/>
              </a:solidFill>
            </a:defRPr>
          </a:pPr>
          <a:endParaRPr lang="zh-CN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r>
              <a:rPr lang="zh-CN" altLang="en-US" sz="1300" b="1">
                <a:solidFill>
                  <a:srgbClr val="333333"/>
                </a:solidFill>
              </a:rPr>
              <a:t>景蓝乌尔图储能电站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6月</c:v>
                </c:pt>
              </c:strCache>
            </c:strRef>
          </c:tx>
          <c:spPr>
            <a:ln w="19050">
              <a:solidFill>
                <a:srgbClr val="4A90E2"/>
              </a:solidFill>
              <a:prstDash val="dash"/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00</c:v>
                </c:pt>
                <c:pt idx="1">
                  <c:v>01</c:v>
                </c:pt>
                <c:pt idx="2">
                  <c:v>02</c:v>
                </c:pt>
                <c:pt idx="3">
                  <c:v>03</c:v>
                </c:pt>
                <c:pt idx="4">
                  <c:v>04</c:v>
                </c:pt>
                <c:pt idx="5">
                  <c:v>05</c:v>
                </c:pt>
                <c:pt idx="6">
                  <c:v>06</c:v>
                </c:pt>
                <c:pt idx="7">
                  <c:v>07</c:v>
                </c:pt>
                <c:pt idx="8">
                  <c:v>08</c:v>
                </c:pt>
                <c:pt idx="9">
                  <c:v>09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309.03204997519845</c:v>
                </c:pt>
                <c:pt idx="1">
                  <c:v>334.75354164186507</c:v>
                </c:pt>
                <c:pt idx="2">
                  <c:v>330.47169997519842</c:v>
                </c:pt>
                <c:pt idx="3">
                  <c:v>312.93374164186508</c:v>
                </c:pt>
                <c:pt idx="4">
                  <c:v>301.5946916418651</c:v>
                </c:pt>
                <c:pt idx="5">
                  <c:v>279.06403330853169</c:v>
                </c:pt>
                <c:pt idx="6">
                  <c:v>269.78932497519844</c:v>
                </c:pt>
                <c:pt idx="7">
                  <c:v>237.93126664186511</c:v>
                </c:pt>
                <c:pt idx="8">
                  <c:v>189.67433330853177</c:v>
                </c:pt>
                <c:pt idx="9">
                  <c:v>260.70014164186512</c:v>
                </c:pt>
                <c:pt idx="10">
                  <c:v>265.43722497519843</c:v>
                </c:pt>
                <c:pt idx="11">
                  <c:v>243.17852497519837</c:v>
                </c:pt>
                <c:pt idx="12">
                  <c:v>240.56289997519846</c:v>
                </c:pt>
                <c:pt idx="13">
                  <c:v>235.42533330853175</c:v>
                </c:pt>
                <c:pt idx="14">
                  <c:v>240.40131664186509</c:v>
                </c:pt>
                <c:pt idx="15">
                  <c:v>247.59218330853173</c:v>
                </c:pt>
                <c:pt idx="16">
                  <c:v>250.28859997519839</c:v>
                </c:pt>
                <c:pt idx="17">
                  <c:v>332.75474164186511</c:v>
                </c:pt>
                <c:pt idx="18">
                  <c:v>295.00134164186511</c:v>
                </c:pt>
                <c:pt idx="19">
                  <c:v>273.89742497519842</c:v>
                </c:pt>
                <c:pt idx="20">
                  <c:v>273.97604164186509</c:v>
                </c:pt>
                <c:pt idx="21">
                  <c:v>274.79237497519841</c:v>
                </c:pt>
                <c:pt idx="22">
                  <c:v>288.96457497519845</c:v>
                </c:pt>
                <c:pt idx="23">
                  <c:v>307.97558330853178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5F0-4327-BEF4-64BEA569C48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7月</c:v>
                </c:pt>
              </c:strCache>
            </c:strRef>
          </c:tx>
          <c:spPr>
            <a:ln w="31750">
              <a:solidFill>
                <a:srgbClr val="F58A07"/>
              </a:solidFill>
              <a:prstDash val="solid"/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00</c:v>
                </c:pt>
                <c:pt idx="1">
                  <c:v>01</c:v>
                </c:pt>
                <c:pt idx="2">
                  <c:v>02</c:v>
                </c:pt>
                <c:pt idx="3">
                  <c:v>03</c:v>
                </c:pt>
                <c:pt idx="4">
                  <c:v>04</c:v>
                </c:pt>
                <c:pt idx="5">
                  <c:v>05</c:v>
                </c:pt>
                <c:pt idx="6">
                  <c:v>06</c:v>
                </c:pt>
                <c:pt idx="7">
                  <c:v>07</c:v>
                </c:pt>
                <c:pt idx="8">
                  <c:v>08</c:v>
                </c:pt>
                <c:pt idx="9">
                  <c:v>09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374.83793548387104</c:v>
                </c:pt>
                <c:pt idx="1">
                  <c:v>379.29895161290324</c:v>
                </c:pt>
                <c:pt idx="2">
                  <c:v>358.70637903225804</c:v>
                </c:pt>
                <c:pt idx="3">
                  <c:v>357.9972177419354</c:v>
                </c:pt>
                <c:pt idx="4">
                  <c:v>340.65362903225804</c:v>
                </c:pt>
                <c:pt idx="5">
                  <c:v>318.82655645161293</c:v>
                </c:pt>
                <c:pt idx="6">
                  <c:v>315.05354838709684</c:v>
                </c:pt>
                <c:pt idx="7">
                  <c:v>298.20616129032254</c:v>
                </c:pt>
                <c:pt idx="8">
                  <c:v>243.96692741935482</c:v>
                </c:pt>
                <c:pt idx="9">
                  <c:v>263.27463709677414</c:v>
                </c:pt>
                <c:pt idx="10">
                  <c:v>281.59819354838709</c:v>
                </c:pt>
                <c:pt idx="11">
                  <c:v>279.07076612903228</c:v>
                </c:pt>
                <c:pt idx="12">
                  <c:v>264.28545967741934</c:v>
                </c:pt>
                <c:pt idx="13">
                  <c:v>270.5360161290323</c:v>
                </c:pt>
                <c:pt idx="14">
                  <c:v>280.04085483870972</c:v>
                </c:pt>
                <c:pt idx="15">
                  <c:v>280.06730645161292</c:v>
                </c:pt>
                <c:pt idx="16">
                  <c:v>282.45513709677419</c:v>
                </c:pt>
                <c:pt idx="17">
                  <c:v>304.33070967741941</c:v>
                </c:pt>
                <c:pt idx="18">
                  <c:v>344.41329032258062</c:v>
                </c:pt>
                <c:pt idx="19">
                  <c:v>337.45997580645167</c:v>
                </c:pt>
                <c:pt idx="20">
                  <c:v>339.36228225806445</c:v>
                </c:pt>
                <c:pt idx="21">
                  <c:v>301.20592741935485</c:v>
                </c:pt>
                <c:pt idx="22">
                  <c:v>315.55050806451612</c:v>
                </c:pt>
                <c:pt idx="23">
                  <c:v>305.44991129032263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5F0-4327-BEF4-64BEA569C48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6月均价 275</c:v>
                </c:pt>
              </c:strCache>
            </c:strRef>
          </c:tx>
          <c:spPr>
            <a:ln w="9525">
              <a:solidFill>
                <a:srgbClr val="4A90E2"/>
              </a:solidFill>
              <a:prstDash val="sysDot"/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00</c:v>
                </c:pt>
                <c:pt idx="1">
                  <c:v>01</c:v>
                </c:pt>
                <c:pt idx="2">
                  <c:v>02</c:v>
                </c:pt>
                <c:pt idx="3">
                  <c:v>03</c:v>
                </c:pt>
                <c:pt idx="4">
                  <c:v>04</c:v>
                </c:pt>
                <c:pt idx="5">
                  <c:v>05</c:v>
                </c:pt>
                <c:pt idx="6">
                  <c:v>06</c:v>
                </c:pt>
                <c:pt idx="7">
                  <c:v>07</c:v>
                </c:pt>
                <c:pt idx="8">
                  <c:v>08</c:v>
                </c:pt>
                <c:pt idx="9">
                  <c:v>09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Sheet1!$D$2:$D$25</c:f>
              <c:numCache>
                <c:formatCode>General</c:formatCode>
                <c:ptCount val="24"/>
                <c:pt idx="0">
                  <c:v>274.84137462797622</c:v>
                </c:pt>
                <c:pt idx="1">
                  <c:v>274.84137462797622</c:v>
                </c:pt>
                <c:pt idx="2">
                  <c:v>274.84137462797622</c:v>
                </c:pt>
                <c:pt idx="3">
                  <c:v>274.84137462797622</c:v>
                </c:pt>
                <c:pt idx="4">
                  <c:v>274.84137462797622</c:v>
                </c:pt>
                <c:pt idx="5">
                  <c:v>274.84137462797622</c:v>
                </c:pt>
                <c:pt idx="6">
                  <c:v>274.84137462797622</c:v>
                </c:pt>
                <c:pt idx="7">
                  <c:v>274.84137462797622</c:v>
                </c:pt>
                <c:pt idx="8">
                  <c:v>274.84137462797622</c:v>
                </c:pt>
                <c:pt idx="9">
                  <c:v>274.84137462797622</c:v>
                </c:pt>
                <c:pt idx="10">
                  <c:v>274.84137462797622</c:v>
                </c:pt>
                <c:pt idx="11">
                  <c:v>274.84137462797622</c:v>
                </c:pt>
                <c:pt idx="12">
                  <c:v>274.84137462797622</c:v>
                </c:pt>
                <c:pt idx="13">
                  <c:v>274.84137462797622</c:v>
                </c:pt>
                <c:pt idx="14">
                  <c:v>274.84137462797622</c:v>
                </c:pt>
                <c:pt idx="15">
                  <c:v>274.84137462797622</c:v>
                </c:pt>
                <c:pt idx="16">
                  <c:v>274.84137462797622</c:v>
                </c:pt>
                <c:pt idx="17">
                  <c:v>274.84137462797622</c:v>
                </c:pt>
                <c:pt idx="18">
                  <c:v>274.84137462797622</c:v>
                </c:pt>
                <c:pt idx="19">
                  <c:v>274.84137462797622</c:v>
                </c:pt>
                <c:pt idx="20">
                  <c:v>274.84137462797622</c:v>
                </c:pt>
                <c:pt idx="21">
                  <c:v>274.84137462797622</c:v>
                </c:pt>
                <c:pt idx="22">
                  <c:v>274.84137462797622</c:v>
                </c:pt>
                <c:pt idx="23">
                  <c:v>274.84137462797622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5F0-4327-BEF4-64BEA569C48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7月均价 310</c:v>
                </c:pt>
              </c:strCache>
            </c:strRef>
          </c:tx>
          <c:spPr>
            <a:ln w="9525">
              <a:solidFill>
                <a:srgbClr val="F58A07"/>
              </a:solidFill>
              <a:prstDash val="sysDot"/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00</c:v>
                </c:pt>
                <c:pt idx="1">
                  <c:v>01</c:v>
                </c:pt>
                <c:pt idx="2">
                  <c:v>02</c:v>
                </c:pt>
                <c:pt idx="3">
                  <c:v>03</c:v>
                </c:pt>
                <c:pt idx="4">
                  <c:v>04</c:v>
                </c:pt>
                <c:pt idx="5">
                  <c:v>05</c:v>
                </c:pt>
                <c:pt idx="6">
                  <c:v>06</c:v>
                </c:pt>
                <c:pt idx="7">
                  <c:v>07</c:v>
                </c:pt>
                <c:pt idx="8">
                  <c:v>08</c:v>
                </c:pt>
                <c:pt idx="9">
                  <c:v>09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Sheet1!$E$2:$E$25</c:f>
              <c:numCache>
                <c:formatCode>General</c:formatCode>
                <c:ptCount val="24"/>
                <c:pt idx="0">
                  <c:v>309.86034509408603</c:v>
                </c:pt>
                <c:pt idx="1">
                  <c:v>309.86034509408603</c:v>
                </c:pt>
                <c:pt idx="2">
                  <c:v>309.86034509408603</c:v>
                </c:pt>
                <c:pt idx="3">
                  <c:v>309.86034509408603</c:v>
                </c:pt>
                <c:pt idx="4">
                  <c:v>309.86034509408603</c:v>
                </c:pt>
                <c:pt idx="5">
                  <c:v>309.86034509408603</c:v>
                </c:pt>
                <c:pt idx="6">
                  <c:v>309.86034509408603</c:v>
                </c:pt>
                <c:pt idx="7">
                  <c:v>309.86034509408603</c:v>
                </c:pt>
                <c:pt idx="8">
                  <c:v>309.86034509408603</c:v>
                </c:pt>
                <c:pt idx="9">
                  <c:v>309.86034509408603</c:v>
                </c:pt>
                <c:pt idx="10">
                  <c:v>309.86034509408603</c:v>
                </c:pt>
                <c:pt idx="11">
                  <c:v>309.86034509408603</c:v>
                </c:pt>
                <c:pt idx="12">
                  <c:v>309.86034509408603</c:v>
                </c:pt>
                <c:pt idx="13">
                  <c:v>309.86034509408603</c:v>
                </c:pt>
                <c:pt idx="14">
                  <c:v>309.86034509408603</c:v>
                </c:pt>
                <c:pt idx="15">
                  <c:v>309.86034509408603</c:v>
                </c:pt>
                <c:pt idx="16">
                  <c:v>309.86034509408603</c:v>
                </c:pt>
                <c:pt idx="17">
                  <c:v>309.86034509408603</c:v>
                </c:pt>
                <c:pt idx="18">
                  <c:v>309.86034509408603</c:v>
                </c:pt>
                <c:pt idx="19">
                  <c:v>309.86034509408603</c:v>
                </c:pt>
                <c:pt idx="20">
                  <c:v>309.86034509408603</c:v>
                </c:pt>
                <c:pt idx="21">
                  <c:v>309.86034509408603</c:v>
                </c:pt>
                <c:pt idx="22">
                  <c:v>309.86034509408603</c:v>
                </c:pt>
                <c:pt idx="23">
                  <c:v>309.86034509408603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5F0-4327-BEF4-64BEA569C4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600">
                <a:solidFill>
                  <a:srgbClr val="333333"/>
                </a:solidFill>
              </a:defRPr>
            </a:pPr>
            <a:endParaRPr lang="zh-CN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420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333333"/>
                </a:solidFill>
              </a:defRPr>
            </a:pPr>
            <a:endParaRPr lang="zh-CN"/>
          </a:p>
        </c:txPr>
        <c:crossAx val="2118791784"/>
        <c:crosses val="autoZero"/>
        <c:crossBetween val="between"/>
        <c:majorUnit val="100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374151"/>
              </a:solidFill>
            </a:defRPr>
          </a:pPr>
          <a:endParaRPr lang="zh-CN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r>
              <a:rPr lang="zh-CN" altLang="en-US" sz="1300" b="1">
                <a:solidFill>
                  <a:srgbClr val="333333"/>
                </a:solidFill>
              </a:rPr>
              <a:t>景通四益堂储能电站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6月</c:v>
                </c:pt>
              </c:strCache>
            </c:strRef>
          </c:tx>
          <c:spPr>
            <a:ln w="19050">
              <a:solidFill>
                <a:srgbClr val="4A90E2"/>
              </a:solidFill>
              <a:prstDash val="dash"/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00</c:v>
                </c:pt>
                <c:pt idx="1">
                  <c:v>01</c:v>
                </c:pt>
                <c:pt idx="2">
                  <c:v>02</c:v>
                </c:pt>
                <c:pt idx="3">
                  <c:v>03</c:v>
                </c:pt>
                <c:pt idx="4">
                  <c:v>04</c:v>
                </c:pt>
                <c:pt idx="5">
                  <c:v>05</c:v>
                </c:pt>
                <c:pt idx="6">
                  <c:v>06</c:v>
                </c:pt>
                <c:pt idx="7">
                  <c:v>07</c:v>
                </c:pt>
                <c:pt idx="8">
                  <c:v>08</c:v>
                </c:pt>
                <c:pt idx="9">
                  <c:v>09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302.59171297123015</c:v>
                </c:pt>
                <c:pt idx="1">
                  <c:v>315.70778797123023</c:v>
                </c:pt>
                <c:pt idx="2">
                  <c:v>327.67552130456346</c:v>
                </c:pt>
                <c:pt idx="3">
                  <c:v>295.41815463789686</c:v>
                </c:pt>
                <c:pt idx="4">
                  <c:v>276.27101297123016</c:v>
                </c:pt>
                <c:pt idx="5">
                  <c:v>251.2716629712302</c:v>
                </c:pt>
                <c:pt idx="6">
                  <c:v>243.25433797123014</c:v>
                </c:pt>
                <c:pt idx="7">
                  <c:v>221.1941046378968</c:v>
                </c:pt>
                <c:pt idx="8">
                  <c:v>181.76907963789685</c:v>
                </c:pt>
                <c:pt idx="9">
                  <c:v>217.17447963789681</c:v>
                </c:pt>
                <c:pt idx="10">
                  <c:v>230.49453797123013</c:v>
                </c:pt>
                <c:pt idx="11">
                  <c:v>217.69767130456344</c:v>
                </c:pt>
                <c:pt idx="12">
                  <c:v>224.70491297123016</c:v>
                </c:pt>
                <c:pt idx="13">
                  <c:v>214.68849630456347</c:v>
                </c:pt>
                <c:pt idx="14">
                  <c:v>213.26783797123019</c:v>
                </c:pt>
                <c:pt idx="15">
                  <c:v>212.11147963789679</c:v>
                </c:pt>
                <c:pt idx="16">
                  <c:v>229.87931297123015</c:v>
                </c:pt>
                <c:pt idx="17">
                  <c:v>312.59062963789688</c:v>
                </c:pt>
                <c:pt idx="18">
                  <c:v>290.3209129712302</c:v>
                </c:pt>
                <c:pt idx="19">
                  <c:v>271.54293797123012</c:v>
                </c:pt>
                <c:pt idx="20">
                  <c:v>276.62394630456345</c:v>
                </c:pt>
                <c:pt idx="21">
                  <c:v>264.22781297123009</c:v>
                </c:pt>
                <c:pt idx="22">
                  <c:v>276.02765463789677</c:v>
                </c:pt>
                <c:pt idx="23">
                  <c:v>301.98467130456351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925-4F3A-A3B5-FD53CF925A9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7月</c:v>
                </c:pt>
              </c:strCache>
            </c:strRef>
          </c:tx>
          <c:spPr>
            <a:ln w="31750">
              <a:solidFill>
                <a:srgbClr val="F58A07"/>
              </a:solidFill>
              <a:prstDash val="solid"/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00</c:v>
                </c:pt>
                <c:pt idx="1">
                  <c:v>01</c:v>
                </c:pt>
                <c:pt idx="2">
                  <c:v>02</c:v>
                </c:pt>
                <c:pt idx="3">
                  <c:v>03</c:v>
                </c:pt>
                <c:pt idx="4">
                  <c:v>04</c:v>
                </c:pt>
                <c:pt idx="5">
                  <c:v>05</c:v>
                </c:pt>
                <c:pt idx="6">
                  <c:v>06</c:v>
                </c:pt>
                <c:pt idx="7">
                  <c:v>07</c:v>
                </c:pt>
                <c:pt idx="8">
                  <c:v>08</c:v>
                </c:pt>
                <c:pt idx="9">
                  <c:v>09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367.1324193548387</c:v>
                </c:pt>
                <c:pt idx="1">
                  <c:v>373.21723387096773</c:v>
                </c:pt>
                <c:pt idx="2">
                  <c:v>353.31306451612903</c:v>
                </c:pt>
                <c:pt idx="3">
                  <c:v>349.57746774193544</c:v>
                </c:pt>
                <c:pt idx="4">
                  <c:v>332.72637903225802</c:v>
                </c:pt>
                <c:pt idx="5">
                  <c:v>307.63420161290327</c:v>
                </c:pt>
                <c:pt idx="6">
                  <c:v>303.32203225806444</c:v>
                </c:pt>
                <c:pt idx="7">
                  <c:v>269.7694516129032</c:v>
                </c:pt>
                <c:pt idx="8">
                  <c:v>223.9244435483871</c:v>
                </c:pt>
                <c:pt idx="9">
                  <c:v>229.07366129032258</c:v>
                </c:pt>
                <c:pt idx="10">
                  <c:v>254.08759677419354</c:v>
                </c:pt>
                <c:pt idx="11">
                  <c:v>258.66816935483871</c:v>
                </c:pt>
                <c:pt idx="12">
                  <c:v>252.65768548387101</c:v>
                </c:pt>
                <c:pt idx="13">
                  <c:v>261.21182258064516</c:v>
                </c:pt>
                <c:pt idx="14">
                  <c:v>272.00747580645162</c:v>
                </c:pt>
                <c:pt idx="15">
                  <c:v>265.58144354838709</c:v>
                </c:pt>
                <c:pt idx="16">
                  <c:v>272.87491935483877</c:v>
                </c:pt>
                <c:pt idx="17">
                  <c:v>296.67600806451617</c:v>
                </c:pt>
                <c:pt idx="18">
                  <c:v>331.75109677419351</c:v>
                </c:pt>
                <c:pt idx="19">
                  <c:v>331.67681451612901</c:v>
                </c:pt>
                <c:pt idx="20">
                  <c:v>333.63004032258061</c:v>
                </c:pt>
                <c:pt idx="21">
                  <c:v>300.17637096774189</c:v>
                </c:pt>
                <c:pt idx="22">
                  <c:v>313.78511290322587</c:v>
                </c:pt>
                <c:pt idx="23">
                  <c:v>305.70692741935483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925-4F3A-A3B5-FD53CF925A9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6月均价 257</c:v>
                </c:pt>
              </c:strCache>
            </c:strRef>
          </c:tx>
          <c:spPr>
            <a:ln w="9525">
              <a:solidFill>
                <a:srgbClr val="4A90E2"/>
              </a:solidFill>
              <a:prstDash val="sysDot"/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00</c:v>
                </c:pt>
                <c:pt idx="1">
                  <c:v>01</c:v>
                </c:pt>
                <c:pt idx="2">
                  <c:v>02</c:v>
                </c:pt>
                <c:pt idx="3">
                  <c:v>03</c:v>
                </c:pt>
                <c:pt idx="4">
                  <c:v>04</c:v>
                </c:pt>
                <c:pt idx="5">
                  <c:v>05</c:v>
                </c:pt>
                <c:pt idx="6">
                  <c:v>06</c:v>
                </c:pt>
                <c:pt idx="7">
                  <c:v>07</c:v>
                </c:pt>
                <c:pt idx="8">
                  <c:v>08</c:v>
                </c:pt>
                <c:pt idx="9">
                  <c:v>09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Sheet1!$D$2:$D$25</c:f>
              <c:numCache>
                <c:formatCode>General</c:formatCode>
                <c:ptCount val="24"/>
                <c:pt idx="0">
                  <c:v>257.02044456845238</c:v>
                </c:pt>
                <c:pt idx="1">
                  <c:v>257.02044456845238</c:v>
                </c:pt>
                <c:pt idx="2">
                  <c:v>257.02044456845238</c:v>
                </c:pt>
                <c:pt idx="3">
                  <c:v>257.02044456845238</c:v>
                </c:pt>
                <c:pt idx="4">
                  <c:v>257.02044456845238</c:v>
                </c:pt>
                <c:pt idx="5">
                  <c:v>257.02044456845238</c:v>
                </c:pt>
                <c:pt idx="6">
                  <c:v>257.02044456845238</c:v>
                </c:pt>
                <c:pt idx="7">
                  <c:v>257.02044456845238</c:v>
                </c:pt>
                <c:pt idx="8">
                  <c:v>257.02044456845238</c:v>
                </c:pt>
                <c:pt idx="9">
                  <c:v>257.02044456845238</c:v>
                </c:pt>
                <c:pt idx="10">
                  <c:v>257.02044456845238</c:v>
                </c:pt>
                <c:pt idx="11">
                  <c:v>257.02044456845238</c:v>
                </c:pt>
                <c:pt idx="12">
                  <c:v>257.02044456845238</c:v>
                </c:pt>
                <c:pt idx="13">
                  <c:v>257.02044456845238</c:v>
                </c:pt>
                <c:pt idx="14">
                  <c:v>257.02044456845238</c:v>
                </c:pt>
                <c:pt idx="15">
                  <c:v>257.02044456845238</c:v>
                </c:pt>
                <c:pt idx="16">
                  <c:v>257.02044456845238</c:v>
                </c:pt>
                <c:pt idx="17">
                  <c:v>257.02044456845238</c:v>
                </c:pt>
                <c:pt idx="18">
                  <c:v>257.02044456845238</c:v>
                </c:pt>
                <c:pt idx="19">
                  <c:v>257.02044456845238</c:v>
                </c:pt>
                <c:pt idx="20">
                  <c:v>257.02044456845238</c:v>
                </c:pt>
                <c:pt idx="21">
                  <c:v>257.02044456845238</c:v>
                </c:pt>
                <c:pt idx="22">
                  <c:v>257.02044456845238</c:v>
                </c:pt>
                <c:pt idx="23">
                  <c:v>257.02044456845238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925-4F3A-A3B5-FD53CF925A91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7月均价 298</c:v>
                </c:pt>
              </c:strCache>
            </c:strRef>
          </c:tx>
          <c:spPr>
            <a:ln w="9525">
              <a:solidFill>
                <a:srgbClr val="F58A07"/>
              </a:solidFill>
              <a:prstDash val="sysDot"/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00</c:v>
                </c:pt>
                <c:pt idx="1">
                  <c:v>01</c:v>
                </c:pt>
                <c:pt idx="2">
                  <c:v>02</c:v>
                </c:pt>
                <c:pt idx="3">
                  <c:v>03</c:v>
                </c:pt>
                <c:pt idx="4">
                  <c:v>04</c:v>
                </c:pt>
                <c:pt idx="5">
                  <c:v>05</c:v>
                </c:pt>
                <c:pt idx="6">
                  <c:v>06</c:v>
                </c:pt>
                <c:pt idx="7">
                  <c:v>07</c:v>
                </c:pt>
                <c:pt idx="8">
                  <c:v>08</c:v>
                </c:pt>
                <c:pt idx="9">
                  <c:v>09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Sheet1!$E$2:$E$25</c:f>
              <c:numCache>
                <c:formatCode>General</c:formatCode>
                <c:ptCount val="24"/>
                <c:pt idx="0">
                  <c:v>298.34090994623654</c:v>
                </c:pt>
                <c:pt idx="1">
                  <c:v>298.34090994623654</c:v>
                </c:pt>
                <c:pt idx="2">
                  <c:v>298.34090994623654</c:v>
                </c:pt>
                <c:pt idx="3">
                  <c:v>298.34090994623654</c:v>
                </c:pt>
                <c:pt idx="4">
                  <c:v>298.34090994623654</c:v>
                </c:pt>
                <c:pt idx="5">
                  <c:v>298.34090994623654</c:v>
                </c:pt>
                <c:pt idx="6">
                  <c:v>298.34090994623654</c:v>
                </c:pt>
                <c:pt idx="7">
                  <c:v>298.34090994623654</c:v>
                </c:pt>
                <c:pt idx="8">
                  <c:v>298.34090994623654</c:v>
                </c:pt>
                <c:pt idx="9">
                  <c:v>298.34090994623654</c:v>
                </c:pt>
                <c:pt idx="10">
                  <c:v>298.34090994623654</c:v>
                </c:pt>
                <c:pt idx="11">
                  <c:v>298.34090994623654</c:v>
                </c:pt>
                <c:pt idx="12">
                  <c:v>298.34090994623654</c:v>
                </c:pt>
                <c:pt idx="13">
                  <c:v>298.34090994623654</c:v>
                </c:pt>
                <c:pt idx="14">
                  <c:v>298.34090994623654</c:v>
                </c:pt>
                <c:pt idx="15">
                  <c:v>298.34090994623654</c:v>
                </c:pt>
                <c:pt idx="16">
                  <c:v>298.34090994623654</c:v>
                </c:pt>
                <c:pt idx="17">
                  <c:v>298.34090994623654</c:v>
                </c:pt>
                <c:pt idx="18">
                  <c:v>298.34090994623654</c:v>
                </c:pt>
                <c:pt idx="19">
                  <c:v>298.34090994623654</c:v>
                </c:pt>
                <c:pt idx="20">
                  <c:v>298.34090994623654</c:v>
                </c:pt>
                <c:pt idx="21">
                  <c:v>298.34090994623654</c:v>
                </c:pt>
                <c:pt idx="22">
                  <c:v>298.34090994623654</c:v>
                </c:pt>
                <c:pt idx="23">
                  <c:v>298.34090994623654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6925-4F3A-A3B5-FD53CF925A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600">
                <a:solidFill>
                  <a:srgbClr val="333333"/>
                </a:solidFill>
              </a:defRPr>
            </a:pPr>
            <a:endParaRPr lang="zh-CN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420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333333"/>
                </a:solidFill>
              </a:defRPr>
            </a:pPr>
            <a:endParaRPr lang="zh-CN"/>
          </a:p>
        </c:txPr>
        <c:crossAx val="2118791784"/>
        <c:crosses val="autoZero"/>
        <c:crossBetween val="between"/>
        <c:majorUnit val="100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374151"/>
              </a:solidFill>
            </a:defRPr>
          </a:pPr>
          <a:endParaRPr lang="zh-CN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224EDD-08E7-4802-9E3E-629F646AB6D8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CEDD14-4813-44A5-894A-1090C6B2402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81B18-0E62-FFDD-8095-21254D110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672A45A-4EFE-C29C-875F-18F5E36395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DB2347F-7C03-C6F7-BA2B-69E9FDA9F8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CA7B98-A56A-C3BA-1773-0D768C2C2D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CD543DC-5563-48F3-AC25-2F754CC3F2E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89227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DD0AC-5CCA-102A-6D6E-C2FED082E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B83BF77-92D6-E5A8-C145-E227AD8C33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463C57A-BC30-7341-84FB-CE787B68AE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37059F-9BCB-1901-1A31-38C7B2A51E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D543DC-5563-48F3-AC25-2F754CC3F2E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78739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CD543DC-5563-48F3-AC25-2F754CC3F2E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9C684-1591-1CF7-0B4C-80642CA1D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40E433B-8D8C-9609-14A9-2FE91ED376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465495E-4F13-45F4-B3FA-E895582A5E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84396AB-7840-2F71-6C4E-BCAF74F9D0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CD543DC-5563-48F3-AC25-2F754CC3F2E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58562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CD543DC-5563-48F3-AC25-2F754CC3F2E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CEDD14-4813-44A5-894A-1090C6B2402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947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ea typeface="等线" panose="02010600030101010101" charset="-122"/>
              </a:rPr>
              <a:t>前</a:t>
            </a:r>
            <a:r>
              <a:rPr lang="en-US" altLang="zh-CN">
                <a:ea typeface="等线" panose="02010600030101010101" charset="-122"/>
              </a:rPr>
              <a:t>10，和自己排名，</a:t>
            </a:r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CD543DC-5563-48F3-AC25-2F754CC3F2E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5EDEA-AD94-93B5-D215-CDD561894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BD58C35-EA4C-C8C4-2DEA-8F81A6AC42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B999AC7-E286-186D-1045-5250392CDC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DFB88CF-4F51-8D01-F2D5-730F2D9145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CD543DC-5563-48F3-AC25-2F754CC3F2E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31041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84631-6572-C634-9574-8041E39AC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440D013-2611-4DAF-318F-98DC370CD0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2E790AC-CB51-27B3-4CAE-78AAEC3B1D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CCD69E-C8F8-DAE3-3D0E-6B0EEB1E4D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CD543DC-5563-48F3-AC25-2F754CC3F2E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66835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CD543DC-5563-48F3-AC25-2F754CC3F2E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230112"/>
            <a:ext cx="12192000" cy="627888"/>
          </a:xfrm>
          <a:prstGeom prst="rect">
            <a:avLst/>
          </a:prstGeom>
        </p:spPr>
      </p:pic>
      <p:pic>
        <p:nvPicPr>
          <p:cNvPr id="8" name="Picture 2" descr="C:\Users\vip\Desktop\DIGITAL PPT-06.jpg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0" y="6231731"/>
            <a:ext cx="12192000" cy="626269"/>
          </a:xfrm>
          <a:prstGeom prst="rect">
            <a:avLst/>
          </a:prstGeom>
          <a:noFill/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330980" y="6259368"/>
            <a:ext cx="4324208" cy="475188"/>
          </a:xfrm>
          <a:prstGeom prst="rect">
            <a:avLst/>
          </a:prstGeom>
        </p:spPr>
      </p:pic>
      <p:sp>
        <p:nvSpPr>
          <p:cNvPr id="11" name="文本框 10"/>
          <p:cNvSpPr txBox="1"/>
          <p:nvPr userDrawn="1"/>
        </p:nvSpPr>
        <p:spPr>
          <a:xfrm>
            <a:off x="2145890" y="6224570"/>
            <a:ext cx="1004611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未经明确授权，本文档禁止拷贝、截屏、拍摄及其他扩散行为，如有发现按违反远景信息安全红线处理</a:t>
            </a:r>
            <a:endParaRPr lang="en-US" altLang="zh-CN" sz="140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r>
              <a:rPr lang="en-US" altLang="zh-CN" sz="1200" b="0" i="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Without explicit authorization, this document prohibits copying, screen capture, filming and other proliferation actions, if found, it will be handled in accordance with the Envision information security red line.</a:t>
            </a:r>
            <a:endParaRPr lang="zh-CN" altLang="en-US" sz="1200" b="0" i="0" kern="120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6A465-2EA1-453C-A84A-C9DE5BFB9D28}" type="datetimeFigureOut">
              <a:rPr lang="zh-CN" altLang="en-US" smtClean="0"/>
              <a:t>2026/9/2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F96CE-D536-4AE0-8FEC-6B7DDB73F5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自定义版式 拷贝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 userDrawn="1"/>
        </p:nvSpPr>
        <p:spPr bwMode="auto">
          <a:xfrm>
            <a:off x="9739313" y="68263"/>
            <a:ext cx="2447925" cy="52228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r>
              <a:rPr lang="zh-CN" altLang="en-US" sz="1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文档密级：秘密</a:t>
            </a:r>
            <a:endParaRPr lang="en-US" altLang="zh-CN" sz="140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eaLnBrk="1" hangingPunct="1">
              <a:defRPr/>
            </a:pPr>
            <a:r>
              <a:rPr lang="en-US" altLang="zh-CN" sz="1400">
                <a:cs typeface="Arial" panose="020B0604020202020204" pitchFamily="34" charset="0"/>
              </a:rPr>
              <a:t>Documentlevel:Confidential</a:t>
            </a:r>
            <a:endParaRPr lang="en-US" altLang="zh-CN" sz="1400">
              <a:cs typeface="Arial" panose="020B0604020202020204" pitchFamily="34" charset="0"/>
              <a:sym typeface="+mn-ea"/>
            </a:endParaRPr>
          </a:p>
        </p:txBody>
      </p:sp>
      <p:pic>
        <p:nvPicPr>
          <p:cNvPr id="3" name="图片 7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29350"/>
            <a:ext cx="12192000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30938"/>
            <a:ext cx="12192000" cy="627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9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1075" y="6259513"/>
            <a:ext cx="4324350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2146300" y="6224588"/>
            <a:ext cx="10045700" cy="6762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r>
              <a:rPr lang="zh-CN" altLang="en-US" sz="14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未经明确授权，本文档禁止拷贝.截屏.拍摄及其他扩散行为，如有发现按违反远景信息安全红线处理</a:t>
            </a:r>
            <a:endParaRPr lang="en-US" altLang="zh-CN" sz="140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eaLnBrk="1" hangingPunct="1">
              <a:defRPr/>
            </a:pPr>
            <a:r>
              <a:rPr lang="en-US" altLang="zh-CN" sz="1200">
                <a:solidFill>
                  <a:schemeClr val="bg1"/>
                </a:solidFill>
              </a:rPr>
              <a:t>Withoutexplicitauthorization,thisdocumentprohibitscopying,screencapture,filmingandotherproliferationactions,iffound,itwillbehandledinaccordancewiththeEnvisioninformationsecurityredline.</a:t>
            </a:r>
            <a:endParaRPr lang="zh-CN" altLang="en-US" sz="1200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088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9087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3.jpe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0" y="6230112"/>
            <a:ext cx="12192000" cy="627888"/>
          </a:xfrm>
          <a:prstGeom prst="rect">
            <a:avLst/>
          </a:prstGeom>
        </p:spPr>
      </p:pic>
      <p:pic>
        <p:nvPicPr>
          <p:cNvPr id="7" name="Picture 2" descr="C:\Users\vip\Desktop\DIGITAL PPT-06.jpg"/>
          <p:cNvPicPr>
            <a:picLocks noChangeAspect="1" noChangeArrowheads="1"/>
          </p:cNvPicPr>
          <p:nvPr userDrawn="1"/>
        </p:nvPicPr>
        <p:blipFill>
          <a:blip r:embed="rId11"/>
          <a:srcRect/>
          <a:stretch>
            <a:fillRect/>
          </a:stretch>
        </p:blipFill>
        <p:spPr bwMode="auto">
          <a:xfrm>
            <a:off x="0" y="6231731"/>
            <a:ext cx="12192000" cy="626269"/>
          </a:xfrm>
          <a:prstGeom prst="rect">
            <a:avLst/>
          </a:prstGeom>
          <a:noFill/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7330980" y="6259368"/>
            <a:ext cx="4324208" cy="475188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2145890" y="6224570"/>
            <a:ext cx="1004611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未经明确授权，本文档禁止拷贝、截屏、拍摄及其他扩散行为，如有发现按违反远景信息安全红线处理</a:t>
            </a:r>
            <a:endParaRPr lang="en-US" altLang="zh-CN" sz="140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r>
              <a:rPr lang="en-US" altLang="zh-CN" sz="1200" b="0" i="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Without explicit authorization, this document prohibits copying, screen capture, filming and other proliferation actions, if found, it will be handled in accordance with the Envision information security red line.</a:t>
            </a:r>
            <a:endParaRPr lang="zh-CN" altLang="en-US" sz="1200" b="0" i="0" kern="120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7" r:id="rId6"/>
    <p:sldLayoutId id="2147483658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1F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8374" y="1180800"/>
            <a:ext cx="11454525" cy="5004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zh-CN"/>
              <a:t>Content Level 1</a:t>
            </a:r>
          </a:p>
          <a:p>
            <a:pPr lvl="1"/>
            <a:r>
              <a:rPr kumimoji="1" lang="en-US" altLang="zh-CN"/>
              <a:t>Content Level 2</a:t>
            </a:r>
          </a:p>
          <a:p>
            <a:pPr lvl="1"/>
            <a:r>
              <a:rPr kumimoji="1" lang="en-US" altLang="zh-CN"/>
              <a:t>	Content Level 3</a:t>
            </a:r>
            <a:endParaRPr kumimoji="1" lang="zh-CN" altLang="en-US"/>
          </a:p>
        </p:txBody>
      </p:sp>
      <p:sp>
        <p:nvSpPr>
          <p:cNvPr id="8" name="标题占位符 1"/>
          <p:cNvSpPr>
            <a:spLocks noGrp="1"/>
          </p:cNvSpPr>
          <p:nvPr>
            <p:ph type="title"/>
          </p:nvPr>
        </p:nvSpPr>
        <p:spPr>
          <a:xfrm>
            <a:off x="318374" y="215901"/>
            <a:ext cx="11454525" cy="604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kumimoji="1" lang="en-US" altLang="zh-CN"/>
              <a:t>Page Title</a:t>
            </a:r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-4463" y="6414196"/>
            <a:ext cx="1804688" cy="443804"/>
          </a:xfrm>
          <a:prstGeom prst="rect">
            <a:avLst/>
          </a:prstGeom>
          <a:solidFill>
            <a:srgbClr val="FD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4" name="图形 23"/>
          <p:cNvPicPr>
            <a:picLocks noChangeAspect="1"/>
          </p:cNvPicPr>
          <p:nvPr userDrawn="1"/>
        </p:nvPicPr>
        <p:blipFill>
          <a:blip r:embed="rId3" cstate="screen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2512" y="6478985"/>
            <a:ext cx="990739" cy="314227"/>
          </a:xfrm>
          <a:prstGeom prst="rect">
            <a:avLst/>
          </a:prstGeom>
        </p:spPr>
      </p:pic>
      <p:sp>
        <p:nvSpPr>
          <p:cNvPr id="25" name="矩形 24"/>
          <p:cNvSpPr/>
          <p:nvPr userDrawn="1"/>
        </p:nvSpPr>
        <p:spPr>
          <a:xfrm>
            <a:off x="1800224" y="6414196"/>
            <a:ext cx="10391776" cy="443804"/>
          </a:xfrm>
          <a:prstGeom prst="rect">
            <a:avLst/>
          </a:prstGeom>
          <a:solidFill>
            <a:srgbClr val="3C3D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Ins="288000" rtlCol="0" anchor="ctr"/>
          <a:lstStyle/>
          <a:p>
            <a:pPr algn="r"/>
            <a:endParaRPr kumimoji="1" lang="zh-CN" altLang="en-US" sz="1000"/>
          </a:p>
        </p:txBody>
      </p:sp>
      <p:sp>
        <p:nvSpPr>
          <p:cNvPr id="26" name="灯片编号占位符 6"/>
          <p:cNvSpPr txBox="1"/>
          <p:nvPr userDrawn="1"/>
        </p:nvSpPr>
        <p:spPr>
          <a:xfrm>
            <a:off x="6954715" y="6465713"/>
            <a:ext cx="5155659" cy="3407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zh-CN">
                <a:latin typeface="Calibri" panose="020F0502020204030204" pitchFamily="34" charset="0"/>
                <a:cs typeface="Calibri" panose="020F0502020204030204" pitchFamily="34" charset="0"/>
              </a:rPr>
              <a:t>© 2021 Envision Digital. All Rights Reserved</a:t>
            </a:r>
            <a:r>
              <a:rPr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|Page</a:t>
            </a:r>
            <a:fld id="{CCD584DD-5604-4DED-B8D6-A28E3F71D8B2}" type="slidenum">
              <a:rPr lang="zh-CN" altLang="en-US" smtClean="0">
                <a:latin typeface="Calibri" panose="020F0502020204030204" pitchFamily="34" charset="0"/>
                <a:cs typeface="Calibri" panose="020F0502020204030204" pitchFamily="34" charset="0"/>
              </a:rPr>
              <a:t>‹#›</a:t>
            </a:fld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" name="矩形 56"/>
          <p:cNvSpPr/>
          <p:nvPr userDrawn="1"/>
        </p:nvSpPr>
        <p:spPr>
          <a:xfrm>
            <a:off x="12283768" y="0"/>
            <a:ext cx="10739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sz="1200" b="1">
                <a:solidFill>
                  <a:srgbClr val="A3A5B3"/>
                </a:solidFill>
                <a:latin typeface="+mj-lt"/>
              </a:rPr>
              <a:t>Dark Theme Palette</a:t>
            </a:r>
            <a:endParaRPr lang="zh-CN" altLang="en-US" sz="1200" b="1">
              <a:solidFill>
                <a:srgbClr val="A3A5B3"/>
              </a:solidFill>
              <a:latin typeface="+mj-lt"/>
            </a:endParaRPr>
          </a:p>
        </p:txBody>
      </p:sp>
      <p:sp>
        <p:nvSpPr>
          <p:cNvPr id="58" name="矩形 57"/>
          <p:cNvSpPr/>
          <p:nvPr userDrawn="1"/>
        </p:nvSpPr>
        <p:spPr>
          <a:xfrm>
            <a:off x="12368385" y="467912"/>
            <a:ext cx="432000" cy="432000"/>
          </a:xfrm>
          <a:prstGeom prst="rect">
            <a:avLst/>
          </a:prstGeom>
          <a:solidFill>
            <a:srgbClr val="199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9" name="矩形 58"/>
          <p:cNvSpPr/>
          <p:nvPr userDrawn="1"/>
        </p:nvSpPr>
        <p:spPr>
          <a:xfrm>
            <a:off x="12368385" y="972332"/>
            <a:ext cx="432000" cy="432000"/>
          </a:xfrm>
          <a:prstGeom prst="rect">
            <a:avLst/>
          </a:prstGeom>
          <a:solidFill>
            <a:srgbClr val="7F78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60" name="矩形 59"/>
          <p:cNvSpPr/>
          <p:nvPr userDrawn="1"/>
        </p:nvSpPr>
        <p:spPr>
          <a:xfrm>
            <a:off x="12368385" y="1476752"/>
            <a:ext cx="432000" cy="432000"/>
          </a:xfrm>
          <a:prstGeom prst="rect">
            <a:avLst/>
          </a:prstGeom>
          <a:solidFill>
            <a:srgbClr val="09CF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61" name="矩形 60"/>
          <p:cNvSpPr/>
          <p:nvPr userDrawn="1"/>
        </p:nvSpPr>
        <p:spPr>
          <a:xfrm>
            <a:off x="12377694" y="1981172"/>
            <a:ext cx="432000" cy="432000"/>
          </a:xfrm>
          <a:prstGeom prst="rect">
            <a:avLst/>
          </a:prstGeom>
          <a:solidFill>
            <a:srgbClr val="30C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2" name="矩形 61"/>
          <p:cNvSpPr/>
          <p:nvPr userDrawn="1"/>
        </p:nvSpPr>
        <p:spPr>
          <a:xfrm>
            <a:off x="12377694" y="2485592"/>
            <a:ext cx="432000" cy="432000"/>
          </a:xfrm>
          <a:prstGeom prst="rect">
            <a:avLst/>
          </a:prstGeom>
          <a:solidFill>
            <a:srgbClr val="F7D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3" name="矩形 62"/>
          <p:cNvSpPr/>
          <p:nvPr userDrawn="1"/>
        </p:nvSpPr>
        <p:spPr>
          <a:xfrm>
            <a:off x="12377694" y="2990012"/>
            <a:ext cx="432000" cy="432000"/>
          </a:xfrm>
          <a:prstGeom prst="rect">
            <a:avLst/>
          </a:prstGeom>
          <a:solidFill>
            <a:srgbClr val="B862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4" name="矩形 63"/>
          <p:cNvSpPr/>
          <p:nvPr userDrawn="1"/>
        </p:nvSpPr>
        <p:spPr>
          <a:xfrm>
            <a:off x="12368385" y="3494432"/>
            <a:ext cx="432000" cy="432000"/>
          </a:xfrm>
          <a:prstGeom prst="rect">
            <a:avLst/>
          </a:prstGeom>
          <a:solidFill>
            <a:srgbClr val="9ED9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5" name="矩形 64"/>
          <p:cNvSpPr/>
          <p:nvPr userDrawn="1"/>
        </p:nvSpPr>
        <p:spPr>
          <a:xfrm>
            <a:off x="12368385" y="3998852"/>
            <a:ext cx="432000" cy="432000"/>
          </a:xfrm>
          <a:prstGeom prst="rect">
            <a:avLst/>
          </a:prstGeom>
          <a:solidFill>
            <a:srgbClr val="FAA2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6" name="矩形 65"/>
          <p:cNvSpPr/>
          <p:nvPr userDrawn="1"/>
        </p:nvSpPr>
        <p:spPr>
          <a:xfrm>
            <a:off x="12368385" y="4503272"/>
            <a:ext cx="432000" cy="432000"/>
          </a:xfrm>
          <a:prstGeom prst="rect">
            <a:avLst/>
          </a:prstGeom>
          <a:solidFill>
            <a:srgbClr val="F54F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7" name="矩形 66"/>
          <p:cNvSpPr/>
          <p:nvPr userDrawn="1"/>
        </p:nvSpPr>
        <p:spPr>
          <a:xfrm>
            <a:off x="12368385" y="5007690"/>
            <a:ext cx="432000" cy="432000"/>
          </a:xfrm>
          <a:prstGeom prst="rect">
            <a:avLst/>
          </a:prstGeom>
          <a:solidFill>
            <a:srgbClr val="F66E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8" name="矩形 67"/>
          <p:cNvSpPr/>
          <p:nvPr userDrawn="1"/>
        </p:nvSpPr>
        <p:spPr>
          <a:xfrm>
            <a:off x="12925695" y="467912"/>
            <a:ext cx="432000" cy="43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69" name="矩形 68"/>
          <p:cNvSpPr/>
          <p:nvPr userDrawn="1"/>
        </p:nvSpPr>
        <p:spPr>
          <a:xfrm>
            <a:off x="12925695" y="972332"/>
            <a:ext cx="432000" cy="432000"/>
          </a:xfrm>
          <a:prstGeom prst="rect">
            <a:avLst/>
          </a:prstGeom>
          <a:solidFill>
            <a:srgbClr val="F8F5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70" name="矩形 69"/>
          <p:cNvSpPr/>
          <p:nvPr userDrawn="1"/>
        </p:nvSpPr>
        <p:spPr>
          <a:xfrm>
            <a:off x="12925695" y="1476752"/>
            <a:ext cx="432000" cy="432000"/>
          </a:xfrm>
          <a:prstGeom prst="rect">
            <a:avLst/>
          </a:prstGeom>
          <a:solidFill>
            <a:srgbClr val="D6D9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71" name="矩形 70"/>
          <p:cNvSpPr/>
          <p:nvPr userDrawn="1"/>
        </p:nvSpPr>
        <p:spPr>
          <a:xfrm>
            <a:off x="12925695" y="1988160"/>
            <a:ext cx="432000" cy="432000"/>
          </a:xfrm>
          <a:prstGeom prst="rect">
            <a:avLst/>
          </a:prstGeom>
          <a:solidFill>
            <a:srgbClr val="A3A5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72" name="矩形 71"/>
          <p:cNvSpPr/>
          <p:nvPr userDrawn="1"/>
        </p:nvSpPr>
        <p:spPr>
          <a:xfrm>
            <a:off x="12925695" y="2485592"/>
            <a:ext cx="432000" cy="432000"/>
          </a:xfrm>
          <a:prstGeom prst="rect">
            <a:avLst/>
          </a:prstGeom>
          <a:solidFill>
            <a:srgbClr val="7676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73" name="矩形 72"/>
          <p:cNvSpPr/>
          <p:nvPr userDrawn="1"/>
        </p:nvSpPr>
        <p:spPr>
          <a:xfrm>
            <a:off x="12925695" y="2997000"/>
            <a:ext cx="432000" cy="432000"/>
          </a:xfrm>
          <a:prstGeom prst="rect">
            <a:avLst/>
          </a:prstGeom>
          <a:solidFill>
            <a:srgbClr val="3E3E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pic>
        <p:nvPicPr>
          <p:cNvPr id="27" name="图片 26"/>
          <p:cNvPicPr>
            <a:picLocks noChangeAspect="1"/>
          </p:cNvPicPr>
          <p:nvPr userDrawn="1"/>
        </p:nvPicPr>
        <p:blipFill>
          <a:blip r:embed="rId5">
            <a:alphaModFix amt="35000"/>
          </a:blip>
          <a:stretch>
            <a:fillRect/>
          </a:stretch>
        </p:blipFill>
        <p:spPr>
          <a:xfrm>
            <a:off x="1613500" y="3788"/>
            <a:ext cx="8563234" cy="615753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lang="zh-CN" altLang="en-US" sz="2000" b="1" kern="1200" baseline="0" dirty="0" smtClean="0">
          <a:solidFill>
            <a:srgbClr val="F8F6FB"/>
          </a:solidFill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 baseline="0">
          <a:solidFill>
            <a:srgbClr val="F8F5FB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rgbClr val="D6D9DF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hart" Target="../charts/chart7.xml"/><Relationship Id="rId3" Type="http://schemas.openxmlformats.org/officeDocument/2006/relationships/chart" Target="../charts/chart2.xml"/><Relationship Id="rId7" Type="http://schemas.openxmlformats.org/officeDocument/2006/relationships/chart" Target="../charts/chart6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5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VCG41N1370099955拷贝.jpg" descr="VCG41N1370099955拷贝.jpg"/>
          <p:cNvPicPr>
            <a:picLocks noChangeAspect="1"/>
          </p:cNvPicPr>
          <p:nvPr/>
        </p:nvPicPr>
        <p:blipFill>
          <a:blip r:embed="rId2"/>
          <a:srcRect l="209" r="247" b="11865"/>
          <a:stretch>
            <a:fillRect/>
          </a:stretch>
        </p:blipFill>
        <p:spPr>
          <a:xfrm>
            <a:off x="1" y="1"/>
            <a:ext cx="12192000" cy="6858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" name="文本框 1"/>
          <p:cNvSpPr txBox="1"/>
          <p:nvPr/>
        </p:nvSpPr>
        <p:spPr>
          <a:xfrm>
            <a:off x="1299028" y="2844225"/>
            <a:ext cx="9593943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蒙西</a:t>
            </a:r>
            <a:r>
              <a: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储能场站</a:t>
            </a:r>
            <a:r>
              <a:rPr kumimoji="0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复盘（</a:t>
            </a:r>
            <a:r>
              <a:rPr kumimoji="0" lang="en-US" altLang="zh-CN" sz="32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7</a:t>
            </a:r>
            <a:r>
              <a:rPr kumimoji="0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月）</a:t>
            </a:r>
            <a:endParaRPr kumimoji="0" lang="en-US" altLang="zh-CN" sz="32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99028" y="3994029"/>
            <a:ext cx="95939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2026.8.30</a:t>
            </a: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5D0FB-F426-CF7F-6422-658C9E8BA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74897CF-8DC3-0EAE-27D7-EF4CEB9C3D67}"/>
              </a:ext>
            </a:extLst>
          </p:cNvPr>
          <p:cNvSpPr/>
          <p:nvPr/>
        </p:nvSpPr>
        <p:spPr>
          <a:xfrm>
            <a:off x="0" y="0"/>
            <a:ext cx="12192000" cy="574177"/>
          </a:xfrm>
          <a:prstGeom prst="rect">
            <a:avLst/>
          </a:prstGeom>
          <a:solidFill>
            <a:srgbClr val="3B3B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4200441-F52B-A919-BEB9-2DF75A04132D}"/>
              </a:ext>
            </a:extLst>
          </p:cNvPr>
          <p:cNvSpPr txBox="1"/>
          <p:nvPr/>
        </p:nvSpPr>
        <p:spPr>
          <a:xfrm>
            <a:off x="581024" y="1473917"/>
            <a:ext cx="11029951" cy="372673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月蒙西现货仍体现小风季特征，随着晚高峰价格的提高，全市场的储能捕获价差有所提高，收益相应增长，高于</a:t>
            </a:r>
            <a:r>
              <a:rPr lang="en-US" altLang="zh-CN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月份，但较</a:t>
            </a:r>
            <a:r>
              <a:rPr lang="en-US" altLang="zh-CN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月仍有差距。</a:t>
            </a:r>
            <a:endParaRPr lang="en-US" altLang="zh-CN" b="1" dirty="0">
              <a:solidFill>
                <a:srgbClr val="2D334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巴盟受限于涉网试验（约</a:t>
            </a:r>
            <a:r>
              <a:rPr lang="en-US" altLang="zh-CN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天），场站收益较低；呼包东场站受限于断面、节点收益持续低迷；其他场站保持正常水平</a:t>
            </a:r>
            <a:endParaRPr lang="en-US" altLang="zh-CN" b="1" dirty="0">
              <a:solidFill>
                <a:srgbClr val="2D334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苏右、乌拉特出现由于容量偏差而产生的执行偏差；乌海出清、执行出现问题</a:t>
            </a:r>
            <a:endParaRPr lang="en-US" altLang="zh-CN" b="1" dirty="0">
              <a:solidFill>
                <a:srgbClr val="2D334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月基于出清数据规律，摸清调度</a:t>
            </a:r>
            <a:r>
              <a:rPr lang="en-US" altLang="zh-CN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288</a:t>
            </a:r>
            <a:r>
              <a:rPr lang="zh-CN" altLang="en-US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点申报</a:t>
            </a:r>
            <a:r>
              <a:rPr lang="en-US" altLang="zh-CN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-96</a:t>
            </a:r>
            <a:r>
              <a:rPr lang="zh-CN" altLang="en-US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点出清转换及校核规律</a:t>
            </a:r>
            <a:endParaRPr lang="en-US" altLang="zh-CN" b="1" dirty="0">
              <a:solidFill>
                <a:srgbClr val="2D334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策略工具开发方面，完成数据库建设和储能充放集中度功能的开发</a:t>
            </a:r>
            <a:endParaRPr lang="en-US" altLang="zh-CN" b="1" dirty="0">
              <a:solidFill>
                <a:srgbClr val="2D334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交易团队</a:t>
            </a:r>
            <a:r>
              <a:rPr lang="en-US" altLang="zh-CN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月开始，进入人员更替轮转阶段，策略稳定性出现震荡</a:t>
            </a:r>
            <a:endParaRPr lang="en-US" altLang="zh-CN" b="1" dirty="0">
              <a:solidFill>
                <a:srgbClr val="2D334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3DF0F27-A822-BDF3-D7C4-270831C6564A}"/>
              </a:ext>
            </a:extLst>
          </p:cNvPr>
          <p:cNvSpPr txBox="1"/>
          <p:nvPr/>
        </p:nvSpPr>
        <p:spPr>
          <a:xfrm>
            <a:off x="126999" y="102938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月蒙西储能交易小节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9738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4EE96-6087-D985-E0FA-E22427073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 27">
            <a:extLst>
              <a:ext uri="{FF2B5EF4-FFF2-40B4-BE49-F238E27FC236}">
                <a16:creationId xmlns:a16="http://schemas.microsoft.com/office/drawing/2014/main" id="{6FC5541E-BB4A-15FB-75F4-80877D49147B}"/>
              </a:ext>
            </a:extLst>
          </p:cNvPr>
          <p:cNvSpPr txBox="1"/>
          <p:nvPr/>
        </p:nvSpPr>
        <p:spPr>
          <a:xfrm>
            <a:off x="126998" y="5879110"/>
            <a:ext cx="94398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zh-CN" altLang="en-US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总收益口径</a:t>
            </a:r>
            <a:r>
              <a:rPr lang="en-US" altLang="zh-CN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现货收益</a:t>
            </a:r>
            <a:r>
              <a:rPr lang="en-US" altLang="zh-CN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容量补偿</a:t>
            </a:r>
            <a:r>
              <a:rPr lang="en-US" altLang="zh-CN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系统运行费</a:t>
            </a:r>
            <a:r>
              <a:rPr lang="en-US" altLang="zh-CN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线损费用</a:t>
            </a:r>
            <a:r>
              <a:rPr lang="en-US" altLang="zh-CN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调频分摊</a:t>
            </a:r>
            <a:endParaRPr lang="en-US" altLang="zh-CN" sz="12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2C37361-B572-4AB1-0521-662B23EE0BC3}"/>
              </a:ext>
            </a:extLst>
          </p:cNvPr>
          <p:cNvSpPr/>
          <p:nvPr/>
        </p:nvSpPr>
        <p:spPr>
          <a:xfrm>
            <a:off x="0" y="0"/>
            <a:ext cx="12192000" cy="574177"/>
          </a:xfrm>
          <a:prstGeom prst="rect">
            <a:avLst/>
          </a:prstGeom>
          <a:solidFill>
            <a:srgbClr val="3B3B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6CA2CDD-C0CE-2A58-1DE8-5DF0D3E1F369}"/>
              </a:ext>
            </a:extLst>
          </p:cNvPr>
          <p:cNvSpPr txBox="1"/>
          <p:nvPr/>
        </p:nvSpPr>
        <p:spPr>
          <a:xfrm>
            <a:off x="126998" y="102938"/>
            <a:ext cx="6558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收益概览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16128A8-685E-63D3-EA0E-D1BDA8F8609B}"/>
              </a:ext>
            </a:extLst>
          </p:cNvPr>
          <p:cNvSpPr txBox="1"/>
          <p:nvPr/>
        </p:nvSpPr>
        <p:spPr>
          <a:xfrm>
            <a:off x="126998" y="813816"/>
            <a:ext cx="11668761" cy="49463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5DA08E5-74D6-EFCD-E0A4-7396E6CAB038}"/>
              </a:ext>
            </a:extLst>
          </p:cNvPr>
          <p:cNvSpPr txBox="1"/>
          <p:nvPr/>
        </p:nvSpPr>
        <p:spPr>
          <a:xfrm>
            <a:off x="201168" y="889754"/>
            <a:ext cx="9184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月整体收益回升，巴盟受实验影响收益较低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4FEA251E-B66E-1622-F79A-8901237E82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721790"/>
              </p:ext>
            </p:extLst>
          </p:nvPr>
        </p:nvGraphicFramePr>
        <p:xfrm>
          <a:off x="269237" y="1339878"/>
          <a:ext cx="11303638" cy="416052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01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70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75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8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49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00505">
                  <a:extLst>
                    <a:ext uri="{9D8B030D-6E8A-4147-A177-3AD203B41FA5}">
                      <a16:colId xmlns:a16="http://schemas.microsoft.com/office/drawing/2014/main" val="2093698825"/>
                    </a:ext>
                  </a:extLst>
                </a:gridCol>
                <a:gridCol w="1359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1415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zh-CN" altLang="en-US" sz="11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关键收益指标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场站名称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月度总收益（万元）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额定容量收益</a:t>
                      </a:r>
                      <a:endParaRPr lang="en-US" altLang="zh-CN" sz="11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（元</a:t>
                      </a:r>
                      <a:r>
                        <a:rPr lang="en-US" altLang="zh-CN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/MWh</a:t>
                      </a:r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日均充电次数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现货价差</a:t>
                      </a:r>
                      <a:endParaRPr lang="en-US" altLang="zh-CN" sz="11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（元</a:t>
                      </a:r>
                      <a:r>
                        <a:rPr lang="en-US" altLang="zh-CN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/MWh</a:t>
                      </a:r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实发容量补偿单价</a:t>
                      </a:r>
                      <a:endParaRPr lang="en-US" altLang="zh-CN" sz="11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（元</a:t>
                      </a:r>
                      <a:r>
                        <a:rPr lang="en-US" altLang="zh-CN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/MWh</a:t>
                      </a:r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系统运行费单价（元</a:t>
                      </a:r>
                      <a:r>
                        <a:rPr lang="en-US" altLang="zh-CN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/MWh)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收益指标</a:t>
                      </a:r>
                      <a:r>
                        <a:rPr lang="en-US" altLang="zh-CN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100" b="1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实际达成</a:t>
                      </a:r>
                      <a:r>
                        <a:rPr lang="en-US" altLang="zh-CN" sz="1100" b="1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100" b="1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累计收益和百分比）</a:t>
                      </a:r>
                      <a:endParaRPr lang="en-US" altLang="zh-CN" sz="1100" b="1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100" b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（收益分成）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苏右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423.20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10579.89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39.51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368.36</a:t>
                      </a:r>
                    </a:p>
                  </a:txBody>
                  <a:tcPr anchor="ctr"/>
                </a:tc>
                <a:tc rowSpan="7"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40.4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3669/6000</a:t>
                      </a:r>
                      <a:r>
                        <a:rPr lang="zh-CN" altLang="en-US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</a:t>
                      </a:r>
                      <a:endParaRPr lang="en-US" altLang="zh-CN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en-US" altLang="zh-CN" sz="12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61%</a:t>
                      </a:r>
                      <a:endParaRPr lang="zh-CN" altLang="en-US" sz="12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杭锦旗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613.99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15349.83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110.193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352.98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zh-CN" sz="12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4156/6000</a:t>
                      </a:r>
                      <a:r>
                        <a:rPr lang="zh-CN" altLang="en-US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</a:t>
                      </a:r>
                      <a:endParaRPr lang="en-US" altLang="zh-CN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en-US" altLang="zh-CN" sz="12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69%</a:t>
                      </a:r>
                      <a:endParaRPr lang="zh-CN" altLang="en-US" sz="12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四子王旗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423.43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10585.63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33.55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352.17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zh-CN" sz="12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3058/6000</a:t>
                      </a:r>
                      <a:r>
                        <a:rPr lang="zh-CN" altLang="en-US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</a:t>
                      </a:r>
                      <a:endParaRPr lang="en-US" altLang="zh-CN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en-US" altLang="zh-CN" sz="12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51%</a:t>
                      </a:r>
                      <a:endParaRPr lang="zh-CN" altLang="en-US" sz="12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谷山梁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3039.09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15195.47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114.22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352.67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zh-CN" sz="12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18853/29000</a:t>
                      </a:r>
                      <a:r>
                        <a:rPr lang="zh-CN" altLang="en-US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</a:t>
                      </a:r>
                      <a:endParaRPr lang="en-US" altLang="zh-CN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en-US" altLang="zh-CN" sz="12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65%</a:t>
                      </a:r>
                      <a:endParaRPr lang="zh-CN" altLang="en-US" sz="12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乌海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589.63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14740.74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103.93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364.71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zh-CN" sz="12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累计</a:t>
                      </a:r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4375</a:t>
                      </a:r>
                      <a:r>
                        <a:rPr lang="zh-CN" altLang="en-US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</a:t>
                      </a:r>
                      <a:endParaRPr lang="en-US" altLang="zh-CN" sz="12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2571648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乌拉特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517.80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12944.96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90.63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365.64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zh-CN" sz="12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累计</a:t>
                      </a:r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3891</a:t>
                      </a:r>
                      <a:r>
                        <a:rPr lang="zh-CN" altLang="en-US" sz="1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万</a:t>
                      </a:r>
                      <a:endParaRPr lang="en-US" altLang="zh-CN" sz="12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9476392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巴盟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4002.32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10005.80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0.99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96.56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354.93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zh-CN" sz="12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累计</a:t>
                      </a:r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36681</a:t>
                      </a:r>
                      <a:r>
                        <a:rPr lang="zh-CN" altLang="en-US" sz="1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万</a:t>
                      </a:r>
                      <a:endParaRPr lang="en-US" altLang="zh-CN" sz="12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604449202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039E706A-1768-1D15-326B-9C8195A8A2C5}"/>
              </a:ext>
            </a:extLst>
          </p:cNvPr>
          <p:cNvSpPr txBox="1"/>
          <p:nvPr/>
        </p:nvSpPr>
        <p:spPr>
          <a:xfrm>
            <a:off x="3401576" y="5415533"/>
            <a:ext cx="1830823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*</a:t>
            </a:r>
            <a:r>
              <a:rPr lang="zh-CN" altLang="en-US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市场平均水平为</a:t>
            </a:r>
            <a:r>
              <a:rPr lang="en-US" altLang="zh-CN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1.19</a:t>
            </a:r>
            <a:r>
              <a:rPr lang="zh-CN" altLang="en-US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</a:t>
            </a:r>
            <a:endParaRPr kumimoji="0" lang="zh-CN" altLang="en-US" sz="12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F6754E4-A0D6-734A-4F8B-9FE754EA4C9A}"/>
              </a:ext>
            </a:extLst>
          </p:cNvPr>
          <p:cNvSpPr txBox="1"/>
          <p:nvPr/>
        </p:nvSpPr>
        <p:spPr>
          <a:xfrm>
            <a:off x="8438894" y="5861335"/>
            <a:ext cx="37531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zh-CN" altLang="en-US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合同达成收益口径</a:t>
            </a:r>
            <a:r>
              <a:rPr lang="en-US" altLang="zh-CN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现货收益</a:t>
            </a:r>
            <a:r>
              <a:rPr lang="en-US" altLang="zh-CN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容量补偿</a:t>
            </a:r>
            <a:r>
              <a:rPr lang="en-US" altLang="zh-CN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调频分摊</a:t>
            </a:r>
            <a:endParaRPr lang="en-US" altLang="zh-CN" sz="12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22694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6C9F2-C1D7-C6CE-0F14-11DEA38C4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769272A-4525-C104-F3E8-5C30179517F0}"/>
              </a:ext>
            </a:extLst>
          </p:cNvPr>
          <p:cNvSpPr/>
          <p:nvPr/>
        </p:nvSpPr>
        <p:spPr>
          <a:xfrm>
            <a:off x="0" y="0"/>
            <a:ext cx="12192000" cy="574177"/>
          </a:xfrm>
          <a:prstGeom prst="rect">
            <a:avLst/>
          </a:prstGeom>
          <a:solidFill>
            <a:srgbClr val="3B3B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ngXian"/>
              <a:ea typeface="DengXian" panose="02010600030101010101" pitchFamily="2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F50E9BD-01F7-D33B-0D41-6568CD379978}"/>
              </a:ext>
            </a:extLst>
          </p:cNvPr>
          <p:cNvSpPr txBox="1"/>
          <p:nvPr/>
        </p:nvSpPr>
        <p:spPr>
          <a:xfrm>
            <a:off x="126999" y="102938"/>
            <a:ext cx="5254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收益概览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61CDA66-6FBB-06C3-376D-194B0631DA46}"/>
              </a:ext>
            </a:extLst>
          </p:cNvPr>
          <p:cNvSpPr txBox="1"/>
          <p:nvPr/>
        </p:nvSpPr>
        <p:spPr>
          <a:xfrm>
            <a:off x="126998" y="813816"/>
            <a:ext cx="11668761" cy="529069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2DD0EDCA-B90E-E3F7-C035-D1612A2F85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6474143"/>
              </p:ext>
            </p:extLst>
          </p:nvPr>
        </p:nvGraphicFramePr>
        <p:xfrm>
          <a:off x="201167" y="1259086"/>
          <a:ext cx="11371706" cy="46800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768282">
                  <a:extLst>
                    <a:ext uri="{9D8B030D-6E8A-4147-A177-3AD203B41FA5}">
                      <a16:colId xmlns:a16="http://schemas.microsoft.com/office/drawing/2014/main" val="667949120"/>
                    </a:ext>
                  </a:extLst>
                </a:gridCol>
                <a:gridCol w="1038223">
                  <a:extLst>
                    <a:ext uri="{9D8B030D-6E8A-4147-A177-3AD203B41FA5}">
                      <a16:colId xmlns:a16="http://schemas.microsoft.com/office/drawing/2014/main" val="1261835547"/>
                    </a:ext>
                  </a:extLst>
                </a:gridCol>
                <a:gridCol w="1038223">
                  <a:extLst>
                    <a:ext uri="{9D8B030D-6E8A-4147-A177-3AD203B41FA5}">
                      <a16:colId xmlns:a16="http://schemas.microsoft.com/office/drawing/2014/main" val="3820191947"/>
                    </a:ext>
                  </a:extLst>
                </a:gridCol>
                <a:gridCol w="1215807">
                  <a:extLst>
                    <a:ext uri="{9D8B030D-6E8A-4147-A177-3AD203B41FA5}">
                      <a16:colId xmlns:a16="http://schemas.microsoft.com/office/drawing/2014/main" val="2489073120"/>
                    </a:ext>
                  </a:extLst>
                </a:gridCol>
                <a:gridCol w="1215807">
                  <a:extLst>
                    <a:ext uri="{9D8B030D-6E8A-4147-A177-3AD203B41FA5}">
                      <a16:colId xmlns:a16="http://schemas.microsoft.com/office/drawing/2014/main" val="270464836"/>
                    </a:ext>
                  </a:extLst>
                </a:gridCol>
                <a:gridCol w="982068">
                  <a:extLst>
                    <a:ext uri="{9D8B030D-6E8A-4147-A177-3AD203B41FA5}">
                      <a16:colId xmlns:a16="http://schemas.microsoft.com/office/drawing/2014/main" val="1402428963"/>
                    </a:ext>
                  </a:extLst>
                </a:gridCol>
                <a:gridCol w="982068">
                  <a:extLst>
                    <a:ext uri="{9D8B030D-6E8A-4147-A177-3AD203B41FA5}">
                      <a16:colId xmlns:a16="http://schemas.microsoft.com/office/drawing/2014/main" val="475764781"/>
                    </a:ext>
                  </a:extLst>
                </a:gridCol>
                <a:gridCol w="1032807">
                  <a:extLst>
                    <a:ext uri="{9D8B030D-6E8A-4147-A177-3AD203B41FA5}">
                      <a16:colId xmlns:a16="http://schemas.microsoft.com/office/drawing/2014/main" val="2082754537"/>
                    </a:ext>
                  </a:extLst>
                </a:gridCol>
                <a:gridCol w="1032807">
                  <a:extLst>
                    <a:ext uri="{9D8B030D-6E8A-4147-A177-3AD203B41FA5}">
                      <a16:colId xmlns:a16="http://schemas.microsoft.com/office/drawing/2014/main" val="799714809"/>
                    </a:ext>
                  </a:extLst>
                </a:gridCol>
                <a:gridCol w="1032807">
                  <a:extLst>
                    <a:ext uri="{9D8B030D-6E8A-4147-A177-3AD203B41FA5}">
                      <a16:colId xmlns:a16="http://schemas.microsoft.com/office/drawing/2014/main" val="587217622"/>
                    </a:ext>
                  </a:extLst>
                </a:gridCol>
                <a:gridCol w="1032807">
                  <a:extLst>
                    <a:ext uri="{9D8B030D-6E8A-4147-A177-3AD203B41FA5}">
                      <a16:colId xmlns:a16="http://schemas.microsoft.com/office/drawing/2014/main" val="2532574171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/>
                      <a:endParaRPr lang="zh-CN" altLang="en-US" sz="11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 gridSpan="9"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关键收益指标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1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1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1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altLang="zh-CN" sz="11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486623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场站名称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月度总收益（万元）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1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1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容量补贴单价</a:t>
                      </a:r>
                      <a:endParaRPr lang="en-US" altLang="zh-CN" sz="11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zh-CN" altLang="en-US" sz="11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（元</a:t>
                      </a:r>
                      <a:r>
                        <a:rPr lang="en-US" altLang="zh-CN" sz="11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/MWh</a:t>
                      </a:r>
                      <a:r>
                        <a:rPr lang="zh-CN" altLang="en-US" sz="11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）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1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1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日均充电次数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1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现货价差</a:t>
                      </a:r>
                      <a:endParaRPr lang="en-US" altLang="zh-CN" sz="11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（元</a:t>
                      </a:r>
                      <a:r>
                        <a:rPr lang="en-US" altLang="zh-CN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/MWh</a:t>
                      </a:r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1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系统运行费单价</a:t>
                      </a:r>
                      <a:endParaRPr lang="en-US" altLang="zh-CN" sz="11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（元</a:t>
                      </a:r>
                      <a:r>
                        <a:rPr lang="en-US" altLang="zh-CN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/MWh)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altLang="zh-CN" sz="11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55341620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046758150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苏右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370.21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423.20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355.16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368.36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1.18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24.90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39.51</a:t>
                      </a:r>
                    </a:p>
                  </a:txBody>
                  <a:tcPr anchor="ctr"/>
                </a:tc>
                <a:tc rowSpan="7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44.3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rowSpan="7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40.4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065997713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杭锦旗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523.49</a:t>
                      </a:r>
                      <a:endParaRPr lang="zh-CN" altLang="en-US" sz="12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613.99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348.69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352.98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1.41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79.22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110.19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zh-CN" sz="12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55486841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四子王旗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361.30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423.43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348.57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352.17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1.17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35.07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33.55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zh-CN" sz="12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766875092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谷山梁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2352.14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3039.09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348.72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352.67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1.26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78.44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114.22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zh-CN" sz="12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0624370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乌海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527.95</a:t>
                      </a:r>
                      <a:endParaRPr lang="zh-CN" altLang="en-US" sz="12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589.63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353.47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364.71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1.40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 dirty="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83.02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103.93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zh-CN" sz="12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381195823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乌拉特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429.28</a:t>
                      </a:r>
                      <a:endParaRPr lang="zh-CN" altLang="en-US" sz="12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517.80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354.31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365.64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1.25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66.45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90.63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zh-CN" sz="12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18109278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巴盟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4094.89</a:t>
                      </a:r>
                      <a:endParaRPr lang="zh-CN" altLang="en-US" sz="12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4002.32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348.95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354.93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1.17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 dirty="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0.99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55.12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96.56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zh-CN" sz="12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676347276"/>
                  </a:ext>
                </a:extLst>
              </a:tr>
            </a:tbl>
          </a:graphicData>
        </a:graphic>
      </p:graphicFrame>
      <p:sp>
        <p:nvSpPr>
          <p:cNvPr id="28" name="文本框 27">
            <a:extLst>
              <a:ext uri="{FF2B5EF4-FFF2-40B4-BE49-F238E27FC236}">
                <a16:creationId xmlns:a16="http://schemas.microsoft.com/office/drawing/2014/main" id="{A888B0AB-841C-839E-93CA-A1027CEBB539}"/>
              </a:ext>
            </a:extLst>
          </p:cNvPr>
          <p:cNvSpPr txBox="1"/>
          <p:nvPr/>
        </p:nvSpPr>
        <p:spPr>
          <a:xfrm>
            <a:off x="126998" y="5907371"/>
            <a:ext cx="9439835" cy="336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月度总收益</a:t>
            </a:r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现货收益</a:t>
            </a:r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容量补偿</a:t>
            </a:r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系统运行费</a:t>
            </a:r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线损费用</a:t>
            </a:r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调频分摊</a:t>
            </a:r>
            <a:endParaRPr lang="en-US" altLang="zh-CN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34980FB-9E60-25A0-02AA-1FFB90D124C3}"/>
              </a:ext>
            </a:extLst>
          </p:cNvPr>
          <p:cNvSpPr txBox="1"/>
          <p:nvPr/>
        </p:nvSpPr>
        <p:spPr>
          <a:xfrm>
            <a:off x="201168" y="889754"/>
            <a:ext cx="9184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7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月整体收益较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6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月提升明显，容量补贴单价提高，系统运行费单价降低</a:t>
            </a:r>
          </a:p>
        </p:txBody>
      </p:sp>
      <p:sp>
        <p:nvSpPr>
          <p:cNvPr id="5" name="箭头: 上 4">
            <a:extLst>
              <a:ext uri="{FF2B5EF4-FFF2-40B4-BE49-F238E27FC236}">
                <a16:creationId xmlns:a16="http://schemas.microsoft.com/office/drawing/2014/main" id="{2D2C761B-F0E6-5654-AE22-717D0EB53020}"/>
              </a:ext>
            </a:extLst>
          </p:cNvPr>
          <p:cNvSpPr/>
          <p:nvPr/>
        </p:nvSpPr>
        <p:spPr>
          <a:xfrm>
            <a:off x="2693043" y="1826630"/>
            <a:ext cx="314325" cy="257175"/>
          </a:xfrm>
          <a:prstGeom prst="up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958F86F4-AC31-744F-0ECF-D408969AD260}"/>
              </a:ext>
            </a:extLst>
          </p:cNvPr>
          <p:cNvSpPr/>
          <p:nvPr/>
        </p:nvSpPr>
        <p:spPr>
          <a:xfrm>
            <a:off x="4782194" y="1828076"/>
            <a:ext cx="314325" cy="257175"/>
          </a:xfrm>
          <a:prstGeom prst="up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箭头: 上 10">
            <a:extLst>
              <a:ext uri="{FF2B5EF4-FFF2-40B4-BE49-F238E27FC236}">
                <a16:creationId xmlns:a16="http://schemas.microsoft.com/office/drawing/2014/main" id="{093CF2AB-4CFF-F4EB-6535-DCABD2E7A616}"/>
              </a:ext>
            </a:extLst>
          </p:cNvPr>
          <p:cNvSpPr/>
          <p:nvPr/>
        </p:nvSpPr>
        <p:spPr>
          <a:xfrm flipV="1">
            <a:off x="11101386" y="1826630"/>
            <a:ext cx="314325" cy="257175"/>
          </a:xfrm>
          <a:prstGeom prst="up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02243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6549" y="472270"/>
            <a:ext cx="11518901" cy="5710559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0" y="0"/>
            <a:ext cx="12192000" cy="574177"/>
          </a:xfrm>
          <a:prstGeom prst="rect">
            <a:avLst/>
          </a:prstGeom>
          <a:solidFill>
            <a:srgbClr val="3B3B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26999" y="102938"/>
            <a:ext cx="5254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1. 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收益概览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574177"/>
          </a:xfrm>
          <a:prstGeom prst="rect">
            <a:avLst/>
          </a:prstGeom>
          <a:solidFill>
            <a:srgbClr val="3B3B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6999" y="102938"/>
            <a:ext cx="5026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1.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收益概览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-7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月现货及补偿</a:t>
            </a: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收益拆解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8417193"/>
              </p:ext>
            </p:extLst>
          </p:nvPr>
        </p:nvGraphicFramePr>
        <p:xfrm>
          <a:off x="0" y="574176"/>
          <a:ext cx="12191998" cy="370023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378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78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78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78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78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784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784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3784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3784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3784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3784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93784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93784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78697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曲线</a:t>
                      </a:r>
                      <a:endParaRPr lang="zh-CN" altLang="en-US" sz="1400" b="1" i="0" u="none" strike="noStrike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86" marR="4686" marT="468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远景景蓝</a:t>
                      </a:r>
                      <a:endParaRPr lang="zh-CN" altLang="en-US" sz="1600" b="1" i="0" u="none" strike="noStrike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86" marR="4686" marT="468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悦杭独贵</a:t>
                      </a:r>
                      <a:endParaRPr lang="zh-CN" altLang="en-US" sz="1600" b="1" i="0" u="none" strike="noStrike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86" marR="4686" marT="468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景通四益堂</a:t>
                      </a:r>
                      <a:endParaRPr lang="zh-CN" altLang="en-US" sz="1600" b="1" i="0" u="none" strike="noStrike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86" marR="4686" marT="468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裕昭新能源</a:t>
                      </a:r>
                      <a:endParaRPr lang="zh-CN" altLang="en-US" sz="1600" b="1" i="0" u="none" strike="noStrike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86" marR="4686" marT="468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326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收益</a:t>
                      </a:r>
                      <a:endParaRPr lang="en-US" altLang="zh-CN" sz="1400" u="none" strike="noStrike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ctr"/>
                      <a:r>
                        <a:rPr lang="en-US" altLang="zh-CN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万元</a:t>
                      </a:r>
                      <a:r>
                        <a:rPr lang="en-US" altLang="zh-CN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endParaRPr lang="en-US" altLang="zh-CN" sz="1400" b="1" i="0" u="none" strike="noStrike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86" marR="4686" marT="468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充电量</a:t>
                      </a:r>
                      <a:r>
                        <a:rPr lang="en-US" altLang="zh-CN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MWh)</a:t>
                      </a:r>
                      <a:endParaRPr lang="en-US" sz="1400" b="1" i="0" u="none" strike="noStrike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86" marR="4686" marT="468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放电量</a:t>
                      </a:r>
                      <a:r>
                        <a:rPr lang="en-US" altLang="zh-CN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MWh)</a:t>
                      </a:r>
                      <a:endParaRPr lang="en-US" sz="1400" b="1" i="0" u="none" strike="noStrike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86" marR="4686" marT="468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收益</a:t>
                      </a:r>
                      <a:endParaRPr lang="en-US" altLang="zh-CN" sz="1400" u="none" strike="noStrike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ctr"/>
                      <a:r>
                        <a:rPr lang="en-US" altLang="zh-CN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万元</a:t>
                      </a:r>
                      <a:r>
                        <a:rPr lang="en-US" altLang="zh-CN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endParaRPr lang="en-US" altLang="zh-CN" sz="1400" b="1" i="0" u="none" strike="noStrike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86" marR="4686" marT="468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充电量</a:t>
                      </a:r>
                      <a:r>
                        <a:rPr lang="en-US" altLang="zh-CN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MWh)</a:t>
                      </a:r>
                      <a:endParaRPr lang="en-US" sz="1400" b="1" i="0" u="none" strike="noStrike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86" marR="4686" marT="468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放电量</a:t>
                      </a:r>
                      <a:r>
                        <a:rPr lang="en-US" altLang="zh-CN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MWh)</a:t>
                      </a:r>
                      <a:endParaRPr lang="en-US" sz="1400" b="1" i="0" u="none" strike="noStrike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86" marR="4686" marT="468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收益</a:t>
                      </a:r>
                      <a:endParaRPr lang="en-US" altLang="zh-CN" sz="1400" u="none" strike="noStrike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ctr"/>
                      <a:r>
                        <a:rPr lang="en-US" altLang="zh-CN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万元</a:t>
                      </a:r>
                      <a:r>
                        <a:rPr lang="en-US" altLang="zh-CN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endParaRPr lang="en-US" altLang="zh-CN" sz="1400" b="1" i="0" u="none" strike="noStrike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86" marR="4686" marT="468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充电量</a:t>
                      </a:r>
                      <a:r>
                        <a:rPr lang="en-US" altLang="zh-CN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MWh)</a:t>
                      </a:r>
                      <a:endParaRPr lang="en-US" sz="1400" b="1" i="0" u="none" strike="noStrike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86" marR="4686" marT="468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放电量</a:t>
                      </a:r>
                      <a:r>
                        <a:rPr lang="en-US" altLang="zh-CN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MWh)</a:t>
                      </a:r>
                      <a:endParaRPr lang="en-US" sz="1400" b="1" i="0" u="none" strike="noStrike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86" marR="4686" marT="468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收益</a:t>
                      </a:r>
                      <a:endParaRPr lang="en-US" altLang="zh-CN" sz="1400" u="none" strike="noStrike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ctr"/>
                      <a:r>
                        <a:rPr lang="en-US" altLang="zh-CN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万元</a:t>
                      </a:r>
                      <a:r>
                        <a:rPr lang="en-US" altLang="zh-CN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endParaRPr lang="en-US" altLang="zh-CN" sz="1400" b="1" i="0" u="none" strike="noStrike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86" marR="4686" marT="468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充电量</a:t>
                      </a:r>
                      <a:r>
                        <a:rPr lang="en-US" altLang="zh-CN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MWh)</a:t>
                      </a:r>
                      <a:endParaRPr lang="en-US" sz="1400" b="1" i="0" u="none" strike="noStrike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86" marR="4686" marT="468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放电量</a:t>
                      </a:r>
                      <a:r>
                        <a:rPr lang="en-US" altLang="zh-CN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MWh)</a:t>
                      </a:r>
                      <a:endParaRPr lang="en-US" sz="1400" b="1" i="0" u="none" strike="noStrike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86" marR="4686" marT="468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策略申报收益</a:t>
                      </a:r>
                    </a:p>
                  </a:txBody>
                  <a:tcPr marL="4686" marR="4686" marT="4686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561.8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17,998.2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16,286.8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717.3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18,155.8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16,306.8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541.1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18,021.0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15,866.0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3,509.1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88,545.9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79,501.5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实时出清收益</a:t>
                      </a:r>
                      <a:endParaRPr lang="zh-CN" altLang="en-US" sz="1200" b="1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86" marR="4686" marT="4686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528.2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15,712.6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14,496.8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715.9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17,872.7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16,109.1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538.9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17,300.7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15,376.9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3,487.4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87,183.9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78,280.7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实际执行收益</a:t>
                      </a:r>
                      <a:endParaRPr lang="zh-CN" altLang="en-US" sz="1200" b="1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86" marR="4686" marT="4686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478.1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14,812.9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13,276.6</a:t>
                      </a:r>
                      <a:endParaRPr lang="zh-CN" altLang="en-US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705.9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17,701.7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15,897.8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536.7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16,684.1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15,017.7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3,482.7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85,665.8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77,250.3</a:t>
                      </a:r>
                      <a:endParaRPr lang="zh-CN" altLang="en-US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-11393" y="4662270"/>
            <a:ext cx="3027322" cy="89069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苏右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策略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出清：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-33.60/</a:t>
            </a:r>
            <a:r>
              <a:rPr lang="en-US" altLang="zh-CN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-6.0%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-16.1%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出清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执行：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- 50.10/</a:t>
            </a: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-9.5%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-8.2%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3107643" y="4662270"/>
            <a:ext cx="2960786" cy="89069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杭锦旗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策略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出清：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-1.41/</a:t>
            </a:r>
            <a:r>
              <a:rPr lang="en-US" altLang="zh-CN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-0.2%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-1.6%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出清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执行：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-10.1/</a:t>
            </a:r>
            <a:r>
              <a:rPr lang="en-US" altLang="zh-CN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-1.4%</a:t>
            </a:r>
            <a:r>
              <a:rPr lang="zh-CN" altLang="en-US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-3.6%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148750" y="4662270"/>
            <a:ext cx="3027321" cy="89069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四子王旗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策略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出清：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-2.2/</a:t>
            </a:r>
            <a:r>
              <a:rPr lang="en-US" altLang="zh-CN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-0.4%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-18.8%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出清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执行：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- 2.2/</a:t>
            </a:r>
            <a:r>
              <a:rPr lang="en-US" altLang="zh-CN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-0.4%</a:t>
            </a:r>
            <a:r>
              <a:rPr lang="zh-CN" altLang="en-US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-8.3%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256391" y="4662270"/>
            <a:ext cx="2935607" cy="89069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谷山梁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策略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出清：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- 21.8/</a:t>
            </a:r>
            <a:r>
              <a:rPr lang="en-US" altLang="zh-CN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-0.62%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-1.5%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出清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执行：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- 4.6/</a:t>
            </a:r>
            <a:r>
              <a:rPr lang="en-US" altLang="zh-CN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-0.13%</a:t>
            </a:r>
            <a:r>
              <a:rPr lang="zh-CN" altLang="en-US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-12.3%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926497A-B7FD-1450-BB10-0D1666762DCB}"/>
              </a:ext>
            </a:extLst>
          </p:cNvPr>
          <p:cNvSpPr txBox="1"/>
          <p:nvPr/>
        </p:nvSpPr>
        <p:spPr>
          <a:xfrm>
            <a:off x="0" y="5899952"/>
            <a:ext cx="9439835" cy="336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容量补偿单价按照</a:t>
            </a:r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350</a:t>
            </a: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</a:t>
            </a:r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/MWh</a:t>
            </a: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计算；（）内是</a:t>
            </a:r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月份的收益损失</a:t>
            </a:r>
            <a:endParaRPr lang="en-US" altLang="zh-CN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4646A-54DF-0C49-F8C5-866634592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3C3F321-8BEB-FA38-0C2F-02AAE26B4511}"/>
              </a:ext>
            </a:extLst>
          </p:cNvPr>
          <p:cNvSpPr/>
          <p:nvPr/>
        </p:nvSpPr>
        <p:spPr>
          <a:xfrm>
            <a:off x="0" y="0"/>
            <a:ext cx="12192000" cy="574177"/>
          </a:xfrm>
          <a:prstGeom prst="rect">
            <a:avLst/>
          </a:prstGeom>
          <a:solidFill>
            <a:srgbClr val="3B3B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86AB074-A71E-6F42-E202-155852C3AE58}"/>
              </a:ext>
            </a:extLst>
          </p:cNvPr>
          <p:cNvSpPr txBox="1"/>
          <p:nvPr/>
        </p:nvSpPr>
        <p:spPr>
          <a:xfrm>
            <a:off x="126999" y="102938"/>
            <a:ext cx="5026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1.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收益概览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-7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月现货及补偿</a:t>
            </a: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收益拆解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50AB5EF0-9B3F-FE48-4363-30F5B4E5EC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3450877"/>
              </p:ext>
            </p:extLst>
          </p:nvPr>
        </p:nvGraphicFramePr>
        <p:xfrm>
          <a:off x="0" y="574176"/>
          <a:ext cx="12192000" cy="370023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78697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曲线</a:t>
                      </a:r>
                      <a:endParaRPr lang="zh-CN" altLang="en-US" sz="1400" b="1" i="0" u="none" strike="noStrike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86" marR="4686" marT="468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乌海</a:t>
                      </a:r>
                      <a:endParaRPr lang="zh-CN" altLang="en-US" sz="1600" b="1" i="0" u="none" strike="noStrike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86" marR="4686" marT="468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乌拉特</a:t>
                      </a:r>
                      <a:endParaRPr lang="zh-CN" altLang="en-US" sz="1600" b="1" i="0" u="none" strike="noStrike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86" marR="4686" marT="468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巴盟</a:t>
                      </a:r>
                      <a:endParaRPr lang="zh-CN" altLang="en-US" sz="1600" b="1" i="0" u="none" strike="noStrike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86" marR="4686" marT="468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326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收益</a:t>
                      </a:r>
                      <a:endParaRPr lang="en-US" altLang="zh-CN" sz="1400" u="none" strike="noStrike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ctr"/>
                      <a:r>
                        <a:rPr lang="en-US" altLang="zh-CN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万元</a:t>
                      </a:r>
                      <a:r>
                        <a:rPr lang="en-US" altLang="zh-CN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endParaRPr lang="en-US" altLang="zh-CN" sz="1400" b="1" i="0" u="none" strike="noStrike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86" marR="4686" marT="468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充电量</a:t>
                      </a:r>
                      <a:r>
                        <a:rPr lang="en-US" altLang="zh-CN" sz="1400" u="none" strike="noStrike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sz="1400" u="none" strike="noStrike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MWh)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86" marR="4686" marT="468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放电量</a:t>
                      </a:r>
                      <a:r>
                        <a:rPr lang="en-US" altLang="zh-CN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MWh)</a:t>
                      </a:r>
                      <a:endParaRPr lang="en-US" sz="1400" b="1" i="0" u="none" strike="noStrike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86" marR="4686" marT="468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收益</a:t>
                      </a:r>
                      <a:endParaRPr lang="en-US" altLang="zh-CN" sz="1400" u="none" strike="noStrike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ctr"/>
                      <a:r>
                        <a:rPr lang="en-US" altLang="zh-CN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万元</a:t>
                      </a:r>
                      <a:r>
                        <a:rPr lang="en-US" altLang="zh-CN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endParaRPr lang="en-US" altLang="zh-CN" sz="1400" b="1" i="0" u="none" strike="noStrike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86" marR="4686" marT="468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充电量</a:t>
                      </a:r>
                      <a:r>
                        <a:rPr lang="en-US" altLang="zh-CN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MWh)</a:t>
                      </a:r>
                      <a:endParaRPr lang="en-US" sz="1400" b="1" i="0" u="none" strike="noStrike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86" marR="4686" marT="468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放电量</a:t>
                      </a:r>
                      <a:r>
                        <a:rPr lang="en-US" altLang="zh-CN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MWh)</a:t>
                      </a:r>
                      <a:endParaRPr lang="en-US" sz="1400" b="1" i="0" u="none" strike="noStrike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86" marR="4686" marT="468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收益</a:t>
                      </a:r>
                      <a:endParaRPr lang="en-US" altLang="zh-CN" sz="1400" u="none" strike="noStrike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ctr"/>
                      <a:r>
                        <a:rPr lang="en-US" altLang="zh-CN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万元</a:t>
                      </a:r>
                      <a:r>
                        <a:rPr lang="en-US" altLang="zh-CN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endParaRPr lang="en-US" altLang="zh-CN" sz="1400" b="1" i="0" u="none" strike="noStrike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86" marR="4686" marT="468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充电量</a:t>
                      </a:r>
                      <a:r>
                        <a:rPr lang="en-US" altLang="zh-CN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MWh)</a:t>
                      </a:r>
                      <a:endParaRPr lang="en-US" sz="1400" b="1" i="0" u="none" strike="noStrike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86" marR="4686" marT="468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放电量</a:t>
                      </a:r>
                      <a:r>
                        <a:rPr lang="en-US" altLang="zh-CN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MWh)</a:t>
                      </a:r>
                      <a:endParaRPr lang="en-US" sz="1400" b="1" i="0" u="none" strike="noStrike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86" marR="4686" marT="468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策略申报收益</a:t>
                      </a:r>
                    </a:p>
                  </a:txBody>
                  <a:tcPr marL="4686" marR="4686" marT="4686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701.2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17919.8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16070.0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642.6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17,382.9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15,535.8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4,894.4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127,687.1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114,565.4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实时出清收益</a:t>
                      </a:r>
                      <a:endParaRPr lang="zh-CN" altLang="en-US" sz="1200" b="1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86" marR="4686" marT="4686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701.2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17600.9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15924.6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639.4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16,965.8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15,190.0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4,828.3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125,909.4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112,888.3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实际执行收益</a:t>
                      </a:r>
                      <a:endParaRPr lang="zh-CN" altLang="en-US" sz="1200" b="1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86" marR="4686" marT="4686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670.9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17261.8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15119.9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607.5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15,455.5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14,300.9</a:t>
                      </a:r>
                      <a:endParaRPr lang="zh-CN" alt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4,609.5</a:t>
                      </a:r>
                      <a:endParaRPr lang="zh-CN" alt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120,899.8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107,622.9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0EBBB64D-BACC-5E8C-B67E-BE4A057F91CE}"/>
              </a:ext>
            </a:extLst>
          </p:cNvPr>
          <p:cNvSpPr txBox="1"/>
          <p:nvPr/>
        </p:nvSpPr>
        <p:spPr>
          <a:xfrm>
            <a:off x="1507964" y="4624682"/>
            <a:ext cx="3027322" cy="89069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乌海（非远景运维）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策略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出清：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0/</a:t>
            </a:r>
            <a:r>
              <a:rPr lang="en-US" altLang="zh-CN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0%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-0.4%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出清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执行：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-30.3/</a:t>
            </a:r>
            <a:r>
              <a:rPr lang="en-US" altLang="zh-CN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-4.3%</a:t>
            </a:r>
            <a:r>
              <a:rPr lang="zh-CN" altLang="en-US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-6.1%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8605BAF-6808-6B95-3D81-618B7BBA723F}"/>
              </a:ext>
            </a:extLst>
          </p:cNvPr>
          <p:cNvSpPr txBox="1"/>
          <p:nvPr/>
        </p:nvSpPr>
        <p:spPr>
          <a:xfrm>
            <a:off x="4615607" y="4624682"/>
            <a:ext cx="2960786" cy="89069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乌拉特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策略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出清：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-3.1/</a:t>
            </a:r>
            <a:r>
              <a:rPr lang="en-US" altLang="zh-CN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-0.5%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-7.2%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出清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执行：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-31.9/</a:t>
            </a:r>
            <a:r>
              <a:rPr lang="en-US" altLang="zh-CN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-5.0%</a:t>
            </a:r>
            <a:r>
              <a:rPr lang="zh-CN" altLang="en-US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-6.2%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87CDFE6-C9D6-CBAD-839C-087BCD6FC905}"/>
              </a:ext>
            </a:extLst>
          </p:cNvPr>
          <p:cNvSpPr txBox="1"/>
          <p:nvPr/>
        </p:nvSpPr>
        <p:spPr>
          <a:xfrm>
            <a:off x="7656714" y="4624682"/>
            <a:ext cx="3027321" cy="89069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巴盟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策略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出清：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-66.1/</a:t>
            </a:r>
            <a:r>
              <a:rPr lang="en-US" altLang="zh-CN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-1.4%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-3.1%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出清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执行：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-218.8/</a:t>
            </a:r>
            <a:r>
              <a:rPr lang="en-US" altLang="zh-CN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-4.5%</a:t>
            </a:r>
            <a:r>
              <a:rPr lang="zh-CN" altLang="en-US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-21.3%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CC54605-2618-3BF0-9088-BE0B8A91E34C}"/>
              </a:ext>
            </a:extLst>
          </p:cNvPr>
          <p:cNvSpPr txBox="1"/>
          <p:nvPr/>
        </p:nvSpPr>
        <p:spPr>
          <a:xfrm>
            <a:off x="0" y="5899952"/>
            <a:ext cx="9439835" cy="336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巴盟数值变化来源于涉网试验期间申报方式变化</a:t>
            </a:r>
            <a:endParaRPr lang="en-US" altLang="zh-CN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468329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574177"/>
          </a:xfrm>
          <a:prstGeom prst="rect">
            <a:avLst/>
          </a:prstGeom>
          <a:solidFill>
            <a:srgbClr val="3B3B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6999" y="102938"/>
            <a:ext cx="8359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2. </a:t>
            </a:r>
            <a:r>
              <a:rPr lang="zh-CN" altLang="en-US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市场环境分析 </a:t>
            </a:r>
            <a:r>
              <a:rPr lang="en-US" altLang="zh-CN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- </a:t>
            </a:r>
            <a:r>
              <a:rPr lang="zh-CN" altLang="en-US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蒙西</a:t>
            </a:r>
            <a:r>
              <a:rPr lang="en-US" altLang="zh-CN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7</a:t>
            </a:r>
            <a:r>
              <a:rPr lang="zh-CN" altLang="en-US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月</a:t>
            </a:r>
            <a:r>
              <a:rPr kumimoji="0" lang="zh-CN" altLang="en-US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现货价格及峰谷价差</a:t>
            </a:r>
            <a:r>
              <a:rPr lang="zh-CN" altLang="en-US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分析</a:t>
            </a:r>
            <a:endParaRPr kumimoji="0" lang="zh-CN" altLang="en-US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1" name="Shape 5"/>
          <p:cNvSpPr/>
          <p:nvPr/>
        </p:nvSpPr>
        <p:spPr>
          <a:xfrm>
            <a:off x="243840" y="1417320"/>
            <a:ext cx="5544312" cy="390144"/>
          </a:xfrm>
          <a:prstGeom prst="rect">
            <a:avLst/>
          </a:prstGeom>
          <a:solidFill>
            <a:srgbClr val="EAF0F4"/>
          </a:solidFill>
          <a:ln w="12700">
            <a:solidFill>
              <a:srgbClr val="EAF0F4"/>
            </a:solidFill>
            <a:prstDash val="solid"/>
          </a:ln>
        </p:spPr>
        <p:txBody>
          <a:bodyPr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Shape 6"/>
          <p:cNvSpPr/>
          <p:nvPr/>
        </p:nvSpPr>
        <p:spPr>
          <a:xfrm>
            <a:off x="243840" y="1417320"/>
            <a:ext cx="60960" cy="390144"/>
          </a:xfrm>
          <a:prstGeom prst="rect">
            <a:avLst/>
          </a:prstGeom>
          <a:solidFill>
            <a:srgbClr val="7B97AD"/>
          </a:solidFill>
          <a:ln w="12700">
            <a:solidFill>
              <a:srgbClr val="7B97AD"/>
            </a:solidFill>
            <a:prstDash val="solid"/>
          </a:ln>
        </p:spPr>
        <p:txBody>
          <a:bodyPr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Text 7"/>
          <p:cNvSpPr/>
          <p:nvPr/>
        </p:nvSpPr>
        <p:spPr>
          <a:xfrm>
            <a:off x="426720" y="1417320"/>
            <a:ext cx="5364480" cy="3901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rgbClr val="7B97A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现货均价对比（元/MWh）</a:t>
            </a:r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Shape 8"/>
          <p:cNvSpPr/>
          <p:nvPr/>
        </p:nvSpPr>
        <p:spPr>
          <a:xfrm>
            <a:off x="6132576" y="1417320"/>
            <a:ext cx="5782056" cy="390144"/>
          </a:xfrm>
          <a:prstGeom prst="rect">
            <a:avLst/>
          </a:prstGeom>
          <a:solidFill>
            <a:srgbClr val="EAF0F4"/>
          </a:solidFill>
          <a:ln w="12700">
            <a:solidFill>
              <a:srgbClr val="EAF0F4"/>
            </a:solidFill>
            <a:prstDash val="solid"/>
          </a:ln>
        </p:spPr>
        <p:txBody>
          <a:bodyPr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Shape 9"/>
          <p:cNvSpPr/>
          <p:nvPr/>
        </p:nvSpPr>
        <p:spPr>
          <a:xfrm>
            <a:off x="6035040" y="1417320"/>
            <a:ext cx="60960" cy="390144"/>
          </a:xfrm>
          <a:prstGeom prst="rect">
            <a:avLst/>
          </a:prstGeom>
          <a:solidFill>
            <a:srgbClr val="8C5A3C"/>
          </a:solidFill>
          <a:ln w="12700">
            <a:solidFill>
              <a:srgbClr val="8C5A3C"/>
            </a:solidFill>
            <a:prstDash val="solid"/>
          </a:ln>
        </p:spPr>
        <p:txBody>
          <a:bodyPr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Text 10"/>
          <p:cNvSpPr/>
          <p:nvPr/>
        </p:nvSpPr>
        <p:spPr>
          <a:xfrm>
            <a:off x="6219824" y="1417320"/>
            <a:ext cx="5694807" cy="3901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400" b="1" dirty="0" err="1">
                <a:solidFill>
                  <a:srgbClr val="8C5A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峰谷价差对比（元</a:t>
            </a:r>
            <a:r>
              <a:rPr lang="en-US" sz="1400" b="1" dirty="0">
                <a:solidFill>
                  <a:srgbClr val="8C5A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/MWh）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Shape 11"/>
          <p:cNvSpPr/>
          <p:nvPr/>
        </p:nvSpPr>
        <p:spPr>
          <a:xfrm>
            <a:off x="243840" y="5097399"/>
            <a:ext cx="1853184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7B97AD"/>
            </a:solidFill>
            <a:prstDash val="solid"/>
          </a:ln>
        </p:spPr>
        <p:txBody>
          <a:bodyPr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Shape 12"/>
          <p:cNvSpPr/>
          <p:nvPr/>
        </p:nvSpPr>
        <p:spPr>
          <a:xfrm>
            <a:off x="243840" y="5097399"/>
            <a:ext cx="1853184" cy="60960"/>
          </a:xfrm>
          <a:prstGeom prst="rect">
            <a:avLst/>
          </a:prstGeom>
          <a:solidFill>
            <a:srgbClr val="7B97AD"/>
          </a:solidFill>
          <a:ln w="12700">
            <a:solidFill>
              <a:srgbClr val="7B97AD"/>
            </a:solidFill>
            <a:prstDash val="solid"/>
          </a:ln>
        </p:spPr>
        <p:txBody>
          <a:bodyPr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Text 13"/>
          <p:cNvSpPr/>
          <p:nvPr/>
        </p:nvSpPr>
        <p:spPr>
          <a:xfrm>
            <a:off x="243840" y="5170551"/>
            <a:ext cx="1853184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000" b="0" dirty="0" err="1">
                <a:solidFill>
                  <a:srgbClr val="607D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呼包东</a:t>
            </a:r>
            <a:r>
              <a:rPr lang="en-US" sz="1000" b="0" dirty="0">
                <a:solidFill>
                  <a:srgbClr val="607D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r>
              <a:rPr lang="en-US" sz="1000" b="0" dirty="0" err="1">
                <a:solidFill>
                  <a:srgbClr val="607D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均价</a:t>
            </a:r>
            <a:r>
              <a:rPr lang="en-US" sz="1000" b="0" dirty="0">
                <a:solidFill>
                  <a:srgbClr val="607D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(</a:t>
            </a:r>
            <a:r>
              <a:rPr lang="en-US" altLang="zh-CN" sz="1000" b="0" dirty="0">
                <a:solidFill>
                  <a:srgbClr val="607D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</a:t>
            </a:r>
            <a:r>
              <a:rPr lang="en-US" sz="1000" b="0" dirty="0">
                <a:solidFill>
                  <a:srgbClr val="607D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月)</a:t>
            </a:r>
            <a:endParaRPr 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Text 15"/>
          <p:cNvSpPr/>
          <p:nvPr/>
        </p:nvSpPr>
        <p:spPr>
          <a:xfrm>
            <a:off x="489204" y="5853303"/>
            <a:ext cx="594360" cy="243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900" b="0" dirty="0">
                <a:solidFill>
                  <a:srgbClr val="90A4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元/MWh</a:t>
            </a:r>
            <a:endParaRPr lang="en-US" sz="93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Shape 17"/>
          <p:cNvSpPr/>
          <p:nvPr/>
        </p:nvSpPr>
        <p:spPr>
          <a:xfrm>
            <a:off x="2206752" y="5097399"/>
            <a:ext cx="1853184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7B97AD"/>
            </a:solidFill>
            <a:prstDash val="solid"/>
          </a:ln>
        </p:spPr>
        <p:txBody>
          <a:bodyPr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Shape 18"/>
          <p:cNvSpPr/>
          <p:nvPr/>
        </p:nvSpPr>
        <p:spPr>
          <a:xfrm>
            <a:off x="2206752" y="5097399"/>
            <a:ext cx="1853184" cy="60960"/>
          </a:xfrm>
          <a:prstGeom prst="rect">
            <a:avLst/>
          </a:prstGeom>
          <a:solidFill>
            <a:srgbClr val="7B97AD"/>
          </a:solidFill>
          <a:ln w="12700">
            <a:solidFill>
              <a:srgbClr val="7B97AD"/>
            </a:solidFill>
            <a:prstDash val="solid"/>
          </a:ln>
        </p:spPr>
        <p:txBody>
          <a:bodyPr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Text 19"/>
          <p:cNvSpPr/>
          <p:nvPr/>
        </p:nvSpPr>
        <p:spPr>
          <a:xfrm>
            <a:off x="2206752" y="5170551"/>
            <a:ext cx="1853184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000" b="0" dirty="0" err="1">
                <a:solidFill>
                  <a:srgbClr val="607D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呼包西</a:t>
            </a:r>
            <a:r>
              <a:rPr lang="en-US" sz="1000" b="0" dirty="0">
                <a:solidFill>
                  <a:srgbClr val="607D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r>
              <a:rPr lang="en-US" sz="1000" b="0" dirty="0" err="1">
                <a:solidFill>
                  <a:srgbClr val="607D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均价</a:t>
            </a:r>
            <a:r>
              <a:rPr lang="en-US" sz="1000" b="0" dirty="0">
                <a:solidFill>
                  <a:srgbClr val="607D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(</a:t>
            </a:r>
            <a:r>
              <a:rPr lang="en-US" altLang="zh-CN" sz="1000" b="0" dirty="0">
                <a:solidFill>
                  <a:srgbClr val="607D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</a:t>
            </a:r>
            <a:r>
              <a:rPr lang="en-US" sz="1000" b="0" dirty="0">
                <a:solidFill>
                  <a:srgbClr val="607D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月)</a:t>
            </a:r>
            <a:endParaRPr 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Text 21"/>
          <p:cNvSpPr/>
          <p:nvPr/>
        </p:nvSpPr>
        <p:spPr>
          <a:xfrm>
            <a:off x="2457173" y="5852599"/>
            <a:ext cx="594360" cy="243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900" b="0" dirty="0">
                <a:solidFill>
                  <a:srgbClr val="90A4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元/MWh</a:t>
            </a:r>
            <a:endParaRPr lang="en-US" sz="93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Shape 23"/>
          <p:cNvSpPr/>
          <p:nvPr/>
        </p:nvSpPr>
        <p:spPr>
          <a:xfrm>
            <a:off x="4169664" y="5097399"/>
            <a:ext cx="1853184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7B97AD"/>
            </a:solidFill>
            <a:prstDash val="solid"/>
          </a:ln>
        </p:spPr>
        <p:txBody>
          <a:bodyPr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Shape 24"/>
          <p:cNvSpPr/>
          <p:nvPr/>
        </p:nvSpPr>
        <p:spPr>
          <a:xfrm>
            <a:off x="4169664" y="5097399"/>
            <a:ext cx="1853184" cy="60960"/>
          </a:xfrm>
          <a:prstGeom prst="rect">
            <a:avLst/>
          </a:prstGeom>
          <a:solidFill>
            <a:srgbClr val="7B97AD"/>
          </a:solidFill>
          <a:ln w="12700">
            <a:solidFill>
              <a:srgbClr val="7B97AD"/>
            </a:solidFill>
            <a:prstDash val="solid"/>
          </a:ln>
        </p:spPr>
        <p:txBody>
          <a:bodyPr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Text 25"/>
          <p:cNvSpPr/>
          <p:nvPr/>
        </p:nvSpPr>
        <p:spPr>
          <a:xfrm>
            <a:off x="4169664" y="5170551"/>
            <a:ext cx="1853184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000" b="0" dirty="0" err="1">
                <a:solidFill>
                  <a:srgbClr val="607D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统一结算价</a:t>
            </a:r>
            <a:r>
              <a:rPr lang="en-US" sz="1000" b="0" dirty="0">
                <a:solidFill>
                  <a:srgbClr val="607D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(</a:t>
            </a:r>
            <a:r>
              <a:rPr lang="en-US" altLang="zh-CN" sz="1000" b="0" dirty="0">
                <a:solidFill>
                  <a:srgbClr val="607D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</a:t>
            </a:r>
            <a:r>
              <a:rPr lang="en-US" sz="1000" b="0" dirty="0">
                <a:solidFill>
                  <a:srgbClr val="607D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月)</a:t>
            </a:r>
            <a:endParaRPr 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" name="Text 27"/>
          <p:cNvSpPr/>
          <p:nvPr/>
        </p:nvSpPr>
        <p:spPr>
          <a:xfrm>
            <a:off x="4421017" y="5841954"/>
            <a:ext cx="594360" cy="243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900" b="0" dirty="0">
                <a:solidFill>
                  <a:srgbClr val="90A4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元/MWh</a:t>
            </a:r>
            <a:endParaRPr lang="en-US" sz="93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Shape 29"/>
          <p:cNvSpPr/>
          <p:nvPr/>
        </p:nvSpPr>
        <p:spPr>
          <a:xfrm>
            <a:off x="6132576" y="5097399"/>
            <a:ext cx="1853184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8C5A3C"/>
            </a:solidFill>
            <a:prstDash val="solid"/>
          </a:ln>
        </p:spPr>
        <p:txBody>
          <a:bodyPr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Shape 30"/>
          <p:cNvSpPr/>
          <p:nvPr/>
        </p:nvSpPr>
        <p:spPr>
          <a:xfrm>
            <a:off x="6132576" y="5097399"/>
            <a:ext cx="1853184" cy="60960"/>
          </a:xfrm>
          <a:prstGeom prst="rect">
            <a:avLst/>
          </a:prstGeom>
          <a:solidFill>
            <a:srgbClr val="8C5A3C"/>
          </a:solidFill>
          <a:ln w="12700">
            <a:solidFill>
              <a:srgbClr val="8C5A3C"/>
            </a:solidFill>
            <a:prstDash val="solid"/>
          </a:ln>
        </p:spPr>
        <p:txBody>
          <a:bodyPr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Text 31"/>
          <p:cNvSpPr/>
          <p:nvPr/>
        </p:nvSpPr>
        <p:spPr>
          <a:xfrm>
            <a:off x="6132576" y="5170551"/>
            <a:ext cx="1853184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000" b="0" dirty="0" err="1">
                <a:solidFill>
                  <a:srgbClr val="607D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呼包东</a:t>
            </a:r>
            <a:r>
              <a:rPr lang="en-US" sz="1000" b="0" dirty="0">
                <a:solidFill>
                  <a:srgbClr val="607D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r>
              <a:rPr lang="zh-CN" altLang="en-US" sz="1000" b="0" dirty="0">
                <a:solidFill>
                  <a:srgbClr val="607D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最大</a:t>
            </a:r>
            <a:r>
              <a:rPr lang="en-US" sz="1000" b="0" dirty="0" err="1">
                <a:solidFill>
                  <a:srgbClr val="607D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峰谷差</a:t>
            </a:r>
            <a:endParaRPr 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Text 33"/>
          <p:cNvSpPr/>
          <p:nvPr/>
        </p:nvSpPr>
        <p:spPr>
          <a:xfrm>
            <a:off x="6153275" y="5853927"/>
            <a:ext cx="1019251" cy="243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900" b="0" dirty="0">
                <a:solidFill>
                  <a:srgbClr val="90A4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元/MWh</a:t>
            </a:r>
            <a:endParaRPr lang="en-US" sz="93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Shape 35"/>
          <p:cNvSpPr/>
          <p:nvPr/>
        </p:nvSpPr>
        <p:spPr>
          <a:xfrm>
            <a:off x="8095488" y="5097399"/>
            <a:ext cx="1853184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8C5A3C"/>
            </a:solidFill>
            <a:prstDash val="solid"/>
          </a:ln>
        </p:spPr>
        <p:txBody>
          <a:bodyPr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Shape 36"/>
          <p:cNvSpPr/>
          <p:nvPr/>
        </p:nvSpPr>
        <p:spPr>
          <a:xfrm>
            <a:off x="8095488" y="5097399"/>
            <a:ext cx="1853184" cy="60960"/>
          </a:xfrm>
          <a:prstGeom prst="rect">
            <a:avLst/>
          </a:prstGeom>
          <a:solidFill>
            <a:srgbClr val="8C5A3C"/>
          </a:solidFill>
          <a:ln w="12700">
            <a:solidFill>
              <a:srgbClr val="8C5A3C"/>
            </a:solidFill>
            <a:prstDash val="solid"/>
          </a:ln>
        </p:spPr>
        <p:txBody>
          <a:bodyPr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Text 37"/>
          <p:cNvSpPr/>
          <p:nvPr/>
        </p:nvSpPr>
        <p:spPr>
          <a:xfrm>
            <a:off x="8095488" y="5170551"/>
            <a:ext cx="1853184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000" b="0" dirty="0" err="1">
                <a:solidFill>
                  <a:srgbClr val="607D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呼包西</a:t>
            </a:r>
            <a:r>
              <a:rPr lang="en-US" sz="1000" b="0" dirty="0">
                <a:solidFill>
                  <a:srgbClr val="607D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 </a:t>
            </a:r>
            <a:r>
              <a:rPr lang="zh-CN" altLang="en-US" sz="1000" b="0" dirty="0">
                <a:solidFill>
                  <a:srgbClr val="607D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最大</a:t>
            </a:r>
            <a:r>
              <a:rPr lang="en-US" sz="1000" b="0" dirty="0" err="1">
                <a:solidFill>
                  <a:srgbClr val="607D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峰谷差</a:t>
            </a:r>
            <a:endParaRPr lang="en-US" sz="1000" dirty="0">
              <a:solidFill>
                <a:srgbClr val="607D8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Text 39"/>
          <p:cNvSpPr/>
          <p:nvPr/>
        </p:nvSpPr>
        <p:spPr>
          <a:xfrm>
            <a:off x="8086874" y="5841954"/>
            <a:ext cx="1019251" cy="243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900" b="0" dirty="0">
                <a:solidFill>
                  <a:srgbClr val="90A4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元/MWh</a:t>
            </a:r>
            <a:endParaRPr lang="en-US" sz="93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" name="Shape 41"/>
          <p:cNvSpPr/>
          <p:nvPr/>
        </p:nvSpPr>
        <p:spPr>
          <a:xfrm>
            <a:off x="10058400" y="5097399"/>
            <a:ext cx="1853184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8C5A3C"/>
            </a:solidFill>
            <a:prstDash val="solid"/>
          </a:ln>
        </p:spPr>
        <p:txBody>
          <a:bodyPr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Shape 42"/>
          <p:cNvSpPr/>
          <p:nvPr/>
        </p:nvSpPr>
        <p:spPr>
          <a:xfrm>
            <a:off x="10058400" y="5097399"/>
            <a:ext cx="1853184" cy="60960"/>
          </a:xfrm>
          <a:prstGeom prst="rect">
            <a:avLst/>
          </a:prstGeom>
          <a:solidFill>
            <a:srgbClr val="8C5A3C"/>
          </a:solidFill>
          <a:ln w="12700">
            <a:solidFill>
              <a:srgbClr val="8C5A3C"/>
            </a:solidFill>
            <a:prstDash val="solid"/>
          </a:ln>
        </p:spPr>
        <p:txBody>
          <a:bodyPr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1" name="Text 43"/>
          <p:cNvSpPr/>
          <p:nvPr/>
        </p:nvSpPr>
        <p:spPr>
          <a:xfrm>
            <a:off x="10058400" y="5170551"/>
            <a:ext cx="1853184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000" b="0" dirty="0">
                <a:solidFill>
                  <a:srgbClr val="607D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全市场最大</a:t>
            </a:r>
            <a:r>
              <a:rPr lang="en-US" sz="1000" b="0" dirty="0" err="1">
                <a:solidFill>
                  <a:srgbClr val="607D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峰谷差</a:t>
            </a:r>
            <a:endParaRPr 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3" name="Text 45"/>
          <p:cNvSpPr/>
          <p:nvPr/>
        </p:nvSpPr>
        <p:spPr>
          <a:xfrm>
            <a:off x="10053597" y="5850716"/>
            <a:ext cx="1019251" cy="243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900" b="0" dirty="0">
                <a:solidFill>
                  <a:srgbClr val="90A4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元/MWh</a:t>
            </a:r>
            <a:endParaRPr lang="en-US" sz="93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5735307-A92C-9FE2-CE0E-49204E70FEB8}"/>
              </a:ext>
            </a:extLst>
          </p:cNvPr>
          <p:cNvSpPr txBox="1"/>
          <p:nvPr/>
        </p:nvSpPr>
        <p:spPr>
          <a:xfrm>
            <a:off x="252805" y="694822"/>
            <a:ext cx="11704320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7</a:t>
            </a: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月蒙西小风季，现货均价下行，呈现东降西升；市场西部峰谷差微增，东部峰谷差收窄</a:t>
            </a:r>
          </a:p>
        </p:txBody>
      </p:sp>
      <p:sp>
        <p:nvSpPr>
          <p:cNvPr id="12" name="TextBox 17">
            <a:extLst>
              <a:ext uri="{FF2B5EF4-FFF2-40B4-BE49-F238E27FC236}">
                <a16:creationId xmlns:a16="http://schemas.microsoft.com/office/drawing/2014/main" id="{94A783E9-AF31-F2BB-5941-B28F8F978DB7}"/>
              </a:ext>
            </a:extLst>
          </p:cNvPr>
          <p:cNvSpPr txBox="1"/>
          <p:nvPr/>
        </p:nvSpPr>
        <p:spPr>
          <a:xfrm>
            <a:off x="574353" y="5447362"/>
            <a:ext cx="118360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100" b="1" dirty="0">
                <a:solidFill>
                  <a:srgbClr val="2D3548"/>
                </a:solidFill>
                <a:latin typeface="微软雅黑"/>
                <a:ea typeface="微软雅黑"/>
                <a:cs typeface="微软雅黑"/>
              </a:rPr>
              <a:t>350.66</a:t>
            </a:r>
            <a:endParaRPr sz="2100" b="1" dirty="0">
              <a:solidFill>
                <a:srgbClr val="2D3548"/>
              </a:solidFill>
              <a:latin typeface="Microsoft YaHei"/>
            </a:endParaRPr>
          </a:p>
        </p:txBody>
      </p:sp>
      <p:sp>
        <p:nvSpPr>
          <p:cNvPr id="13" name="TextBox 23">
            <a:extLst>
              <a:ext uri="{FF2B5EF4-FFF2-40B4-BE49-F238E27FC236}">
                <a16:creationId xmlns:a16="http://schemas.microsoft.com/office/drawing/2014/main" id="{9CAF7106-7D8A-389C-2354-86EE714587F6}"/>
              </a:ext>
            </a:extLst>
          </p:cNvPr>
          <p:cNvSpPr txBox="1"/>
          <p:nvPr/>
        </p:nvSpPr>
        <p:spPr>
          <a:xfrm>
            <a:off x="2528527" y="5447362"/>
            <a:ext cx="118360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100" b="1" dirty="0">
                <a:solidFill>
                  <a:srgbClr val="2D3548"/>
                </a:solidFill>
                <a:latin typeface="微软雅黑"/>
                <a:ea typeface="微软雅黑"/>
                <a:cs typeface="微软雅黑"/>
              </a:rPr>
              <a:t>258.52</a:t>
            </a:r>
            <a:endParaRPr sz="2100" b="1" dirty="0">
              <a:solidFill>
                <a:srgbClr val="2D3548"/>
              </a:solidFill>
              <a:latin typeface="Microsoft YaHei"/>
            </a:endParaRPr>
          </a:p>
        </p:txBody>
      </p:sp>
      <p:sp>
        <p:nvSpPr>
          <p:cNvPr id="14" name="TextBox 29">
            <a:extLst>
              <a:ext uri="{FF2B5EF4-FFF2-40B4-BE49-F238E27FC236}">
                <a16:creationId xmlns:a16="http://schemas.microsoft.com/office/drawing/2014/main" id="{6F87D01E-6BA3-9420-FDAB-FBF5A7ABA67D}"/>
              </a:ext>
            </a:extLst>
          </p:cNvPr>
          <p:cNvSpPr txBox="1"/>
          <p:nvPr/>
        </p:nvSpPr>
        <p:spPr>
          <a:xfrm>
            <a:off x="4504452" y="5447362"/>
            <a:ext cx="118360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100" b="1" dirty="0">
                <a:solidFill>
                  <a:srgbClr val="2D3548"/>
                </a:solidFill>
                <a:latin typeface="微软雅黑"/>
                <a:ea typeface="微软雅黑"/>
                <a:cs typeface="微软雅黑"/>
              </a:rPr>
              <a:t>302.72</a:t>
            </a:r>
            <a:endParaRPr sz="2100" b="1" dirty="0">
              <a:solidFill>
                <a:srgbClr val="2D3548"/>
              </a:solidFill>
              <a:latin typeface="Microsoft YaHei"/>
            </a:endParaRPr>
          </a:p>
        </p:txBody>
      </p:sp>
      <p:sp>
        <p:nvSpPr>
          <p:cNvPr id="15" name="TextBox 35">
            <a:extLst>
              <a:ext uri="{FF2B5EF4-FFF2-40B4-BE49-F238E27FC236}">
                <a16:creationId xmlns:a16="http://schemas.microsoft.com/office/drawing/2014/main" id="{F94A992D-8A29-2CBA-6F34-F330C79B8C56}"/>
              </a:ext>
            </a:extLst>
          </p:cNvPr>
          <p:cNvSpPr txBox="1"/>
          <p:nvPr/>
        </p:nvSpPr>
        <p:spPr>
          <a:xfrm>
            <a:off x="6473646" y="5438290"/>
            <a:ext cx="118360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100" b="1" dirty="0">
                <a:solidFill>
                  <a:srgbClr val="2D3548"/>
                </a:solidFill>
                <a:latin typeface="微软雅黑"/>
                <a:ea typeface="微软雅黑"/>
                <a:cs typeface="微软雅黑"/>
              </a:rPr>
              <a:t>151.1</a:t>
            </a:r>
            <a:endParaRPr sz="2100" b="1" dirty="0">
              <a:solidFill>
                <a:srgbClr val="2D3548"/>
              </a:solidFill>
              <a:latin typeface="Microsoft YaHei"/>
            </a:endParaRPr>
          </a:p>
        </p:txBody>
      </p:sp>
      <p:sp>
        <p:nvSpPr>
          <p:cNvPr id="16" name="TextBox 41">
            <a:extLst>
              <a:ext uri="{FF2B5EF4-FFF2-40B4-BE49-F238E27FC236}">
                <a16:creationId xmlns:a16="http://schemas.microsoft.com/office/drawing/2014/main" id="{83793671-8AFE-47E7-125F-889BC7D749EF}"/>
              </a:ext>
            </a:extLst>
          </p:cNvPr>
          <p:cNvSpPr txBox="1"/>
          <p:nvPr/>
        </p:nvSpPr>
        <p:spPr>
          <a:xfrm>
            <a:off x="8430276" y="5438290"/>
            <a:ext cx="118360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100" b="1" dirty="0">
                <a:solidFill>
                  <a:srgbClr val="2D3548"/>
                </a:solidFill>
                <a:latin typeface="微软雅黑"/>
                <a:ea typeface="微软雅黑"/>
                <a:cs typeface="微软雅黑"/>
              </a:rPr>
              <a:t>256.8</a:t>
            </a:r>
            <a:endParaRPr sz="2100" b="1" dirty="0">
              <a:solidFill>
                <a:srgbClr val="2D3548"/>
              </a:solidFill>
              <a:latin typeface="Microsoft YaHei"/>
            </a:endParaRPr>
          </a:p>
        </p:txBody>
      </p:sp>
      <p:sp>
        <p:nvSpPr>
          <p:cNvPr id="17" name="TextBox 47">
            <a:extLst>
              <a:ext uri="{FF2B5EF4-FFF2-40B4-BE49-F238E27FC236}">
                <a16:creationId xmlns:a16="http://schemas.microsoft.com/office/drawing/2014/main" id="{9DA99B2A-85BF-F7FE-E16E-C90003B9015B}"/>
              </a:ext>
            </a:extLst>
          </p:cNvPr>
          <p:cNvSpPr txBox="1"/>
          <p:nvPr/>
        </p:nvSpPr>
        <p:spPr>
          <a:xfrm>
            <a:off x="10394082" y="5447362"/>
            <a:ext cx="118360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100" b="1" dirty="0">
                <a:solidFill>
                  <a:srgbClr val="2D3548"/>
                </a:solidFill>
                <a:latin typeface="微软雅黑"/>
                <a:ea typeface="微软雅黑"/>
                <a:cs typeface="微软雅黑"/>
              </a:rPr>
              <a:t>210.1</a:t>
            </a:r>
            <a:endParaRPr sz="2100" b="1" dirty="0">
              <a:solidFill>
                <a:srgbClr val="2D3548"/>
              </a:solidFill>
              <a:latin typeface="Microsoft YaHei"/>
            </a:endParaRPr>
          </a:p>
        </p:txBody>
      </p:sp>
      <p:sp>
        <p:nvSpPr>
          <p:cNvPr id="19" name="TextBox 25">
            <a:extLst>
              <a:ext uri="{FF2B5EF4-FFF2-40B4-BE49-F238E27FC236}">
                <a16:creationId xmlns:a16="http://schemas.microsoft.com/office/drawing/2014/main" id="{B9AC80F5-7B08-8317-90F1-1E366F229401}"/>
              </a:ext>
            </a:extLst>
          </p:cNvPr>
          <p:cNvSpPr txBox="1"/>
          <p:nvPr/>
        </p:nvSpPr>
        <p:spPr>
          <a:xfrm>
            <a:off x="3042434" y="5852599"/>
            <a:ext cx="813259" cy="243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dirty="0">
                <a:solidFill>
                  <a:srgbClr val="8C5A3C"/>
                </a:solidFill>
                <a:latin typeface="微软雅黑"/>
                <a:ea typeface="微软雅黑"/>
                <a:cs typeface="微软雅黑"/>
              </a:rPr>
              <a:t>▲ +</a:t>
            </a:r>
            <a:r>
              <a:rPr lang="en-US" altLang="zh-CN" sz="950" b="1" dirty="0">
                <a:solidFill>
                  <a:srgbClr val="8C5A3C"/>
                </a:solidFill>
                <a:latin typeface="微软雅黑"/>
                <a:ea typeface="微软雅黑"/>
                <a:cs typeface="微软雅黑"/>
              </a:rPr>
              <a:t>16.7</a:t>
            </a:r>
            <a:r>
              <a:rPr sz="950" b="1" dirty="0">
                <a:solidFill>
                  <a:srgbClr val="8C5A3C"/>
                </a:solidFill>
                <a:latin typeface="微软雅黑"/>
                <a:ea typeface="微软雅黑"/>
                <a:cs typeface="微软雅黑"/>
              </a:rPr>
              <a:t>%</a:t>
            </a:r>
          </a:p>
        </p:txBody>
      </p:sp>
      <p:sp>
        <p:nvSpPr>
          <p:cNvPr id="7" name="TextBox 37">
            <a:extLst>
              <a:ext uri="{FF2B5EF4-FFF2-40B4-BE49-F238E27FC236}">
                <a16:creationId xmlns:a16="http://schemas.microsoft.com/office/drawing/2014/main" id="{67DB8C1C-528D-8A2A-BD76-54C29AAF4582}"/>
              </a:ext>
            </a:extLst>
          </p:cNvPr>
          <p:cNvSpPr txBox="1"/>
          <p:nvPr/>
        </p:nvSpPr>
        <p:spPr>
          <a:xfrm>
            <a:off x="1138104" y="5852599"/>
            <a:ext cx="813259" cy="243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dirty="0">
                <a:solidFill>
                  <a:srgbClr val="3A6E8F"/>
                </a:solidFill>
                <a:latin typeface="微软雅黑"/>
                <a:ea typeface="微软雅黑"/>
                <a:cs typeface="微软雅黑"/>
              </a:rPr>
              <a:t>▼ -</a:t>
            </a:r>
            <a:r>
              <a:rPr lang="en-US" altLang="zh-CN" sz="950" b="1" dirty="0">
                <a:solidFill>
                  <a:srgbClr val="3A6E8F"/>
                </a:solidFill>
                <a:latin typeface="微软雅黑"/>
                <a:ea typeface="微软雅黑"/>
                <a:cs typeface="微软雅黑"/>
              </a:rPr>
              <a:t>16.8</a:t>
            </a:r>
            <a:r>
              <a:rPr sz="950" b="1" dirty="0">
                <a:solidFill>
                  <a:srgbClr val="3A6E8F"/>
                </a:solidFill>
                <a:latin typeface="微软雅黑"/>
                <a:ea typeface="微软雅黑"/>
                <a:cs typeface="微软雅黑"/>
              </a:rPr>
              <a:t>%</a:t>
            </a:r>
          </a:p>
        </p:txBody>
      </p:sp>
      <p:sp>
        <p:nvSpPr>
          <p:cNvPr id="8" name="TextBox 37">
            <a:extLst>
              <a:ext uri="{FF2B5EF4-FFF2-40B4-BE49-F238E27FC236}">
                <a16:creationId xmlns:a16="http://schemas.microsoft.com/office/drawing/2014/main" id="{1208B383-E22C-7112-9B6B-4F121B852DDB}"/>
              </a:ext>
            </a:extLst>
          </p:cNvPr>
          <p:cNvSpPr txBox="1"/>
          <p:nvPr/>
        </p:nvSpPr>
        <p:spPr>
          <a:xfrm>
            <a:off x="5052979" y="5852599"/>
            <a:ext cx="813259" cy="243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dirty="0">
                <a:solidFill>
                  <a:srgbClr val="3A6E8F"/>
                </a:solidFill>
                <a:latin typeface="微软雅黑"/>
                <a:ea typeface="微软雅黑"/>
                <a:cs typeface="微软雅黑"/>
              </a:rPr>
              <a:t>▼ -</a:t>
            </a:r>
            <a:r>
              <a:rPr lang="en-US" altLang="zh-CN" sz="950" b="1" dirty="0">
                <a:solidFill>
                  <a:srgbClr val="3A6E8F"/>
                </a:solidFill>
                <a:latin typeface="微软雅黑"/>
                <a:ea typeface="微软雅黑"/>
                <a:cs typeface="微软雅黑"/>
              </a:rPr>
              <a:t>4.2</a:t>
            </a:r>
            <a:r>
              <a:rPr sz="950" b="1" dirty="0">
                <a:solidFill>
                  <a:srgbClr val="3A6E8F"/>
                </a:solidFill>
                <a:latin typeface="微软雅黑"/>
                <a:ea typeface="微软雅黑"/>
                <a:cs typeface="微软雅黑"/>
              </a:rPr>
              <a:t>%</a:t>
            </a:r>
          </a:p>
        </p:txBody>
      </p:sp>
      <p:pic>
        <p:nvPicPr>
          <p:cNvPr id="104" name="Picture 103" descr="chart_bar_sty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" y="1901952"/>
            <a:ext cx="5544312" cy="3063240"/>
          </a:xfrm>
          <a:prstGeom prst="rect">
            <a:avLst/>
          </a:prstGeom>
        </p:spPr>
      </p:pic>
      <p:pic>
        <p:nvPicPr>
          <p:cNvPr id="105" name="Picture 104" descr="chart_curve_styl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2848" y="1901952"/>
            <a:ext cx="5891784" cy="3063240"/>
          </a:xfrm>
          <a:prstGeom prst="rect">
            <a:avLst/>
          </a:prstGeom>
        </p:spPr>
      </p:pic>
      <p:sp>
        <p:nvSpPr>
          <p:cNvPr id="3" name="TextBox 25">
            <a:extLst>
              <a:ext uri="{FF2B5EF4-FFF2-40B4-BE49-F238E27FC236}">
                <a16:creationId xmlns:a16="http://schemas.microsoft.com/office/drawing/2014/main" id="{B6D482AA-7EE9-C414-8125-A282386DDD65}"/>
              </a:ext>
            </a:extLst>
          </p:cNvPr>
          <p:cNvSpPr txBox="1"/>
          <p:nvPr/>
        </p:nvSpPr>
        <p:spPr>
          <a:xfrm>
            <a:off x="9117527" y="5843568"/>
            <a:ext cx="813259" cy="243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dirty="0">
                <a:solidFill>
                  <a:srgbClr val="8C5A3C"/>
                </a:solidFill>
                <a:latin typeface="微软雅黑"/>
                <a:ea typeface="微软雅黑"/>
                <a:cs typeface="微软雅黑"/>
              </a:rPr>
              <a:t>▲ +</a:t>
            </a:r>
            <a:r>
              <a:rPr lang="en-US" altLang="zh-CN" sz="950" b="1" dirty="0">
                <a:solidFill>
                  <a:srgbClr val="8C5A3C"/>
                </a:solidFill>
                <a:latin typeface="微软雅黑"/>
                <a:ea typeface="微软雅黑"/>
                <a:cs typeface="微软雅黑"/>
              </a:rPr>
              <a:t>5.5</a:t>
            </a:r>
            <a:r>
              <a:rPr sz="950" b="1" dirty="0">
                <a:solidFill>
                  <a:srgbClr val="8C5A3C"/>
                </a:solidFill>
                <a:latin typeface="微软雅黑"/>
                <a:ea typeface="微软雅黑"/>
                <a:cs typeface="微软雅黑"/>
              </a:rPr>
              <a:t>%</a:t>
            </a:r>
          </a:p>
        </p:txBody>
      </p:sp>
      <p:sp>
        <p:nvSpPr>
          <p:cNvPr id="5" name="TextBox 37">
            <a:extLst>
              <a:ext uri="{FF2B5EF4-FFF2-40B4-BE49-F238E27FC236}">
                <a16:creationId xmlns:a16="http://schemas.microsoft.com/office/drawing/2014/main" id="{4E6B0326-757A-8645-1D13-8F4314E48DA4}"/>
              </a:ext>
            </a:extLst>
          </p:cNvPr>
          <p:cNvSpPr txBox="1"/>
          <p:nvPr/>
        </p:nvSpPr>
        <p:spPr>
          <a:xfrm>
            <a:off x="11072848" y="5869189"/>
            <a:ext cx="813259" cy="243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dirty="0">
                <a:solidFill>
                  <a:srgbClr val="3A6E8F"/>
                </a:solidFill>
                <a:latin typeface="微软雅黑"/>
                <a:ea typeface="微软雅黑"/>
                <a:cs typeface="微软雅黑"/>
              </a:rPr>
              <a:t>▼ -</a:t>
            </a:r>
            <a:r>
              <a:rPr lang="en-US" altLang="zh-CN" sz="950" b="1" dirty="0">
                <a:solidFill>
                  <a:srgbClr val="3A6E8F"/>
                </a:solidFill>
                <a:latin typeface="微软雅黑"/>
                <a:ea typeface="微软雅黑"/>
                <a:cs typeface="微软雅黑"/>
              </a:rPr>
              <a:t>4.2</a:t>
            </a:r>
            <a:r>
              <a:rPr sz="950" b="1" dirty="0">
                <a:solidFill>
                  <a:srgbClr val="3A6E8F"/>
                </a:solidFill>
                <a:latin typeface="微软雅黑"/>
                <a:ea typeface="微软雅黑"/>
                <a:cs typeface="微软雅黑"/>
              </a:rPr>
              <a:t>%</a:t>
            </a:r>
          </a:p>
        </p:txBody>
      </p:sp>
      <p:sp>
        <p:nvSpPr>
          <p:cNvPr id="9" name="TextBox 37">
            <a:extLst>
              <a:ext uri="{FF2B5EF4-FFF2-40B4-BE49-F238E27FC236}">
                <a16:creationId xmlns:a16="http://schemas.microsoft.com/office/drawing/2014/main" id="{ED27556F-FABF-91BF-CE01-C67E3028E8A1}"/>
              </a:ext>
            </a:extLst>
          </p:cNvPr>
          <p:cNvSpPr txBox="1"/>
          <p:nvPr/>
        </p:nvSpPr>
        <p:spPr>
          <a:xfrm>
            <a:off x="6968258" y="5849029"/>
            <a:ext cx="813259" cy="243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dirty="0">
                <a:solidFill>
                  <a:srgbClr val="3A6E8F"/>
                </a:solidFill>
                <a:latin typeface="微软雅黑"/>
                <a:ea typeface="微软雅黑"/>
                <a:cs typeface="微软雅黑"/>
              </a:rPr>
              <a:t>▼ -</a:t>
            </a:r>
            <a:r>
              <a:rPr lang="en-US" altLang="zh-CN" sz="950" b="1" dirty="0">
                <a:solidFill>
                  <a:srgbClr val="3A6E8F"/>
                </a:solidFill>
                <a:latin typeface="微软雅黑"/>
                <a:ea typeface="微软雅黑"/>
                <a:cs typeface="微软雅黑"/>
              </a:rPr>
              <a:t>30.0</a:t>
            </a:r>
            <a:r>
              <a:rPr sz="950" b="1" dirty="0">
                <a:solidFill>
                  <a:srgbClr val="3A6E8F"/>
                </a:solidFill>
                <a:latin typeface="微软雅黑"/>
                <a:ea typeface="微软雅黑"/>
                <a:cs typeface="微软雅黑"/>
              </a:rPr>
              <a:t>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矩形 77"/>
          <p:cNvSpPr/>
          <p:nvPr/>
        </p:nvSpPr>
        <p:spPr>
          <a:xfrm>
            <a:off x="0" y="0"/>
            <a:ext cx="12192000" cy="574177"/>
          </a:xfrm>
          <a:prstGeom prst="rect">
            <a:avLst/>
          </a:prstGeom>
          <a:solidFill>
            <a:srgbClr val="3B3B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126998" y="102938"/>
            <a:ext cx="5705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市场环境分析 </a:t>
            </a:r>
            <a:r>
              <a:rPr lang="en-US" altLang="zh-CN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en-US" altLang="zh-CN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月蒙西全市场储能收益回升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8" name="Shape 30"/>
          <p:cNvSpPr/>
          <p:nvPr/>
        </p:nvSpPr>
        <p:spPr>
          <a:xfrm>
            <a:off x="506864" y="2185393"/>
            <a:ext cx="11216640" cy="0"/>
          </a:xfrm>
          <a:prstGeom prst="line">
            <a:avLst/>
          </a:prstGeom>
          <a:noFill/>
          <a:ln w="6350">
            <a:solidFill>
              <a:srgbClr val="DFE6E9"/>
            </a:solidFill>
            <a:prstDash val="solid"/>
          </a:ln>
        </p:spPr>
        <p:txBody>
          <a:bodyPr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F37D5CE9-8376-585F-D982-A1A2AA0F4C1D}"/>
              </a:ext>
            </a:extLst>
          </p:cNvPr>
          <p:cNvGrpSpPr/>
          <p:nvPr/>
        </p:nvGrpSpPr>
        <p:grpSpPr>
          <a:xfrm>
            <a:off x="6250235" y="916930"/>
            <a:ext cx="5364480" cy="1524000"/>
            <a:chOff x="466344" y="936811"/>
            <a:chExt cx="5364480" cy="1524000"/>
          </a:xfrm>
        </p:grpSpPr>
        <p:sp>
          <p:nvSpPr>
            <p:cNvPr id="110" name="Shape 32"/>
            <p:cNvSpPr/>
            <p:nvPr/>
          </p:nvSpPr>
          <p:spPr>
            <a:xfrm>
              <a:off x="466344" y="936811"/>
              <a:ext cx="5364480" cy="1524000"/>
            </a:xfrm>
            <a:prstGeom prst="rect">
              <a:avLst/>
            </a:prstGeom>
            <a:solidFill>
              <a:srgbClr val="FFFFFF"/>
            </a:solidFill>
            <a:effectLst>
              <a:outerShdw blurRad="38100" dist="12700" dir="8100000" algn="bl" rotWithShape="0">
                <a:srgbClr val="000000">
                  <a:alpha val="6000"/>
                </a:srgbClr>
              </a:outerShdw>
            </a:effectLst>
          </p:spPr>
          <p:txBody>
            <a:bodyPr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" name="Shape 33"/>
            <p:cNvSpPr/>
            <p:nvPr/>
          </p:nvSpPr>
          <p:spPr>
            <a:xfrm>
              <a:off x="466344" y="936811"/>
              <a:ext cx="60960" cy="1524000"/>
            </a:xfrm>
            <a:prstGeom prst="rect">
              <a:avLst/>
            </a:prstGeom>
            <a:solidFill>
              <a:srgbClr val="7B97AD"/>
            </a:solidFill>
          </p:spPr>
          <p:txBody>
            <a:bodyPr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" name="Text 34"/>
            <p:cNvSpPr/>
            <p:nvPr/>
          </p:nvSpPr>
          <p:spPr>
            <a:xfrm>
              <a:off x="710184" y="1022155"/>
              <a:ext cx="2438400" cy="34137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r>
                <a:rPr lang="en-US" sz="1600" b="1" dirty="0">
                  <a:solidFill>
                    <a:srgbClr val="7B97A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TOP10 </a:t>
              </a:r>
              <a:r>
                <a:rPr lang="en-US" sz="1600" b="1" dirty="0" err="1">
                  <a:solidFill>
                    <a:srgbClr val="7B97A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场站</a:t>
              </a:r>
              <a:r>
                <a:rPr lang="en-US" sz="1600" b="1" dirty="0">
                  <a:solidFill>
                    <a:srgbClr val="7B97A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 -</a:t>
              </a:r>
              <a:r>
                <a:rPr lang="en-US" altLang="zh-CN" sz="1600" b="1" dirty="0">
                  <a:solidFill>
                    <a:srgbClr val="2E7D3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-120"/>
                </a:rPr>
                <a:t> </a:t>
              </a:r>
              <a:r>
                <a:rPr lang="en-US" altLang="zh-CN" sz="1600" b="1" dirty="0">
                  <a:solidFill>
                    <a:srgbClr val="7B97A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1600" b="1" dirty="0">
                  <a:solidFill>
                    <a:srgbClr val="7B97A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↑</a:t>
              </a:r>
              <a:r>
                <a:rPr lang="en-US" altLang="zh-CN" sz="1600" b="1" dirty="0">
                  <a:solidFill>
                    <a:srgbClr val="7B97A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13.6% </a:t>
              </a:r>
              <a:endParaRPr lang="en-US" sz="1600" b="1" dirty="0">
                <a:solidFill>
                  <a:srgbClr val="7B97AD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" name="Text 36"/>
            <p:cNvSpPr/>
            <p:nvPr/>
          </p:nvSpPr>
          <p:spPr>
            <a:xfrm>
              <a:off x="771144" y="1436683"/>
              <a:ext cx="1950720" cy="2926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r>
                <a:rPr lang="zh-CN" altLang="en-US" sz="1200" dirty="0">
                  <a:solidFill>
                    <a:srgbClr val="636E7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单位容量</a:t>
              </a:r>
              <a:r>
                <a:rPr lang="en-US" sz="1200" dirty="0" err="1">
                  <a:solidFill>
                    <a:srgbClr val="636E7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收益</a:t>
              </a:r>
              <a:r>
                <a:rPr lang="en-US" sz="1200" dirty="0">
                  <a:solidFill>
                    <a:srgbClr val="636E7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 (</a:t>
              </a:r>
              <a:r>
                <a:rPr lang="en-US" sz="1200" dirty="0" err="1">
                  <a:solidFill>
                    <a:srgbClr val="636E7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万元</a:t>
              </a:r>
              <a:r>
                <a:rPr lang="en-US" sz="1200" dirty="0">
                  <a:solidFill>
                    <a:srgbClr val="636E7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)</a:t>
              </a:r>
              <a:endParaRPr 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" name="Text 37"/>
            <p:cNvSpPr/>
            <p:nvPr/>
          </p:nvSpPr>
          <p:spPr>
            <a:xfrm>
              <a:off x="2194738" y="1436683"/>
              <a:ext cx="2560320" cy="2926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r>
                <a:rPr lang="en-US" sz="1200" dirty="0">
                  <a:solidFill>
                    <a:srgbClr val="2D343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6月 </a:t>
              </a:r>
              <a:r>
                <a:rPr lang="en-US" altLang="zh-CN" sz="1200" dirty="0">
                  <a:solidFill>
                    <a:srgbClr val="2D343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15,643 → 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7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月 </a:t>
              </a:r>
              <a:r>
                <a:rPr lang="en-US" altLang="zh-CN" sz="1200" dirty="0">
                  <a:solidFill>
                    <a:srgbClr val="2D343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17,778 </a:t>
              </a:r>
              <a:endParaRPr 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" name="Text 39"/>
            <p:cNvSpPr/>
            <p:nvPr/>
          </p:nvSpPr>
          <p:spPr>
            <a:xfrm>
              <a:off x="771144" y="1778059"/>
              <a:ext cx="1950720" cy="2926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r>
                <a:rPr lang="en-US" sz="1200" err="1">
                  <a:solidFill>
                    <a:srgbClr val="636E7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总充电量</a:t>
              </a:r>
              <a:r>
                <a:rPr lang="en-US" sz="1200">
                  <a:solidFill>
                    <a:srgbClr val="636E7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 (MWh)</a:t>
              </a:r>
              <a:endParaRPr 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" name="Text 40"/>
            <p:cNvSpPr/>
            <p:nvPr/>
          </p:nvSpPr>
          <p:spPr>
            <a:xfrm>
              <a:off x="2194738" y="1778059"/>
              <a:ext cx="2560320" cy="2926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r>
                <a:rPr lang="en-US" sz="1200" dirty="0">
                  <a:solidFill>
                    <a:srgbClr val="2D343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6月 360,170</a:t>
              </a:r>
              <a:r>
                <a:rPr lang="en-US" altLang="zh-CN" sz="1200" dirty="0">
                  <a:solidFill>
                    <a:srgbClr val="2D343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 →  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7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月 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426</a:t>
              </a:r>
              <a:r>
                <a:rPr lang="en-US" altLang="zh-CN" sz="1200" dirty="0">
                  <a:solidFill>
                    <a:srgbClr val="2D343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,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572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endParaRPr 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" name="Text 42"/>
            <p:cNvSpPr/>
            <p:nvPr/>
          </p:nvSpPr>
          <p:spPr>
            <a:xfrm>
              <a:off x="771144" y="2119435"/>
              <a:ext cx="1950720" cy="2926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r>
                <a:rPr lang="en-US" sz="1200">
                  <a:solidFill>
                    <a:srgbClr val="636E7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总放电量 (MWh)</a:t>
              </a:r>
              <a:endParaRPr 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" name="Text 43"/>
            <p:cNvSpPr/>
            <p:nvPr/>
          </p:nvSpPr>
          <p:spPr>
            <a:xfrm>
              <a:off x="2194738" y="2119435"/>
              <a:ext cx="2560320" cy="2926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r>
                <a:rPr lang="en-US" sz="1200" dirty="0">
                  <a:solidFill>
                    <a:srgbClr val="2D343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6月 335,618</a:t>
              </a:r>
              <a:r>
                <a:rPr lang="en-US" altLang="zh-CN" sz="1200" dirty="0">
                  <a:solidFill>
                    <a:srgbClr val="2D343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 →  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7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月 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394</a:t>
              </a:r>
              <a:r>
                <a:rPr lang="en-US" altLang="zh-CN" sz="1200" dirty="0">
                  <a:solidFill>
                    <a:srgbClr val="2D343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,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342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endParaRPr 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DF471702-BEF3-F934-6336-57719AEDDA89}"/>
              </a:ext>
            </a:extLst>
          </p:cNvPr>
          <p:cNvGrpSpPr/>
          <p:nvPr/>
        </p:nvGrpSpPr>
        <p:grpSpPr>
          <a:xfrm>
            <a:off x="478289" y="919967"/>
            <a:ext cx="5364480" cy="1524000"/>
            <a:chOff x="6318504" y="936811"/>
            <a:chExt cx="5364480" cy="1524000"/>
          </a:xfrm>
        </p:grpSpPr>
        <p:sp>
          <p:nvSpPr>
            <p:cNvPr id="123" name="Shape 45"/>
            <p:cNvSpPr/>
            <p:nvPr/>
          </p:nvSpPr>
          <p:spPr>
            <a:xfrm>
              <a:off x="6318504" y="936811"/>
              <a:ext cx="5364480" cy="1524000"/>
            </a:xfrm>
            <a:prstGeom prst="rect">
              <a:avLst/>
            </a:prstGeom>
            <a:solidFill>
              <a:srgbClr val="FFFFFF"/>
            </a:solidFill>
            <a:effectLst>
              <a:outerShdw blurRad="38100" dist="12700" dir="8100000" algn="bl" rotWithShape="0">
                <a:srgbClr val="000000">
                  <a:alpha val="6000"/>
                </a:srgbClr>
              </a:outerShdw>
            </a:effectLst>
          </p:spPr>
          <p:txBody>
            <a:bodyPr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" name="Shape 46"/>
            <p:cNvSpPr/>
            <p:nvPr/>
          </p:nvSpPr>
          <p:spPr>
            <a:xfrm>
              <a:off x="6318504" y="936811"/>
              <a:ext cx="60960" cy="1524000"/>
            </a:xfrm>
            <a:prstGeom prst="rect">
              <a:avLst/>
            </a:prstGeom>
            <a:solidFill>
              <a:srgbClr val="8C5A3C"/>
            </a:solidFill>
          </p:spPr>
          <p:txBody>
            <a:bodyPr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" name="Text 47"/>
            <p:cNvSpPr/>
            <p:nvPr/>
          </p:nvSpPr>
          <p:spPr>
            <a:xfrm>
              <a:off x="6562344" y="1022155"/>
              <a:ext cx="3048000" cy="34137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r>
                <a:rPr lang="en-US" sz="1600" b="1" dirty="0">
                  <a:solidFill>
                    <a:srgbClr val="8C5A3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全市场（39</a:t>
              </a:r>
              <a:r>
                <a:rPr lang="zh-CN" altLang="en-US" sz="1600" b="1" dirty="0">
                  <a:solidFill>
                    <a:srgbClr val="8C5A3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个场</a:t>
              </a:r>
              <a:r>
                <a:rPr lang="en-US" sz="1600" b="1" dirty="0">
                  <a:solidFill>
                    <a:srgbClr val="8C5A3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站）-</a:t>
              </a:r>
              <a:r>
                <a:rPr lang="en-US" altLang="zh-CN" sz="1600" b="1" dirty="0">
                  <a:solidFill>
                    <a:srgbClr val="2E7D3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-120"/>
                </a:rPr>
                <a:t> </a:t>
              </a:r>
              <a:r>
                <a:rPr lang="zh-CN" altLang="en-US" sz="1600" b="1" dirty="0">
                  <a:solidFill>
                    <a:srgbClr val="8C5A3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↑ </a:t>
              </a:r>
              <a:r>
                <a:rPr lang="en-US" altLang="zh-CN" sz="1600" b="1" dirty="0">
                  <a:solidFill>
                    <a:srgbClr val="8C5A3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11% </a:t>
              </a:r>
              <a:endParaRPr lang="en-US" sz="1600" b="1" dirty="0">
                <a:solidFill>
                  <a:srgbClr val="8C5A3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" name="Text 48"/>
            <p:cNvSpPr/>
            <p:nvPr/>
          </p:nvSpPr>
          <p:spPr>
            <a:xfrm>
              <a:off x="6562344" y="1022155"/>
              <a:ext cx="4876800" cy="3048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r"/>
              <a:endParaRPr 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" name="Text 49"/>
            <p:cNvSpPr/>
            <p:nvPr/>
          </p:nvSpPr>
          <p:spPr>
            <a:xfrm>
              <a:off x="6623304" y="1436683"/>
              <a:ext cx="1950720" cy="2926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r>
                <a:rPr lang="zh-CN" altLang="en-US" sz="1200" dirty="0">
                  <a:solidFill>
                    <a:srgbClr val="636E7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单位容量</a:t>
              </a:r>
              <a:r>
                <a:rPr lang="en-US" altLang="zh-CN" sz="1200" dirty="0" err="1">
                  <a:solidFill>
                    <a:srgbClr val="636E7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收益</a:t>
              </a:r>
              <a:r>
                <a:rPr lang="en-US" altLang="zh-CN" sz="1200" dirty="0">
                  <a:solidFill>
                    <a:srgbClr val="636E7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 (</a:t>
              </a:r>
              <a:r>
                <a:rPr lang="en-US" altLang="zh-CN" sz="1200" dirty="0" err="1">
                  <a:solidFill>
                    <a:srgbClr val="636E7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万元</a:t>
              </a:r>
              <a:r>
                <a:rPr lang="en-US" altLang="zh-CN" sz="1200" dirty="0">
                  <a:solidFill>
                    <a:srgbClr val="636E7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)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" name="Text 52"/>
            <p:cNvSpPr/>
            <p:nvPr/>
          </p:nvSpPr>
          <p:spPr>
            <a:xfrm>
              <a:off x="6623304" y="1778059"/>
              <a:ext cx="1950720" cy="2926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r>
                <a:rPr lang="en-US" sz="1200" dirty="0" err="1">
                  <a:solidFill>
                    <a:srgbClr val="636E7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总充电量</a:t>
              </a:r>
              <a:r>
                <a:rPr lang="en-US" sz="1200" dirty="0">
                  <a:solidFill>
                    <a:srgbClr val="636E7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 (MWh)</a:t>
              </a:r>
              <a:endParaRPr 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" name="Text 55"/>
            <p:cNvSpPr/>
            <p:nvPr/>
          </p:nvSpPr>
          <p:spPr>
            <a:xfrm>
              <a:off x="6623304" y="2119435"/>
              <a:ext cx="1950720" cy="2926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r>
                <a:rPr lang="en-US" sz="1200" dirty="0" err="1">
                  <a:solidFill>
                    <a:srgbClr val="636E7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总放电量</a:t>
              </a:r>
              <a:r>
                <a:rPr lang="en-US" sz="1200" dirty="0">
                  <a:solidFill>
                    <a:srgbClr val="636E7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 (MWh)</a:t>
              </a:r>
              <a:endParaRPr 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Text 2"/>
          <p:cNvSpPr/>
          <p:nvPr/>
        </p:nvSpPr>
        <p:spPr>
          <a:xfrm>
            <a:off x="506864" y="3864429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7B97A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▎</a:t>
            </a:r>
            <a:r>
              <a:rPr lang="en-US" sz="1600" b="1" err="1">
                <a:solidFill>
                  <a:srgbClr val="7B97A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全市场出清</a:t>
            </a:r>
            <a:r>
              <a:rPr lang="zh-CN" altLang="en-US" sz="1600" b="1">
                <a:solidFill>
                  <a:srgbClr val="7B97A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量价</a:t>
            </a:r>
            <a:r>
              <a:rPr lang="en-US" sz="1600" b="1" err="1">
                <a:solidFill>
                  <a:srgbClr val="7B97A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对比</a:t>
            </a:r>
            <a:endParaRPr 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Shape 3"/>
          <p:cNvSpPr/>
          <p:nvPr/>
        </p:nvSpPr>
        <p:spPr>
          <a:xfrm>
            <a:off x="506864" y="4222658"/>
            <a:ext cx="3474720" cy="2011680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 5"/>
          <p:cNvSpPr/>
          <p:nvPr/>
        </p:nvSpPr>
        <p:spPr>
          <a:xfrm>
            <a:off x="689744" y="4368962"/>
            <a:ext cx="310896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zh-CN" altLang="en-US" sz="1465" b="1">
                <a:solidFill>
                  <a:srgbClr val="636E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充</a:t>
            </a:r>
            <a:r>
              <a:rPr lang="en-US" altLang="zh-CN" sz="1465" b="1">
                <a:solidFill>
                  <a:srgbClr val="636E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/</a:t>
            </a:r>
            <a:r>
              <a:rPr lang="en-US" sz="1465" b="1" err="1">
                <a:solidFill>
                  <a:srgbClr val="636E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放电电量</a:t>
            </a:r>
            <a:r>
              <a:rPr lang="en-US" sz="1465" b="1">
                <a:solidFill>
                  <a:srgbClr val="636E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(MWh)</a:t>
            </a:r>
            <a:endParaRPr lang="en-US" sz="1465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Text 6"/>
          <p:cNvSpPr/>
          <p:nvPr/>
        </p:nvSpPr>
        <p:spPr>
          <a:xfrm>
            <a:off x="689744" y="4856642"/>
            <a:ext cx="609600" cy="341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zh-CN" sz="1335" dirty="0">
                <a:solidFill>
                  <a:srgbClr val="636E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6月</a:t>
            </a:r>
            <a:endParaRPr lang="en-US" altLang="zh-CN" sz="133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 7"/>
          <p:cNvSpPr/>
          <p:nvPr/>
        </p:nvSpPr>
        <p:spPr>
          <a:xfrm>
            <a:off x="1238384" y="4856642"/>
            <a:ext cx="2743200" cy="3901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1,374,987 </a:t>
            </a:r>
            <a:r>
              <a:rPr lang="en-US" altLang="zh-CN" b="1" dirty="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/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1,564,283</a:t>
            </a:r>
            <a:endParaRPr lang="en-US" dirty="0">
              <a:solidFill>
                <a:schemeClr val="accen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Text 8"/>
          <p:cNvSpPr/>
          <p:nvPr/>
        </p:nvSpPr>
        <p:spPr>
          <a:xfrm>
            <a:off x="689744" y="5246786"/>
            <a:ext cx="609600" cy="341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335" dirty="0">
                <a:solidFill>
                  <a:srgbClr val="636E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7月</a:t>
            </a:r>
            <a:endParaRPr lang="en-US" sz="133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Text 9"/>
          <p:cNvSpPr/>
          <p:nvPr/>
        </p:nvSpPr>
        <p:spPr>
          <a:xfrm>
            <a:off x="1238384" y="5210210"/>
            <a:ext cx="2743200" cy="3901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zh-CN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1,285,421 </a:t>
            </a:r>
            <a:r>
              <a:rPr lang="en-US" b="1" dirty="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/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1,454,004</a:t>
            </a:r>
            <a:endParaRPr lang="en-US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Shape 10"/>
          <p:cNvSpPr/>
          <p:nvPr/>
        </p:nvSpPr>
        <p:spPr>
          <a:xfrm>
            <a:off x="750704" y="5710082"/>
            <a:ext cx="2987040" cy="0"/>
          </a:xfrm>
          <a:prstGeom prst="line">
            <a:avLst/>
          </a:prstGeom>
          <a:noFill/>
          <a:ln w="6350">
            <a:solidFill>
              <a:srgbClr val="DFE6E9"/>
            </a:solidFill>
            <a:prstDash val="solid"/>
          </a:ln>
        </p:spPr>
        <p:txBody>
          <a:bodyPr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Text 11"/>
          <p:cNvSpPr/>
          <p:nvPr/>
        </p:nvSpPr>
        <p:spPr>
          <a:xfrm>
            <a:off x="2345570" y="5725502"/>
            <a:ext cx="1453133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zh-CN" altLang="en-US" b="1" dirty="0">
                <a:solidFill>
                  <a:srgbClr val="8C5A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</a:t>
            </a:r>
            <a:r>
              <a:rPr lang="en-US" altLang="zh-CN" b="1" dirty="0">
                <a:solidFill>
                  <a:srgbClr val="8C5A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13.1%</a:t>
            </a:r>
          </a:p>
        </p:txBody>
      </p:sp>
      <p:sp>
        <p:nvSpPr>
          <p:cNvPr id="25" name="Shape 21"/>
          <p:cNvSpPr/>
          <p:nvPr/>
        </p:nvSpPr>
        <p:spPr>
          <a:xfrm>
            <a:off x="8139056" y="4222658"/>
            <a:ext cx="3474720" cy="2011680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Shape 22"/>
          <p:cNvSpPr/>
          <p:nvPr/>
        </p:nvSpPr>
        <p:spPr>
          <a:xfrm>
            <a:off x="8139056" y="4222658"/>
            <a:ext cx="3474720" cy="48768"/>
          </a:xfrm>
          <a:prstGeom prst="rect">
            <a:avLst/>
          </a:prstGeom>
          <a:solidFill>
            <a:srgbClr val="8C5A3C"/>
          </a:solidFill>
        </p:spPr>
        <p:txBody>
          <a:bodyPr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ext 23"/>
          <p:cNvSpPr/>
          <p:nvPr/>
        </p:nvSpPr>
        <p:spPr>
          <a:xfrm>
            <a:off x="8321936" y="4368962"/>
            <a:ext cx="310896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465" b="1" err="1">
                <a:solidFill>
                  <a:srgbClr val="636E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平均</a:t>
            </a:r>
            <a:r>
              <a:rPr lang="zh-CN" altLang="en-US" sz="1465" b="1">
                <a:solidFill>
                  <a:srgbClr val="636E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捕获价差</a:t>
            </a:r>
            <a:r>
              <a:rPr lang="en-US" sz="1465" b="1">
                <a:solidFill>
                  <a:srgbClr val="636E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(元/MWh)</a:t>
            </a:r>
            <a:endParaRPr lang="en-US" sz="1465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Text 24"/>
          <p:cNvSpPr/>
          <p:nvPr/>
        </p:nvSpPr>
        <p:spPr>
          <a:xfrm>
            <a:off x="8321936" y="4856642"/>
            <a:ext cx="609600" cy="341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zh-CN" sz="1335" dirty="0">
                <a:solidFill>
                  <a:srgbClr val="636E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6月</a:t>
            </a:r>
            <a:endParaRPr lang="en-US" altLang="zh-CN" sz="133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Text 25"/>
          <p:cNvSpPr/>
          <p:nvPr/>
        </p:nvSpPr>
        <p:spPr>
          <a:xfrm>
            <a:off x="8870576" y="4820066"/>
            <a:ext cx="2560320" cy="3901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/>
            <a:r>
              <a:rPr lang="en-US" altLang="zh-CN" sz="2000" b="1" dirty="0">
                <a:solidFill>
                  <a:srgbClr val="5A78A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67.1</a:t>
            </a:r>
            <a:endParaRPr lang="en-US" altLang="zh-CN" sz="2000" dirty="0">
              <a:solidFill>
                <a:srgbClr val="5A78A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Text 26"/>
          <p:cNvSpPr/>
          <p:nvPr/>
        </p:nvSpPr>
        <p:spPr>
          <a:xfrm>
            <a:off x="8321936" y="5246786"/>
            <a:ext cx="609600" cy="341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zh-CN" sz="1335" dirty="0">
                <a:solidFill>
                  <a:srgbClr val="636E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</a:t>
            </a:r>
            <a:r>
              <a:rPr lang="en-US" sz="1335" dirty="0">
                <a:solidFill>
                  <a:srgbClr val="636E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月</a:t>
            </a:r>
            <a:endParaRPr lang="en-US" sz="133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Text 27"/>
          <p:cNvSpPr/>
          <p:nvPr/>
        </p:nvSpPr>
        <p:spPr>
          <a:xfrm>
            <a:off x="8870576" y="5210210"/>
            <a:ext cx="2560320" cy="3901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/>
            <a:r>
              <a:rPr lang="en-US" altLang="zh-CN" sz="2000" b="1" dirty="0">
                <a:solidFill>
                  <a:srgbClr val="C55A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86.6</a:t>
            </a:r>
            <a:endParaRPr lang="en-US" sz="2000" dirty="0">
              <a:solidFill>
                <a:srgbClr val="C55A1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Shape 28"/>
          <p:cNvSpPr/>
          <p:nvPr/>
        </p:nvSpPr>
        <p:spPr>
          <a:xfrm>
            <a:off x="8382896" y="5710082"/>
            <a:ext cx="2987040" cy="0"/>
          </a:xfrm>
          <a:prstGeom prst="line">
            <a:avLst/>
          </a:prstGeom>
          <a:noFill/>
          <a:ln w="6350">
            <a:solidFill>
              <a:srgbClr val="DFE6E9"/>
            </a:solidFill>
            <a:prstDash val="solid"/>
          </a:ln>
        </p:spPr>
        <p:txBody>
          <a:bodyPr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Text 29"/>
          <p:cNvSpPr/>
          <p:nvPr/>
        </p:nvSpPr>
        <p:spPr>
          <a:xfrm>
            <a:off x="8321936" y="5734466"/>
            <a:ext cx="310896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zh-CN" altLang="en-US" b="1" dirty="0">
                <a:solidFill>
                  <a:srgbClr val="8C5A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↑</a:t>
            </a:r>
            <a:r>
              <a:rPr lang="en-US" altLang="zh-CN" b="1" dirty="0">
                <a:solidFill>
                  <a:srgbClr val="8C5A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29.1%</a:t>
            </a:r>
            <a:endParaRPr lang="en-US" altLang="zh-CN" dirty="0">
              <a:solidFill>
                <a:srgbClr val="8C5A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Text 20">
            <a:extLst>
              <a:ext uri="{FF2B5EF4-FFF2-40B4-BE49-F238E27FC236}">
                <a16:creationId xmlns:a16="http://schemas.microsoft.com/office/drawing/2014/main" id="{92EE0BB2-F308-117D-DE92-6529930C7A3C}"/>
              </a:ext>
            </a:extLst>
          </p:cNvPr>
          <p:cNvSpPr/>
          <p:nvPr/>
        </p:nvSpPr>
        <p:spPr>
          <a:xfrm>
            <a:off x="91319" y="5725502"/>
            <a:ext cx="310896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zh-CN" altLang="en-US" b="1" dirty="0">
                <a:solidFill>
                  <a:srgbClr val="8C5A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</a:t>
            </a:r>
            <a:r>
              <a:rPr lang="en-US" b="1" dirty="0">
                <a:solidFill>
                  <a:srgbClr val="8C5A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b="1" dirty="0">
                <a:solidFill>
                  <a:srgbClr val="8C5A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13.8</a:t>
            </a:r>
            <a:r>
              <a:rPr lang="en-US" b="1" dirty="0">
                <a:solidFill>
                  <a:srgbClr val="8C5A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</a:p>
        </p:txBody>
      </p:sp>
      <p:sp>
        <p:nvSpPr>
          <p:cNvPr id="36" name="Text 20">
            <a:extLst>
              <a:ext uri="{FF2B5EF4-FFF2-40B4-BE49-F238E27FC236}">
                <a16:creationId xmlns:a16="http://schemas.microsoft.com/office/drawing/2014/main" id="{F3A075DF-D623-2049-C37E-1B13FC0F8B4D}"/>
              </a:ext>
            </a:extLst>
          </p:cNvPr>
          <p:cNvSpPr/>
          <p:nvPr/>
        </p:nvSpPr>
        <p:spPr>
          <a:xfrm>
            <a:off x="2101730" y="5684265"/>
            <a:ext cx="48768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b="1">
                <a:solidFill>
                  <a:srgbClr val="8C5A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</a:p>
        </p:txBody>
      </p:sp>
      <p:sp>
        <p:nvSpPr>
          <p:cNvPr id="37" name="Shape 3">
            <a:extLst>
              <a:ext uri="{FF2B5EF4-FFF2-40B4-BE49-F238E27FC236}">
                <a16:creationId xmlns:a16="http://schemas.microsoft.com/office/drawing/2014/main" id="{38459D1F-0025-4F1C-312B-50FD6E9814F2}"/>
              </a:ext>
            </a:extLst>
          </p:cNvPr>
          <p:cNvSpPr/>
          <p:nvPr/>
        </p:nvSpPr>
        <p:spPr>
          <a:xfrm>
            <a:off x="4347343" y="4222658"/>
            <a:ext cx="3474720" cy="2011680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Shape 4">
            <a:extLst>
              <a:ext uri="{FF2B5EF4-FFF2-40B4-BE49-F238E27FC236}">
                <a16:creationId xmlns:a16="http://schemas.microsoft.com/office/drawing/2014/main" id="{682EE6D2-DE24-78E9-D080-99B3316981EA}"/>
              </a:ext>
            </a:extLst>
          </p:cNvPr>
          <p:cNvSpPr/>
          <p:nvPr/>
        </p:nvSpPr>
        <p:spPr>
          <a:xfrm>
            <a:off x="4347343" y="4222658"/>
            <a:ext cx="3474720" cy="48768"/>
          </a:xfrm>
          <a:prstGeom prst="rect">
            <a:avLst/>
          </a:prstGeom>
          <a:solidFill>
            <a:srgbClr val="7B97AD"/>
          </a:solidFill>
        </p:spPr>
        <p:txBody>
          <a:bodyPr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Text 5">
            <a:extLst>
              <a:ext uri="{FF2B5EF4-FFF2-40B4-BE49-F238E27FC236}">
                <a16:creationId xmlns:a16="http://schemas.microsoft.com/office/drawing/2014/main" id="{B96B6735-E7C8-960A-2D08-E86AC559E29A}"/>
              </a:ext>
            </a:extLst>
          </p:cNvPr>
          <p:cNvSpPr/>
          <p:nvPr/>
        </p:nvSpPr>
        <p:spPr>
          <a:xfrm>
            <a:off x="4530223" y="4368962"/>
            <a:ext cx="310896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zh-CN" altLang="en-US" sz="1465" b="1">
                <a:solidFill>
                  <a:srgbClr val="636E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平均出清充电次数</a:t>
            </a:r>
            <a:endParaRPr lang="en-US" sz="1465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Text 6">
            <a:extLst>
              <a:ext uri="{FF2B5EF4-FFF2-40B4-BE49-F238E27FC236}">
                <a16:creationId xmlns:a16="http://schemas.microsoft.com/office/drawing/2014/main" id="{72A8731B-431F-4718-5518-FFCA9F6B9E9A}"/>
              </a:ext>
            </a:extLst>
          </p:cNvPr>
          <p:cNvSpPr/>
          <p:nvPr/>
        </p:nvSpPr>
        <p:spPr>
          <a:xfrm>
            <a:off x="4530223" y="4856642"/>
            <a:ext cx="609600" cy="341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zh-CN" sz="1335" dirty="0">
                <a:solidFill>
                  <a:srgbClr val="636E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6月</a:t>
            </a:r>
            <a:endParaRPr lang="en-US" altLang="zh-CN" sz="133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Text 7">
            <a:extLst>
              <a:ext uri="{FF2B5EF4-FFF2-40B4-BE49-F238E27FC236}">
                <a16:creationId xmlns:a16="http://schemas.microsoft.com/office/drawing/2014/main" id="{E8C0C196-B668-14BA-2518-40948813285D}"/>
              </a:ext>
            </a:extLst>
          </p:cNvPr>
          <p:cNvSpPr/>
          <p:nvPr/>
        </p:nvSpPr>
        <p:spPr>
          <a:xfrm>
            <a:off x="5078863" y="4856642"/>
            <a:ext cx="2743200" cy="3901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altLang="zh-CN" sz="20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1.22</a:t>
            </a:r>
          </a:p>
        </p:txBody>
      </p:sp>
      <p:sp>
        <p:nvSpPr>
          <p:cNvPr id="42" name="Text 8">
            <a:extLst>
              <a:ext uri="{FF2B5EF4-FFF2-40B4-BE49-F238E27FC236}">
                <a16:creationId xmlns:a16="http://schemas.microsoft.com/office/drawing/2014/main" id="{18C87D6E-BC7E-6E1C-DCBB-C609B88503A8}"/>
              </a:ext>
            </a:extLst>
          </p:cNvPr>
          <p:cNvSpPr/>
          <p:nvPr/>
        </p:nvSpPr>
        <p:spPr>
          <a:xfrm>
            <a:off x="4530223" y="5246786"/>
            <a:ext cx="609600" cy="341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zh-CN" sz="1335" dirty="0">
                <a:solidFill>
                  <a:srgbClr val="636E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</a:t>
            </a:r>
            <a:r>
              <a:rPr lang="en-US" sz="1335" dirty="0">
                <a:solidFill>
                  <a:srgbClr val="636E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月</a:t>
            </a:r>
            <a:endParaRPr lang="en-US" sz="133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Text 9">
            <a:extLst>
              <a:ext uri="{FF2B5EF4-FFF2-40B4-BE49-F238E27FC236}">
                <a16:creationId xmlns:a16="http://schemas.microsoft.com/office/drawing/2014/main" id="{1C7E7554-DBBD-23C2-1BD0-9116EA8ABF88}"/>
              </a:ext>
            </a:extLst>
          </p:cNvPr>
          <p:cNvSpPr/>
          <p:nvPr/>
        </p:nvSpPr>
        <p:spPr>
          <a:xfrm>
            <a:off x="5078863" y="5210210"/>
            <a:ext cx="2743200" cy="3901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1.19</a:t>
            </a:r>
          </a:p>
        </p:txBody>
      </p:sp>
      <p:sp>
        <p:nvSpPr>
          <p:cNvPr id="44" name="Shape 10">
            <a:extLst>
              <a:ext uri="{FF2B5EF4-FFF2-40B4-BE49-F238E27FC236}">
                <a16:creationId xmlns:a16="http://schemas.microsoft.com/office/drawing/2014/main" id="{C60E7755-5F33-F6C3-0269-FD388EF5340B}"/>
              </a:ext>
            </a:extLst>
          </p:cNvPr>
          <p:cNvSpPr/>
          <p:nvPr/>
        </p:nvSpPr>
        <p:spPr>
          <a:xfrm>
            <a:off x="4591183" y="5710082"/>
            <a:ext cx="2987040" cy="0"/>
          </a:xfrm>
          <a:prstGeom prst="line">
            <a:avLst/>
          </a:prstGeom>
          <a:noFill/>
          <a:ln w="6350">
            <a:solidFill>
              <a:srgbClr val="DFE6E9"/>
            </a:solidFill>
            <a:prstDash val="solid"/>
          </a:ln>
        </p:spPr>
        <p:txBody>
          <a:bodyPr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Text 11">
            <a:extLst>
              <a:ext uri="{FF2B5EF4-FFF2-40B4-BE49-F238E27FC236}">
                <a16:creationId xmlns:a16="http://schemas.microsoft.com/office/drawing/2014/main" id="{9A495B8E-FBB0-60C7-4826-E764EC83C798}"/>
              </a:ext>
            </a:extLst>
          </p:cNvPr>
          <p:cNvSpPr/>
          <p:nvPr/>
        </p:nvSpPr>
        <p:spPr>
          <a:xfrm>
            <a:off x="5332610" y="5705936"/>
            <a:ext cx="1453133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altLang="zh-CN" b="1" dirty="0">
                <a:solidFill>
                  <a:srgbClr val="7B97A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↓</a:t>
            </a:r>
            <a:r>
              <a:rPr lang="en-US" altLang="zh-CN" b="1" dirty="0">
                <a:solidFill>
                  <a:srgbClr val="7B97A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-2.5%</a:t>
            </a:r>
          </a:p>
        </p:txBody>
      </p:sp>
      <p:sp>
        <p:nvSpPr>
          <p:cNvPr id="46" name="Text 31"/>
          <p:cNvSpPr/>
          <p:nvPr/>
        </p:nvSpPr>
        <p:spPr>
          <a:xfrm>
            <a:off x="484632" y="596636"/>
            <a:ext cx="4876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7B97A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▎</a:t>
            </a:r>
            <a:r>
              <a:rPr lang="zh-CN" altLang="en-US" sz="1600" b="1">
                <a:solidFill>
                  <a:srgbClr val="7B97A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出清</a:t>
            </a:r>
            <a:r>
              <a:rPr lang="en-US" sz="1600" b="1" err="1">
                <a:solidFill>
                  <a:srgbClr val="7B97A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收益排名对比</a:t>
            </a:r>
            <a:endParaRPr 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Shape 32">
            <a:extLst>
              <a:ext uri="{FF2B5EF4-FFF2-40B4-BE49-F238E27FC236}">
                <a16:creationId xmlns:a16="http://schemas.microsoft.com/office/drawing/2014/main" id="{15505F49-5029-3EA0-ED25-E3F10F52D2EA}"/>
              </a:ext>
            </a:extLst>
          </p:cNvPr>
          <p:cNvSpPr/>
          <p:nvPr/>
        </p:nvSpPr>
        <p:spPr>
          <a:xfrm>
            <a:off x="491758" y="2536053"/>
            <a:ext cx="11142209" cy="122279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Shape 33">
            <a:extLst>
              <a:ext uri="{FF2B5EF4-FFF2-40B4-BE49-F238E27FC236}">
                <a16:creationId xmlns:a16="http://schemas.microsoft.com/office/drawing/2014/main" id="{F70AED03-7EE9-AE57-FED9-F8241FEC015A}"/>
              </a:ext>
            </a:extLst>
          </p:cNvPr>
          <p:cNvSpPr/>
          <p:nvPr/>
        </p:nvSpPr>
        <p:spPr>
          <a:xfrm>
            <a:off x="463183" y="2545578"/>
            <a:ext cx="60960" cy="1209009"/>
          </a:xfrm>
          <a:prstGeom prst="rect">
            <a:avLst/>
          </a:prstGeom>
          <a:solidFill>
            <a:srgbClr val="7B97AD"/>
          </a:solidFill>
        </p:spPr>
        <p:txBody>
          <a:bodyPr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7FE8B3AD-AC86-207C-044B-912B576F743E}"/>
              </a:ext>
            </a:extLst>
          </p:cNvPr>
          <p:cNvGrpSpPr/>
          <p:nvPr/>
        </p:nvGrpSpPr>
        <p:grpSpPr>
          <a:xfrm>
            <a:off x="750704" y="2684913"/>
            <a:ext cx="4084319" cy="304666"/>
            <a:chOff x="750704" y="2513366"/>
            <a:chExt cx="4084319" cy="304666"/>
          </a:xfrm>
        </p:grpSpPr>
        <p:sp>
          <p:nvSpPr>
            <p:cNvPr id="6" name="Text 36">
              <a:extLst>
                <a:ext uri="{FF2B5EF4-FFF2-40B4-BE49-F238E27FC236}">
                  <a16:creationId xmlns:a16="http://schemas.microsoft.com/office/drawing/2014/main" id="{236E6D7A-8D28-DCBE-06CB-5CF6C8BFE8E3}"/>
                </a:ext>
              </a:extLst>
            </p:cNvPr>
            <p:cNvSpPr/>
            <p:nvPr/>
          </p:nvSpPr>
          <p:spPr>
            <a:xfrm>
              <a:off x="750704" y="2513366"/>
              <a:ext cx="1950720" cy="2926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r>
                <a:rPr lang="zh-CN" altLang="en-US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杭锦旗</a:t>
              </a:r>
              <a:endParaRPr 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Text 37">
              <a:extLst>
                <a:ext uri="{FF2B5EF4-FFF2-40B4-BE49-F238E27FC236}">
                  <a16:creationId xmlns:a16="http://schemas.microsoft.com/office/drawing/2014/main" id="{15D1A84A-9686-2020-2627-28C19230FCEC}"/>
                </a:ext>
              </a:extLst>
            </p:cNvPr>
            <p:cNvSpPr/>
            <p:nvPr/>
          </p:nvSpPr>
          <p:spPr>
            <a:xfrm>
              <a:off x="1977656" y="2513366"/>
              <a:ext cx="2560320" cy="2926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r>
                <a:rPr lang="en-US" sz="1200" dirty="0">
                  <a:solidFill>
                    <a:srgbClr val="2D343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6月 616</a:t>
              </a:r>
              <a:r>
                <a:rPr lang="en-US" altLang="zh-CN" sz="1200" dirty="0">
                  <a:solidFill>
                    <a:srgbClr val="2D343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 → 7</a:t>
              </a:r>
              <a:r>
                <a:rPr lang="zh-CN" altLang="en-US" sz="1200" dirty="0">
                  <a:solidFill>
                    <a:srgbClr val="2D343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月 </a:t>
              </a:r>
              <a:r>
                <a:rPr lang="en-US" altLang="zh-CN" sz="1200" dirty="0">
                  <a:solidFill>
                    <a:srgbClr val="2D343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716</a:t>
              </a:r>
              <a:endParaRPr 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Text 38">
              <a:extLst>
                <a:ext uri="{FF2B5EF4-FFF2-40B4-BE49-F238E27FC236}">
                  <a16:creationId xmlns:a16="http://schemas.microsoft.com/office/drawing/2014/main" id="{0B39D519-058B-A4EF-68BB-3CDDFEC22DA0}"/>
                </a:ext>
              </a:extLst>
            </p:cNvPr>
            <p:cNvSpPr/>
            <p:nvPr/>
          </p:nvSpPr>
          <p:spPr>
            <a:xfrm>
              <a:off x="3676783" y="2525424"/>
              <a:ext cx="1158240" cy="2926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r"/>
              <a:r>
                <a:rPr lang="zh-CN" altLang="en-US" sz="1200" b="1" dirty="0">
                  <a:solidFill>
                    <a:schemeClr val="accent2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-120"/>
                </a:rPr>
                <a:t>↑</a:t>
              </a:r>
              <a:r>
                <a:rPr lang="en-US" sz="1200" b="1" dirty="0">
                  <a:solidFill>
                    <a:schemeClr val="accent2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-120"/>
                </a:rPr>
                <a:t> </a:t>
              </a:r>
              <a:r>
                <a:rPr lang="en-US" altLang="zh-CN" sz="1200" b="1" dirty="0">
                  <a:solidFill>
                    <a:schemeClr val="accent2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-120"/>
                </a:rPr>
                <a:t>16.2</a:t>
              </a:r>
              <a:r>
                <a:rPr lang="en-US" sz="1200" b="1" dirty="0">
                  <a:solidFill>
                    <a:schemeClr val="accent2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-120"/>
                </a:rPr>
                <a:t>%</a:t>
              </a:r>
            </a:p>
          </p:txBody>
        </p:sp>
      </p:grpSp>
      <p:sp>
        <p:nvSpPr>
          <p:cNvPr id="50" name="Text 36">
            <a:extLst>
              <a:ext uri="{FF2B5EF4-FFF2-40B4-BE49-F238E27FC236}">
                <a16:creationId xmlns:a16="http://schemas.microsoft.com/office/drawing/2014/main" id="{595E674D-365F-6A1D-9A5C-9A58988D0BFF}"/>
              </a:ext>
            </a:extLst>
          </p:cNvPr>
          <p:cNvSpPr/>
          <p:nvPr/>
        </p:nvSpPr>
        <p:spPr>
          <a:xfrm>
            <a:off x="6602863" y="2684913"/>
            <a:ext cx="1950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谷山梁</a:t>
            </a:r>
            <a:endParaRPr 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Text 37">
            <a:extLst>
              <a:ext uri="{FF2B5EF4-FFF2-40B4-BE49-F238E27FC236}">
                <a16:creationId xmlns:a16="http://schemas.microsoft.com/office/drawing/2014/main" id="{E9DD81C2-F814-1CFD-F18C-B736AC81A250}"/>
              </a:ext>
            </a:extLst>
          </p:cNvPr>
          <p:cNvSpPr/>
          <p:nvPr/>
        </p:nvSpPr>
        <p:spPr>
          <a:xfrm>
            <a:off x="8212430" y="2682979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6月 3049</a:t>
            </a:r>
            <a:r>
              <a:rPr lang="en-US" altLang="zh-CN" sz="1200" dirty="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→ 7</a:t>
            </a:r>
            <a:r>
              <a:rPr lang="zh-CN" altLang="en-US" sz="1200" dirty="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月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3,487</a:t>
            </a:r>
            <a:r>
              <a:rPr lang="en-US" altLang="zh-CN" sz="1200" dirty="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 36">
            <a:extLst>
              <a:ext uri="{FF2B5EF4-FFF2-40B4-BE49-F238E27FC236}">
                <a16:creationId xmlns:a16="http://schemas.microsoft.com/office/drawing/2014/main" id="{15F3D91F-F32D-5218-290F-6276E7B03D72}"/>
              </a:ext>
            </a:extLst>
          </p:cNvPr>
          <p:cNvSpPr/>
          <p:nvPr/>
        </p:nvSpPr>
        <p:spPr>
          <a:xfrm>
            <a:off x="6602863" y="3029798"/>
            <a:ext cx="1950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四子王</a:t>
            </a:r>
            <a:endParaRPr 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Text 37">
            <a:extLst>
              <a:ext uri="{FF2B5EF4-FFF2-40B4-BE49-F238E27FC236}">
                <a16:creationId xmlns:a16="http://schemas.microsoft.com/office/drawing/2014/main" id="{3A4D383C-8EF7-06F4-EB81-D753FC556BE9}"/>
              </a:ext>
            </a:extLst>
          </p:cNvPr>
          <p:cNvSpPr/>
          <p:nvPr/>
        </p:nvSpPr>
        <p:spPr>
          <a:xfrm>
            <a:off x="8212430" y="3029798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6月 488</a:t>
            </a:r>
            <a:r>
              <a:rPr lang="en-US" altLang="zh-CN" sz="1200" dirty="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→ 7</a:t>
            </a:r>
            <a:r>
              <a:rPr lang="zh-CN" altLang="en-US" sz="1200" dirty="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月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539</a:t>
            </a:r>
            <a:r>
              <a:rPr lang="zh-CN" altLang="en-US" sz="1200" dirty="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r>
              <a:rPr lang="en-US" altLang="zh-CN" sz="1200" dirty="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AD8377DA-8BEB-F883-61B4-5BF4C73A452D}"/>
              </a:ext>
            </a:extLst>
          </p:cNvPr>
          <p:cNvSpPr txBox="1"/>
          <p:nvPr/>
        </p:nvSpPr>
        <p:spPr>
          <a:xfrm>
            <a:off x="2151394" y="1427059"/>
            <a:ext cx="2743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rPr 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12,485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→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13,861</a:t>
            </a:r>
          </a:p>
        </p:txBody>
      </p:sp>
      <p:sp>
        <p:nvSpPr>
          <p:cNvPr id="5" name="TextBox 12">
            <a:extLst>
              <a:ext uri="{FF2B5EF4-FFF2-40B4-BE49-F238E27FC236}">
                <a16:creationId xmlns:a16="http://schemas.microsoft.com/office/drawing/2014/main" id="{A50F6C27-10F1-C16A-2B1C-0679CA1E861B}"/>
              </a:ext>
            </a:extLst>
          </p:cNvPr>
          <p:cNvSpPr txBox="1"/>
          <p:nvPr/>
        </p:nvSpPr>
        <p:spPr>
          <a:xfrm>
            <a:off x="2146194" y="1757754"/>
            <a:ext cx="2743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rPr 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 1,3</a:t>
            </a:r>
            <a:r>
              <a:rPr 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74</a:t>
            </a:r>
            <a:r>
              <a:rPr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,9</a:t>
            </a:r>
            <a:r>
              <a:rPr 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→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1,564,283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15">
            <a:extLst>
              <a:ext uri="{FF2B5EF4-FFF2-40B4-BE49-F238E27FC236}">
                <a16:creationId xmlns:a16="http://schemas.microsoft.com/office/drawing/2014/main" id="{A758ACAB-0572-C903-6004-00046C89C391}"/>
              </a:ext>
            </a:extLst>
          </p:cNvPr>
          <p:cNvSpPr txBox="1"/>
          <p:nvPr/>
        </p:nvSpPr>
        <p:spPr>
          <a:xfrm>
            <a:off x="2146194" y="2086035"/>
            <a:ext cx="2743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 1,2</a:t>
            </a:r>
            <a:r>
              <a:rPr 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85</a:t>
            </a:r>
            <a:r>
              <a:rPr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42</a:t>
            </a:r>
            <a:r>
              <a:rPr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→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7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1,454,004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497FB04-85FA-021C-44E4-7660D07AFCB3}"/>
              </a:ext>
            </a:extLst>
          </p:cNvPr>
          <p:cNvSpPr txBox="1"/>
          <p:nvPr/>
        </p:nvSpPr>
        <p:spPr>
          <a:xfrm>
            <a:off x="4414690" y="1473035"/>
            <a:ext cx="14173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29944"/>
                </a:solidFill>
                <a:latin typeface="Microsoft YaHei"/>
              </a:defRPr>
            </a:pP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.0</a:t>
            </a:r>
            <a:r>
              <a:rPr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</a:p>
        </p:txBody>
      </p:sp>
      <p:sp>
        <p:nvSpPr>
          <p:cNvPr id="11" name="TextBox 13">
            <a:extLst>
              <a:ext uri="{FF2B5EF4-FFF2-40B4-BE49-F238E27FC236}">
                <a16:creationId xmlns:a16="http://schemas.microsoft.com/office/drawing/2014/main" id="{85ECE947-24B8-3721-49BE-E825558E6747}"/>
              </a:ext>
            </a:extLst>
          </p:cNvPr>
          <p:cNvSpPr txBox="1"/>
          <p:nvPr/>
        </p:nvSpPr>
        <p:spPr>
          <a:xfrm>
            <a:off x="4277530" y="1793075"/>
            <a:ext cx="1554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29944"/>
                </a:solidFill>
                <a:latin typeface="Microsoft YaHei"/>
              </a:defRPr>
            </a:pP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</a:t>
            </a:r>
            <a:r>
              <a:rPr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13.8</a:t>
            </a:r>
            <a:r>
              <a:rPr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</a:p>
        </p:txBody>
      </p:sp>
      <p:sp>
        <p:nvSpPr>
          <p:cNvPr id="12" name="TextBox 16">
            <a:extLst>
              <a:ext uri="{FF2B5EF4-FFF2-40B4-BE49-F238E27FC236}">
                <a16:creationId xmlns:a16="http://schemas.microsoft.com/office/drawing/2014/main" id="{850EAA05-C11A-19EB-E5E6-0A00023242E0}"/>
              </a:ext>
            </a:extLst>
          </p:cNvPr>
          <p:cNvSpPr txBox="1"/>
          <p:nvPr/>
        </p:nvSpPr>
        <p:spPr>
          <a:xfrm>
            <a:off x="4094650" y="2113115"/>
            <a:ext cx="17373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29944"/>
                </a:solidFill>
                <a:latin typeface="Microsoft YaHei"/>
              </a:defRPr>
            </a:pP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</a:t>
            </a:r>
            <a:r>
              <a:rPr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13.1</a:t>
            </a:r>
            <a:r>
              <a:rPr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ADEC0AAC-BFA5-1D2B-8C59-7135B6BABEB6}"/>
              </a:ext>
            </a:extLst>
          </p:cNvPr>
          <p:cNvSpPr txBox="1"/>
          <p:nvPr/>
        </p:nvSpPr>
        <p:spPr>
          <a:xfrm>
            <a:off x="10153825" y="1487953"/>
            <a:ext cx="14173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29944"/>
                </a:solidFill>
                <a:latin typeface="Microsoft YaHei"/>
              </a:defRPr>
            </a:pP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</a:t>
            </a:r>
            <a:r>
              <a:rPr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13.6</a:t>
            </a:r>
            <a:r>
              <a:rPr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8D0E05-6D95-98D3-51A2-1130343A7FEE}"/>
              </a:ext>
            </a:extLst>
          </p:cNvPr>
          <p:cNvSpPr txBox="1"/>
          <p:nvPr/>
        </p:nvSpPr>
        <p:spPr>
          <a:xfrm>
            <a:off x="10016665" y="1807993"/>
            <a:ext cx="1554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29944"/>
                </a:solidFill>
                <a:latin typeface="Microsoft YaHei"/>
              </a:defRPr>
            </a:pP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</a:t>
            </a:r>
            <a:r>
              <a:rPr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18.4</a:t>
            </a:r>
            <a:r>
              <a:rPr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DBE8F0F-A154-6808-9B60-AA3DF8CC73BA}"/>
              </a:ext>
            </a:extLst>
          </p:cNvPr>
          <p:cNvSpPr txBox="1"/>
          <p:nvPr/>
        </p:nvSpPr>
        <p:spPr>
          <a:xfrm>
            <a:off x="9833785" y="2128033"/>
            <a:ext cx="17373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29944"/>
                </a:solidFill>
                <a:latin typeface="Microsoft YaHei"/>
              </a:defRPr>
            </a:pP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</a:t>
            </a:r>
            <a:r>
              <a:rPr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17.5</a:t>
            </a:r>
            <a:r>
              <a:rPr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</a:p>
        </p:txBody>
      </p:sp>
      <p:sp>
        <p:nvSpPr>
          <p:cNvPr id="34" name="Text 38">
            <a:extLst>
              <a:ext uri="{FF2B5EF4-FFF2-40B4-BE49-F238E27FC236}">
                <a16:creationId xmlns:a16="http://schemas.microsoft.com/office/drawing/2014/main" id="{BA2B3058-5635-4581-418F-086AAD8CC7C2}"/>
              </a:ext>
            </a:extLst>
          </p:cNvPr>
          <p:cNvSpPr/>
          <p:nvPr/>
        </p:nvSpPr>
        <p:spPr>
          <a:xfrm>
            <a:off x="9836409" y="2646888"/>
            <a:ext cx="1158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/>
            <a:r>
              <a:rPr lang="zh-CN" altLang="en-US" sz="12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-120"/>
              </a:rPr>
              <a:t>↑</a:t>
            </a:r>
            <a:r>
              <a:rPr lang="en-US" sz="12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-120"/>
              </a:rPr>
              <a:t> </a:t>
            </a:r>
            <a:r>
              <a:rPr lang="en-US" altLang="zh-CN" sz="12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-120"/>
              </a:rPr>
              <a:t>14.4</a:t>
            </a:r>
            <a:r>
              <a:rPr lang="en-US" sz="12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-120"/>
              </a:rPr>
              <a:t>%</a:t>
            </a:r>
          </a:p>
        </p:txBody>
      </p: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0153B22C-DE56-01DD-407A-EEFE417EC72B}"/>
              </a:ext>
            </a:extLst>
          </p:cNvPr>
          <p:cNvGrpSpPr/>
          <p:nvPr/>
        </p:nvGrpSpPr>
        <p:grpSpPr>
          <a:xfrm>
            <a:off x="742703" y="3004944"/>
            <a:ext cx="4092320" cy="315429"/>
            <a:chOff x="742703" y="2841454"/>
            <a:chExt cx="4092320" cy="315429"/>
          </a:xfrm>
        </p:grpSpPr>
        <p:sp>
          <p:nvSpPr>
            <p:cNvPr id="53" name="Text 36">
              <a:extLst>
                <a:ext uri="{FF2B5EF4-FFF2-40B4-BE49-F238E27FC236}">
                  <a16:creationId xmlns:a16="http://schemas.microsoft.com/office/drawing/2014/main" id="{B31E74DA-E278-59E2-C762-BA7A037858F3}"/>
                </a:ext>
              </a:extLst>
            </p:cNvPr>
            <p:cNvSpPr/>
            <p:nvPr/>
          </p:nvSpPr>
          <p:spPr>
            <a:xfrm>
              <a:off x="742703" y="2858706"/>
              <a:ext cx="1950720" cy="2926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r>
                <a:rPr lang="zh-CN" altLang="en-US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苏右</a:t>
              </a:r>
              <a:endParaRPr 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Text 37">
              <a:extLst>
                <a:ext uri="{FF2B5EF4-FFF2-40B4-BE49-F238E27FC236}">
                  <a16:creationId xmlns:a16="http://schemas.microsoft.com/office/drawing/2014/main" id="{0493BEA2-B6C1-E71C-6CF6-CDB2D31589D5}"/>
                </a:ext>
              </a:extLst>
            </p:cNvPr>
            <p:cNvSpPr/>
            <p:nvPr/>
          </p:nvSpPr>
          <p:spPr>
            <a:xfrm>
              <a:off x="1969903" y="2841454"/>
              <a:ext cx="2560320" cy="2926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r>
                <a:rPr lang="en-US" sz="1200" dirty="0">
                  <a:solidFill>
                    <a:srgbClr val="2D343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6月 463</a:t>
              </a:r>
              <a:r>
                <a:rPr lang="en-US" altLang="zh-CN" sz="1200" dirty="0">
                  <a:solidFill>
                    <a:srgbClr val="2D343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 →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7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月 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528</a:t>
              </a:r>
              <a:r>
                <a:rPr lang="en-US" altLang="zh-CN" sz="1200" dirty="0">
                  <a:solidFill>
                    <a:srgbClr val="2D343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 </a:t>
              </a:r>
              <a:endParaRPr 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Text 38">
              <a:extLst>
                <a:ext uri="{FF2B5EF4-FFF2-40B4-BE49-F238E27FC236}">
                  <a16:creationId xmlns:a16="http://schemas.microsoft.com/office/drawing/2014/main" id="{96271863-8FBA-530E-DD24-66B65EBDC0C1}"/>
                </a:ext>
              </a:extLst>
            </p:cNvPr>
            <p:cNvSpPr/>
            <p:nvPr/>
          </p:nvSpPr>
          <p:spPr>
            <a:xfrm>
              <a:off x="3676783" y="2864275"/>
              <a:ext cx="1158240" cy="2926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r"/>
              <a:r>
                <a:rPr lang="zh-CN" altLang="en-US" sz="1200" b="1" dirty="0">
                  <a:solidFill>
                    <a:schemeClr val="accent2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-120"/>
                </a:rPr>
                <a:t>↑</a:t>
              </a:r>
              <a:r>
                <a:rPr lang="en-US" sz="1200" b="1" dirty="0">
                  <a:solidFill>
                    <a:schemeClr val="accent2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-120"/>
                </a:rPr>
                <a:t> </a:t>
              </a:r>
              <a:r>
                <a:rPr lang="en-US" altLang="zh-CN" sz="1200" b="1" dirty="0">
                  <a:solidFill>
                    <a:schemeClr val="accent2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-120"/>
                </a:rPr>
                <a:t>14.0</a:t>
              </a:r>
              <a:r>
                <a:rPr lang="en-US" sz="1200" b="1" dirty="0">
                  <a:solidFill>
                    <a:schemeClr val="accent2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-120"/>
                </a:rPr>
                <a:t>%</a:t>
              </a:r>
            </a:p>
          </p:txBody>
        </p:sp>
      </p:grpSp>
      <p:sp>
        <p:nvSpPr>
          <p:cNvPr id="48" name="Text 38">
            <a:extLst>
              <a:ext uri="{FF2B5EF4-FFF2-40B4-BE49-F238E27FC236}">
                <a16:creationId xmlns:a16="http://schemas.microsoft.com/office/drawing/2014/main" id="{99508619-CA9C-8172-5C37-A5682A953FC3}"/>
              </a:ext>
            </a:extLst>
          </p:cNvPr>
          <p:cNvSpPr/>
          <p:nvPr/>
        </p:nvSpPr>
        <p:spPr>
          <a:xfrm>
            <a:off x="9836409" y="2997604"/>
            <a:ext cx="1158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/>
            <a:r>
              <a:rPr lang="zh-CN" altLang="en-US" sz="12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-120"/>
              </a:rPr>
              <a:t>↑</a:t>
            </a:r>
            <a:r>
              <a:rPr lang="en-US" sz="12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-120"/>
              </a:rPr>
              <a:t> </a:t>
            </a:r>
            <a:r>
              <a:rPr lang="en-US" altLang="zh-CN" sz="12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-120"/>
              </a:rPr>
              <a:t>10.5</a:t>
            </a:r>
            <a:r>
              <a:rPr lang="en-US" sz="12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-120"/>
              </a:rPr>
              <a:t>%</a:t>
            </a:r>
          </a:p>
        </p:txBody>
      </p:sp>
      <p:sp>
        <p:nvSpPr>
          <p:cNvPr id="49" name="Shape 22">
            <a:extLst>
              <a:ext uri="{FF2B5EF4-FFF2-40B4-BE49-F238E27FC236}">
                <a16:creationId xmlns:a16="http://schemas.microsoft.com/office/drawing/2014/main" id="{13B55B6A-561D-CCF9-48F3-A39C6D66C725}"/>
              </a:ext>
            </a:extLst>
          </p:cNvPr>
          <p:cNvSpPr/>
          <p:nvPr/>
        </p:nvSpPr>
        <p:spPr>
          <a:xfrm>
            <a:off x="506864" y="4210466"/>
            <a:ext cx="3474720" cy="48768"/>
          </a:xfrm>
          <a:prstGeom prst="rect">
            <a:avLst/>
          </a:prstGeom>
          <a:solidFill>
            <a:srgbClr val="8C5A3C"/>
          </a:solidFill>
        </p:spPr>
        <p:txBody>
          <a:bodyPr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EAB5BD05-E8B8-8D6B-E6CB-6471192663B5}"/>
              </a:ext>
            </a:extLst>
          </p:cNvPr>
          <p:cNvGrpSpPr/>
          <p:nvPr/>
        </p:nvGrpSpPr>
        <p:grpSpPr>
          <a:xfrm>
            <a:off x="750704" y="3364557"/>
            <a:ext cx="3108960" cy="292608"/>
            <a:chOff x="750704" y="2848788"/>
            <a:chExt cx="3108960" cy="292608"/>
          </a:xfrm>
        </p:grpSpPr>
        <p:sp>
          <p:nvSpPr>
            <p:cNvPr id="55" name="Text 36">
              <a:extLst>
                <a:ext uri="{FF2B5EF4-FFF2-40B4-BE49-F238E27FC236}">
                  <a16:creationId xmlns:a16="http://schemas.microsoft.com/office/drawing/2014/main" id="{1C18610E-54C8-D5DD-23FD-7B3B2162D30F}"/>
                </a:ext>
              </a:extLst>
            </p:cNvPr>
            <p:cNvSpPr/>
            <p:nvPr/>
          </p:nvSpPr>
          <p:spPr>
            <a:xfrm>
              <a:off x="750704" y="2848788"/>
              <a:ext cx="1950720" cy="2926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乌海</a:t>
              </a:r>
              <a:endParaRPr 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8" name="Text 37">
              <a:extLst>
                <a:ext uri="{FF2B5EF4-FFF2-40B4-BE49-F238E27FC236}">
                  <a16:creationId xmlns:a16="http://schemas.microsoft.com/office/drawing/2014/main" id="{315CDAA6-6E20-6526-D99E-B22C8D23F80A}"/>
                </a:ext>
              </a:extLst>
            </p:cNvPr>
            <p:cNvSpPr/>
            <p:nvPr/>
          </p:nvSpPr>
          <p:spPr>
            <a:xfrm>
              <a:off x="1299344" y="2848788"/>
              <a:ext cx="2560320" cy="2926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r>
                <a:rPr lang="en-US" sz="1200" dirty="0">
                  <a:solidFill>
                    <a:srgbClr val="2D343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6月 616</a:t>
              </a:r>
              <a:r>
                <a:rPr lang="en-US" altLang="zh-CN" sz="1200" dirty="0">
                  <a:solidFill>
                    <a:srgbClr val="2D343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 → 7</a:t>
              </a:r>
              <a:r>
                <a:rPr lang="zh-CN" altLang="en-US" sz="1200" dirty="0">
                  <a:solidFill>
                    <a:srgbClr val="2D343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月 </a:t>
              </a:r>
              <a:r>
                <a:rPr lang="en-US" altLang="zh-CN" sz="1200" dirty="0">
                  <a:solidFill>
                    <a:srgbClr val="2D343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701</a:t>
              </a:r>
              <a:r>
                <a:rPr lang="zh-CN" altLang="en-US" sz="1200" dirty="0">
                  <a:solidFill>
                    <a:srgbClr val="2D343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 </a:t>
              </a:r>
              <a:r>
                <a:rPr lang="en-US" altLang="zh-CN" sz="1200" dirty="0">
                  <a:solidFill>
                    <a:srgbClr val="2D343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 </a:t>
              </a:r>
              <a:endParaRPr 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Text 38">
              <a:extLst>
                <a:ext uri="{FF2B5EF4-FFF2-40B4-BE49-F238E27FC236}">
                  <a16:creationId xmlns:a16="http://schemas.microsoft.com/office/drawing/2014/main" id="{15D24A6C-9579-4EF9-1C73-328C04922E55}"/>
                </a:ext>
              </a:extLst>
            </p:cNvPr>
            <p:cNvSpPr/>
            <p:nvPr/>
          </p:nvSpPr>
          <p:spPr>
            <a:xfrm>
              <a:off x="2736856" y="2863297"/>
              <a:ext cx="670559" cy="27259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r"/>
              <a:r>
                <a:rPr lang="zh-CN" altLang="en-US" sz="1200" b="1" dirty="0">
                  <a:solidFill>
                    <a:schemeClr val="accent2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-120"/>
                </a:rPr>
                <a:t>↑</a:t>
              </a:r>
              <a:r>
                <a:rPr lang="en-US" sz="1200" b="1" dirty="0">
                  <a:solidFill>
                    <a:schemeClr val="accent2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-120"/>
                </a:rPr>
                <a:t> </a:t>
              </a:r>
              <a:r>
                <a:rPr lang="en-US" altLang="zh-CN" sz="1200" b="1" dirty="0">
                  <a:solidFill>
                    <a:schemeClr val="accent2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-120"/>
                </a:rPr>
                <a:t>13.8</a:t>
              </a:r>
              <a:r>
                <a:rPr lang="en-US" sz="1200" b="1" dirty="0">
                  <a:solidFill>
                    <a:schemeClr val="accent2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-120"/>
                </a:rPr>
                <a:t>%</a:t>
              </a:r>
            </a:p>
          </p:txBody>
        </p:sp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4F6E0B89-5A99-1CB4-382B-A07D5C721312}"/>
              </a:ext>
            </a:extLst>
          </p:cNvPr>
          <p:cNvGrpSpPr/>
          <p:nvPr/>
        </p:nvGrpSpPr>
        <p:grpSpPr>
          <a:xfrm>
            <a:off x="4591183" y="3347313"/>
            <a:ext cx="3023907" cy="301750"/>
            <a:chOff x="736581" y="2831544"/>
            <a:chExt cx="3023907" cy="301750"/>
          </a:xfrm>
        </p:grpSpPr>
        <p:sp>
          <p:nvSpPr>
            <p:cNvPr id="67" name="Text 36">
              <a:extLst>
                <a:ext uri="{FF2B5EF4-FFF2-40B4-BE49-F238E27FC236}">
                  <a16:creationId xmlns:a16="http://schemas.microsoft.com/office/drawing/2014/main" id="{E986AB11-2194-814C-1844-9C50C06B4FFB}"/>
                </a:ext>
              </a:extLst>
            </p:cNvPr>
            <p:cNvSpPr/>
            <p:nvPr/>
          </p:nvSpPr>
          <p:spPr>
            <a:xfrm>
              <a:off x="736581" y="2831544"/>
              <a:ext cx="1950720" cy="2926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巴盟</a:t>
              </a:r>
              <a:endParaRPr 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Text 37">
              <a:extLst>
                <a:ext uri="{FF2B5EF4-FFF2-40B4-BE49-F238E27FC236}">
                  <a16:creationId xmlns:a16="http://schemas.microsoft.com/office/drawing/2014/main" id="{B5063C5D-CC30-76E8-F837-99C40DA2F514}"/>
                </a:ext>
              </a:extLst>
            </p:cNvPr>
            <p:cNvSpPr/>
            <p:nvPr/>
          </p:nvSpPr>
          <p:spPr>
            <a:xfrm>
              <a:off x="1200168" y="2837117"/>
              <a:ext cx="2560320" cy="2926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r>
                <a:rPr lang="en-US" sz="1200" dirty="0">
                  <a:solidFill>
                    <a:srgbClr val="2D343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6月 5980</a:t>
              </a:r>
              <a:r>
                <a:rPr lang="en-US" altLang="zh-CN" sz="1200" dirty="0">
                  <a:solidFill>
                    <a:srgbClr val="2D343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 →  7</a:t>
              </a:r>
              <a:r>
                <a:rPr lang="zh-CN" altLang="en-US" sz="1200" dirty="0">
                  <a:solidFill>
                    <a:srgbClr val="2D343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月 </a:t>
              </a:r>
              <a:r>
                <a:rPr lang="en-US" altLang="zh-CN" sz="12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4828</a:t>
              </a:r>
            </a:p>
          </p:txBody>
        </p:sp>
        <p:sp>
          <p:nvSpPr>
            <p:cNvPr id="69" name="Text 38">
              <a:extLst>
                <a:ext uri="{FF2B5EF4-FFF2-40B4-BE49-F238E27FC236}">
                  <a16:creationId xmlns:a16="http://schemas.microsoft.com/office/drawing/2014/main" id="{3D43BA7E-9031-F2A6-D305-C861005A0B72}"/>
                </a:ext>
              </a:extLst>
            </p:cNvPr>
            <p:cNvSpPr/>
            <p:nvPr/>
          </p:nvSpPr>
          <p:spPr>
            <a:xfrm>
              <a:off x="2931141" y="2860698"/>
              <a:ext cx="670559" cy="27259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r"/>
              <a:r>
                <a:rPr lang="zh-CN" altLang="en-US" sz="1200" b="1" dirty="0">
                  <a:solidFill>
                    <a:srgbClr val="00B05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-120"/>
                </a:rPr>
                <a:t>↓</a:t>
              </a:r>
              <a:r>
                <a:rPr lang="en-US" sz="1200" b="1" dirty="0">
                  <a:solidFill>
                    <a:srgbClr val="00B05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-120"/>
                </a:rPr>
                <a:t> </a:t>
              </a:r>
              <a:r>
                <a:rPr lang="en-US" altLang="zh-CN" sz="1200" b="1" dirty="0">
                  <a:solidFill>
                    <a:srgbClr val="00B05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-120"/>
                </a:rPr>
                <a:t>19.3</a:t>
              </a:r>
              <a:r>
                <a:rPr lang="en-US" sz="1200" b="1" dirty="0">
                  <a:solidFill>
                    <a:srgbClr val="00B05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-120"/>
                </a:rPr>
                <a:t>%</a:t>
              </a:r>
            </a:p>
          </p:txBody>
        </p:sp>
      </p:grp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4C58D959-1D20-29D5-BA2A-FAD84E8238B5}"/>
              </a:ext>
            </a:extLst>
          </p:cNvPr>
          <p:cNvGrpSpPr/>
          <p:nvPr/>
        </p:nvGrpSpPr>
        <p:grpSpPr>
          <a:xfrm>
            <a:off x="8299659" y="3358276"/>
            <a:ext cx="3131237" cy="308807"/>
            <a:chOff x="742703" y="2842507"/>
            <a:chExt cx="3131237" cy="308807"/>
          </a:xfrm>
        </p:grpSpPr>
        <p:sp>
          <p:nvSpPr>
            <p:cNvPr id="85" name="Text 36">
              <a:extLst>
                <a:ext uri="{FF2B5EF4-FFF2-40B4-BE49-F238E27FC236}">
                  <a16:creationId xmlns:a16="http://schemas.microsoft.com/office/drawing/2014/main" id="{A0C36073-0DE6-7268-F8A6-FF5C2CC20CCB}"/>
                </a:ext>
              </a:extLst>
            </p:cNvPr>
            <p:cNvSpPr/>
            <p:nvPr/>
          </p:nvSpPr>
          <p:spPr>
            <a:xfrm>
              <a:off x="742703" y="2858706"/>
              <a:ext cx="1950720" cy="2926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乌拉特</a:t>
              </a:r>
              <a:endParaRPr 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6" name="Text 37">
              <a:extLst>
                <a:ext uri="{FF2B5EF4-FFF2-40B4-BE49-F238E27FC236}">
                  <a16:creationId xmlns:a16="http://schemas.microsoft.com/office/drawing/2014/main" id="{6C04BADA-E34E-7A7C-B8A8-576865F11EF4}"/>
                </a:ext>
              </a:extLst>
            </p:cNvPr>
            <p:cNvSpPr/>
            <p:nvPr/>
          </p:nvSpPr>
          <p:spPr>
            <a:xfrm>
              <a:off x="1313620" y="2846359"/>
              <a:ext cx="2560320" cy="2926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r>
                <a:rPr lang="en-US" sz="1200" dirty="0">
                  <a:solidFill>
                    <a:srgbClr val="2D343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6月 542</a:t>
              </a:r>
              <a:r>
                <a:rPr lang="en-US" altLang="zh-CN" sz="1200" dirty="0">
                  <a:solidFill>
                    <a:srgbClr val="2D343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 → 7</a:t>
              </a:r>
              <a:r>
                <a:rPr lang="zh-CN" altLang="en-US" sz="1200" dirty="0">
                  <a:solidFill>
                    <a:srgbClr val="2D343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月</a:t>
              </a:r>
              <a:r>
                <a:rPr lang="en-US" altLang="zh-CN" sz="12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639</a:t>
              </a:r>
              <a:r>
                <a:rPr lang="en-US" altLang="zh-CN" sz="1200" dirty="0">
                  <a:solidFill>
                    <a:srgbClr val="2D343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 </a:t>
              </a:r>
              <a:endParaRPr 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7" name="Text 38">
              <a:extLst>
                <a:ext uri="{FF2B5EF4-FFF2-40B4-BE49-F238E27FC236}">
                  <a16:creationId xmlns:a16="http://schemas.microsoft.com/office/drawing/2014/main" id="{38E2693D-AABB-D502-477C-38117C7E6156}"/>
                </a:ext>
              </a:extLst>
            </p:cNvPr>
            <p:cNvSpPr/>
            <p:nvPr/>
          </p:nvSpPr>
          <p:spPr>
            <a:xfrm>
              <a:off x="2767134" y="2842507"/>
              <a:ext cx="670559" cy="27259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r"/>
              <a:r>
                <a:rPr lang="zh-CN" altLang="en-US" sz="1200" b="1" dirty="0">
                  <a:solidFill>
                    <a:schemeClr val="accent2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-120"/>
                </a:rPr>
                <a:t>↑</a:t>
              </a:r>
              <a:r>
                <a:rPr lang="en-US" sz="1200" b="1" dirty="0">
                  <a:solidFill>
                    <a:schemeClr val="accent2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-120"/>
                </a:rPr>
                <a:t> </a:t>
              </a:r>
              <a:r>
                <a:rPr lang="en-US" altLang="zh-CN" sz="1200" b="1" dirty="0">
                  <a:solidFill>
                    <a:schemeClr val="accent2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-120"/>
                </a:rPr>
                <a:t>17.9</a:t>
              </a:r>
              <a:r>
                <a:rPr lang="en-US" sz="1200" b="1" dirty="0">
                  <a:solidFill>
                    <a:schemeClr val="accent2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-120"/>
                </a:rPr>
                <a:t>%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9082733"/>
              </p:ext>
            </p:extLst>
          </p:nvPr>
        </p:nvGraphicFramePr>
        <p:xfrm>
          <a:off x="320040" y="1800224"/>
          <a:ext cx="2743200" cy="21593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9169440"/>
              </p:ext>
            </p:extLst>
          </p:nvPr>
        </p:nvGraphicFramePr>
        <p:xfrm>
          <a:off x="3154680" y="1800224"/>
          <a:ext cx="2743200" cy="21593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8978535"/>
              </p:ext>
            </p:extLst>
          </p:nvPr>
        </p:nvGraphicFramePr>
        <p:xfrm>
          <a:off x="5989320" y="1800224"/>
          <a:ext cx="2743200" cy="21593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4797479"/>
              </p:ext>
            </p:extLst>
          </p:nvPr>
        </p:nvGraphicFramePr>
        <p:xfrm>
          <a:off x="8823960" y="1800224"/>
          <a:ext cx="2743200" cy="21593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9249260"/>
              </p:ext>
            </p:extLst>
          </p:nvPr>
        </p:nvGraphicFramePr>
        <p:xfrm>
          <a:off x="426567" y="3867150"/>
          <a:ext cx="3657600" cy="21593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9677861"/>
              </p:ext>
            </p:extLst>
          </p:nvPr>
        </p:nvGraphicFramePr>
        <p:xfrm>
          <a:off x="4267047" y="3867150"/>
          <a:ext cx="3657600" cy="21593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1750459"/>
              </p:ext>
            </p:extLst>
          </p:nvPr>
        </p:nvGraphicFramePr>
        <p:xfrm>
          <a:off x="8107527" y="3867150"/>
          <a:ext cx="3657600" cy="21593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数据来源：储能电站6-7月分时均价  ·  虚线=6月, 实线=7月, 点线=月均价  ·  1/1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D392F0B-39E0-656C-4C71-0FB401D8BE56}"/>
              </a:ext>
            </a:extLst>
          </p:cNvPr>
          <p:cNvSpPr/>
          <p:nvPr/>
        </p:nvSpPr>
        <p:spPr>
          <a:xfrm>
            <a:off x="0" y="9144"/>
            <a:ext cx="12192000" cy="574177"/>
          </a:xfrm>
          <a:prstGeom prst="rect">
            <a:avLst/>
          </a:prstGeom>
          <a:solidFill>
            <a:srgbClr val="3B3B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57C07EB-95E8-8C79-28E7-868795D5C6C8}"/>
              </a:ext>
            </a:extLst>
          </p:cNvPr>
          <p:cNvSpPr txBox="1"/>
          <p:nvPr/>
        </p:nvSpPr>
        <p:spPr>
          <a:xfrm>
            <a:off x="126999" y="102938"/>
            <a:ext cx="8359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市场环境分析 </a:t>
            </a:r>
            <a:r>
              <a:rPr lang="en-US" altLang="zh-CN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各场站分时均价对比（</a:t>
            </a:r>
            <a:r>
              <a:rPr lang="en-US" altLang="zh-CN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 </a:t>
            </a:r>
            <a:r>
              <a:rPr lang="en-US" altLang="zh-CN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VS 7</a:t>
            </a: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月）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6DE144E-025D-E20D-EBF1-677FB41FEAEC}"/>
              </a:ext>
            </a:extLst>
          </p:cNvPr>
          <p:cNvSpPr txBox="1"/>
          <p:nvPr/>
        </p:nvSpPr>
        <p:spPr>
          <a:xfrm>
            <a:off x="252805" y="764992"/>
            <a:ext cx="11853470" cy="874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月七个场站的均价全面上涨，涨幅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10%~16%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较六月呼包西谷段价格持平，早晚峰抬高，峰谷差扩大；呼包东价格整体抬升，峰谷差降低</a:t>
            </a:r>
            <a:endParaRPr lang="en-US" altLang="zh-CN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AD383-EF9A-72BF-8048-07A344E3B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矩形 77">
            <a:extLst>
              <a:ext uri="{FF2B5EF4-FFF2-40B4-BE49-F238E27FC236}">
                <a16:creationId xmlns:a16="http://schemas.microsoft.com/office/drawing/2014/main" id="{10D187D9-2918-5541-3112-BFD2AA2897E8}"/>
              </a:ext>
            </a:extLst>
          </p:cNvPr>
          <p:cNvSpPr/>
          <p:nvPr/>
        </p:nvSpPr>
        <p:spPr>
          <a:xfrm>
            <a:off x="0" y="0"/>
            <a:ext cx="12192000" cy="574177"/>
          </a:xfrm>
          <a:prstGeom prst="rect">
            <a:avLst/>
          </a:prstGeom>
          <a:solidFill>
            <a:srgbClr val="3B3B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7516003C-B7C2-AC9B-5728-C74A45A977F1}"/>
              </a:ext>
            </a:extLst>
          </p:cNvPr>
          <p:cNvSpPr txBox="1"/>
          <p:nvPr/>
        </p:nvSpPr>
        <p:spPr>
          <a:xfrm>
            <a:off x="126999" y="102938"/>
            <a:ext cx="6145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市场环境分析 </a:t>
            </a:r>
            <a:r>
              <a:rPr lang="en-US" altLang="zh-CN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蒙西</a:t>
            </a:r>
            <a:r>
              <a:rPr lang="en-US" altLang="zh-CN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全市场充放电量上升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5CEE944-4743-F948-9F02-EDA540662073}"/>
              </a:ext>
            </a:extLst>
          </p:cNvPr>
          <p:cNvSpPr txBox="1"/>
          <p:nvPr/>
        </p:nvSpPr>
        <p:spPr>
          <a:xfrm>
            <a:off x="436876" y="575208"/>
            <a:ext cx="11618976" cy="458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下表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6-7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月出清校核量比例的对比：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0025BD97-925C-79E6-4F10-6F308CBC3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9226697"/>
              </p:ext>
            </p:extLst>
          </p:nvPr>
        </p:nvGraphicFramePr>
        <p:xfrm>
          <a:off x="436876" y="1128513"/>
          <a:ext cx="11318247" cy="4965638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1257583">
                  <a:extLst>
                    <a:ext uri="{9D8B030D-6E8A-4147-A177-3AD203B41FA5}">
                      <a16:colId xmlns:a16="http://schemas.microsoft.com/office/drawing/2014/main" val="3603750526"/>
                    </a:ext>
                  </a:extLst>
                </a:gridCol>
                <a:gridCol w="1257583">
                  <a:extLst>
                    <a:ext uri="{9D8B030D-6E8A-4147-A177-3AD203B41FA5}">
                      <a16:colId xmlns:a16="http://schemas.microsoft.com/office/drawing/2014/main" val="1064453936"/>
                    </a:ext>
                  </a:extLst>
                </a:gridCol>
                <a:gridCol w="1257583">
                  <a:extLst>
                    <a:ext uri="{9D8B030D-6E8A-4147-A177-3AD203B41FA5}">
                      <a16:colId xmlns:a16="http://schemas.microsoft.com/office/drawing/2014/main" val="1255254139"/>
                    </a:ext>
                  </a:extLst>
                </a:gridCol>
                <a:gridCol w="1257583">
                  <a:extLst>
                    <a:ext uri="{9D8B030D-6E8A-4147-A177-3AD203B41FA5}">
                      <a16:colId xmlns:a16="http://schemas.microsoft.com/office/drawing/2014/main" val="2925776424"/>
                    </a:ext>
                  </a:extLst>
                </a:gridCol>
                <a:gridCol w="1257583">
                  <a:extLst>
                    <a:ext uri="{9D8B030D-6E8A-4147-A177-3AD203B41FA5}">
                      <a16:colId xmlns:a16="http://schemas.microsoft.com/office/drawing/2014/main" val="2556274436"/>
                    </a:ext>
                  </a:extLst>
                </a:gridCol>
                <a:gridCol w="1257583">
                  <a:extLst>
                    <a:ext uri="{9D8B030D-6E8A-4147-A177-3AD203B41FA5}">
                      <a16:colId xmlns:a16="http://schemas.microsoft.com/office/drawing/2014/main" val="602321327"/>
                    </a:ext>
                  </a:extLst>
                </a:gridCol>
                <a:gridCol w="1257583">
                  <a:extLst>
                    <a:ext uri="{9D8B030D-6E8A-4147-A177-3AD203B41FA5}">
                      <a16:colId xmlns:a16="http://schemas.microsoft.com/office/drawing/2014/main" val="1554112587"/>
                    </a:ext>
                  </a:extLst>
                </a:gridCol>
                <a:gridCol w="1257583">
                  <a:extLst>
                    <a:ext uri="{9D8B030D-6E8A-4147-A177-3AD203B41FA5}">
                      <a16:colId xmlns:a16="http://schemas.microsoft.com/office/drawing/2014/main" val="3333656582"/>
                    </a:ext>
                  </a:extLst>
                </a:gridCol>
                <a:gridCol w="1257583">
                  <a:extLst>
                    <a:ext uri="{9D8B030D-6E8A-4147-A177-3AD203B41FA5}">
                      <a16:colId xmlns:a16="http://schemas.microsoft.com/office/drawing/2014/main" val="2982906531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558" marR="5558" marT="5558" marB="0" anchor="ctr"/>
                </a:tc>
                <a:tc gridSpan="4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US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marL="5558" marR="5558" marT="5558" marB="0" anchor="ctr"/>
                </a:tc>
                <a:tc hMerge="1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558" marR="5558" marT="5558" marB="0" anchor="ctr"/>
                </a:tc>
                <a:tc hMerge="1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558" marR="5558" marT="5558" marB="0" anchor="ctr"/>
                </a:tc>
                <a:tc hMerge="1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558" marR="5558" marT="5558" marB="0" anchor="ctr"/>
                </a:tc>
                <a:tc gridSpan="4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US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marL="5558" marR="5558" marT="5558" marB="0" anchor="ctr"/>
                </a:tc>
                <a:tc hMerge="1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558" marR="5558" marT="5558" marB="0" anchor="ctr"/>
                </a:tc>
                <a:tc hMerge="1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558" marR="5558" marT="5558" marB="0" anchor="ctr"/>
                </a:tc>
                <a:tc hMerge="1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558" marR="5558" marT="5558" marB="0" anchor="ctr"/>
                </a:tc>
                <a:extLst>
                  <a:ext uri="{0D108BD9-81ED-4DB2-BD59-A6C34878D82A}">
                    <a16:rowId xmlns:a16="http://schemas.microsoft.com/office/drawing/2014/main" val="39802306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场站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558" marR="5558" marT="5558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充电量偏差（</a:t>
                      </a:r>
                      <a:r>
                        <a:rPr lang="en-US" altLang="zh-CN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MWh</a:t>
                      </a:r>
                      <a:r>
                        <a:rPr lang="zh-CN" altLang="en-US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endParaRPr lang="en-US" altLang="zh-CN" sz="1400" b="1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558" marR="5558" marT="5558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充电偏差率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558" marR="5558" marT="5558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放电量偏差（</a:t>
                      </a:r>
                      <a:r>
                        <a:rPr lang="en-US" altLang="zh-CN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MWh</a:t>
                      </a:r>
                      <a:r>
                        <a:rPr lang="zh-CN" altLang="en-US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558" marR="5558" marT="5558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放电偏差率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558" marR="5558" marT="5558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充电量偏差（</a:t>
                      </a:r>
                      <a:r>
                        <a:rPr lang="en-US" altLang="zh-CN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MWh</a:t>
                      </a:r>
                      <a:r>
                        <a:rPr lang="zh-CN" altLang="en-US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endParaRPr lang="en-US" altLang="zh-CN" sz="1400" b="1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558" marR="5558" marT="5558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充电偏差率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558" marR="5558" marT="5558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放电量偏差（</a:t>
                      </a:r>
                      <a:r>
                        <a:rPr lang="en-US" altLang="zh-CN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MWh</a:t>
                      </a:r>
                      <a:r>
                        <a:rPr lang="zh-CN" altLang="en-US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558" marR="5558" marT="5558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放电偏差率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558" marR="5558" marT="5558" marB="0" anchor="ctr"/>
                </a:tc>
                <a:extLst>
                  <a:ext uri="{0D108BD9-81ED-4DB2-BD59-A6C34878D82A}">
                    <a16:rowId xmlns:a16="http://schemas.microsoft.com/office/drawing/2014/main" val="723469866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400" b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苏右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558" marR="5558" marT="555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-2223.41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-13%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-2952.86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-17%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-899.70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 dirty="0"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-6%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-1220.28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 dirty="0"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-8%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00993459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400" b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四子王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558" marR="5558" marT="555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-2384.98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-14%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-3344.21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-19%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-616.66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 dirty="0"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-4%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-359.21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 dirty="0"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-2%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333604809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400" b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杭锦旗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558" marR="5558" marT="555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-312.03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-2%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-358.59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-2%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-171.00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 dirty="0"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-1%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-211.30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 dirty="0"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-1%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76997768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400" b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谷山梁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558" marR="5558" marT="555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-1212.24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-1%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-1554.04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-2%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-1518.09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-2%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-1030.47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-1%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278302074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乌海</a:t>
                      </a:r>
                    </a:p>
                  </a:txBody>
                  <a:tcPr marL="5558" marR="5558" marT="555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-305.60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-2%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-201.77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-1%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-339.10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-2%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-804.70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-5%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009276779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乌拉特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558" marR="5558" marT="555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-1201.95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-7%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-928.48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-6%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-1510.35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-9%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-889.09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-6%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516120657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巴盟</a:t>
                      </a:r>
                    </a:p>
                  </a:txBody>
                  <a:tcPr marL="5558" marR="5558" marT="555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-9155.16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-5%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-6060.97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-4%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-5009.57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-4%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-5265.37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-5%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3713289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64038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574177"/>
          </a:xfrm>
          <a:prstGeom prst="rect">
            <a:avLst/>
          </a:prstGeom>
          <a:solidFill>
            <a:srgbClr val="3B3B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6999" y="102938"/>
            <a:ext cx="92551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3. 7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月蒙西储能</a:t>
            </a: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场站横向对比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情况 </a:t>
            </a:r>
            <a:r>
              <a:rPr lang="en-US" altLang="zh-CN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西部横排名次提升，东部地区排名稳定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26999" y="620079"/>
            <a:ext cx="118667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当前蒙西参与市场出清的独立场站共有</a:t>
            </a: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个，总功率</a:t>
            </a: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10.7GW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，总容量</a:t>
            </a: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42GWh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。统计</a:t>
            </a: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0:00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时段起，至</a:t>
            </a: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31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24:00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时段止，每日实时出清量价情况，结合电网披露补贴进行收益计算，结果如下：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3628326"/>
              </p:ext>
            </p:extLst>
          </p:nvPr>
        </p:nvGraphicFramePr>
        <p:xfrm>
          <a:off x="1914269" y="1312312"/>
          <a:ext cx="8292236" cy="4688048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7444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80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93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42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06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431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3102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收益排名</a:t>
                      </a:r>
                    </a:p>
                  </a:txBody>
                  <a:tcPr marL="6350" marR="6350" marT="6350" marB="0" anchor="ctr"/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DOD</a:t>
                      </a:r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修正前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102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场站名称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总收益</a:t>
                      </a: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万元</a:t>
                      </a: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日均循环次数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等效价差</a:t>
                      </a: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元</a:t>
                      </a:r>
                      <a:b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MWh)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单位容量收益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DOD(%)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487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星能乌勒吉储能电站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743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1.27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60.04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18575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111%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487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博梁海纳储能电站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3685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1.38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137.84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18423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91%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487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明阳亚什图储能电站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736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1.41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109.49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18399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94%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487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星辰科创储能电站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2157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1.42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107.36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17978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92%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3487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中绿电东兴储能电站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1427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1.14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175.32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17834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97%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3487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0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杭锦旗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712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1.43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109.75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17806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91%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10550095"/>
                  </a:ext>
                </a:extLst>
              </a:tr>
              <a:tr h="323487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0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乌海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701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1.42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108.49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17529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90%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33568561"/>
                  </a:ext>
                </a:extLst>
              </a:tr>
              <a:tr h="323487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0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谷山梁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3483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1.39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111.59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17415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91%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1536265"/>
                  </a:ext>
                </a:extLst>
              </a:tr>
              <a:tr h="323487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0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乌拉特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642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1.36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93.66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16060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90%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924744957"/>
                  </a:ext>
                </a:extLst>
              </a:tr>
              <a:tr h="323487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000" b="1" i="0" u="none" strike="noStrike" kern="1200" dirty="0"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四子王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537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1.39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30.80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13421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89%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48768585"/>
                  </a:ext>
                </a:extLst>
              </a:tr>
              <a:tr h="323487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000" b="1" i="0" u="none" strike="noStrike" kern="1200" dirty="0"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苏右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525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1.27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34.52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13131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92%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06489785"/>
                  </a:ext>
                </a:extLst>
              </a:tr>
              <a:tr h="323487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000" b="1" i="0" u="none" strike="noStrike" kern="1200" dirty="0"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巴盟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4823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1.01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95.91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12057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90%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85241262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41DE1-A53E-FFD4-76D5-D148ADD61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D37C739-EC8B-ABF3-11E7-72B7589F9BD8}"/>
              </a:ext>
            </a:extLst>
          </p:cNvPr>
          <p:cNvSpPr/>
          <p:nvPr/>
        </p:nvSpPr>
        <p:spPr>
          <a:xfrm>
            <a:off x="0" y="0"/>
            <a:ext cx="12192000" cy="574177"/>
          </a:xfrm>
          <a:prstGeom prst="rect">
            <a:avLst/>
          </a:prstGeom>
          <a:solidFill>
            <a:srgbClr val="3B3B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CF7D908-3EEA-D988-71F8-19F5C6E57AE4}"/>
              </a:ext>
            </a:extLst>
          </p:cNvPr>
          <p:cNvSpPr txBox="1"/>
          <p:nvPr/>
        </p:nvSpPr>
        <p:spPr>
          <a:xfrm>
            <a:off x="126999" y="102938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3. 7</a:t>
            </a: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月蒙西储能场站横向对比情况 </a:t>
            </a:r>
            <a:r>
              <a:rPr lang="en-US" altLang="zh-CN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修正后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不同价区排位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328E4EA7-2205-5944-6F08-3993BC284F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3431500"/>
              </p:ext>
            </p:extLst>
          </p:nvPr>
        </p:nvGraphicFramePr>
        <p:xfrm>
          <a:off x="3374157" y="1016275"/>
          <a:ext cx="2514601" cy="4808331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911002">
                  <a:extLst>
                    <a:ext uri="{9D8B030D-6E8A-4147-A177-3AD203B41FA5}">
                      <a16:colId xmlns:a16="http://schemas.microsoft.com/office/drawing/2014/main" val="712439611"/>
                    </a:ext>
                  </a:extLst>
                </a:gridCol>
                <a:gridCol w="1603599">
                  <a:extLst>
                    <a:ext uri="{9D8B030D-6E8A-4147-A177-3AD203B41FA5}">
                      <a16:colId xmlns:a16="http://schemas.microsoft.com/office/drawing/2014/main" val="466466213"/>
                    </a:ext>
                  </a:extLst>
                </a:gridCol>
              </a:tblGrid>
              <a:tr h="437121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收益排名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场站名称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656728315"/>
                  </a:ext>
                </a:extLst>
              </a:tr>
              <a:tr h="437121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1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富景五虎山储能电站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604154781"/>
                  </a:ext>
                </a:extLst>
              </a:tr>
              <a:tr h="437121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1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远景乌拉特储能电站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029322309"/>
                  </a:ext>
                </a:extLst>
              </a:tr>
              <a:tr h="437121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融储辉图霍勃储能电站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221150861"/>
                  </a:ext>
                </a:extLst>
              </a:tr>
              <a:tr h="437121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泰垚鑫储储能电站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95987093"/>
                  </a:ext>
                </a:extLst>
              </a:tr>
              <a:tr h="437121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巴能峰塔储能电站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76683342"/>
                  </a:ext>
                </a:extLst>
              </a:tr>
              <a:tr h="437121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国众哈日木格台储能电站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845870374"/>
                  </a:ext>
                </a:extLst>
              </a:tr>
              <a:tr h="437121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蒙能敖仑储能电站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106661743"/>
                  </a:ext>
                </a:extLst>
              </a:tr>
              <a:tr h="437121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蒙能奈伦储能电站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895336336"/>
                  </a:ext>
                </a:extLst>
              </a:tr>
              <a:tr h="437121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1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景怡查干哈达储能电站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191247432"/>
                  </a:ext>
                </a:extLst>
              </a:tr>
              <a:tr h="437121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蒙能苏木哈储能电站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173295442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C0D44731-1890-61C5-A517-F3EEFC08DC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8850050"/>
              </p:ext>
            </p:extLst>
          </p:nvPr>
        </p:nvGraphicFramePr>
        <p:xfrm>
          <a:off x="6314212" y="983862"/>
          <a:ext cx="2514601" cy="1748484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911002">
                  <a:extLst>
                    <a:ext uri="{9D8B030D-6E8A-4147-A177-3AD203B41FA5}">
                      <a16:colId xmlns:a16="http://schemas.microsoft.com/office/drawing/2014/main" val="712439611"/>
                    </a:ext>
                  </a:extLst>
                </a:gridCol>
                <a:gridCol w="1603599">
                  <a:extLst>
                    <a:ext uri="{9D8B030D-6E8A-4147-A177-3AD203B41FA5}">
                      <a16:colId xmlns:a16="http://schemas.microsoft.com/office/drawing/2014/main" val="466466213"/>
                    </a:ext>
                  </a:extLst>
                </a:gridCol>
              </a:tblGrid>
              <a:tr h="437121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收益排名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场站名称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656728315"/>
                  </a:ext>
                </a:extLst>
              </a:tr>
              <a:tr h="437121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1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裕昭沙子坝储能电站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604154781"/>
                  </a:ext>
                </a:extLst>
              </a:tr>
              <a:tr h="437121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熠储新荣储能电站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029322309"/>
                  </a:ext>
                </a:extLst>
              </a:tr>
              <a:tr h="437121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熠能沙壕储能电站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221150861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82645D2D-1506-8E35-2E67-FA9F3C78D2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1018529"/>
              </p:ext>
            </p:extLst>
          </p:nvPr>
        </p:nvGraphicFramePr>
        <p:xfrm>
          <a:off x="6314212" y="3040123"/>
          <a:ext cx="2514601" cy="3059847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911002">
                  <a:extLst>
                    <a:ext uri="{9D8B030D-6E8A-4147-A177-3AD203B41FA5}">
                      <a16:colId xmlns:a16="http://schemas.microsoft.com/office/drawing/2014/main" val="712439611"/>
                    </a:ext>
                  </a:extLst>
                </a:gridCol>
                <a:gridCol w="1603599">
                  <a:extLst>
                    <a:ext uri="{9D8B030D-6E8A-4147-A177-3AD203B41FA5}">
                      <a16:colId xmlns:a16="http://schemas.microsoft.com/office/drawing/2014/main" val="466466213"/>
                    </a:ext>
                  </a:extLst>
                </a:gridCol>
              </a:tblGrid>
              <a:tr h="437121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收益排名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场站名称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656728315"/>
                  </a:ext>
                </a:extLst>
              </a:tr>
              <a:tr h="437121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明阳亚什图储能电站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604154781"/>
                  </a:ext>
                </a:extLst>
              </a:tr>
              <a:tr h="437121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星辰科创储能电站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029322309"/>
                  </a:ext>
                </a:extLst>
              </a:tr>
              <a:tr h="437121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1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悦杭独贵储能电站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221150861"/>
                  </a:ext>
                </a:extLst>
              </a:tr>
              <a:tr h="437121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博梁海纳储能电站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37425013"/>
                  </a:ext>
                </a:extLst>
              </a:tr>
              <a:tr h="437121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博思苗六营储能电站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420695060"/>
                  </a:ext>
                </a:extLst>
              </a:tr>
              <a:tr h="437121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创启杜四营储能电站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807493495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65C3B4BC-4D9C-83C9-BFBB-B05A771AC2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5731324"/>
              </p:ext>
            </p:extLst>
          </p:nvPr>
        </p:nvGraphicFramePr>
        <p:xfrm>
          <a:off x="9153236" y="1016275"/>
          <a:ext cx="2911765" cy="4808331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1054889">
                  <a:extLst>
                    <a:ext uri="{9D8B030D-6E8A-4147-A177-3AD203B41FA5}">
                      <a16:colId xmlns:a16="http://schemas.microsoft.com/office/drawing/2014/main" val="712439611"/>
                    </a:ext>
                  </a:extLst>
                </a:gridCol>
                <a:gridCol w="1856876">
                  <a:extLst>
                    <a:ext uri="{9D8B030D-6E8A-4147-A177-3AD203B41FA5}">
                      <a16:colId xmlns:a16="http://schemas.microsoft.com/office/drawing/2014/main" val="466466213"/>
                    </a:ext>
                  </a:extLst>
                </a:gridCol>
              </a:tblGrid>
              <a:tr h="437121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收益排名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场站名称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656728315"/>
                  </a:ext>
                </a:extLst>
              </a:tr>
              <a:tr h="437121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1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景通四益堂储能电站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604154781"/>
                  </a:ext>
                </a:extLst>
              </a:tr>
              <a:tr h="437121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星能乌勒吉储能电站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029322309"/>
                  </a:ext>
                </a:extLst>
              </a:tr>
              <a:tr h="437121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星钒海窝储能电站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221150861"/>
                  </a:ext>
                </a:extLst>
              </a:tr>
              <a:tr h="437121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蒙能利民储能电站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95987093"/>
                  </a:ext>
                </a:extLst>
              </a:tr>
              <a:tr h="437121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1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景蓝乌尔图储能电站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76683342"/>
                  </a:ext>
                </a:extLst>
              </a:tr>
              <a:tr h="437121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宇动头泉储能电站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845870374"/>
                  </a:ext>
                </a:extLst>
              </a:tr>
              <a:tr h="437121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…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…</a:t>
                      </a:r>
                      <a:endParaRPr lang="zh-CN" alt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106661743"/>
                  </a:ext>
                </a:extLst>
              </a:tr>
              <a:tr h="437121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中节能芦子庙储能电站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477247436"/>
                  </a:ext>
                </a:extLst>
              </a:tr>
              <a:tr h="437121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大航都林储能电站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715181093"/>
                  </a:ext>
                </a:extLst>
              </a:tr>
              <a:tr h="437121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大航额日和图储能电站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037087899"/>
                  </a:ext>
                </a:extLst>
              </a:tr>
            </a:tbl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E6CCB2A4-B3CF-E714-FC0C-AD0EDB4D5E51}"/>
              </a:ext>
            </a:extLst>
          </p:cNvPr>
          <p:cNvSpPr txBox="1"/>
          <p:nvPr/>
        </p:nvSpPr>
        <p:spPr>
          <a:xfrm>
            <a:off x="3522518" y="606591"/>
            <a:ext cx="22178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价区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9D13C4A-1611-0551-30EC-1DADC7514E32}"/>
              </a:ext>
            </a:extLst>
          </p:cNvPr>
          <p:cNvSpPr txBox="1"/>
          <p:nvPr/>
        </p:nvSpPr>
        <p:spPr>
          <a:xfrm>
            <a:off x="6462573" y="574177"/>
            <a:ext cx="22178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价区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2.1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E57DA33-0D68-6130-EB35-E2E421A6ED01}"/>
              </a:ext>
            </a:extLst>
          </p:cNvPr>
          <p:cNvSpPr txBox="1"/>
          <p:nvPr/>
        </p:nvSpPr>
        <p:spPr>
          <a:xfrm>
            <a:off x="6509905" y="2732346"/>
            <a:ext cx="22178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价区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2.2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D20D054-136B-A61D-55CE-6C3DA07CDDE9}"/>
              </a:ext>
            </a:extLst>
          </p:cNvPr>
          <p:cNvSpPr txBox="1"/>
          <p:nvPr/>
        </p:nvSpPr>
        <p:spPr>
          <a:xfrm>
            <a:off x="9500179" y="606588"/>
            <a:ext cx="22178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价区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F4A35882-6A63-D756-75D1-214251B7BA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3150243"/>
              </p:ext>
            </p:extLst>
          </p:nvPr>
        </p:nvGraphicFramePr>
        <p:xfrm>
          <a:off x="126998" y="1228797"/>
          <a:ext cx="3017399" cy="4400406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987427">
                  <a:extLst>
                    <a:ext uri="{9D8B030D-6E8A-4147-A177-3AD203B41FA5}">
                      <a16:colId xmlns:a16="http://schemas.microsoft.com/office/drawing/2014/main" val="2630262314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428573308"/>
                    </a:ext>
                  </a:extLst>
                </a:gridCol>
                <a:gridCol w="944122">
                  <a:extLst>
                    <a:ext uri="{9D8B030D-6E8A-4147-A177-3AD203B41FA5}">
                      <a16:colId xmlns:a16="http://schemas.microsoft.com/office/drawing/2014/main" val="630702654"/>
                    </a:ext>
                  </a:extLst>
                </a:gridCol>
              </a:tblGrid>
              <a:tr h="488934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DOD</a:t>
                      </a:r>
                      <a:r>
                        <a:rPr lang="zh-CN" altLang="en-US" sz="12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修正后</a:t>
                      </a: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4649" marR="4649" marT="46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9936238"/>
                  </a:ext>
                </a:extLst>
              </a:tr>
              <a:tr h="48893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场站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收益排名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上月排名</a:t>
                      </a:r>
                    </a:p>
                  </a:txBody>
                  <a:tcPr marL="4649" marR="4649" marT="4649" marB="0" anchor="ctr"/>
                </a:tc>
                <a:extLst>
                  <a:ext uri="{0D108BD9-81ED-4DB2-BD59-A6C34878D82A}">
                    <a16:rowId xmlns:a16="http://schemas.microsoft.com/office/drawing/2014/main" val="1083477850"/>
                  </a:ext>
                </a:extLst>
              </a:tr>
              <a:tr h="48893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乌海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400" b="1" i="0" u="none" strike="noStrike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400" b="1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extLst>
                  <a:ext uri="{0D108BD9-81ED-4DB2-BD59-A6C34878D82A}">
                    <a16:rowId xmlns:a16="http://schemas.microsoft.com/office/drawing/2014/main" val="334423791"/>
                  </a:ext>
                </a:extLst>
              </a:tr>
              <a:tr h="48893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杭锦旗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400" b="1" i="0" u="none" strike="noStrike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en-US" altLang="zh-CN" sz="1400" b="1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extLst>
                  <a:ext uri="{0D108BD9-81ED-4DB2-BD59-A6C34878D82A}">
                    <a16:rowId xmlns:a16="http://schemas.microsoft.com/office/drawing/2014/main" val="3040982605"/>
                  </a:ext>
                </a:extLst>
              </a:tr>
              <a:tr h="48893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谷山梁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en-US" altLang="zh-CN" sz="1400" b="1" i="0" u="none" strike="noStrike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en-US" altLang="zh-CN" sz="1400" b="1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extLst>
                  <a:ext uri="{0D108BD9-81ED-4DB2-BD59-A6C34878D82A}">
                    <a16:rowId xmlns:a16="http://schemas.microsoft.com/office/drawing/2014/main" val="3156569055"/>
                  </a:ext>
                </a:extLst>
              </a:tr>
              <a:tr h="48893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巴盟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29</a:t>
                      </a:r>
                      <a:endParaRPr lang="en-US" altLang="zh-CN" sz="1400" b="1" i="0" u="none" strike="noStrike" dirty="0">
                        <a:solidFill>
                          <a:srgbClr val="00B05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</a:t>
                      </a:r>
                      <a:endParaRPr lang="en-US" altLang="zh-CN" sz="1400" b="1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extLst>
                  <a:ext uri="{0D108BD9-81ED-4DB2-BD59-A6C34878D82A}">
                    <a16:rowId xmlns:a16="http://schemas.microsoft.com/office/drawing/2014/main" val="4038183514"/>
                  </a:ext>
                </a:extLst>
              </a:tr>
              <a:tr h="48893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乌拉特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endParaRPr lang="en-US" altLang="zh-CN" sz="1400" b="1" i="0" u="none" strike="noStrike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</a:t>
                      </a:r>
                      <a:endParaRPr lang="en-US" altLang="zh-CN" sz="1400" b="1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extLst>
                  <a:ext uri="{0D108BD9-81ED-4DB2-BD59-A6C34878D82A}">
                    <a16:rowId xmlns:a16="http://schemas.microsoft.com/office/drawing/2014/main" val="2857547002"/>
                  </a:ext>
                </a:extLst>
              </a:tr>
              <a:tr h="48893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四子王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</a:t>
                      </a:r>
                      <a:endParaRPr lang="en-US" altLang="zh-CN" sz="1400" b="1" i="0" u="none" strike="noStrike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</a:t>
                      </a:r>
                      <a:endParaRPr lang="en-US" altLang="zh-CN" sz="1400" b="1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extLst>
                  <a:ext uri="{0D108BD9-81ED-4DB2-BD59-A6C34878D82A}">
                    <a16:rowId xmlns:a16="http://schemas.microsoft.com/office/drawing/2014/main" val="608711829"/>
                  </a:ext>
                </a:extLst>
              </a:tr>
              <a:tr h="48893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苏右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</a:t>
                      </a:r>
                      <a:endParaRPr lang="en-US" altLang="zh-CN" sz="1400" b="1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</a:t>
                      </a:r>
                      <a:endParaRPr lang="en-US" altLang="zh-CN" sz="1400" b="1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extLst>
                  <a:ext uri="{0D108BD9-81ED-4DB2-BD59-A6C34878D82A}">
                    <a16:rowId xmlns:a16="http://schemas.microsoft.com/office/drawing/2014/main" val="297971368"/>
                  </a:ext>
                </a:extLst>
              </a:tr>
            </a:tbl>
          </a:graphicData>
        </a:graphic>
      </p:graphicFrame>
      <p:sp>
        <p:nvSpPr>
          <p:cNvPr id="8" name="箭头: 下 7">
            <a:extLst>
              <a:ext uri="{FF2B5EF4-FFF2-40B4-BE49-F238E27FC236}">
                <a16:creationId xmlns:a16="http://schemas.microsoft.com/office/drawing/2014/main" id="{B3942761-E16E-2D43-B682-2F8779B81AE1}"/>
              </a:ext>
            </a:extLst>
          </p:cNvPr>
          <p:cNvSpPr/>
          <p:nvPr/>
        </p:nvSpPr>
        <p:spPr>
          <a:xfrm>
            <a:off x="1771647" y="3800127"/>
            <a:ext cx="257175" cy="265371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箭头: 下 17">
            <a:extLst>
              <a:ext uri="{FF2B5EF4-FFF2-40B4-BE49-F238E27FC236}">
                <a16:creationId xmlns:a16="http://schemas.microsoft.com/office/drawing/2014/main" id="{10DA8F7B-A1FC-5A64-E53D-244634EEFB64}"/>
              </a:ext>
            </a:extLst>
          </p:cNvPr>
          <p:cNvSpPr/>
          <p:nvPr/>
        </p:nvSpPr>
        <p:spPr>
          <a:xfrm flipV="1">
            <a:off x="1771648" y="3285113"/>
            <a:ext cx="257175" cy="265371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箭头: 下 18">
            <a:extLst>
              <a:ext uri="{FF2B5EF4-FFF2-40B4-BE49-F238E27FC236}">
                <a16:creationId xmlns:a16="http://schemas.microsoft.com/office/drawing/2014/main" id="{FC1DE46B-939F-EE23-7354-5237DB165A06}"/>
              </a:ext>
            </a:extLst>
          </p:cNvPr>
          <p:cNvSpPr/>
          <p:nvPr/>
        </p:nvSpPr>
        <p:spPr>
          <a:xfrm flipV="1">
            <a:off x="1771647" y="2340959"/>
            <a:ext cx="257175" cy="265371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箭头: 下 19">
            <a:extLst>
              <a:ext uri="{FF2B5EF4-FFF2-40B4-BE49-F238E27FC236}">
                <a16:creationId xmlns:a16="http://schemas.microsoft.com/office/drawing/2014/main" id="{E923C1C3-0BC8-810F-6A25-C298F6380937}"/>
              </a:ext>
            </a:extLst>
          </p:cNvPr>
          <p:cNvSpPr/>
          <p:nvPr/>
        </p:nvSpPr>
        <p:spPr>
          <a:xfrm flipV="1">
            <a:off x="1771647" y="2813036"/>
            <a:ext cx="257175" cy="265371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箭头: 下 20">
            <a:extLst>
              <a:ext uri="{FF2B5EF4-FFF2-40B4-BE49-F238E27FC236}">
                <a16:creationId xmlns:a16="http://schemas.microsoft.com/office/drawing/2014/main" id="{D3D057B0-0E8A-0F0A-0470-0AE10FF40031}"/>
              </a:ext>
            </a:extLst>
          </p:cNvPr>
          <p:cNvSpPr/>
          <p:nvPr/>
        </p:nvSpPr>
        <p:spPr>
          <a:xfrm flipV="1">
            <a:off x="1771647" y="4275924"/>
            <a:ext cx="257175" cy="265371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箭头: 下 21">
            <a:extLst>
              <a:ext uri="{FF2B5EF4-FFF2-40B4-BE49-F238E27FC236}">
                <a16:creationId xmlns:a16="http://schemas.microsoft.com/office/drawing/2014/main" id="{D68C917B-55A8-F1C0-D99F-E48A8FAC8F37}"/>
              </a:ext>
            </a:extLst>
          </p:cNvPr>
          <p:cNvSpPr/>
          <p:nvPr/>
        </p:nvSpPr>
        <p:spPr>
          <a:xfrm flipV="1">
            <a:off x="1771647" y="4787218"/>
            <a:ext cx="257175" cy="265371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08006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FFFFF', fontFamily: 'Microsoft YaHei', padding: '20px 60px', display: 'flex', flexDirection: 'column' }}&gt;&#10;&#10;  {/* A · 标题块 */}&#10;  &lt;Box style={{ height: 88, flexDirection: 'row', alignItems: 'center', gap: 18 }}&gt;&#10;    &lt;Box style={{ width: 6, height: 56, background: '#0F4C81', borderRadius: 3 }} /&gt;&#10;    &lt;Box style={{ flexDirection: 'column', gap: 6 }}&gt;&#10;      &lt;Text style={{ fontSize: 34, fontWeight: 'bold', color: '#333333', letterSpacing: 1, lineHeight: 1.2 }}&gt;2026年7月 · 北方区域涉网试验统计&lt;/Text&gt;&#10;      &lt;Text style={{ fontSize: 15, color: 'rgba(51,51,51,0.55)' }}&gt;2座储能电站 · 4类涉网试验 · 合计18项 · 覆盖7月1日至7月22日&lt;/Text&gt;&#10;    &lt;/Box&gt;&#10;  &lt;/Box&gt;&#10;&#10;  {/* B · 内容区：左指标卡 + 右明细表（双栏对照，高度可控） */}&#10;  &lt;Box style={{ height: 516, flexDirection: 'row', gap: 24, marginTop: 8 }}&gt;&#10;&#10;    {/* 左列：总览指标 + 场站小结 */}&#10;    &lt;Box style={{ width: 350, flexDirection: 'column', gap: 12 }}&gt;&#10;&#10;      {/* 总数卡（视觉锚点） */}&#10;      &lt;Box style={{ height: 180, background: '#EDF3FA', borderRadius: 10, borderLeft: '6px solid #0F4C81', padding: '18px 24px', flexDirection: 'column', justifyContent: 'center', gap: 12 }}&gt;&#10;        &lt;Box style={{ flexDirection: 'row', alignItems: 'baseline', gap: 10 }}&gt;&#10;          &lt;Text style={{ fontSize: 72, fontWeight: 'bold', color: '#F59E0B', lineHeight: 1 }}&gt;18&lt;/Text&gt;&#10;          &lt;Text style={{ fontSize: 20, fontWeight: 'bold', color: '#333333' }}&gt;项涉网试验&lt;/Text&gt;&#10;        &lt;/Box&gt;&#10;        &lt;Box style={{ height: 1, background: 'rgba(15,76,129,0.15)' }} /&gt;&#10;        &lt;Box style={{ flexDirection: 'row', justifyContent: 'space-between' }}&gt;&#10;          &lt;Box style={{ flexDirection: 'column', alignItems: 'center', gap: 2 }}&gt;&#10;            &lt;Text style={{ fontSize: 24, fontWeight: 'bold', color: '#0F4C81', lineHeight: 1.1 }}&gt;2&lt;/Text&gt;&#10;            &lt;Text style={{ fontSize: 12, color: 'rgba(51,51,51,0.55)' }}&gt;参试场站&lt;/Text&gt;&#10;          &lt;/Box&gt;&#10;          &lt;Box style={{ flexDirection: 'column', alignItems: 'center', gap: 2 }}&gt;&#10;            &lt;Text style={{ fontSize: 24, fontWeight: 'bold', color: '#0F4C81', lineHeight: 1.1 }}&gt;4&lt;/Text&gt;&#10;            &lt;Text style={{ fontSize: 12, color: 'rgba(51,51,51,0.55)' }}&gt;试验类型&lt;/Text&gt;&#10;          &lt;/Box&gt;&#10;          &lt;Box style={{ flexDirection: 'column', alignItems: 'center', gap: 2 }}&gt;&#10;            &lt;Text style={{ fontSize: 24, fontWeight: 'bold', color: '#0F4C81', lineHeight: 1.1 }}&gt;22&lt;/Text&gt;&#10;            &lt;Text style={{ fontSize: 12, color: 'rgba(51,51,51,0.55)' }}&gt;天时间跨度&lt;/Text&gt;&#10;          &lt;/Box&gt;&#10;        &lt;/Box&gt;&#10;      &lt;/Box&gt;&#10;&#10;      {/* 场站一小结 */}&#10;      &lt;Box style={{ height: 156, background: '#FFFFFF', borderRadius: 10, border: '1px solid rgba(15,76,129,0.15)', padding: '16px 22px', flexDirection: 'column', justifyContent: 'space-between' }}&gt;&#10;        &lt;Box style={{ flexDirection: 'row', justifyContent: 'space-between', alignItems: 'baseline' }}&gt;&#10;          &lt;Text style={{ fontSize: 17, fontWeight: 'bold', color: '#0F4C81' }}&gt;景怡查干哈达储能电站&lt;/Text&gt;&#10;          &lt;Text style={{ fontSize: 18, fontWeight: 'bold', color: '#333333' }}&gt;17 项&lt;/Text&gt;&#10;        &lt;/Box&gt;&#10;        &lt;Box style={{ flexDirection: 'column', gap: 6 }}&gt;&#10;          &lt;Box style={{ flexDirection: 'row', justifyContent: 'space-between' }}&gt;&#10;            &lt;Text style={{ fontSize: 14, color: '#333333' }}&gt;功率控制&lt;/Text&gt;&#10;            &lt;Text style={{ fontSize: 14, fontWeight: 'bold', color: '#0F4C81' }}&gt;8 次&lt;/Text&gt;&#10;          &lt;/Box&gt;&#10;          &lt;Box style={{ flexDirection: 'row', justifyContent: 'space-between' }}&gt;&#10;            &lt;Text style={{ fontSize: 14, color: '#333333' }}&gt;一次调频&lt;/Text&gt;&#10;            &lt;Text style={{ fontSize: 14, fontWeight: 'bold', color: '#0F4C81' }}&gt;6 次&lt;/Text&gt;&#10;          &lt;/Box&gt;&#10;          &lt;Box style={{ flexDirection: 'row', justifyContent: 'space-between' }}&gt;&#10;            &lt;Text style={{ fontSize: 14, color: '#333333' }}&gt;惯量响应&lt;/Text&gt;&#10;            &lt;Text style={{ fontSize: 14, fontWeight: 'bold', color: '#0F4C81' }}&gt;3 次&lt;/Text&gt;&#10;          &lt;/Box&gt;&#10;        &lt;/Box&gt;&#10;      &lt;/Box&gt;&#10;&#10;      {/* 场站二小结 */}&#10;      &lt;Box style={{ height: 156, background: '#FFFFFF', borderRadius: 10, border: '1px solid rgba(15,76,129,0.15)', padding: '16px 22px', flexDirection: 'column', justifyContent: 'space-between' }}&gt;&#10;        &lt;Box style={{ flexDirection: 'row', justifyContent: 'space-between', alignItems: 'baseline' }}&gt;&#10;          &lt;Text style={{ fontSize: 17, fontWeight: 'bold', color: '#0F4C81' }}&gt;裕昭沙子坝储能电站&lt;/Text&gt;&#10;          &lt;Text style={{ fontSize: 18, fontWeight: 'bold', color: '#333333' }}&gt;1 项&lt;/Text&gt;&#10;        &lt;/Box&gt;&#10;        &lt;Box style={{ flexDirection: 'column', gap: 6 }}&gt;&#10;          &lt;Text style={{ fontSize: 14, color: '#333333', lineHeight: 1.5 }}&gt;SVG无功补偿装置性能测试试验&lt;/Text&gt;&#10;          &lt;Box style={{ flexDirection: 'row', justifyContent: 'space-between' }}&gt;&#10;            &lt;Text style={{ fontSize: 14, color: '#333333' }}&gt;试验日期&lt;/Text&gt;&#10;            &lt;Text style={{ fontSize: 14, fontWeight: 'bold', color: '#0F4C81' }}&gt;7月1日&lt;/Text&gt;&#10;          &lt;/Box&gt;&#10;        &lt;/Box&gt;&#10;      &lt;/Box&gt;&#10;    &lt;/Box&gt;&#10;&#10;    {/* 右列：两座场站的试验明细台账（双栏对照压缩高度） */}&#10;    &lt;Box style={{ flex: 1, flexDirection: 'column', gap: 14 }}&gt;&#10;&#10;      {/* 场站一明细卡：17项，9行双栏 */}&#10;      &lt;Box style={{ height: 364, background: '#FFFFFF', borderRadius: 10, border: '1px solid rgba(15,76,129,0.15)', padding: 12, flexDirection: 'column' }}&gt;&#10;        &lt;Box style={{ height: 32, flexDirection: 'row', justifyContent: 'space-between', alignItems: 'center', background: '#EDF3FA', borderRadius: 6, borderLeft: '4px solid #0F4C81', padding: '0 14px' }}&gt;&#10;          &lt;Text style={{ fontSize: 16, fontWeight: 'bold', color: '#0F4C81' }}&gt;景怡查干哈达储能电站 · 试验明细&lt;/Text&gt;&#10;          &lt;Text style={{ fontSize: 14, fontWeight: 'bold', color: '#333333' }}&gt;共 17 项&lt;/Text&gt;&#10;        &lt;/Box&gt;&#10;        &lt;Box style={{ marginTop: 8, height: 298 }}&gt;&#10;          &lt;Table&#10;            style={{ width: '100%', height: '100%' }}&#10;            defaultTextStyle={{ fontSize: 13, textAlign: 'center', color: '#333333' }}&#10;            defaultCellStyle={{&#10;              border: {&#10;                left: { width: 1, color: 'rgba(15,76,129,0.15)' },&#10;                right: { width: 1, color: 'rgba(15,76,129,0.15)' },&#10;                top: { width: 1, color: 'rgba(15,76,129,0.15)' },&#10;                bottom: { width: 1, color: 'rgba(15,76,129,0.15)' },&#10;              },&#10;            }}&#10;            cells={[&#10;              [&#10;                { text: '试验日期', textStyle: { fontSize: 13, bold: true, color: '#FFFFFF' }, cellStyle: { background: { color: '#0F4C81' } } },&#10;                { text: '试验项目', textStyle: { fontSize: 13, bold: true, color: '#FFFFFF' }, cellStyle: { background: { color: '#0F4C81' } } },&#10;                { text: '试验日期', textStyle: { fontSize: 13, bold: true, color: '#FFFFFF' }, cellStyle: { background: { color: '#0F4C81' } } },&#10;                { text: '试验项目', textStyle: { fontSize: 13, bold: true, color: '#FFFFFF' }, cellStyle: { background: { color: '#0F4C81' } } },&#10;              ],&#10;              ['7月2日', '一次调频', '7月13日', '功率控制'],&#10;              [{ text: '7月3日', cellStyle: { background: { color: '#EDF3FA' } } }, { text: '一次调频', cellStyle: { background: { color: '#EDF3FA' } } }, { text: '7月14日', cellStyle: { background: { color: '#EDF3FA' } } }, { text: '功率控制', cellStyle: { background: { color: '#EDF3FA' } } }],&#10;              ['7月4日', '一次调频', '7月14日', '一次调频'],&#10;              [{ text: '7月6日', cellStyle: { background: { color: '#EDF3FA' } } }, { text: '惯量响应', cellStyle: { background: { color: '#EDF3FA' } } }, { text: '7月15日', cellStyle: { background: { color: '#EDF3FA' } } }, { text: '一次调频', cellStyle: { background: { color: '#EDF3FA' } } }],&#10;              ['7月7日', '惯量响应', '7月16日', '一次调频'],&#10;              [{ text: '7月8日', cellStyle: { background: { color: '#EDF3FA' } } }, { text: '惯量响应', cellStyle: { background: { color: '#EDF3FA' } } }, { text: '7月20日', cellStyle: { background: { color: '#EDF3FA' } } }, { text: '功率控制', cellStyle: { background: { color: '#EDF3FA' } } }],&#10;              ['7月9日', '功率控制', '7月21日', '功率控制'],&#10;              [{ text: '7月10日', cellStyle: { background: { color: '#EDF3FA' } } }, { text: '功率控制', cellStyle: { background: { color: '#EDF3FA' } } }, { text: '7月22日', cellStyle: { background: { color: '#EDF3FA' } } }, { text: '功率控制', cellStyle: { background: { color: '#EDF3FA' } } }],&#10;              ['7月12日', '功率控制', '', ''],&#10;            ]}&#10;          /&gt;&#10;        &lt;/Box&gt;&#10;      &lt;/Box&gt;&#10;&#10;      {/* 场站二明细卡：1项 */}&#10;      &lt;Box style={{ height: 138, background: '#FFFFFF', borderRadius: 10, border: '1px solid rgba(15,76,129,0.15)', padding: 12, flexDirection: 'column' }}&gt;&#10;        &lt;Box style={{ height: 32, flexDirection: 'row', justifyContent: 'space-between', alignItems: 'center', background: '#EDF3FA', borderRadius: 6, borderLeft: '4px solid #0F4C81', padding: '0 14px' }}&gt;&#10;          &lt;Text style={{ fontSize: 16, fontWeight: 'bold', color: '#0F4C81' }}&gt;裕昭沙子坝储能电站 · 试验明细&lt;/Text&gt;&#10;          &lt;Text style={{ fontSize: 14, fontWeight: 'bold', color: '#333333' }}&gt;共 1 项&lt;/Text&gt;&#10;        &lt;/Box&gt;&#10;        &lt;Box style={{ marginTop: 8, height: 74 }}&gt;&#10;          &lt;Table&#10;            style={{ width: '100%', height: '100%' }}&#10;            defaultTextStyle={{ fontSize: 13, textAlign: 'center', color: '#333333' }}&#10;            defaultCellStyle={{&#10;              border: {&#10;                left: { width: 1, color: 'rgba(15,76,129,0.15)' },&#10;                right: { width: 1, color: 'rgba(15,76,129,0.15)' },&#10;                top: { width: 1, color: 'rgba(15,76,129,0.15)' },&#10;                bottom: { width: 1, color: 'rgba(15,76,129,0.15)' },&#10;              },&#10;            }}&#10;            cells={[&#10;              [&#10;                { text: '试验日期', textStyle: { fontSize: 13, bold: true, color: '#FFFFFF' }, cellStyle: { background: { color: '#0F4C81' } } },&#10;                { text: '试验项目', textStyle: { fontSize: 13, bold: true, color: '#FFFFFF' }, cellStyle: { background: { color: '#0F4C81' } } },&#10;              ],&#10;              ['7月1日', 'SVG无功补偿装置性能测试试验'],&#10;            ]}&#10;          /&gt;&#10;        &lt;/Box&gt;&#10;      &lt;/Box&gt;&#10;    &lt;/Box&gt;&#10;  &lt;/Box&gt;&#10;&#10;  {/* C · 页脚条 */}&#10;  &lt;Box style={{ height: 56, marginTop: 8, flexDirection: 'row', justifyContent: 'space-between', alignItems: 'center' }}&gt;&#10;    &lt;Text style={{ fontSize: 14, color: 'rgba(51,51,51,0.55)' }}&gt;数据来源：7月北方区域涉网试验统计.xlsx&lt;/Text&gt;&#10;    &lt;Text style={{ fontSize: 14, color: 'rgba(51,51,51,0.55)' }}&gt;01 / 0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/>
          <p:cNvSpPr/>
          <p:nvPr/>
        </p:nvSpPr>
        <p:spPr>
          <a:xfrm>
            <a:off x="628650" y="892470"/>
            <a:ext cx="3333750" cy="1714500"/>
          </a:xfrm>
          <a:prstGeom prst="roundRect">
            <a:avLst>
              <a:gd name="adj" fmla="val 5556"/>
            </a:avLst>
          </a:prstGeom>
          <a:solidFill>
            <a:srgbClr val="EDF3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任意多边形: 形状 6"/>
          <p:cNvSpPr/>
          <p:nvPr/>
        </p:nvSpPr>
        <p:spPr>
          <a:xfrm>
            <a:off x="628650" y="892470"/>
            <a:ext cx="3333750" cy="1714500"/>
          </a:xfrm>
          <a:custGeom>
            <a:avLst/>
            <a:gdLst/>
            <a:ahLst/>
            <a:cxnLst/>
            <a:rect l="0" t="0" r="0" b="0"/>
            <a:pathLst>
              <a:path w="350" h="180">
                <a:moveTo>
                  <a:pt x="10" y="0"/>
                </a:moveTo>
                <a:cubicBezTo>
                  <a:pt x="8" y="0"/>
                  <a:pt x="6" y="2"/>
                  <a:pt x="6" y="4"/>
                </a:cubicBezTo>
                <a:lnTo>
                  <a:pt x="6" y="176"/>
                </a:lnTo>
                <a:cubicBezTo>
                  <a:pt x="6" y="178"/>
                  <a:pt x="8" y="180"/>
                  <a:pt x="10" y="180"/>
                </a:cubicBezTo>
                <a:cubicBezTo>
                  <a:pt x="4" y="180"/>
                  <a:pt x="0" y="175"/>
                  <a:pt x="0" y="170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0F4C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文本框 7" descr="{&quot;isTemplate&quot;:true,&quot;type&quot;:&quot;text&quot;}"/>
          <p:cNvSpPr txBox="1"/>
          <p:nvPr/>
        </p:nvSpPr>
        <p:spPr>
          <a:xfrm>
            <a:off x="857250" y="987720"/>
            <a:ext cx="847725" cy="8286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F59E0B"/>
                </a:solidFill>
                <a:latin typeface="Microsoft YaHei"/>
                <a:ea typeface="Microsoft YaHei"/>
              </a:rPr>
              <a:t>18</a:t>
            </a:r>
            <a:endParaRPr/>
          </a:p>
        </p:txBody>
      </p:sp>
      <p:sp>
        <p:nvSpPr>
          <p:cNvPr id="9" name="文本框 8" descr="{&quot;isTemplate&quot;:true,&quot;type&quot;:&quot;text&quot;}"/>
          <p:cNvSpPr txBox="1"/>
          <p:nvPr/>
        </p:nvSpPr>
        <p:spPr>
          <a:xfrm>
            <a:off x="1800225" y="987720"/>
            <a:ext cx="952500" cy="8286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 dirty="0">
                <a:solidFill>
                  <a:srgbClr val="333333"/>
                </a:solidFill>
                <a:latin typeface="Microsoft YaHei"/>
                <a:ea typeface="Microsoft YaHei"/>
              </a:rPr>
              <a:t>项涉网试验</a:t>
            </a:r>
            <a:endParaRPr dirty="0"/>
          </a:p>
        </p:txBody>
      </p:sp>
      <p:sp>
        <p:nvSpPr>
          <p:cNvPr id="10" name="矩形 9"/>
          <p:cNvSpPr/>
          <p:nvPr/>
        </p:nvSpPr>
        <p:spPr>
          <a:xfrm>
            <a:off x="857250" y="1930695"/>
            <a:ext cx="2819400" cy="9525"/>
          </a:xfrm>
          <a:prstGeom prst="rect">
            <a:avLst/>
          </a:prstGeom>
          <a:solidFill>
            <a:srgbClr val="0F4C81">
              <a:alpha val="1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文本框 10" descr="{&quot;isTemplate&quot;:true,&quot;type&quot;:&quot;text&quot;}"/>
          <p:cNvSpPr txBox="1"/>
          <p:nvPr/>
        </p:nvSpPr>
        <p:spPr>
          <a:xfrm>
            <a:off x="1019175" y="2054520"/>
            <a:ext cx="142875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10000"/>
              </a:lnSpc>
            </a:pPr>
            <a:r>
              <a:rPr lang="en-US" sz="1800" b="1">
                <a:solidFill>
                  <a:srgbClr val="0F4C81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2" name="文本框 11" descr="{&quot;isTemplate&quot;:true,&quot;type&quot;:&quot;text&quot;}"/>
          <p:cNvSpPr txBox="1"/>
          <p:nvPr/>
        </p:nvSpPr>
        <p:spPr>
          <a:xfrm>
            <a:off x="857250" y="2378370"/>
            <a:ext cx="4572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333333">
                    <a:alpha val="55000"/>
                  </a:srgbClr>
                </a:solidFill>
                <a:latin typeface="Microsoft YaHei"/>
                <a:ea typeface="Microsoft YaHei"/>
              </a:rPr>
              <a:t>参试场站</a:t>
            </a:r>
            <a:endParaRPr/>
          </a:p>
        </p:txBody>
      </p:sp>
      <p:sp>
        <p:nvSpPr>
          <p:cNvPr id="13" name="文本框 12" descr="{&quot;isTemplate&quot;:true,&quot;type&quot;:&quot;text&quot;}"/>
          <p:cNvSpPr txBox="1"/>
          <p:nvPr/>
        </p:nvSpPr>
        <p:spPr>
          <a:xfrm>
            <a:off x="2143125" y="2054520"/>
            <a:ext cx="142875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10000"/>
              </a:lnSpc>
            </a:pPr>
            <a:r>
              <a:rPr lang="en-US" sz="1800" b="1">
                <a:solidFill>
                  <a:srgbClr val="0F4C81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14" name="文本框 13" descr="{&quot;isTemplate&quot;:true,&quot;type&quot;:&quot;text&quot;}"/>
          <p:cNvSpPr txBox="1"/>
          <p:nvPr/>
        </p:nvSpPr>
        <p:spPr>
          <a:xfrm>
            <a:off x="1981200" y="2378370"/>
            <a:ext cx="4572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333333">
                    <a:alpha val="55000"/>
                  </a:srgbClr>
                </a:solidFill>
                <a:latin typeface="Microsoft YaHei"/>
                <a:ea typeface="Microsoft YaHei"/>
              </a:rPr>
              <a:t>试验类型</a:t>
            </a:r>
            <a:endParaRPr/>
          </a:p>
        </p:txBody>
      </p:sp>
      <p:sp>
        <p:nvSpPr>
          <p:cNvPr id="15" name="文本框 14" descr="{&quot;isTemplate&quot;:true,&quot;type&quot;:&quot;text&quot;}"/>
          <p:cNvSpPr txBox="1"/>
          <p:nvPr/>
        </p:nvSpPr>
        <p:spPr>
          <a:xfrm>
            <a:off x="3248025" y="2054520"/>
            <a:ext cx="28575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10000"/>
              </a:lnSpc>
            </a:pPr>
            <a:r>
              <a:rPr lang="en-US" sz="1800" b="1">
                <a:solidFill>
                  <a:srgbClr val="0F4C81"/>
                </a:solidFill>
                <a:latin typeface="Microsoft YaHei"/>
                <a:ea typeface="Microsoft YaHei"/>
              </a:rPr>
              <a:t>22</a:t>
            </a:r>
            <a:endParaRPr/>
          </a:p>
        </p:txBody>
      </p:sp>
      <p:sp>
        <p:nvSpPr>
          <p:cNvPr id="16" name="文本框 15" descr="{&quot;isTemplate&quot;:true,&quot;type&quot;:&quot;text&quot;}"/>
          <p:cNvSpPr txBox="1"/>
          <p:nvPr/>
        </p:nvSpPr>
        <p:spPr>
          <a:xfrm>
            <a:off x="3105150" y="2378370"/>
            <a:ext cx="5715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333333">
                    <a:alpha val="55000"/>
                  </a:srgbClr>
                </a:solidFill>
                <a:latin typeface="Microsoft YaHei"/>
                <a:ea typeface="Microsoft YaHei"/>
              </a:rPr>
              <a:t>天时间跨度</a:t>
            </a:r>
            <a:endParaRPr/>
          </a:p>
        </p:txBody>
      </p:sp>
      <p:sp>
        <p:nvSpPr>
          <p:cNvPr id="17" name="矩形: 圆角 16"/>
          <p:cNvSpPr/>
          <p:nvPr/>
        </p:nvSpPr>
        <p:spPr>
          <a:xfrm>
            <a:off x="571500" y="2721270"/>
            <a:ext cx="3333750" cy="1485900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0F4C81">
                <a:alpha val="1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文本框 17" descr="{&quot;isTemplate&quot;:true,&quot;type&quot;:&quot;text&quot;}"/>
          <p:cNvSpPr txBox="1"/>
          <p:nvPr/>
        </p:nvSpPr>
        <p:spPr>
          <a:xfrm>
            <a:off x="781050" y="2873670"/>
            <a:ext cx="16192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4C81"/>
                </a:solidFill>
                <a:latin typeface="Microsoft YaHei"/>
                <a:ea typeface="Microsoft YaHei"/>
              </a:rPr>
              <a:t>景怡查干哈达储能电站</a:t>
            </a:r>
            <a:endParaRPr/>
          </a:p>
        </p:txBody>
      </p:sp>
      <p:sp>
        <p:nvSpPr>
          <p:cNvPr id="19" name="文本框 18" descr="{&quot;isTemplate&quot;:true,&quot;type&quot;:&quot;text&quot;}"/>
          <p:cNvSpPr txBox="1"/>
          <p:nvPr/>
        </p:nvSpPr>
        <p:spPr>
          <a:xfrm>
            <a:off x="3257550" y="2873670"/>
            <a:ext cx="4381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333333"/>
                </a:solidFill>
                <a:latin typeface="Microsoft YaHei"/>
                <a:ea typeface="Microsoft YaHei"/>
              </a:rPr>
              <a:t>17 </a:t>
            </a:r>
            <a:r>
              <a:rPr lang="zh-CN" sz="1350" b="1">
                <a:solidFill>
                  <a:srgbClr val="333333"/>
                </a:solidFill>
                <a:latin typeface="Microsoft YaHei"/>
                <a:ea typeface="Microsoft YaHei"/>
              </a:rPr>
              <a:t>项</a:t>
            </a:r>
            <a:endParaRPr/>
          </a:p>
        </p:txBody>
      </p:sp>
      <p:sp>
        <p:nvSpPr>
          <p:cNvPr id="20" name="文本框 19" descr="{&quot;isTemplate&quot;:true,&quot;type&quot;:&quot;text&quot;}"/>
          <p:cNvSpPr txBox="1"/>
          <p:nvPr/>
        </p:nvSpPr>
        <p:spPr>
          <a:xfrm>
            <a:off x="781050" y="3454695"/>
            <a:ext cx="5334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333333"/>
                </a:solidFill>
                <a:latin typeface="Microsoft YaHei"/>
                <a:ea typeface="Microsoft YaHei"/>
              </a:rPr>
              <a:t>功率控制</a:t>
            </a:r>
            <a:endParaRPr/>
          </a:p>
        </p:txBody>
      </p:sp>
      <p:sp>
        <p:nvSpPr>
          <p:cNvPr id="21" name="文本框 20" descr="{&quot;isTemplate&quot;:true,&quot;type&quot;:&quot;text&quot;}"/>
          <p:cNvSpPr txBox="1"/>
          <p:nvPr/>
        </p:nvSpPr>
        <p:spPr>
          <a:xfrm>
            <a:off x="3438525" y="3454695"/>
            <a:ext cx="2571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F4C81"/>
                </a:solidFill>
                <a:latin typeface="Microsoft YaHei"/>
                <a:ea typeface="Microsoft YaHei"/>
              </a:rPr>
              <a:t>8 </a:t>
            </a:r>
            <a:r>
              <a:rPr lang="zh-CN" sz="1050" b="1">
                <a:solidFill>
                  <a:srgbClr val="0F4C81"/>
                </a:solidFill>
                <a:latin typeface="Microsoft YaHei"/>
                <a:ea typeface="Microsoft YaHei"/>
              </a:rPr>
              <a:t>次</a:t>
            </a:r>
            <a:endParaRPr/>
          </a:p>
        </p:txBody>
      </p:sp>
      <p:sp>
        <p:nvSpPr>
          <p:cNvPr id="22" name="文本框 21" descr="{&quot;isTemplate&quot;:true,&quot;type&quot;:&quot;text&quot;}"/>
          <p:cNvSpPr txBox="1"/>
          <p:nvPr/>
        </p:nvSpPr>
        <p:spPr>
          <a:xfrm>
            <a:off x="781050" y="3673770"/>
            <a:ext cx="5334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333333"/>
                </a:solidFill>
                <a:latin typeface="Microsoft YaHei"/>
                <a:ea typeface="Microsoft YaHei"/>
              </a:rPr>
              <a:t>一次调频</a:t>
            </a:r>
            <a:endParaRPr/>
          </a:p>
        </p:txBody>
      </p:sp>
      <p:sp>
        <p:nvSpPr>
          <p:cNvPr id="23" name="文本框 22" descr="{&quot;isTemplate&quot;:true,&quot;type&quot;:&quot;text&quot;}"/>
          <p:cNvSpPr txBox="1"/>
          <p:nvPr/>
        </p:nvSpPr>
        <p:spPr>
          <a:xfrm>
            <a:off x="3438525" y="3673770"/>
            <a:ext cx="2571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F4C81"/>
                </a:solidFill>
                <a:latin typeface="Microsoft YaHei"/>
                <a:ea typeface="Microsoft YaHei"/>
              </a:rPr>
              <a:t>6 </a:t>
            </a:r>
            <a:r>
              <a:rPr lang="zh-CN" sz="1050" b="1">
                <a:solidFill>
                  <a:srgbClr val="0F4C81"/>
                </a:solidFill>
                <a:latin typeface="Microsoft YaHei"/>
                <a:ea typeface="Microsoft YaHei"/>
              </a:rPr>
              <a:t>次</a:t>
            </a:r>
            <a:endParaRPr/>
          </a:p>
        </p:txBody>
      </p:sp>
      <p:sp>
        <p:nvSpPr>
          <p:cNvPr id="24" name="文本框 23" descr="{&quot;isTemplate&quot;:true,&quot;type&quot;:&quot;text&quot;}"/>
          <p:cNvSpPr txBox="1"/>
          <p:nvPr/>
        </p:nvSpPr>
        <p:spPr>
          <a:xfrm>
            <a:off x="781050" y="3892845"/>
            <a:ext cx="5334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333333"/>
                </a:solidFill>
                <a:latin typeface="Microsoft YaHei"/>
                <a:ea typeface="Microsoft YaHei"/>
              </a:rPr>
              <a:t>惯量响应</a:t>
            </a:r>
            <a:endParaRPr/>
          </a:p>
        </p:txBody>
      </p:sp>
      <p:sp>
        <p:nvSpPr>
          <p:cNvPr id="25" name="文本框 24" descr="{&quot;isTemplate&quot;:true,&quot;type&quot;:&quot;text&quot;}"/>
          <p:cNvSpPr txBox="1"/>
          <p:nvPr/>
        </p:nvSpPr>
        <p:spPr>
          <a:xfrm>
            <a:off x="3438525" y="3892845"/>
            <a:ext cx="2571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F4C81"/>
                </a:solidFill>
                <a:latin typeface="Microsoft YaHei"/>
                <a:ea typeface="Microsoft YaHei"/>
              </a:rPr>
              <a:t>3 </a:t>
            </a:r>
            <a:r>
              <a:rPr lang="zh-CN" sz="1050" b="1">
                <a:solidFill>
                  <a:srgbClr val="0F4C81"/>
                </a:solidFill>
                <a:latin typeface="Microsoft YaHei"/>
                <a:ea typeface="Microsoft YaHei"/>
              </a:rPr>
              <a:t>次</a:t>
            </a:r>
            <a:endParaRPr/>
          </a:p>
        </p:txBody>
      </p:sp>
      <p:sp>
        <p:nvSpPr>
          <p:cNvPr id="26" name="矩形: 圆角 25"/>
          <p:cNvSpPr/>
          <p:nvPr/>
        </p:nvSpPr>
        <p:spPr>
          <a:xfrm>
            <a:off x="571500" y="4321470"/>
            <a:ext cx="3333750" cy="1485900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0F4C81">
                <a:alpha val="1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文本框 26" descr="{&quot;isTemplate&quot;:true,&quot;type&quot;:&quot;text&quot;}"/>
          <p:cNvSpPr txBox="1"/>
          <p:nvPr/>
        </p:nvSpPr>
        <p:spPr>
          <a:xfrm>
            <a:off x="781050" y="4473870"/>
            <a:ext cx="145732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4C81"/>
                </a:solidFill>
                <a:latin typeface="Microsoft YaHei"/>
                <a:ea typeface="Microsoft YaHei"/>
              </a:rPr>
              <a:t>裕昭沙子坝储能电站</a:t>
            </a:r>
            <a:endParaRPr/>
          </a:p>
        </p:txBody>
      </p:sp>
      <p:sp>
        <p:nvSpPr>
          <p:cNvPr id="28" name="文本框 27" descr="{&quot;isTemplate&quot;:true,&quot;type&quot;:&quot;text&quot;}"/>
          <p:cNvSpPr txBox="1"/>
          <p:nvPr/>
        </p:nvSpPr>
        <p:spPr>
          <a:xfrm>
            <a:off x="3362325" y="4473870"/>
            <a:ext cx="33337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333333"/>
                </a:solidFill>
                <a:latin typeface="Microsoft YaHei"/>
                <a:ea typeface="Microsoft YaHei"/>
              </a:rPr>
              <a:t>1 </a:t>
            </a:r>
            <a:r>
              <a:rPr lang="zh-CN" sz="1350" b="1">
                <a:solidFill>
                  <a:srgbClr val="333333"/>
                </a:solidFill>
                <a:latin typeface="Microsoft YaHei"/>
                <a:ea typeface="Microsoft YaHei"/>
              </a:rPr>
              <a:t>项</a:t>
            </a:r>
            <a:endParaRPr/>
          </a:p>
        </p:txBody>
      </p:sp>
      <p:sp>
        <p:nvSpPr>
          <p:cNvPr id="29" name="文本框 28" descr="{&quot;isTemplate&quot;:true,&quot;type&quot;:&quot;text&quot;}"/>
          <p:cNvSpPr txBox="1"/>
          <p:nvPr/>
        </p:nvSpPr>
        <p:spPr>
          <a:xfrm>
            <a:off x="781050" y="5188245"/>
            <a:ext cx="291465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en-US" sz="1050">
                <a:solidFill>
                  <a:srgbClr val="333333"/>
                </a:solidFill>
                <a:latin typeface="Microsoft YaHei"/>
                <a:ea typeface="Microsoft YaHei"/>
              </a:rPr>
              <a:t>SVG</a:t>
            </a:r>
            <a:r>
              <a:rPr lang="zh-CN" sz="1050">
                <a:solidFill>
                  <a:srgbClr val="333333"/>
                </a:solidFill>
                <a:latin typeface="Microsoft YaHei"/>
                <a:ea typeface="Microsoft YaHei"/>
              </a:rPr>
              <a:t>无功补偿装置性能测试试验</a:t>
            </a:r>
            <a:endParaRPr/>
          </a:p>
        </p:txBody>
      </p:sp>
      <p:sp>
        <p:nvSpPr>
          <p:cNvPr id="30" name="文本框 29" descr="{&quot;isTemplate&quot;:true,&quot;type&quot;:&quot;text&quot;}"/>
          <p:cNvSpPr txBox="1"/>
          <p:nvPr/>
        </p:nvSpPr>
        <p:spPr>
          <a:xfrm>
            <a:off x="781050" y="5493045"/>
            <a:ext cx="5334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333333"/>
                </a:solidFill>
                <a:latin typeface="Microsoft YaHei"/>
                <a:ea typeface="Microsoft YaHei"/>
              </a:rPr>
              <a:t>试验日期</a:t>
            </a:r>
            <a:endParaRPr/>
          </a:p>
        </p:txBody>
      </p:sp>
      <p:sp>
        <p:nvSpPr>
          <p:cNvPr id="31" name="文本框 30" descr="{&quot;isTemplate&quot;:true,&quot;type&quot;:&quot;text&quot;}"/>
          <p:cNvSpPr txBox="1"/>
          <p:nvPr/>
        </p:nvSpPr>
        <p:spPr>
          <a:xfrm>
            <a:off x="3257550" y="5493045"/>
            <a:ext cx="4381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F4C81"/>
                </a:solidFill>
                <a:latin typeface="Microsoft YaHei"/>
                <a:ea typeface="Microsoft YaHei"/>
              </a:rPr>
              <a:t>7</a:t>
            </a:r>
            <a:r>
              <a:rPr lang="zh-CN" sz="1050" b="1">
                <a:solidFill>
                  <a:srgbClr val="0F4C81"/>
                </a:solidFill>
                <a:latin typeface="Microsoft YaHei"/>
                <a:ea typeface="Microsoft YaHei"/>
              </a:rPr>
              <a:t>月</a:t>
            </a:r>
            <a:r>
              <a:rPr lang="en-US" sz="1050" b="1">
                <a:solidFill>
                  <a:srgbClr val="0F4C81"/>
                </a:solidFill>
                <a:latin typeface="Microsoft YaHei"/>
                <a:ea typeface="Microsoft YaHei"/>
              </a:rPr>
              <a:t>1</a:t>
            </a:r>
            <a:r>
              <a:rPr lang="zh-CN" sz="1050" b="1">
                <a:solidFill>
                  <a:srgbClr val="0F4C81"/>
                </a:solidFill>
                <a:latin typeface="Microsoft YaHei"/>
                <a:ea typeface="Microsoft YaHei"/>
              </a:rPr>
              <a:t>日</a:t>
            </a:r>
            <a:endParaRPr/>
          </a:p>
        </p:txBody>
      </p:sp>
      <p:sp>
        <p:nvSpPr>
          <p:cNvPr id="32" name="矩形: 圆角 31"/>
          <p:cNvSpPr/>
          <p:nvPr/>
        </p:nvSpPr>
        <p:spPr>
          <a:xfrm>
            <a:off x="4133850" y="892470"/>
            <a:ext cx="7486650" cy="3467100"/>
          </a:xfrm>
          <a:prstGeom prst="roundRect">
            <a:avLst>
              <a:gd name="adj" fmla="val 2747"/>
            </a:avLst>
          </a:prstGeom>
          <a:solidFill>
            <a:srgbClr val="FFFFFF"/>
          </a:solidFill>
          <a:ln w="12700">
            <a:solidFill>
              <a:srgbClr val="0F4C81">
                <a:alpha val="1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矩形: 圆角 32"/>
          <p:cNvSpPr/>
          <p:nvPr/>
        </p:nvSpPr>
        <p:spPr>
          <a:xfrm>
            <a:off x="4286250" y="1006770"/>
            <a:ext cx="7258050" cy="304800"/>
          </a:xfrm>
          <a:prstGeom prst="roundRect">
            <a:avLst>
              <a:gd name="adj" fmla="val 18750"/>
            </a:avLst>
          </a:prstGeom>
          <a:solidFill>
            <a:srgbClr val="EDF3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任意多边形: 形状 33"/>
          <p:cNvSpPr/>
          <p:nvPr/>
        </p:nvSpPr>
        <p:spPr>
          <a:xfrm>
            <a:off x="4286250" y="1006770"/>
            <a:ext cx="7258050" cy="304800"/>
          </a:xfrm>
          <a:custGeom>
            <a:avLst/>
            <a:gdLst/>
            <a:ahLst/>
            <a:cxnLst/>
            <a:rect l="0" t="0" r="0" b="0"/>
            <a:pathLst>
              <a:path w="762" h="32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30"/>
                </a:lnTo>
                <a:cubicBezTo>
                  <a:pt x="4" y="31"/>
                  <a:pt x="5" y="32"/>
                  <a:pt x="6" y="32"/>
                </a:cubicBezTo>
                <a:cubicBezTo>
                  <a:pt x="3" y="32"/>
                  <a:pt x="0" y="29"/>
                  <a:pt x="0" y="26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0F4C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文本框 34" descr="{&quot;isTemplate&quot;:true,&quot;type&quot;:&quot;text&quot;}"/>
          <p:cNvSpPr txBox="1"/>
          <p:nvPr/>
        </p:nvSpPr>
        <p:spPr>
          <a:xfrm>
            <a:off x="4419600" y="1063920"/>
            <a:ext cx="229552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4C81"/>
                </a:solidFill>
                <a:latin typeface="Microsoft YaHei"/>
                <a:ea typeface="Microsoft YaHei"/>
              </a:rPr>
              <a:t>景怡查干哈达储能电站</a:t>
            </a:r>
            <a:r>
              <a:rPr lang="en-US" sz="1200" b="1">
                <a:solidFill>
                  <a:srgbClr val="0F4C81"/>
                </a:solidFill>
                <a:latin typeface="Microsoft YaHei"/>
                <a:ea typeface="Microsoft YaHei"/>
              </a:rPr>
              <a:t> · </a:t>
            </a:r>
            <a:r>
              <a:rPr lang="zh-CN" sz="1200" b="1">
                <a:solidFill>
                  <a:srgbClr val="0F4C81"/>
                </a:solidFill>
                <a:latin typeface="Microsoft YaHei"/>
                <a:ea typeface="Microsoft YaHei"/>
              </a:rPr>
              <a:t>试验明细</a:t>
            </a:r>
            <a:endParaRPr/>
          </a:p>
        </p:txBody>
      </p:sp>
      <p:sp>
        <p:nvSpPr>
          <p:cNvPr id="36" name="文本框 35" descr="{&quot;isTemplate&quot;:true,&quot;type&quot;:&quot;text&quot;}"/>
          <p:cNvSpPr txBox="1"/>
          <p:nvPr/>
        </p:nvSpPr>
        <p:spPr>
          <a:xfrm>
            <a:off x="10858500" y="1082970"/>
            <a:ext cx="5143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333333"/>
                </a:solidFill>
                <a:latin typeface="Microsoft YaHei"/>
                <a:ea typeface="Microsoft YaHei"/>
              </a:rPr>
              <a:t>共</a:t>
            </a:r>
            <a:r>
              <a:rPr lang="en-US" sz="1050" b="1">
                <a:solidFill>
                  <a:srgbClr val="333333"/>
                </a:solidFill>
                <a:latin typeface="Microsoft YaHei"/>
                <a:ea typeface="Microsoft YaHei"/>
              </a:rPr>
              <a:t> 17 </a:t>
            </a:r>
            <a:r>
              <a:rPr lang="zh-CN" sz="1050" b="1">
                <a:solidFill>
                  <a:srgbClr val="333333"/>
                </a:solidFill>
                <a:latin typeface="Microsoft YaHei"/>
                <a:ea typeface="Microsoft YaHei"/>
              </a:rPr>
              <a:t>项</a:t>
            </a:r>
            <a:endParaRPr/>
          </a:p>
        </p:txBody>
      </p:sp>
      <p:graphicFrame>
        <p:nvGraphicFramePr>
          <p:cNvPr id="37" name="表格 36"/>
          <p:cNvGraphicFramePr/>
          <p:nvPr>
            <p:extLst>
              <p:ext uri="{D42A27DB-BD31-4B8C-83A1-F6EECF244321}">
                <p14:modId xmlns:p14="http://schemas.microsoft.com/office/powerpoint/2010/main" val="3485291394"/>
              </p:ext>
            </p:extLst>
          </p:nvPr>
        </p:nvGraphicFramePr>
        <p:xfrm>
          <a:off x="4248150" y="1387770"/>
          <a:ext cx="7258052" cy="2954020"/>
        </p:xfrm>
        <a:graphic>
          <a:graphicData uri="http://schemas.openxmlformats.org/drawingml/2006/table">
            <a:tbl>
              <a:tblPr/>
              <a:tblGrid>
                <a:gridCol w="1814513">
                  <a:extLst>
                    <a:ext uri="{9D8B030D-6E8A-4147-A177-3AD203B41FA5}">
                      <a16:colId xmlns:a16="http://schemas.microsoft.com/office/drawing/2014/main" val="1"/>
                    </a:ext>
                  </a:extLst>
                </a:gridCol>
                <a:gridCol w="1814513">
                  <a:extLst>
                    <a:ext uri="{9D8B030D-6E8A-4147-A177-3AD203B41FA5}">
                      <a16:colId xmlns:a16="http://schemas.microsoft.com/office/drawing/2014/main" val="2"/>
                    </a:ext>
                  </a:extLst>
                </a:gridCol>
                <a:gridCol w="1814513">
                  <a:extLst>
                    <a:ext uri="{9D8B030D-6E8A-4147-A177-3AD203B41FA5}">
                      <a16:colId xmlns:a16="http://schemas.microsoft.com/office/drawing/2014/main" val="3"/>
                    </a:ext>
                  </a:extLst>
                </a:gridCol>
                <a:gridCol w="1814513">
                  <a:extLst>
                    <a:ext uri="{9D8B030D-6E8A-4147-A177-3AD203B41FA5}">
                      <a16:colId xmlns:a16="http://schemas.microsoft.com/office/drawing/2014/main" val="4"/>
                    </a:ext>
                  </a:extLst>
                </a:gridCol>
              </a:tblGrid>
              <a:tr h="283845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试验日期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试验项目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试验日期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试验项目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"/>
                  </a:ext>
                </a:extLst>
              </a:tr>
              <a:tr h="283845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7月2日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一次调频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7月13日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功率控制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"/>
                  </a:ext>
                </a:extLst>
              </a:tr>
              <a:tr h="283845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7月3日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一次调频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7月14日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功率控制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"/>
                  </a:ext>
                </a:extLst>
              </a:tr>
              <a:tr h="283845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7月4日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一次调频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7月14日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一次调频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"/>
                  </a:ext>
                </a:extLst>
              </a:tr>
              <a:tr h="283845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7月6日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惯量响应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7月15日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一次调频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"/>
                  </a:ext>
                </a:extLst>
              </a:tr>
              <a:tr h="283845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7月7日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惯量响应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7月16日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一次调频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"/>
                  </a:ext>
                </a:extLst>
              </a:tr>
              <a:tr h="283845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7月8日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惯量响应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7月20日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功率控制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"/>
                  </a:ext>
                </a:extLst>
              </a:tr>
              <a:tr h="283845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7月9日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功率控制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7月21日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功率控制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"/>
                  </a:ext>
                </a:extLst>
              </a:tr>
              <a:tr h="283845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7月10日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功率控制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7月22日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功率控制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"/>
                  </a:ext>
                </a:extLst>
              </a:tr>
              <a:tr h="283845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7月12日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功率控制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"/>
                  </a:ext>
                </a:extLst>
              </a:tr>
            </a:tbl>
          </a:graphicData>
        </a:graphic>
      </p:graphicFrame>
      <p:sp>
        <p:nvSpPr>
          <p:cNvPr id="38" name="矩形: 圆角 37"/>
          <p:cNvSpPr/>
          <p:nvPr/>
        </p:nvSpPr>
        <p:spPr>
          <a:xfrm>
            <a:off x="4133850" y="4492920"/>
            <a:ext cx="7486650" cy="1314450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0F4C81">
                <a:alpha val="1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矩形: 圆角 38"/>
          <p:cNvSpPr/>
          <p:nvPr/>
        </p:nvSpPr>
        <p:spPr>
          <a:xfrm>
            <a:off x="4286250" y="4607220"/>
            <a:ext cx="7258050" cy="304800"/>
          </a:xfrm>
          <a:prstGeom prst="roundRect">
            <a:avLst>
              <a:gd name="adj" fmla="val 18750"/>
            </a:avLst>
          </a:prstGeom>
          <a:solidFill>
            <a:srgbClr val="EDF3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任意多边形: 形状 39"/>
          <p:cNvSpPr/>
          <p:nvPr/>
        </p:nvSpPr>
        <p:spPr>
          <a:xfrm>
            <a:off x="4286250" y="4607220"/>
            <a:ext cx="7258050" cy="304800"/>
          </a:xfrm>
          <a:custGeom>
            <a:avLst/>
            <a:gdLst/>
            <a:ahLst/>
            <a:cxnLst/>
            <a:rect l="0" t="0" r="0" b="0"/>
            <a:pathLst>
              <a:path w="762" h="32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30"/>
                </a:lnTo>
                <a:cubicBezTo>
                  <a:pt x="4" y="31"/>
                  <a:pt x="5" y="32"/>
                  <a:pt x="6" y="32"/>
                </a:cubicBezTo>
                <a:cubicBezTo>
                  <a:pt x="3" y="32"/>
                  <a:pt x="0" y="29"/>
                  <a:pt x="0" y="26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0F4C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文本框 40" descr="{&quot;isTemplate&quot;:true,&quot;type&quot;:&quot;text&quot;}"/>
          <p:cNvSpPr txBox="1"/>
          <p:nvPr/>
        </p:nvSpPr>
        <p:spPr>
          <a:xfrm>
            <a:off x="4419600" y="4664370"/>
            <a:ext cx="214312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4C81"/>
                </a:solidFill>
                <a:latin typeface="Microsoft YaHei"/>
                <a:ea typeface="Microsoft YaHei"/>
              </a:rPr>
              <a:t>裕昭沙子坝储能电站</a:t>
            </a:r>
            <a:r>
              <a:rPr lang="en-US" sz="1200" b="1">
                <a:solidFill>
                  <a:srgbClr val="0F4C81"/>
                </a:solidFill>
                <a:latin typeface="Microsoft YaHei"/>
                <a:ea typeface="Microsoft YaHei"/>
              </a:rPr>
              <a:t> · </a:t>
            </a:r>
            <a:r>
              <a:rPr lang="zh-CN" sz="1200" b="1">
                <a:solidFill>
                  <a:srgbClr val="0F4C81"/>
                </a:solidFill>
                <a:latin typeface="Microsoft YaHei"/>
                <a:ea typeface="Microsoft YaHei"/>
              </a:rPr>
              <a:t>试验明细</a:t>
            </a:r>
            <a:endParaRPr/>
          </a:p>
        </p:txBody>
      </p:sp>
      <p:sp>
        <p:nvSpPr>
          <p:cNvPr id="42" name="文本框 41" descr="{&quot;isTemplate&quot;:true,&quot;type&quot;:&quot;text&quot;}"/>
          <p:cNvSpPr txBox="1"/>
          <p:nvPr/>
        </p:nvSpPr>
        <p:spPr>
          <a:xfrm>
            <a:off x="10944225" y="4683420"/>
            <a:ext cx="4286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333333"/>
                </a:solidFill>
                <a:latin typeface="Microsoft YaHei"/>
                <a:ea typeface="Microsoft YaHei"/>
              </a:rPr>
              <a:t>共</a:t>
            </a:r>
            <a:r>
              <a:rPr lang="en-US" sz="1050" b="1">
                <a:solidFill>
                  <a:srgbClr val="333333"/>
                </a:solidFill>
                <a:latin typeface="Microsoft YaHei"/>
                <a:ea typeface="Microsoft YaHei"/>
              </a:rPr>
              <a:t> 1 </a:t>
            </a:r>
            <a:r>
              <a:rPr lang="zh-CN" sz="1050" b="1">
                <a:solidFill>
                  <a:srgbClr val="333333"/>
                </a:solidFill>
                <a:latin typeface="Microsoft YaHei"/>
                <a:ea typeface="Microsoft YaHei"/>
              </a:rPr>
              <a:t>项</a:t>
            </a:r>
            <a:endParaRPr/>
          </a:p>
        </p:txBody>
      </p:sp>
      <p:graphicFrame>
        <p:nvGraphicFramePr>
          <p:cNvPr id="43" name="表格 42"/>
          <p:cNvGraphicFramePr/>
          <p:nvPr>
            <p:extLst>
              <p:ext uri="{D42A27DB-BD31-4B8C-83A1-F6EECF244321}">
                <p14:modId xmlns:p14="http://schemas.microsoft.com/office/powerpoint/2010/main" val="1760712531"/>
              </p:ext>
            </p:extLst>
          </p:nvPr>
        </p:nvGraphicFramePr>
        <p:xfrm>
          <a:off x="4248150" y="4988220"/>
          <a:ext cx="7258050" cy="704850"/>
        </p:xfrm>
        <a:graphic>
          <a:graphicData uri="http://schemas.openxmlformats.org/drawingml/2006/table">
            <a:tbl>
              <a:tblPr/>
              <a:tblGrid>
                <a:gridCol w="1765782">
                  <a:extLst>
                    <a:ext uri="{9D8B030D-6E8A-4147-A177-3AD203B41FA5}">
                      <a16:colId xmlns:a16="http://schemas.microsoft.com/office/drawing/2014/main" val="1"/>
                    </a:ext>
                  </a:extLst>
                </a:gridCol>
                <a:gridCol w="5492268">
                  <a:extLst>
                    <a:ext uri="{9D8B030D-6E8A-4147-A177-3AD203B41FA5}">
                      <a16:colId xmlns:a16="http://schemas.microsoft.com/office/drawing/2014/main" val="2"/>
                    </a:ext>
                  </a:extLst>
                </a:gridCol>
              </a:tblGrid>
              <a:tr h="352425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试验日期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试验项目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7月1日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SVG无功补偿装置性能测试试验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"/>
                  </a:ext>
                </a:extLst>
              </a:tr>
            </a:tbl>
          </a:graphicData>
        </a:graphic>
      </p:graphicFrame>
      <p:sp>
        <p:nvSpPr>
          <p:cNvPr id="45" name="文本框 44" descr="{&quot;isTemplate&quot;:true,&quot;type&quot;:&quot;text&quot;}"/>
          <p:cNvSpPr txBox="1"/>
          <p:nvPr/>
        </p:nvSpPr>
        <p:spPr>
          <a:xfrm>
            <a:off x="11163300" y="6286500"/>
            <a:ext cx="457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333333">
                    <a:alpha val="55000"/>
                  </a:srgbClr>
                </a:solidFill>
                <a:latin typeface="Microsoft YaHei"/>
                <a:ea typeface="Microsoft YaHei"/>
              </a:rPr>
              <a:t>01 / 01</a:t>
            </a:r>
            <a:endParaRPr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74A3CC54-19F2-17D7-AE2B-26E40834401D}"/>
              </a:ext>
            </a:extLst>
          </p:cNvPr>
          <p:cNvSpPr/>
          <p:nvPr/>
        </p:nvSpPr>
        <p:spPr>
          <a:xfrm>
            <a:off x="0" y="0"/>
            <a:ext cx="12192000" cy="574177"/>
          </a:xfrm>
          <a:prstGeom prst="rect">
            <a:avLst/>
          </a:prstGeom>
          <a:solidFill>
            <a:srgbClr val="3B3B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A7AC520B-E7F9-5E54-D1F9-2F184C276744}"/>
              </a:ext>
            </a:extLst>
          </p:cNvPr>
          <p:cNvSpPr txBox="1"/>
          <p:nvPr/>
        </p:nvSpPr>
        <p:spPr>
          <a:xfrm>
            <a:off x="0" y="111825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4. 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涉网实验影响分析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4936A-2B7A-C6D1-62F5-C364B65AA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AF37C64-5F63-8AD7-B2D2-4665D529402E}"/>
              </a:ext>
            </a:extLst>
          </p:cNvPr>
          <p:cNvSpPr/>
          <p:nvPr/>
        </p:nvSpPr>
        <p:spPr>
          <a:xfrm>
            <a:off x="0" y="0"/>
            <a:ext cx="12192000" cy="574177"/>
          </a:xfrm>
          <a:prstGeom prst="rect">
            <a:avLst/>
          </a:prstGeom>
          <a:solidFill>
            <a:srgbClr val="3B3B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CDE511C-A531-B7F9-0DBD-73BD0AB198BD}"/>
              </a:ext>
            </a:extLst>
          </p:cNvPr>
          <p:cNvSpPr txBox="1"/>
          <p:nvPr/>
        </p:nvSpPr>
        <p:spPr>
          <a:xfrm>
            <a:off x="126999" y="102938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乌拉特、苏右执行情况与申报参数调整</a:t>
            </a:r>
          </a:p>
        </p:txBody>
      </p:sp>
      <p:pic>
        <p:nvPicPr>
          <p:cNvPr id="4" name="图片 3" descr="电脑屏幕截图&#10;&#10;AI 生成的内容可能不正确。">
            <a:extLst>
              <a:ext uri="{FF2B5EF4-FFF2-40B4-BE49-F238E27FC236}">
                <a16:creationId xmlns:a16="http://schemas.microsoft.com/office/drawing/2014/main" id="{EB18B252-5570-A14D-DAA8-EC517C2A7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140" y="574177"/>
            <a:ext cx="11030517" cy="289249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114FFBBB-BD6D-BEEB-1A9C-03DD21CEA0CA}"/>
              </a:ext>
            </a:extLst>
          </p:cNvPr>
          <p:cNvSpPr txBox="1"/>
          <p:nvPr/>
        </p:nvSpPr>
        <p:spPr>
          <a:xfrm>
            <a:off x="561976" y="3568579"/>
            <a:ext cx="10788648" cy="271524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乌拉特有效容量下降，中午最高的</a:t>
            </a:r>
            <a:r>
              <a:rPr lang="en-US" altLang="zh-CN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soc</a:t>
            </a:r>
            <a:r>
              <a:rPr lang="zh-CN" altLang="en-US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已经修正至</a:t>
            </a:r>
            <a:r>
              <a:rPr lang="en-US" altLang="zh-CN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88%</a:t>
            </a:r>
            <a:r>
              <a:rPr lang="zh-CN" altLang="en-US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DOD</a:t>
            </a:r>
            <a:r>
              <a:rPr lang="zh-CN" altLang="en-US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仅为</a:t>
            </a:r>
            <a:r>
              <a:rPr lang="en-US" altLang="zh-CN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83%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苏右有效容量下降，中午最高的</a:t>
            </a:r>
            <a:r>
              <a:rPr lang="en-US" altLang="zh-CN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soc</a:t>
            </a:r>
            <a:r>
              <a:rPr lang="zh-CN" altLang="en-US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已经修正至</a:t>
            </a:r>
            <a:r>
              <a:rPr lang="en-US" altLang="zh-CN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90%</a:t>
            </a:r>
            <a:r>
              <a:rPr lang="zh-CN" altLang="en-US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，实际</a:t>
            </a:r>
            <a:r>
              <a:rPr lang="en-US" altLang="zh-CN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DOD</a:t>
            </a:r>
            <a:r>
              <a:rPr lang="zh-CN" altLang="en-US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仅为</a:t>
            </a:r>
            <a:r>
              <a:rPr lang="en-US" altLang="zh-CN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87%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由于小风季，中午价格较高，对收益影响暂不明显；随着大风季中午价格下降，</a:t>
            </a:r>
            <a:r>
              <a:rPr lang="en-US" altLang="zh-CN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DOD</a:t>
            </a:r>
            <a:r>
              <a:rPr lang="zh-CN" altLang="en-US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下降影响将会凸显</a:t>
            </a:r>
            <a:endParaRPr lang="en-US" altLang="zh-CN" b="1" dirty="0">
              <a:solidFill>
                <a:srgbClr val="2D334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乌海有效容量已经下降，但</a:t>
            </a:r>
            <a:r>
              <a:rPr lang="en-US" altLang="zh-CN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月已经出现执行问题，应和运维沟通观察设备的实际运行情况；建议谨慎讨论乌海场站</a:t>
            </a:r>
            <a:r>
              <a:rPr lang="en-US" altLang="zh-CN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DOD</a:t>
            </a:r>
            <a:r>
              <a:rPr lang="zh-CN" altLang="en-US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打开，可能会暴露实际容量下降的问题</a:t>
            </a:r>
            <a:endParaRPr lang="en-US" altLang="zh-CN" b="1" dirty="0">
              <a:solidFill>
                <a:srgbClr val="2D334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b="1" dirty="0">
              <a:solidFill>
                <a:srgbClr val="2D334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793679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EE871-B871-FE49-79A1-BAADA4715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E769984-C84D-AAF3-ACB4-67EEAF1265D0}"/>
              </a:ext>
            </a:extLst>
          </p:cNvPr>
          <p:cNvSpPr/>
          <p:nvPr/>
        </p:nvSpPr>
        <p:spPr>
          <a:xfrm>
            <a:off x="0" y="0"/>
            <a:ext cx="12192000" cy="574177"/>
          </a:xfrm>
          <a:prstGeom prst="rect">
            <a:avLst/>
          </a:prstGeom>
          <a:solidFill>
            <a:srgbClr val="3B3B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766E872-6D15-EF02-88DB-CAABDA0D212C}"/>
              </a:ext>
            </a:extLst>
          </p:cNvPr>
          <p:cNvSpPr txBox="1"/>
          <p:nvPr/>
        </p:nvSpPr>
        <p:spPr>
          <a:xfrm>
            <a:off x="126999" y="102938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AI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策略计划及进展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C3C6AE49-1763-4FCE-3F1A-B274D2F2CA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8386425"/>
              </p:ext>
            </p:extLst>
          </p:nvPr>
        </p:nvGraphicFramePr>
        <p:xfrm>
          <a:off x="755649" y="866203"/>
          <a:ext cx="10490712" cy="2562797"/>
        </p:xfrm>
        <a:graphic>
          <a:graphicData uri="http://schemas.openxmlformats.org/drawingml/2006/table">
            <a:tbl>
              <a:tblPr firstRow="1" firstCol="1" bandRow="1"/>
              <a:tblGrid>
                <a:gridCol w="2622678">
                  <a:extLst>
                    <a:ext uri="{9D8B030D-6E8A-4147-A177-3AD203B41FA5}">
                      <a16:colId xmlns:a16="http://schemas.microsoft.com/office/drawing/2014/main" val="1888109355"/>
                    </a:ext>
                  </a:extLst>
                </a:gridCol>
                <a:gridCol w="2622678">
                  <a:extLst>
                    <a:ext uri="{9D8B030D-6E8A-4147-A177-3AD203B41FA5}">
                      <a16:colId xmlns:a16="http://schemas.microsoft.com/office/drawing/2014/main" val="1504870027"/>
                    </a:ext>
                  </a:extLst>
                </a:gridCol>
                <a:gridCol w="2622678">
                  <a:extLst>
                    <a:ext uri="{9D8B030D-6E8A-4147-A177-3AD203B41FA5}">
                      <a16:colId xmlns:a16="http://schemas.microsoft.com/office/drawing/2014/main" val="806664153"/>
                    </a:ext>
                  </a:extLst>
                </a:gridCol>
                <a:gridCol w="2622678">
                  <a:extLst>
                    <a:ext uri="{9D8B030D-6E8A-4147-A177-3AD203B41FA5}">
                      <a16:colId xmlns:a16="http://schemas.microsoft.com/office/drawing/2014/main" val="102840917"/>
                    </a:ext>
                  </a:extLst>
                </a:gridCol>
              </a:tblGrid>
              <a:tr h="692594">
                <a:tc>
                  <a:txBody>
                    <a:bodyPr/>
                    <a:lstStyle/>
                    <a:p>
                      <a:pPr algn="ctr">
                        <a:lnSpc>
                          <a:spcPct val="133000"/>
                        </a:lnSpc>
                        <a:buNone/>
                      </a:pPr>
                      <a:r>
                        <a:rPr lang="zh-CN" sz="1800" b="1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数据管理</a:t>
                      </a:r>
                      <a:endParaRPr lang="zh-CN" sz="18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7A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3000"/>
                        </a:lnSpc>
                        <a:buNone/>
                      </a:pPr>
                      <a:r>
                        <a:rPr lang="zh-CN" sz="1800" b="1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预测引擎</a:t>
                      </a:r>
                      <a:endParaRPr lang="zh-CN" sz="18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85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3000"/>
                        </a:lnSpc>
                        <a:buNone/>
                      </a:pPr>
                      <a:r>
                        <a:rPr lang="zh-CN" sz="1800" b="1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策略生成</a:t>
                      </a:r>
                      <a:endParaRPr lang="zh-CN" sz="18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62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3000"/>
                        </a:lnSpc>
                        <a:buNone/>
                      </a:pPr>
                      <a:r>
                        <a:rPr lang="zh-CN" sz="1800" b="1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复盘看板</a:t>
                      </a:r>
                      <a:endParaRPr lang="zh-CN" sz="18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5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7672433"/>
                  </a:ext>
                </a:extLst>
              </a:tr>
              <a:tr h="1870203"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33000"/>
                        </a:lnSpc>
                        <a:spcBef>
                          <a:spcPts val="25"/>
                        </a:spcBef>
                        <a:spcAft>
                          <a:spcPts val="25"/>
                        </a:spcAft>
                        <a:buFont typeface="Wingdings" panose="05000000000000000000" pitchFamily="2" charset="2"/>
                        <a:buChar char=""/>
                      </a:pPr>
                      <a:r>
                        <a:rPr lang="zh-CN" sz="1800">
                          <a:solidFill>
                            <a:srgbClr val="1A1A1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多源数据的采集、存储</a:t>
                      </a:r>
                      <a:endParaRPr lang="zh-CN" sz="18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342900" lvl="0" indent="-342900">
                        <a:lnSpc>
                          <a:spcPct val="133000"/>
                        </a:lnSpc>
                        <a:spcBef>
                          <a:spcPts val="25"/>
                        </a:spcBef>
                        <a:spcAft>
                          <a:spcPts val="25"/>
                        </a:spcAft>
                        <a:buFont typeface="Wingdings" panose="05000000000000000000" pitchFamily="2" charset="2"/>
                        <a:buChar char=""/>
                      </a:pPr>
                      <a:r>
                        <a:rPr lang="zh-CN" sz="1800">
                          <a:solidFill>
                            <a:srgbClr val="1A1A1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多维数据清洗、管理</a:t>
                      </a:r>
                      <a:endParaRPr lang="zh-CN" sz="18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342900" lvl="0" indent="-342900">
                        <a:lnSpc>
                          <a:spcPct val="133000"/>
                        </a:lnSpc>
                        <a:spcBef>
                          <a:spcPts val="25"/>
                        </a:spcBef>
                        <a:spcAft>
                          <a:spcPts val="25"/>
                        </a:spcAft>
                        <a:buFont typeface="Wingdings" panose="05000000000000000000" pitchFamily="2" charset="2"/>
                        <a:buChar char=""/>
                      </a:pPr>
                      <a:r>
                        <a:rPr lang="zh-CN" sz="1800">
                          <a:solidFill>
                            <a:srgbClr val="1A1A1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团队数据共享</a:t>
                      </a:r>
                      <a:endParaRPr lang="zh-CN" sz="18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1750" marR="31750" marT="25400" marB="254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33000"/>
                        </a:lnSpc>
                        <a:spcBef>
                          <a:spcPts val="25"/>
                        </a:spcBef>
                        <a:spcAft>
                          <a:spcPts val="25"/>
                        </a:spcAft>
                        <a:buFont typeface="Wingdings" panose="05000000000000000000" pitchFamily="2" charset="2"/>
                        <a:buChar char=""/>
                      </a:pPr>
                      <a:r>
                        <a:rPr lang="zh-CN" sz="1800">
                          <a:solidFill>
                            <a:srgbClr val="1A1A1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竞价空间预测</a:t>
                      </a:r>
                      <a:endParaRPr lang="zh-CN" sz="18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342900" lvl="0" indent="-342900">
                        <a:lnSpc>
                          <a:spcPct val="133000"/>
                        </a:lnSpc>
                        <a:spcBef>
                          <a:spcPts val="25"/>
                        </a:spcBef>
                        <a:spcAft>
                          <a:spcPts val="25"/>
                        </a:spcAft>
                        <a:buFont typeface="Wingdings" panose="05000000000000000000" pitchFamily="2" charset="2"/>
                        <a:buChar char=""/>
                      </a:pPr>
                      <a:r>
                        <a:rPr lang="zh-CN" sz="1800">
                          <a:solidFill>
                            <a:srgbClr val="1A1A1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储能集中充放行为预测</a:t>
                      </a:r>
                      <a:endParaRPr lang="zh-CN" sz="18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342900" lvl="0" indent="-342900">
                        <a:lnSpc>
                          <a:spcPct val="133000"/>
                        </a:lnSpc>
                        <a:spcBef>
                          <a:spcPts val="25"/>
                        </a:spcBef>
                        <a:spcAft>
                          <a:spcPts val="25"/>
                        </a:spcAft>
                        <a:buFont typeface="Wingdings" panose="05000000000000000000" pitchFamily="2" charset="2"/>
                        <a:buChar char=""/>
                      </a:pPr>
                      <a:r>
                        <a:rPr lang="zh-CN" sz="1800">
                          <a:solidFill>
                            <a:srgbClr val="1A1A1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竞价空间</a:t>
                      </a:r>
                      <a:r>
                        <a:rPr lang="en-US" sz="1800">
                          <a:solidFill>
                            <a:srgbClr val="1A1A1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&amp;</a:t>
                      </a:r>
                      <a:r>
                        <a:rPr lang="zh-CN" sz="1800">
                          <a:solidFill>
                            <a:srgbClr val="1A1A1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现货价格预测</a:t>
                      </a:r>
                      <a:endParaRPr lang="zh-CN" sz="18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1750" marR="31750" marT="25400" marB="254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33000"/>
                        </a:lnSpc>
                        <a:spcBef>
                          <a:spcPts val="25"/>
                        </a:spcBef>
                        <a:spcAft>
                          <a:spcPts val="25"/>
                        </a:spcAft>
                        <a:buFont typeface="Wingdings" panose="05000000000000000000" pitchFamily="2" charset="2"/>
                        <a:buChar char=""/>
                      </a:pPr>
                      <a:r>
                        <a:rPr lang="zh-CN" sz="1800">
                          <a:solidFill>
                            <a:srgbClr val="1A1A1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多种方法人工策略辅助生成工具</a:t>
                      </a:r>
                      <a:endParaRPr lang="zh-CN" sz="18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342900" lvl="0" indent="-342900">
                        <a:lnSpc>
                          <a:spcPct val="133000"/>
                        </a:lnSpc>
                        <a:spcBef>
                          <a:spcPts val="25"/>
                        </a:spcBef>
                        <a:spcAft>
                          <a:spcPts val="25"/>
                        </a:spcAft>
                        <a:buFont typeface="Wingdings" panose="05000000000000000000" pitchFamily="2" charset="2"/>
                        <a:buChar char=""/>
                      </a:pPr>
                      <a:r>
                        <a:rPr lang="en-US" sz="1800">
                          <a:solidFill>
                            <a:srgbClr val="1A1A1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AI</a:t>
                      </a:r>
                      <a:r>
                        <a:rPr lang="zh-CN" sz="1800">
                          <a:solidFill>
                            <a:srgbClr val="1A1A1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优化策略生成</a:t>
                      </a:r>
                      <a:endParaRPr lang="zh-CN" sz="18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342900" lvl="0" indent="-342900">
                        <a:lnSpc>
                          <a:spcPct val="133000"/>
                        </a:lnSpc>
                        <a:spcBef>
                          <a:spcPts val="25"/>
                        </a:spcBef>
                        <a:spcAft>
                          <a:spcPts val="25"/>
                        </a:spcAft>
                        <a:buFont typeface="Wingdings" panose="05000000000000000000" pitchFamily="2" charset="2"/>
                        <a:buChar char=""/>
                      </a:pPr>
                      <a:r>
                        <a:rPr lang="zh-CN" sz="1800">
                          <a:solidFill>
                            <a:srgbClr val="1A1A1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预测</a:t>
                      </a:r>
                      <a:r>
                        <a:rPr lang="en-US" sz="1800">
                          <a:solidFill>
                            <a:srgbClr val="1A1A1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&amp;</a:t>
                      </a:r>
                      <a:r>
                        <a:rPr lang="zh-CN" sz="1800">
                          <a:solidFill>
                            <a:srgbClr val="1A1A1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优化耦合策略生成</a:t>
                      </a:r>
                      <a:endParaRPr lang="zh-CN" sz="18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1750" marR="31750" marT="25400" marB="254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33000"/>
                        </a:lnSpc>
                        <a:spcBef>
                          <a:spcPts val="25"/>
                        </a:spcBef>
                        <a:spcAft>
                          <a:spcPts val="25"/>
                        </a:spcAft>
                        <a:buFont typeface="Wingdings" panose="05000000000000000000" pitchFamily="2" charset="2"/>
                        <a:buChar char=""/>
                      </a:pPr>
                      <a:r>
                        <a:rPr lang="zh-CN" sz="1800" dirty="0">
                          <a:solidFill>
                            <a:srgbClr val="1A1A1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日复盘、周复盘等复盘分析数据自动计算</a:t>
                      </a:r>
                      <a:endParaRPr lang="zh-CN" sz="18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342900" lvl="0" indent="-342900">
                        <a:lnSpc>
                          <a:spcPct val="133000"/>
                        </a:lnSpc>
                        <a:spcBef>
                          <a:spcPts val="25"/>
                        </a:spcBef>
                        <a:spcAft>
                          <a:spcPts val="25"/>
                        </a:spcAft>
                        <a:buFont typeface="Wingdings" panose="05000000000000000000" pitchFamily="2" charset="2"/>
                        <a:buChar char=""/>
                      </a:pPr>
                      <a:r>
                        <a:rPr lang="zh-CN" sz="1800" dirty="0">
                          <a:solidFill>
                            <a:srgbClr val="1A1A1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策略评价及根因归集</a:t>
                      </a:r>
                      <a:endParaRPr lang="zh-CN" sz="18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342900" lvl="0" indent="-342900">
                        <a:lnSpc>
                          <a:spcPct val="133000"/>
                        </a:lnSpc>
                        <a:spcBef>
                          <a:spcPts val="25"/>
                        </a:spcBef>
                        <a:spcAft>
                          <a:spcPts val="25"/>
                        </a:spcAft>
                        <a:buFont typeface="Wingdings" panose="05000000000000000000" pitchFamily="2" charset="2"/>
                        <a:buChar char=""/>
                      </a:pPr>
                      <a:r>
                        <a:rPr lang="zh-CN" sz="1800" dirty="0">
                          <a:solidFill>
                            <a:srgbClr val="1A1A1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复盘报告自动导出</a:t>
                      </a:r>
                      <a:endParaRPr lang="zh-CN" sz="18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1750" marR="31750" marT="25400" marB="254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266704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4F3B25AD-07FD-D7EE-3BF2-22C8651DA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7281170"/>
              </p:ext>
            </p:extLst>
          </p:nvPr>
        </p:nvGraphicFramePr>
        <p:xfrm>
          <a:off x="863088" y="3985132"/>
          <a:ext cx="10515600" cy="1653667"/>
        </p:xfrm>
        <a:graphic>
          <a:graphicData uri="http://schemas.openxmlformats.org/drawingml/2006/table">
            <a:tbl>
              <a:tblPr firstRow="1" firstCol="1" bandRow="1"/>
              <a:tblGrid>
                <a:gridCol w="3505200">
                  <a:extLst>
                    <a:ext uri="{9D8B030D-6E8A-4147-A177-3AD203B41FA5}">
                      <a16:colId xmlns:a16="http://schemas.microsoft.com/office/drawing/2014/main" val="41589913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98861725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818056441"/>
                    </a:ext>
                  </a:extLst>
                </a:gridCol>
              </a:tblGrid>
              <a:tr h="490949">
                <a:tc>
                  <a:txBody>
                    <a:bodyPr/>
                    <a:lstStyle/>
                    <a:p>
                      <a:pPr algn="ctr">
                        <a:lnSpc>
                          <a:spcPct val="133000"/>
                        </a:lnSpc>
                        <a:buNone/>
                      </a:pPr>
                      <a:r>
                        <a:rPr lang="zh-CN" sz="1800" b="1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当前阶段</a:t>
                      </a:r>
                      <a:endParaRPr lang="zh-CN" sz="18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80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3000"/>
                        </a:lnSpc>
                        <a:buNone/>
                      </a:pPr>
                      <a:r>
                        <a:rPr lang="zh-CN" sz="1800" b="1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半自动阶段</a:t>
                      </a:r>
                      <a:endParaRPr lang="zh-CN" sz="18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3000"/>
                        </a:lnSpc>
                        <a:buNone/>
                      </a:pPr>
                      <a:r>
                        <a:rPr lang="zh-CN" sz="1800" b="1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全自动阶段</a:t>
                      </a:r>
                      <a:endParaRPr lang="zh-CN" sz="18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85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495072"/>
                  </a:ext>
                </a:extLst>
              </a:tr>
              <a:tr h="408080">
                <a:tc>
                  <a:txBody>
                    <a:bodyPr/>
                    <a:lstStyle/>
                    <a:p>
                      <a:pPr algn="ctr">
                        <a:lnSpc>
                          <a:spcPct val="133000"/>
                        </a:lnSpc>
                        <a:spcBef>
                          <a:spcPts val="25"/>
                        </a:spcBef>
                        <a:spcAft>
                          <a:spcPts val="25"/>
                        </a:spcAft>
                        <a:buNone/>
                      </a:pPr>
                      <a:r>
                        <a:rPr lang="en-US" sz="1800" b="1">
                          <a:solidFill>
                            <a:srgbClr val="71809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9</a:t>
                      </a:r>
                      <a:r>
                        <a:rPr lang="zh-CN" sz="1800" b="1">
                          <a:solidFill>
                            <a:srgbClr val="71809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月底</a:t>
                      </a:r>
                      <a:endParaRPr lang="zh-CN" sz="18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8100" marR="38100" marT="25400" marB="254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3000"/>
                        </a:lnSpc>
                        <a:spcBef>
                          <a:spcPts val="25"/>
                        </a:spcBef>
                        <a:spcAft>
                          <a:spcPts val="25"/>
                        </a:spcAft>
                        <a:buNone/>
                      </a:pPr>
                      <a:r>
                        <a:rPr lang="en-US" sz="1800" b="1">
                          <a:solidFill>
                            <a:srgbClr val="2C528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10-11</a:t>
                      </a:r>
                      <a:r>
                        <a:rPr lang="zh-CN" sz="1800" b="1">
                          <a:solidFill>
                            <a:srgbClr val="2C528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月</a:t>
                      </a:r>
                      <a:endParaRPr lang="zh-CN" sz="18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8100" marR="38100" marT="25400" marB="254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3000"/>
                        </a:lnSpc>
                        <a:spcBef>
                          <a:spcPts val="25"/>
                        </a:spcBef>
                        <a:spcAft>
                          <a:spcPts val="25"/>
                        </a:spcAft>
                        <a:buNone/>
                      </a:pPr>
                      <a:r>
                        <a:rPr lang="en-US" sz="1800" b="1">
                          <a:solidFill>
                            <a:srgbClr val="2F855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12</a:t>
                      </a:r>
                      <a:r>
                        <a:rPr lang="zh-CN" sz="1800" b="1">
                          <a:solidFill>
                            <a:srgbClr val="2F855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月</a:t>
                      </a:r>
                      <a:endParaRPr lang="zh-CN" sz="18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8100" marR="38100" marT="25400" marB="254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2787910"/>
                  </a:ext>
                </a:extLst>
              </a:tr>
              <a:tr h="754638">
                <a:tc>
                  <a:txBody>
                    <a:bodyPr/>
                    <a:lstStyle/>
                    <a:p>
                      <a:pPr algn="ctr">
                        <a:lnSpc>
                          <a:spcPct val="133000"/>
                        </a:lnSpc>
                        <a:spcBef>
                          <a:spcPts val="25"/>
                        </a:spcBef>
                        <a:spcAft>
                          <a:spcPts val="25"/>
                        </a:spcAft>
                        <a:buNone/>
                      </a:pPr>
                      <a:r>
                        <a:rPr lang="zh-CN" sz="1800">
                          <a:solidFill>
                            <a:srgbClr val="1A1A1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为人工决策提供</a:t>
                      </a:r>
                      <a:endParaRPr lang="zh-CN" sz="18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algn="ctr">
                        <a:lnSpc>
                          <a:spcPct val="133000"/>
                        </a:lnSpc>
                        <a:spcBef>
                          <a:spcPts val="25"/>
                        </a:spcBef>
                        <a:spcAft>
                          <a:spcPts val="25"/>
                        </a:spcAft>
                        <a:buNone/>
                      </a:pPr>
                      <a:r>
                        <a:rPr lang="zh-CN" sz="1800">
                          <a:solidFill>
                            <a:srgbClr val="1A1A1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参考和复盘支持</a:t>
                      </a:r>
                      <a:endParaRPr lang="zh-CN" sz="18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8100" marR="38100" marT="25400" marB="254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3000"/>
                        </a:lnSpc>
                        <a:spcBef>
                          <a:spcPts val="25"/>
                        </a:spcBef>
                        <a:spcAft>
                          <a:spcPts val="25"/>
                        </a:spcAft>
                        <a:buNone/>
                      </a:pPr>
                      <a:r>
                        <a:rPr lang="zh-CN" sz="1800">
                          <a:solidFill>
                            <a:srgbClr val="1A1A1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策略生成</a:t>
                      </a:r>
                      <a:r>
                        <a:rPr lang="en-US" sz="1800">
                          <a:solidFill>
                            <a:srgbClr val="1A1A1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+ </a:t>
                      </a:r>
                      <a:r>
                        <a:rPr lang="zh-CN" sz="1800">
                          <a:solidFill>
                            <a:srgbClr val="1A1A1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人工微调</a:t>
                      </a:r>
                      <a:endParaRPr lang="zh-CN" sz="18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8100" marR="38100" marT="25400" marB="254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3000"/>
                        </a:lnSpc>
                        <a:spcBef>
                          <a:spcPts val="25"/>
                        </a:spcBef>
                        <a:spcAft>
                          <a:spcPts val="25"/>
                        </a:spcAft>
                        <a:buNone/>
                      </a:pPr>
                      <a:r>
                        <a:rPr lang="zh-CN" sz="1800" dirty="0">
                          <a:solidFill>
                            <a:srgbClr val="1A1A1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端到端自动闭环</a:t>
                      </a:r>
                      <a:endParaRPr lang="zh-CN" sz="18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8100" marR="38100" marT="25400" marB="254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23796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82047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C6370-79DE-2871-4A51-753DA1676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917E5B8-506D-628C-C467-FFEA1F6006BA}"/>
              </a:ext>
            </a:extLst>
          </p:cNvPr>
          <p:cNvSpPr/>
          <p:nvPr/>
        </p:nvSpPr>
        <p:spPr>
          <a:xfrm>
            <a:off x="0" y="0"/>
            <a:ext cx="12192000" cy="574177"/>
          </a:xfrm>
          <a:prstGeom prst="rect">
            <a:avLst/>
          </a:prstGeom>
          <a:solidFill>
            <a:srgbClr val="3B3B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935DE0F-FE23-0771-C2FA-806491F94775}"/>
              </a:ext>
            </a:extLst>
          </p:cNvPr>
          <p:cNvSpPr txBox="1"/>
          <p:nvPr/>
        </p:nvSpPr>
        <p:spPr>
          <a:xfrm>
            <a:off x="126999" y="102938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AI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策略计划及进展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C309B82-F692-2C95-711F-3E23A9A58E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036" y="677115"/>
            <a:ext cx="11625927" cy="2751886"/>
          </a:xfrm>
          <a:prstGeom prst="rect">
            <a:avLst/>
          </a:prstGeom>
        </p:spPr>
      </p:pic>
      <p:pic>
        <p:nvPicPr>
          <p:cNvPr id="5" name="图片 4" descr="图表, 折线图, 直方图&#10;&#10;AI 生成的内容可能不正确。">
            <a:extLst>
              <a:ext uri="{FF2B5EF4-FFF2-40B4-BE49-F238E27FC236}">
                <a16:creationId xmlns:a16="http://schemas.microsoft.com/office/drawing/2014/main" id="{BDC03D97-246E-E148-8C3E-BC185D8486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035" y="3531939"/>
            <a:ext cx="11625927" cy="2325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770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F3263-C2F8-34FA-D83C-10104D9E3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E0728DB-324B-91D5-93AD-C996C84915C1}"/>
              </a:ext>
            </a:extLst>
          </p:cNvPr>
          <p:cNvSpPr/>
          <p:nvPr/>
        </p:nvSpPr>
        <p:spPr>
          <a:xfrm>
            <a:off x="0" y="0"/>
            <a:ext cx="12192000" cy="574177"/>
          </a:xfrm>
          <a:prstGeom prst="rect">
            <a:avLst/>
          </a:prstGeom>
          <a:solidFill>
            <a:srgbClr val="3B3B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B364B3D-9E7C-1331-6FD2-28CF77725CD9}"/>
              </a:ext>
            </a:extLst>
          </p:cNvPr>
          <p:cNvSpPr txBox="1"/>
          <p:nvPr/>
        </p:nvSpPr>
        <p:spPr>
          <a:xfrm>
            <a:off x="126999" y="102938"/>
            <a:ext cx="445985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收益与排名预告与展望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A06712BB-F473-8FBF-07B9-67A267FAC1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6138847"/>
              </p:ext>
            </p:extLst>
          </p:nvPr>
        </p:nvGraphicFramePr>
        <p:xfrm>
          <a:off x="469900" y="1341398"/>
          <a:ext cx="2073277" cy="4400406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987427">
                  <a:extLst>
                    <a:ext uri="{9D8B030D-6E8A-4147-A177-3AD203B41FA5}">
                      <a16:colId xmlns:a16="http://schemas.microsoft.com/office/drawing/2014/main" val="2630262314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428573308"/>
                    </a:ext>
                  </a:extLst>
                </a:gridCol>
              </a:tblGrid>
              <a:tr h="488934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DOD</a:t>
                      </a:r>
                      <a:r>
                        <a:rPr lang="zh-CN" altLang="en-US" sz="1200" b="1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修正前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4649" marR="4649" marT="46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9936238"/>
                  </a:ext>
                </a:extLst>
              </a:tr>
              <a:tr h="48893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场站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收益排名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extLst>
                  <a:ext uri="{0D108BD9-81ED-4DB2-BD59-A6C34878D82A}">
                    <a16:rowId xmlns:a16="http://schemas.microsoft.com/office/drawing/2014/main" val="1083477850"/>
                  </a:ext>
                </a:extLst>
              </a:tr>
              <a:tr h="48893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乌海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 sz="1400" b="1" i="0" u="none" strike="noStrike" dirty="0">
                        <a:solidFill>
                          <a:srgbClr val="00B05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extLst>
                  <a:ext uri="{0D108BD9-81ED-4DB2-BD59-A6C34878D82A}">
                    <a16:rowId xmlns:a16="http://schemas.microsoft.com/office/drawing/2014/main" val="334423791"/>
                  </a:ext>
                </a:extLst>
              </a:tr>
              <a:tr h="48893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杭锦旗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400" b="1" i="0" u="none" strike="noStrike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extLst>
                  <a:ext uri="{0D108BD9-81ED-4DB2-BD59-A6C34878D82A}">
                    <a16:rowId xmlns:a16="http://schemas.microsoft.com/office/drawing/2014/main" val="3040982605"/>
                  </a:ext>
                </a:extLst>
              </a:tr>
              <a:tr h="48893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谷山梁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  <a:endParaRPr lang="en-US" altLang="zh-CN" sz="1400" b="1" i="0" u="none" strike="noStrike" dirty="0">
                        <a:solidFill>
                          <a:srgbClr val="00B05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extLst>
                  <a:ext uri="{0D108BD9-81ED-4DB2-BD59-A6C34878D82A}">
                    <a16:rowId xmlns:a16="http://schemas.microsoft.com/office/drawing/2014/main" val="3156569055"/>
                  </a:ext>
                </a:extLst>
              </a:tr>
              <a:tr h="48893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巴盟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</a:t>
                      </a:r>
                      <a:endParaRPr lang="en-US" altLang="zh-CN" sz="1400" b="1" i="0" u="none" strike="noStrike" dirty="0">
                        <a:solidFill>
                          <a:srgbClr val="C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extLst>
                  <a:ext uri="{0D108BD9-81ED-4DB2-BD59-A6C34878D82A}">
                    <a16:rowId xmlns:a16="http://schemas.microsoft.com/office/drawing/2014/main" val="4038183514"/>
                  </a:ext>
                </a:extLst>
              </a:tr>
              <a:tr h="48893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乌拉特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</a:t>
                      </a:r>
                      <a:endParaRPr lang="en-US" altLang="zh-CN" sz="1400" b="1" i="0" u="none" strike="noStrike" dirty="0">
                        <a:solidFill>
                          <a:srgbClr val="00B05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extLst>
                  <a:ext uri="{0D108BD9-81ED-4DB2-BD59-A6C34878D82A}">
                    <a16:rowId xmlns:a16="http://schemas.microsoft.com/office/drawing/2014/main" val="2857547002"/>
                  </a:ext>
                </a:extLst>
              </a:tr>
              <a:tr h="48893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四子王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</a:t>
                      </a:r>
                      <a:endParaRPr lang="en-US" altLang="zh-CN" sz="1400" b="1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extLst>
                  <a:ext uri="{0D108BD9-81ED-4DB2-BD59-A6C34878D82A}">
                    <a16:rowId xmlns:a16="http://schemas.microsoft.com/office/drawing/2014/main" val="608711829"/>
                  </a:ext>
                </a:extLst>
              </a:tr>
              <a:tr h="48893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苏右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29</a:t>
                      </a:r>
                      <a:endParaRPr lang="en-US" altLang="zh-CN" sz="1400" b="1" i="0" u="none" strike="noStrike" dirty="0">
                        <a:solidFill>
                          <a:srgbClr val="00B05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extLst>
                  <a:ext uri="{0D108BD9-81ED-4DB2-BD59-A6C34878D82A}">
                    <a16:rowId xmlns:a16="http://schemas.microsoft.com/office/drawing/2014/main" val="297971368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2FE3722B-DF4F-A470-4BB4-E301863716D8}"/>
              </a:ext>
            </a:extLst>
          </p:cNvPr>
          <p:cNvSpPr txBox="1"/>
          <p:nvPr/>
        </p:nvSpPr>
        <p:spPr>
          <a:xfrm>
            <a:off x="355600" y="787400"/>
            <a:ext cx="113665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5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截至</a:t>
            </a:r>
            <a:r>
              <a:rPr lang="en-US" altLang="zh-CN" sz="15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8.29</a:t>
            </a:r>
            <a:endParaRPr lang="zh-CN" altLang="en-US" sz="1500" b="1" dirty="0">
              <a:solidFill>
                <a:srgbClr val="11111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28E6F0B9-CCF6-65D0-30B9-5AC23D498E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5222517"/>
              </p:ext>
            </p:extLst>
          </p:nvPr>
        </p:nvGraphicFramePr>
        <p:xfrm>
          <a:off x="3336925" y="1358821"/>
          <a:ext cx="2073277" cy="4400406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987427">
                  <a:extLst>
                    <a:ext uri="{9D8B030D-6E8A-4147-A177-3AD203B41FA5}">
                      <a16:colId xmlns:a16="http://schemas.microsoft.com/office/drawing/2014/main" val="2630262314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428573308"/>
                    </a:ext>
                  </a:extLst>
                </a:gridCol>
              </a:tblGrid>
              <a:tr h="488934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DOD</a:t>
                      </a:r>
                      <a:r>
                        <a:rPr lang="zh-CN" altLang="en-US" sz="1200" b="1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修正前后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4649" marR="4649" marT="46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9936238"/>
                  </a:ext>
                </a:extLst>
              </a:tr>
              <a:tr h="48893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场站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收益排名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extLst>
                  <a:ext uri="{0D108BD9-81ED-4DB2-BD59-A6C34878D82A}">
                    <a16:rowId xmlns:a16="http://schemas.microsoft.com/office/drawing/2014/main" val="1083477850"/>
                  </a:ext>
                </a:extLst>
              </a:tr>
              <a:tr h="48893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乌海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400" b="1" i="0" u="none" strike="noStrike" dirty="0">
                        <a:solidFill>
                          <a:srgbClr val="00B05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extLst>
                  <a:ext uri="{0D108BD9-81ED-4DB2-BD59-A6C34878D82A}">
                    <a16:rowId xmlns:a16="http://schemas.microsoft.com/office/drawing/2014/main" val="334423791"/>
                  </a:ext>
                </a:extLst>
              </a:tr>
              <a:tr h="48893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杭锦旗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400" b="1" i="0" u="none" strike="noStrike" dirty="0">
                        <a:solidFill>
                          <a:srgbClr val="00B05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extLst>
                  <a:ext uri="{0D108BD9-81ED-4DB2-BD59-A6C34878D82A}">
                    <a16:rowId xmlns:a16="http://schemas.microsoft.com/office/drawing/2014/main" val="3040982605"/>
                  </a:ext>
                </a:extLst>
              </a:tr>
              <a:tr h="48893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谷山梁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en-US" altLang="zh-CN" sz="1400" b="1" i="0" u="none" strike="noStrike" dirty="0">
                        <a:solidFill>
                          <a:srgbClr val="00B05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extLst>
                  <a:ext uri="{0D108BD9-81ED-4DB2-BD59-A6C34878D82A}">
                    <a16:rowId xmlns:a16="http://schemas.microsoft.com/office/drawing/2014/main" val="3156569055"/>
                  </a:ext>
                </a:extLst>
              </a:tr>
              <a:tr h="48893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巴盟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endParaRPr lang="en-US" altLang="zh-CN" sz="1400" b="1" i="0" u="none" strike="noStrike" dirty="0">
                        <a:solidFill>
                          <a:srgbClr val="C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extLst>
                  <a:ext uri="{0D108BD9-81ED-4DB2-BD59-A6C34878D82A}">
                    <a16:rowId xmlns:a16="http://schemas.microsoft.com/office/drawing/2014/main" val="4038183514"/>
                  </a:ext>
                </a:extLst>
              </a:tr>
              <a:tr h="48893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乌拉特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</a:t>
                      </a:r>
                      <a:endParaRPr lang="en-US" altLang="zh-CN" sz="1400" b="1" i="0" u="none" strike="noStrike" dirty="0">
                        <a:solidFill>
                          <a:srgbClr val="00B05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extLst>
                  <a:ext uri="{0D108BD9-81ED-4DB2-BD59-A6C34878D82A}">
                    <a16:rowId xmlns:a16="http://schemas.microsoft.com/office/drawing/2014/main" val="2857547002"/>
                  </a:ext>
                </a:extLst>
              </a:tr>
              <a:tr h="48893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四子王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</a:t>
                      </a:r>
                      <a:endParaRPr lang="en-US" altLang="zh-CN" sz="1400" b="1" i="0" u="none" strike="noStrike" dirty="0">
                        <a:solidFill>
                          <a:srgbClr val="C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extLst>
                  <a:ext uri="{0D108BD9-81ED-4DB2-BD59-A6C34878D82A}">
                    <a16:rowId xmlns:a16="http://schemas.microsoft.com/office/drawing/2014/main" val="608711829"/>
                  </a:ext>
                </a:extLst>
              </a:tr>
              <a:tr h="48893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苏右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</a:t>
                      </a:r>
                      <a:endParaRPr lang="en-US" altLang="zh-CN" sz="1400" b="1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extLst>
                  <a:ext uri="{0D108BD9-81ED-4DB2-BD59-A6C34878D82A}">
                    <a16:rowId xmlns:a16="http://schemas.microsoft.com/office/drawing/2014/main" val="297971368"/>
                  </a:ext>
                </a:extLst>
              </a:tr>
            </a:tbl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1B862D52-DD50-FDF6-A168-F10689E19404}"/>
              </a:ext>
            </a:extLst>
          </p:cNvPr>
          <p:cNvSpPr txBox="1"/>
          <p:nvPr/>
        </p:nvSpPr>
        <p:spPr>
          <a:xfrm>
            <a:off x="5892800" y="1358821"/>
            <a:ext cx="5943600" cy="440040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月出清市场主体数量增加至</a:t>
            </a:r>
            <a:r>
              <a:rPr lang="en-US" altLang="zh-CN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43</a:t>
            </a:r>
            <a:r>
              <a:rPr lang="zh-CN" altLang="en-US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家，全市场储能总功率达到</a:t>
            </a:r>
            <a:r>
              <a:rPr lang="en-US" altLang="zh-CN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12GW</a:t>
            </a:r>
            <a:r>
              <a:rPr lang="zh-CN" altLang="en-US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47GWh</a:t>
            </a:r>
            <a:r>
              <a:rPr lang="zh-CN" altLang="en-US" b="1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；待逐步转商后，早晚峰价格将进一步降低</a:t>
            </a:r>
            <a:endParaRPr lang="en-US" altLang="zh-CN" b="1">
              <a:solidFill>
                <a:srgbClr val="2D334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月小风季特征凸显，</a:t>
            </a:r>
            <a:r>
              <a:rPr lang="en-US" altLang="zh-CN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毛以上极端价格频繁出现，市场盈亏出现剧烈波动，交易难度陡然上升，</a:t>
            </a:r>
            <a:r>
              <a:rPr lang="zh-CN" altLang="en-US" b="1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后半月</a:t>
            </a:r>
            <a:r>
              <a:rPr lang="zh-CN" altLang="en-US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“控风险”取代“量优先”成为策略制定的主题</a:t>
            </a:r>
            <a:endParaRPr lang="en-US" altLang="zh-CN" b="1">
              <a:solidFill>
                <a:srgbClr val="2D334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8.22</a:t>
            </a:r>
            <a:r>
              <a:rPr lang="zh-CN" altLang="en-US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号后，运行调度提出巴盟早段充电功率</a:t>
            </a:r>
            <a:r>
              <a:rPr lang="zh-CN" altLang="en-US" b="1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</a:t>
            </a:r>
            <a:r>
              <a:rPr lang="en-US" altLang="zh-CN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800MW</a:t>
            </a:r>
            <a:r>
              <a:rPr lang="zh-CN" altLang="en-US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后，断面下送满载；后巴盟充放对于节点价格（阻塞价格）的影响凸显，故降开始降功率充放</a:t>
            </a:r>
            <a:endParaRPr lang="en-US" altLang="zh-CN" b="1">
              <a:solidFill>
                <a:srgbClr val="2D334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8.1-8.19</a:t>
            </a:r>
            <a:r>
              <a:rPr lang="zh-CN" altLang="en-US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巴盟、乌拉特、杭锦旗采用特殊策略拉高电量</a:t>
            </a:r>
            <a:endParaRPr lang="en-US" altLang="zh-CN" b="1">
              <a:solidFill>
                <a:srgbClr val="2D334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交易人员的持续调整，给场站收益带来短期波动</a:t>
            </a:r>
            <a:endParaRPr lang="en-US" altLang="zh-CN" b="1">
              <a:solidFill>
                <a:srgbClr val="2D334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496141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574177"/>
          </a:xfrm>
          <a:prstGeom prst="rect">
            <a:avLst/>
          </a:prstGeom>
          <a:solidFill>
            <a:srgbClr val="3B3B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6999" y="102938"/>
            <a:ext cx="445985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调度调研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&amp;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下一步计划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73049" y="4153740"/>
            <a:ext cx="11645901" cy="170540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下一步计划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小风季严控风险，调整策略，不再“量”为先，而是追求“有效充放”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加强运维、设备和交易的配合，关注设备的执行，进一步完善策略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加快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工具的开发和应用，以“量化”测算代替人为判断，降低人员调整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、经验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参差带来的收益波动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3730FBB-9165-7A87-BF44-45D6E994DD3B}"/>
              </a:ext>
            </a:extLst>
          </p:cNvPr>
          <p:cNvSpPr txBox="1"/>
          <p:nvPr/>
        </p:nvSpPr>
        <p:spPr>
          <a:xfrm>
            <a:off x="273049" y="677115"/>
            <a:ext cx="11645901" cy="29518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调度调研信息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报量报价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调频，政府已经给电网下文，正在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执行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技改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，预计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月底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月初将正式启动。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申报日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9.2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日起，将按照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96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点申报（大幅降低申报强度，同时补全申报规则漏洞）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鄂尔多斯地区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场站成为试点，试行按照场站数量确定充放方向（例某时刻，充的多，则所有放电被校核）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调度目前对于储能短充短放意见较大，将逐步采取手段进行治理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综上，随着蒙西储能规模的进一步上升，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现有申报方式让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调度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平衡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手段捉襟见肘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；后续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允许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储能主体申报的自由程度将逐渐下降，网侧储能回归电网管理将成为蒙西储能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参与电力市场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必然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发展趋势。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Envision Digital - Dark">
  <a:themeElements>
    <a:clrScheme name="EnOS">
      <a:dk1>
        <a:sysClr val="windowText" lastClr="000000"/>
      </a:dk1>
      <a:lt1>
        <a:sysClr val="window" lastClr="FFFFFF"/>
      </a:lt1>
      <a:dk2>
        <a:srgbClr val="00293A"/>
      </a:dk2>
      <a:lt2>
        <a:srgbClr val="E7E6E6"/>
      </a:lt2>
      <a:accent1>
        <a:srgbClr val="4CA8FF"/>
      </a:accent1>
      <a:accent2>
        <a:srgbClr val="01CB90"/>
      </a:accent2>
      <a:accent3>
        <a:srgbClr val="DE5145"/>
      </a:accent3>
      <a:accent4>
        <a:srgbClr val="FFC000"/>
      </a:accent4>
      <a:accent5>
        <a:srgbClr val="964FFF"/>
      </a:accent5>
      <a:accent6>
        <a:srgbClr val="DF397F"/>
      </a:accent6>
      <a:hlink>
        <a:srgbClr val="4CA8FF"/>
      </a:hlink>
      <a:folHlink>
        <a:srgbClr val="A5A5A5"/>
      </a:folHlink>
    </a:clrScheme>
    <a:fontScheme name="n5nw3kzm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7430</TotalTime>
  <Words>3184</Words>
  <Application>Microsoft Office PowerPoint</Application>
  <PresentationFormat>宽屏</PresentationFormat>
  <Paragraphs>837</Paragraphs>
  <Slides>19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30" baseType="lpstr">
      <vt:lpstr>等线</vt:lpstr>
      <vt:lpstr>等线</vt:lpstr>
      <vt:lpstr>Microsoft YaHei</vt:lpstr>
      <vt:lpstr>Microsoft YaHei</vt:lpstr>
      <vt:lpstr>微软雅黑 Light</vt:lpstr>
      <vt:lpstr>Aptos</vt:lpstr>
      <vt:lpstr>Arial</vt:lpstr>
      <vt:lpstr>Calibri</vt:lpstr>
      <vt:lpstr>Wingdings</vt:lpstr>
      <vt:lpstr>3_Office 主题</vt:lpstr>
      <vt:lpstr>Envision Digital - Dark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Yu Song</dc:creator>
  <cp:lastModifiedBy>Yang You</cp:lastModifiedBy>
  <cp:revision>2</cp:revision>
  <dcterms:created xsi:type="dcterms:W3CDTF">2025-05-13T07:57:00Z</dcterms:created>
  <dcterms:modified xsi:type="dcterms:W3CDTF">2026-09-02T02:31:46Z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52D698BB38E341ABAC45084D687B7123_13</vt:lpwstr>
  </property>
  <property fmtid="{D5CDD505-2E9C-101B-9397-08002B2CF9AE}" pid="3" name="KSOProductBuildVer">
    <vt:lpwstr>2052-12.1.0.26375</vt:lpwstr>
  </property>
</Properties>
</file>